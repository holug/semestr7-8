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4"/>
  </p:notesMasterIdLst>
  <p:sldIdLst>
    <p:sldId id="360" r:id="rId2"/>
    <p:sldId id="307" r:id="rId3"/>
    <p:sldId id="309" r:id="rId4"/>
    <p:sldId id="310" r:id="rId5"/>
    <p:sldId id="272" r:id="rId6"/>
    <p:sldId id="273" r:id="rId7"/>
    <p:sldId id="369" r:id="rId8"/>
    <p:sldId id="371" r:id="rId9"/>
    <p:sldId id="311" r:id="rId10"/>
    <p:sldId id="370" r:id="rId11"/>
    <p:sldId id="312" r:id="rId12"/>
    <p:sldId id="313" r:id="rId13"/>
    <p:sldId id="314" r:id="rId14"/>
    <p:sldId id="353" r:id="rId15"/>
    <p:sldId id="316" r:id="rId16"/>
    <p:sldId id="317" r:id="rId17"/>
    <p:sldId id="280" r:id="rId18"/>
    <p:sldId id="281" r:id="rId19"/>
    <p:sldId id="282" r:id="rId20"/>
    <p:sldId id="283" r:id="rId21"/>
    <p:sldId id="284" r:id="rId22"/>
    <p:sldId id="285" r:id="rId23"/>
    <p:sldId id="286" r:id="rId24"/>
    <p:sldId id="287" r:id="rId25"/>
    <p:sldId id="264" r:id="rId26"/>
    <p:sldId id="265" r:id="rId27"/>
    <p:sldId id="305" r:id="rId28"/>
    <p:sldId id="308" r:id="rId29"/>
    <p:sldId id="306" r:id="rId30"/>
    <p:sldId id="354" r:id="rId31"/>
    <p:sldId id="355" r:id="rId32"/>
    <p:sldId id="315" r:id="rId33"/>
    <p:sldId id="356" r:id="rId34"/>
    <p:sldId id="357" r:id="rId35"/>
    <p:sldId id="358" r:id="rId36"/>
    <p:sldId id="320" r:id="rId37"/>
    <p:sldId id="318" r:id="rId38"/>
    <p:sldId id="321" r:id="rId39"/>
    <p:sldId id="322" r:id="rId40"/>
    <p:sldId id="324" r:id="rId41"/>
    <p:sldId id="323" r:id="rId42"/>
    <p:sldId id="325" r:id="rId43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46" autoAdjust="0"/>
    <p:restoredTop sz="94660"/>
  </p:normalViewPr>
  <p:slideViewPr>
    <p:cSldViewPr snapToGrid="0">
      <p:cViewPr varScale="1">
        <p:scale>
          <a:sx n="52" d="100"/>
          <a:sy n="52" d="100"/>
        </p:scale>
        <p:origin x="53" y="6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ableStyles" Target="tableStyle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w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wmf"/></Relationships>
</file>

<file path=ppt/drawings/_rels/vmlDrawing6.vml.rels><?xml version="1.0" encoding="UTF-8" standalone="yes"?>
<Relationships xmlns="http://schemas.openxmlformats.org/package/2006/relationships"><Relationship Id="rId3" Type="http://schemas.openxmlformats.org/officeDocument/2006/relationships/image" Target="../media/image8.wmf"/><Relationship Id="rId7" Type="http://schemas.openxmlformats.org/officeDocument/2006/relationships/image" Target="../media/image12.wmf"/><Relationship Id="rId2" Type="http://schemas.openxmlformats.org/officeDocument/2006/relationships/image" Target="../media/image7.wmf"/><Relationship Id="rId1" Type="http://schemas.openxmlformats.org/officeDocument/2006/relationships/image" Target="../media/image6.wmf"/><Relationship Id="rId6" Type="http://schemas.openxmlformats.org/officeDocument/2006/relationships/image" Target="../media/image11.wmf"/><Relationship Id="rId5" Type="http://schemas.openxmlformats.org/officeDocument/2006/relationships/image" Target="../media/image10.wmf"/><Relationship Id="rId4" Type="http://schemas.openxmlformats.org/officeDocument/2006/relationships/image" Target="../media/image9.wmf"/></Relationships>
</file>

<file path=ppt/drawings/_rels/vmlDrawing7.vml.rels><?xml version="1.0" encoding="UTF-8" standalone="yes"?>
<Relationships xmlns="http://schemas.openxmlformats.org/package/2006/relationships"><Relationship Id="rId3" Type="http://schemas.openxmlformats.org/officeDocument/2006/relationships/image" Target="../media/image15.wmf"/><Relationship Id="rId2" Type="http://schemas.openxmlformats.org/officeDocument/2006/relationships/image" Target="../media/image14.wmf"/><Relationship Id="rId1" Type="http://schemas.openxmlformats.org/officeDocument/2006/relationships/image" Target="../media/image13.wmf"/><Relationship Id="rId5" Type="http://schemas.openxmlformats.org/officeDocument/2006/relationships/image" Target="../media/image17.wmf"/><Relationship Id="rId4" Type="http://schemas.openxmlformats.org/officeDocument/2006/relationships/image" Target="../media/image16.wmf"/></Relationships>
</file>

<file path=ppt/drawings/_rels/vmlDrawing8.vml.rels><?xml version="1.0" encoding="UTF-8" standalone="yes"?>
<Relationships xmlns="http://schemas.openxmlformats.org/package/2006/relationships"><Relationship Id="rId8" Type="http://schemas.openxmlformats.org/officeDocument/2006/relationships/image" Target="../media/image28.wmf"/><Relationship Id="rId3" Type="http://schemas.openxmlformats.org/officeDocument/2006/relationships/image" Target="../media/image23.wmf"/><Relationship Id="rId7" Type="http://schemas.openxmlformats.org/officeDocument/2006/relationships/image" Target="../media/image27.wmf"/><Relationship Id="rId2" Type="http://schemas.openxmlformats.org/officeDocument/2006/relationships/image" Target="../media/image22.wmf"/><Relationship Id="rId1" Type="http://schemas.openxmlformats.org/officeDocument/2006/relationships/image" Target="../media/image21.wmf"/><Relationship Id="rId6" Type="http://schemas.openxmlformats.org/officeDocument/2006/relationships/image" Target="../media/image26.wmf"/><Relationship Id="rId11" Type="http://schemas.openxmlformats.org/officeDocument/2006/relationships/image" Target="../media/image31.wmf"/><Relationship Id="rId5" Type="http://schemas.openxmlformats.org/officeDocument/2006/relationships/image" Target="../media/image25.wmf"/><Relationship Id="rId10" Type="http://schemas.openxmlformats.org/officeDocument/2006/relationships/image" Target="../media/image30.wmf"/><Relationship Id="rId4" Type="http://schemas.openxmlformats.org/officeDocument/2006/relationships/image" Target="../media/image24.wmf"/><Relationship Id="rId9" Type="http://schemas.openxmlformats.org/officeDocument/2006/relationships/image" Target="../media/image29.wmf"/></Relationships>
</file>

<file path=ppt/drawings/_rels/vmlDrawing9.vml.rels><?xml version="1.0" encoding="UTF-8" standalone="yes"?>
<Relationships xmlns="http://schemas.openxmlformats.org/package/2006/relationships"><Relationship Id="rId8" Type="http://schemas.openxmlformats.org/officeDocument/2006/relationships/image" Target="../media/image39.wmf"/><Relationship Id="rId3" Type="http://schemas.openxmlformats.org/officeDocument/2006/relationships/image" Target="../media/image34.wmf"/><Relationship Id="rId7" Type="http://schemas.openxmlformats.org/officeDocument/2006/relationships/image" Target="../media/image38.wmf"/><Relationship Id="rId2" Type="http://schemas.openxmlformats.org/officeDocument/2006/relationships/image" Target="../media/image33.wmf"/><Relationship Id="rId1" Type="http://schemas.openxmlformats.org/officeDocument/2006/relationships/image" Target="../media/image32.wmf"/><Relationship Id="rId6" Type="http://schemas.openxmlformats.org/officeDocument/2006/relationships/image" Target="../media/image37.wmf"/><Relationship Id="rId5" Type="http://schemas.openxmlformats.org/officeDocument/2006/relationships/image" Target="../media/image36.wmf"/><Relationship Id="rId10" Type="http://schemas.openxmlformats.org/officeDocument/2006/relationships/image" Target="../media/image41.wmf"/><Relationship Id="rId4" Type="http://schemas.openxmlformats.org/officeDocument/2006/relationships/image" Target="../media/image35.wmf"/><Relationship Id="rId9" Type="http://schemas.openxmlformats.org/officeDocument/2006/relationships/image" Target="../media/image40.wmf"/></Relationships>
</file>

<file path=ppt/drawings/_rels/vmlDrawing10.vml.rels><?xml version="1.0" encoding="UTF-8" standalone="yes"?>
<Relationships xmlns="http://schemas.openxmlformats.org/package/2006/relationships"><Relationship Id="rId3" Type="http://schemas.openxmlformats.org/officeDocument/2006/relationships/image" Target="../media/image46.wmf"/><Relationship Id="rId2" Type="http://schemas.openxmlformats.org/officeDocument/2006/relationships/image" Target="../media/image45.wmf"/><Relationship Id="rId1" Type="http://schemas.openxmlformats.org/officeDocument/2006/relationships/image" Target="../media/image44.wmf"/><Relationship Id="rId5" Type="http://schemas.openxmlformats.org/officeDocument/2006/relationships/image" Target="../media/image48.wmf"/><Relationship Id="rId4" Type="http://schemas.openxmlformats.org/officeDocument/2006/relationships/image" Target="../media/image47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BA54CB2-8701-4D3C-8BB3-1119855A8991}" type="datetimeFigureOut">
              <a:rPr lang="ru-RU" smtClean="0"/>
              <a:t>25.09.2024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91754CB-A015-4250-BD63-2B130B6668C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887922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6F8A4ECF-E9BE-490F-9F87-BFC63A03AC70}" type="slidenum">
              <a:rPr lang="ru-RU" altLang="ru-RU" smtClean="0"/>
              <a:pPr/>
              <a:t>27</a:t>
            </a:fld>
            <a:endParaRPr lang="ru-RU" altLang="ru-RU"/>
          </a:p>
        </p:txBody>
      </p:sp>
      <p:sp>
        <p:nvSpPr>
          <p:cNvPr id="1024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04" name="Text Box 3"/>
          <p:cNvSpPr txBox="1">
            <a:spLocks noChangeArrowheads="1"/>
          </p:cNvSpPr>
          <p:nvPr/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 defTabSz="449263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defTabSz="449263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defTabSz="449263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defTabSz="449263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defTabSz="449263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SzPct val="100000"/>
            </a:pPr>
            <a:r>
              <a:rPr lang="ru-RU" altLang="ru-RU" sz="1200">
                <a:solidFill>
                  <a:srgbClr val="000000"/>
                </a:solidFill>
                <a:latin typeface="Calibri" panose="020F0502020204030204" pitchFamily="34" charset="0"/>
              </a:rPr>
              <a:t>Здравствуйте, уважаемые члены государственной аттестационной комиссии. Тема моей магистерской диссертации ()</a:t>
            </a:r>
          </a:p>
        </p:txBody>
      </p:sp>
      <p:sp>
        <p:nvSpPr>
          <p:cNvPr id="102405" name="Text Box 4"/>
          <p:cNvSpPr txBox="1">
            <a:spLocks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b"/>
          <a:lstStyle>
            <a:lvl1pPr defTabSz="449263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defTabSz="449263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defTabSz="449263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defTabSz="449263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defTabSz="449263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buSzPct val="100000"/>
            </a:pPr>
            <a:fld id="{C8545881-05A8-44F9-8A0E-0C9B85D5369E}" type="slidenum">
              <a:rPr lang="ru-RU" altLang="ru-RU" sz="1200">
                <a:solidFill>
                  <a:srgbClr val="000000"/>
                </a:solidFill>
                <a:latin typeface="Calibri" panose="020F0502020204030204" pitchFamily="34" charset="0"/>
              </a:rPr>
              <a:pPr algn="r" eaLnBrk="1" hangingPunct="1">
                <a:buSzPct val="100000"/>
              </a:pPr>
              <a:t>27</a:t>
            </a:fld>
            <a:endParaRPr lang="ru-RU" altLang="ru-RU" sz="120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292911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A511FEA-7E81-43E4-85C2-D2FDCD6E00A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5DA753A5-F7BB-4C0F-B84B-1920B84179C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20B964D-5495-4D6B-BEA4-CB32DD0DA3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DDA1F4-8CC5-44A5-99A8-04FE7923FE06}" type="datetimeFigureOut">
              <a:rPr lang="ru-RU" smtClean="0"/>
              <a:t>25.09.2024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A59861E-9C85-45E4-B550-BA395C4726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543F54C-7378-4F42-9480-DAD7BA3B76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644ACA-DF96-4530-ABF5-3916533A5FC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332903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33C8840-F612-4EB7-88CA-544D35B3F8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654B5D6-DFCB-4C62-B04D-3A3F61D6FB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CBA18E9-8197-4A21-9922-BBE86AE674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DDA1F4-8CC5-44A5-99A8-04FE7923FE06}" type="datetimeFigureOut">
              <a:rPr lang="ru-RU" smtClean="0"/>
              <a:t>25.09.2024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311F390-1968-4920-89BA-2327D3F599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385E3FD-888B-4287-BF7D-F3C34660BB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644ACA-DF96-4530-ABF5-3916533A5FC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565855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998681A-098B-4345-9334-0607594FB9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FE4F4925-B7F5-4718-B0AE-E093A8ECC0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64F0F43-D5B1-45BB-BFD8-703EB56C54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DDA1F4-8CC5-44A5-99A8-04FE7923FE06}" type="datetimeFigureOut">
              <a:rPr lang="ru-RU" smtClean="0"/>
              <a:t>25.09.2024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C1122FC-B58B-49B1-AE97-8A7462B81A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B927F46-952C-4180-B87D-BED6CAEA55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644ACA-DF96-4530-ABF5-3916533A5FC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06527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1EF6116-E9EB-42B0-9F63-5127BBC409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33F378B-C08E-4952-A015-15899AEC42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DB756206-8EE9-4B57-899B-8C5459D8190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20ABFEDE-E66B-49AA-A20B-F7F7674EA4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DDA1F4-8CC5-44A5-99A8-04FE7923FE06}" type="datetimeFigureOut">
              <a:rPr lang="ru-RU" smtClean="0"/>
              <a:t>25.09.2024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5DC97248-4B21-41F4-AD99-3DD7193D7E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599F3F5F-0B7B-4F92-A2A0-FBDC1CD168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644ACA-DF96-4530-ABF5-3916533A5FC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029763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553370F-1E35-4A32-9E3F-DDC2F18545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38A8ACF-CB9B-4C9E-94F4-831B9354B3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C32F70E4-2688-4A63-AA69-002B4DC4265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80B2DBAE-7428-4AEC-913E-64AD42B6BDF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C996C1E0-AF38-4236-BE65-F146F8B5877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53E47E2B-E375-48EB-8559-6E08334F68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DDA1F4-8CC5-44A5-99A8-04FE7923FE06}" type="datetimeFigureOut">
              <a:rPr lang="ru-RU" smtClean="0"/>
              <a:t>25.09.2024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59048ADD-8366-4D00-8287-796B0F3114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1527E22E-EFAE-4296-8B45-CB1B0C9C56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644ACA-DF96-4530-ABF5-3916533A5FC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190071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770F89A-72FD-4666-B6E3-86A164C303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8CA88BAA-1B0B-451A-911D-CD38060F1A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DDA1F4-8CC5-44A5-99A8-04FE7923FE06}" type="datetimeFigureOut">
              <a:rPr lang="ru-RU" smtClean="0"/>
              <a:t>25.09.2024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079A1AD2-1CCE-40B3-86C5-537A35C943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5D68DAB5-41B1-4BDF-BE8D-778B40E40A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644ACA-DF96-4530-ABF5-3916533A5FC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304412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C9501077-E939-4BEA-A428-9BFEB48B5A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DDA1F4-8CC5-44A5-99A8-04FE7923FE06}" type="datetimeFigureOut">
              <a:rPr lang="ru-RU" smtClean="0"/>
              <a:t>25.09.2024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D0A32CC4-8C8C-4F66-BEF7-5A9A29C2FC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CEE3951B-CE7A-4CD9-BF2A-553D5D4A12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644ACA-DF96-4530-ABF5-3916533A5FC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484256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2324C11-B655-4E18-B428-207F892276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D32D17F-D686-4070-9F42-241940693F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EF5EF5F9-9F61-4AC8-88D9-BA88FCEC30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E2B00C55-86DF-41A8-958F-D76EFB43D5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DDA1F4-8CC5-44A5-99A8-04FE7923FE06}" type="datetimeFigureOut">
              <a:rPr lang="ru-RU" smtClean="0"/>
              <a:t>25.09.2024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DC22251E-9222-4363-BA39-B6DE7415B1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D38D09F5-AAEB-4F6C-8849-537DF3B0DD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644ACA-DF96-4530-ABF5-3916533A5FC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429014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7C525FB-1F40-496C-AFCA-2C2AC69AB3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88C0C17F-C251-4317-9FC3-66FE4D0AA72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4B03A4AA-CCD3-45D2-B6A7-9866D261CA6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248991BE-9718-4C38-AA4D-BB0AD95E35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DDA1F4-8CC5-44A5-99A8-04FE7923FE06}" type="datetimeFigureOut">
              <a:rPr lang="ru-RU" smtClean="0"/>
              <a:t>25.09.2024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4575C9F6-2E69-4E1D-AB2C-9240E6BB37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B36FC5F9-2A86-4441-B1F5-B4B08AE5CC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644ACA-DF96-4530-ABF5-3916533A5FC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69629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9CB1815-7C85-4B2C-B9D1-8EDC1D761B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C14EB82D-C2A6-4734-80AC-C8948C6C85C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2A93E8D-4200-4BAD-82CA-969E9E61ED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DDA1F4-8CC5-44A5-99A8-04FE7923FE06}" type="datetimeFigureOut">
              <a:rPr lang="ru-RU" smtClean="0"/>
              <a:t>25.09.2024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87E4A6A-67C9-4FF9-A927-19F2CB23DF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E40C526-39CF-494B-9498-4757B44368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644ACA-DF96-4530-ABF5-3916533A5FC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596318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2315B8CD-5670-47CB-B9E6-C4EF9078FEE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B213BB63-B18D-41F9-A6F0-D92892DB229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30E0AB0-FC07-4189-B125-1A09BEA722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DDA1F4-8CC5-44A5-99A8-04FE7923FE06}" type="datetimeFigureOut">
              <a:rPr lang="ru-RU" smtClean="0"/>
              <a:t>25.09.2024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248D548-226B-483C-95B2-6D268CAB41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32F1105-07D2-48C7-B284-CEE9BE4C11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644ACA-DF96-4530-ABF5-3916533A5FC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4069867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Заголовок, текст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</p:spPr>
        <p:txBody>
          <a:bodyPr/>
          <a:lstStyle>
            <a:lvl1pPr>
              <a:defRPr/>
            </a:lvl1pPr>
          </a:lstStyle>
          <a:p>
            <a:endParaRPr lang="ru-RU" alt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</p:spPr>
        <p:txBody>
          <a:bodyPr/>
          <a:lstStyle>
            <a:lvl1pPr>
              <a:defRPr/>
            </a:lvl1pPr>
          </a:lstStyle>
          <a:p>
            <a:endParaRPr lang="ru-RU" alt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8737600" y="6245225"/>
            <a:ext cx="2844800" cy="476250"/>
          </a:xfrm>
        </p:spPr>
        <p:txBody>
          <a:bodyPr/>
          <a:lstStyle>
            <a:lvl1pPr>
              <a:defRPr/>
            </a:lvl1pPr>
          </a:lstStyle>
          <a:p>
            <a:fld id="{8310CE31-C5C2-4905-8D68-E58DE77935DB}" type="slidenum">
              <a:rPr lang="ru-RU" altLang="ru-RU"/>
              <a:pPr/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35467869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9104550-C327-4A21-91F2-CC8546FA62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16FB9F05-BAA6-4854-8EB9-8AB379606A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34B1767-2BAA-4B64-A5D9-ECC9ADA463C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FDDA1F4-8CC5-44A5-99A8-04FE7923FE06}" type="datetimeFigureOut">
              <a:rPr lang="ru-RU" smtClean="0"/>
              <a:t>25.09.2024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5C25FD1-625D-4C56-9884-FBC27000A5B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808ED0A-3492-4418-A950-ACB3379EFAD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E644ACA-DF96-4530-ABF5-3916533A5FC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575075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1.e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2.e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4" Type="http://schemas.openxmlformats.org/officeDocument/2006/relationships/image" Target="../media/image3.em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5" Type="http://schemas.openxmlformats.org/officeDocument/2006/relationships/image" Target="../media/image5.jpeg"/><Relationship Id="rId4" Type="http://schemas.openxmlformats.org/officeDocument/2006/relationships/image" Target="../media/image4.wmf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https://translated.turbopages.org/proxy_u/en-ru.ru.da8117c9-63258fc0-81066589-74722d776562/https/en.wikipedia.org/wiki/David_Wolpert" TargetMode="Externa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5" Type="http://schemas.openxmlformats.org/officeDocument/2006/relationships/image" Target="../media/image5.jpeg"/><Relationship Id="rId4" Type="http://schemas.openxmlformats.org/officeDocument/2006/relationships/image" Target="../media/image4.wmf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wmf"/><Relationship Id="rId13" Type="http://schemas.openxmlformats.org/officeDocument/2006/relationships/oleObject" Target="../embeddings/oleObject10.bin"/><Relationship Id="rId3" Type="http://schemas.openxmlformats.org/officeDocument/2006/relationships/oleObject" Target="../embeddings/oleObject5.bin"/><Relationship Id="rId7" Type="http://schemas.openxmlformats.org/officeDocument/2006/relationships/oleObject" Target="../embeddings/oleObject7.bin"/><Relationship Id="rId12" Type="http://schemas.openxmlformats.org/officeDocument/2006/relationships/image" Target="../media/image10.wmf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2.wmf"/><Relationship Id="rId1" Type="http://schemas.openxmlformats.org/officeDocument/2006/relationships/vmlDrawing" Target="../drawings/vmlDrawing6.vml"/><Relationship Id="rId6" Type="http://schemas.openxmlformats.org/officeDocument/2006/relationships/image" Target="../media/image7.wmf"/><Relationship Id="rId11" Type="http://schemas.openxmlformats.org/officeDocument/2006/relationships/oleObject" Target="../embeddings/oleObject9.bin"/><Relationship Id="rId5" Type="http://schemas.openxmlformats.org/officeDocument/2006/relationships/oleObject" Target="../embeddings/oleObject6.bin"/><Relationship Id="rId15" Type="http://schemas.openxmlformats.org/officeDocument/2006/relationships/oleObject" Target="../embeddings/oleObject11.bin"/><Relationship Id="rId10" Type="http://schemas.openxmlformats.org/officeDocument/2006/relationships/image" Target="../media/image9.wmf"/><Relationship Id="rId4" Type="http://schemas.openxmlformats.org/officeDocument/2006/relationships/image" Target="../media/image6.wmf"/><Relationship Id="rId9" Type="http://schemas.openxmlformats.org/officeDocument/2006/relationships/oleObject" Target="../embeddings/oleObject8.bin"/><Relationship Id="rId14" Type="http://schemas.openxmlformats.org/officeDocument/2006/relationships/image" Target="../media/image11.wmf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5.bin"/><Relationship Id="rId13" Type="http://schemas.openxmlformats.org/officeDocument/2006/relationships/oleObject" Target="../embeddings/oleObject17.bin"/><Relationship Id="rId3" Type="http://schemas.openxmlformats.org/officeDocument/2006/relationships/oleObject" Target="../embeddings/oleObject12.bin"/><Relationship Id="rId7" Type="http://schemas.openxmlformats.org/officeDocument/2006/relationships/oleObject" Target="../embeddings/oleObject14.bin"/><Relationship Id="rId12" Type="http://schemas.openxmlformats.org/officeDocument/2006/relationships/image" Target="../media/image16.wmf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7.vml"/><Relationship Id="rId6" Type="http://schemas.openxmlformats.org/officeDocument/2006/relationships/image" Target="../media/image14.wmf"/><Relationship Id="rId11" Type="http://schemas.openxmlformats.org/officeDocument/2006/relationships/oleObject" Target="../embeddings/oleObject16.bin"/><Relationship Id="rId5" Type="http://schemas.openxmlformats.org/officeDocument/2006/relationships/oleObject" Target="../embeddings/oleObject13.bin"/><Relationship Id="rId10" Type="http://schemas.openxmlformats.org/officeDocument/2006/relationships/image" Target="../media/image18.jpeg"/><Relationship Id="rId4" Type="http://schemas.openxmlformats.org/officeDocument/2006/relationships/image" Target="../media/image13.wmf"/><Relationship Id="rId9" Type="http://schemas.openxmlformats.org/officeDocument/2006/relationships/image" Target="../media/image15.wmf"/><Relationship Id="rId14" Type="http://schemas.openxmlformats.org/officeDocument/2006/relationships/image" Target="../media/image17.wmf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wmf"/><Relationship Id="rId13" Type="http://schemas.openxmlformats.org/officeDocument/2006/relationships/oleObject" Target="../embeddings/oleObject23.bin"/><Relationship Id="rId18" Type="http://schemas.openxmlformats.org/officeDocument/2006/relationships/image" Target="../media/image28.wmf"/><Relationship Id="rId3" Type="http://schemas.openxmlformats.org/officeDocument/2006/relationships/oleObject" Target="../embeddings/oleObject18.bin"/><Relationship Id="rId21" Type="http://schemas.openxmlformats.org/officeDocument/2006/relationships/oleObject" Target="../embeddings/oleObject27.bin"/><Relationship Id="rId7" Type="http://schemas.openxmlformats.org/officeDocument/2006/relationships/oleObject" Target="../embeddings/oleObject20.bin"/><Relationship Id="rId12" Type="http://schemas.openxmlformats.org/officeDocument/2006/relationships/image" Target="../media/image25.wmf"/><Relationship Id="rId17" Type="http://schemas.openxmlformats.org/officeDocument/2006/relationships/oleObject" Target="../embeddings/oleObject25.bin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7.wmf"/><Relationship Id="rId20" Type="http://schemas.openxmlformats.org/officeDocument/2006/relationships/image" Target="../media/image29.wmf"/><Relationship Id="rId1" Type="http://schemas.openxmlformats.org/officeDocument/2006/relationships/vmlDrawing" Target="../drawings/vmlDrawing8.vml"/><Relationship Id="rId6" Type="http://schemas.openxmlformats.org/officeDocument/2006/relationships/image" Target="../media/image22.wmf"/><Relationship Id="rId11" Type="http://schemas.openxmlformats.org/officeDocument/2006/relationships/oleObject" Target="../embeddings/oleObject22.bin"/><Relationship Id="rId24" Type="http://schemas.openxmlformats.org/officeDocument/2006/relationships/image" Target="../media/image31.wmf"/><Relationship Id="rId5" Type="http://schemas.openxmlformats.org/officeDocument/2006/relationships/oleObject" Target="../embeddings/oleObject19.bin"/><Relationship Id="rId15" Type="http://schemas.openxmlformats.org/officeDocument/2006/relationships/oleObject" Target="../embeddings/oleObject24.bin"/><Relationship Id="rId23" Type="http://schemas.openxmlformats.org/officeDocument/2006/relationships/oleObject" Target="../embeddings/oleObject28.bin"/><Relationship Id="rId10" Type="http://schemas.openxmlformats.org/officeDocument/2006/relationships/image" Target="../media/image24.wmf"/><Relationship Id="rId19" Type="http://schemas.openxmlformats.org/officeDocument/2006/relationships/oleObject" Target="../embeddings/oleObject26.bin"/><Relationship Id="rId4" Type="http://schemas.openxmlformats.org/officeDocument/2006/relationships/image" Target="../media/image21.wmf"/><Relationship Id="rId9" Type="http://schemas.openxmlformats.org/officeDocument/2006/relationships/oleObject" Target="../embeddings/oleObject21.bin"/><Relationship Id="rId14" Type="http://schemas.openxmlformats.org/officeDocument/2006/relationships/image" Target="../media/image26.wmf"/><Relationship Id="rId22" Type="http://schemas.openxmlformats.org/officeDocument/2006/relationships/image" Target="../media/image30.wmf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wmf"/><Relationship Id="rId13" Type="http://schemas.openxmlformats.org/officeDocument/2006/relationships/oleObject" Target="../embeddings/oleObject34.bin"/><Relationship Id="rId18" Type="http://schemas.openxmlformats.org/officeDocument/2006/relationships/image" Target="../media/image39.wmf"/><Relationship Id="rId3" Type="http://schemas.openxmlformats.org/officeDocument/2006/relationships/oleObject" Target="../embeddings/oleObject29.bin"/><Relationship Id="rId21" Type="http://schemas.openxmlformats.org/officeDocument/2006/relationships/oleObject" Target="../embeddings/oleObject38.bin"/><Relationship Id="rId7" Type="http://schemas.openxmlformats.org/officeDocument/2006/relationships/oleObject" Target="../embeddings/oleObject31.bin"/><Relationship Id="rId12" Type="http://schemas.openxmlformats.org/officeDocument/2006/relationships/image" Target="../media/image36.wmf"/><Relationship Id="rId17" Type="http://schemas.openxmlformats.org/officeDocument/2006/relationships/oleObject" Target="../embeddings/oleObject36.bin"/><Relationship Id="rId2" Type="http://schemas.openxmlformats.org/officeDocument/2006/relationships/slideLayout" Target="../slideLayouts/slideLayout12.xml"/><Relationship Id="rId16" Type="http://schemas.openxmlformats.org/officeDocument/2006/relationships/image" Target="../media/image38.wmf"/><Relationship Id="rId20" Type="http://schemas.openxmlformats.org/officeDocument/2006/relationships/image" Target="../media/image40.wmf"/><Relationship Id="rId1" Type="http://schemas.openxmlformats.org/officeDocument/2006/relationships/vmlDrawing" Target="../drawings/vmlDrawing9.vml"/><Relationship Id="rId6" Type="http://schemas.openxmlformats.org/officeDocument/2006/relationships/image" Target="../media/image33.wmf"/><Relationship Id="rId11" Type="http://schemas.openxmlformats.org/officeDocument/2006/relationships/oleObject" Target="../embeddings/oleObject33.bin"/><Relationship Id="rId5" Type="http://schemas.openxmlformats.org/officeDocument/2006/relationships/oleObject" Target="../embeddings/oleObject30.bin"/><Relationship Id="rId15" Type="http://schemas.openxmlformats.org/officeDocument/2006/relationships/oleObject" Target="../embeddings/oleObject35.bin"/><Relationship Id="rId10" Type="http://schemas.openxmlformats.org/officeDocument/2006/relationships/image" Target="../media/image35.wmf"/><Relationship Id="rId19" Type="http://schemas.openxmlformats.org/officeDocument/2006/relationships/oleObject" Target="../embeddings/oleObject37.bin"/><Relationship Id="rId4" Type="http://schemas.openxmlformats.org/officeDocument/2006/relationships/image" Target="../media/image32.wmf"/><Relationship Id="rId9" Type="http://schemas.openxmlformats.org/officeDocument/2006/relationships/oleObject" Target="../embeddings/oleObject32.bin"/><Relationship Id="rId14" Type="http://schemas.openxmlformats.org/officeDocument/2006/relationships/image" Target="../media/image37.wmf"/><Relationship Id="rId22" Type="http://schemas.openxmlformats.org/officeDocument/2006/relationships/image" Target="../media/image41.wmf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jpeg"/><Relationship Id="rId2" Type="http://schemas.openxmlformats.org/officeDocument/2006/relationships/image" Target="../media/image42.jpe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wmf"/><Relationship Id="rId3" Type="http://schemas.openxmlformats.org/officeDocument/2006/relationships/oleObject" Target="../embeddings/oleObject39.bin"/><Relationship Id="rId7" Type="http://schemas.openxmlformats.org/officeDocument/2006/relationships/oleObject" Target="../embeddings/oleObject41.bin"/><Relationship Id="rId12" Type="http://schemas.openxmlformats.org/officeDocument/2006/relationships/image" Target="../media/image48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0.vml"/><Relationship Id="rId6" Type="http://schemas.openxmlformats.org/officeDocument/2006/relationships/image" Target="../media/image45.wmf"/><Relationship Id="rId11" Type="http://schemas.openxmlformats.org/officeDocument/2006/relationships/oleObject" Target="../embeddings/oleObject43.bin"/><Relationship Id="rId5" Type="http://schemas.openxmlformats.org/officeDocument/2006/relationships/oleObject" Target="../embeddings/oleObject40.bin"/><Relationship Id="rId10" Type="http://schemas.openxmlformats.org/officeDocument/2006/relationships/image" Target="../media/image47.wmf"/><Relationship Id="rId4" Type="http://schemas.openxmlformats.org/officeDocument/2006/relationships/image" Target="../media/image44.wmf"/><Relationship Id="rId9" Type="http://schemas.openxmlformats.org/officeDocument/2006/relationships/oleObject" Target="../embeddings/oleObject42.bin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tensorflow.org/" TargetMode="External"/><Relationship Id="rId7" Type="http://schemas.openxmlformats.org/officeDocument/2006/relationships/hyperlink" Target="https://xgboost.ai/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pjreddie.com/darknet/" TargetMode="External"/><Relationship Id="rId5" Type="http://schemas.openxmlformats.org/officeDocument/2006/relationships/hyperlink" Target="https://keras.io/" TargetMode="External"/><Relationship Id="rId4" Type="http://schemas.openxmlformats.org/officeDocument/2006/relationships/hyperlink" Target="https://pytorch.org/" TargetMode="Externa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jpe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3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703389" y="333375"/>
            <a:ext cx="8785225" cy="3671888"/>
          </a:xfrm>
        </p:spPr>
        <p:txBody>
          <a:bodyPr>
            <a:normAutofit/>
          </a:bodyPr>
          <a:lstStyle/>
          <a:p>
            <a:pPr eaLnBrk="1" hangingPunct="1"/>
            <a:r>
              <a:rPr lang="ru-RU" sz="3600" b="1" dirty="0">
                <a:latin typeface="+mn-lt"/>
              </a:rPr>
              <a:t>ТЕОРИЯ ИСКУССТВЕННЫХ НЕЙРОННЫХ СЕТЕЙ</a:t>
            </a:r>
            <a:br>
              <a:rPr lang="ru-RU" sz="3600" b="1" dirty="0">
                <a:latin typeface="+mn-lt"/>
              </a:rPr>
            </a:br>
            <a:r>
              <a:rPr lang="ru-RU" sz="3200" b="1" dirty="0">
                <a:latin typeface="+mn-lt"/>
              </a:rPr>
              <a:t>Каганов Ю.Т.</a:t>
            </a:r>
            <a:br>
              <a:rPr lang="ru-RU" sz="3200" b="1" dirty="0">
                <a:latin typeface="+mn-lt"/>
              </a:rPr>
            </a:br>
            <a:r>
              <a:rPr lang="ru-RU" sz="3200" b="1" dirty="0">
                <a:latin typeface="+mn-lt"/>
              </a:rPr>
              <a:t>к.т.н., доцент каф. ИУ-9</a:t>
            </a:r>
            <a:br>
              <a:rPr lang="ru-RU" sz="3200" b="1" dirty="0">
                <a:latin typeface="+mn-lt"/>
              </a:rPr>
            </a:br>
            <a:r>
              <a:rPr lang="ru-RU" sz="3200" b="1" dirty="0">
                <a:latin typeface="+mn-lt"/>
              </a:rPr>
              <a:t>«Теоретическая информатика и компьютерные технологии»</a:t>
            </a:r>
            <a:br>
              <a:rPr lang="ru-RU" sz="3200" b="1" dirty="0">
                <a:latin typeface="+mn-lt"/>
              </a:rPr>
            </a:br>
            <a:endParaRPr lang="ru-RU" sz="3200" b="1" dirty="0">
              <a:latin typeface="+mn-lt"/>
            </a:endParaRPr>
          </a:p>
        </p:txBody>
      </p:sp>
      <p:sp>
        <p:nvSpPr>
          <p:cNvPr id="13314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2895600" y="4149726"/>
            <a:ext cx="6400800" cy="2016125"/>
          </a:xfrm>
        </p:spPr>
        <p:txBody>
          <a:bodyPr/>
          <a:lstStyle/>
          <a:p>
            <a:pPr eaLnBrk="1" hangingPunct="1"/>
            <a:r>
              <a:rPr lang="ru-RU" sz="3200" b="1" dirty="0"/>
              <a:t>ЛЕКЦИЯ № 4</a:t>
            </a:r>
          </a:p>
          <a:p>
            <a:pPr eaLnBrk="1" hangingPunct="1"/>
            <a:r>
              <a:rPr lang="ru-RU" sz="3200" b="1" dirty="0"/>
              <a:t>Методы оптимизации в обучении нейронных сетей</a:t>
            </a:r>
          </a:p>
          <a:p>
            <a:pPr eaLnBrk="1" hangingPunct="1"/>
            <a:endParaRPr lang="ru-RU" b="1" dirty="0"/>
          </a:p>
          <a:p>
            <a:pPr eaLnBrk="1" hangingPunct="1"/>
            <a:endParaRPr lang="ru-RU" b="1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9E0BE3B-3A90-4133-A793-DB9A8C9A20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ru-RU" altLang="ru-RU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Постановка задачи</a:t>
            </a:r>
            <a:br>
              <a:rPr lang="en-US" altLang="ru-RU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altLang="ru-RU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многомерной оптимизации</a:t>
            </a:r>
            <a:endParaRPr lang="ru-RU" sz="3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0D1ED755-A80A-478E-BABE-6BAF97F2B64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981200" y="1600200"/>
                <a:ext cx="8229600" cy="5257800"/>
              </a:xfrm>
            </p:spPr>
            <p:txBody>
              <a:bodyPr/>
              <a:lstStyle/>
              <a:p>
                <a:pPr marL="0" indent="0" algn="ctr">
                  <a:buNone/>
                </a:pPr>
                <a:r>
                  <a:rPr lang="ru-RU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Рассмотрим задачи нелинейной оптимизации в общем случае.</a:t>
                </a:r>
              </a:p>
              <a:p>
                <a:pPr marL="0" indent="0">
                  <a:buNone/>
                </a:pPr>
                <a:r>
                  <a:rPr lang="ru-RU" sz="23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Пусть </a:t>
                </a:r>
                <a14:m>
                  <m:oMath xmlns:m="http://schemas.openxmlformats.org/officeDocument/2006/math">
                    <m:r>
                      <a:rPr lang="en-US" sz="23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sz="23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sSup>
                      <m:sSupPr>
                        <m:ctrlPr>
                          <a:rPr lang="en-US" sz="23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23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sz="23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3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US" sz="23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(1)</m:t>
                                </m:r>
                              </m:sup>
                            </m:sSup>
                            <m:r>
                              <a:rPr lang="en-US" sz="23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,</m:t>
                            </m:r>
                            <m:sSup>
                              <m:sSupPr>
                                <m:ctrlPr>
                                  <a:rPr lang="en-US" sz="23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3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…,</m:t>
                                </m:r>
                                <m:r>
                                  <a:rPr lang="en-US" sz="23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US" sz="23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(</m:t>
                                </m:r>
                                <m:r>
                                  <a:rPr lang="en-US" sz="23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𝑛</m:t>
                                </m:r>
                                <m:r>
                                  <a:rPr lang="en-US" sz="23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)</m:t>
                                </m:r>
                              </m:sup>
                            </m:sSup>
                          </m:e>
                        </m:d>
                      </m:e>
                      <m:sup>
                        <m:r>
                          <a:rPr lang="en-US" sz="23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𝑇</m:t>
                        </m:r>
                      </m:sup>
                    </m:sSup>
                    <m:r>
                      <a:rPr lang="en-US" sz="23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∈</m:t>
                    </m:r>
                    <m:sSup>
                      <m:sSupPr>
                        <m:ctrlPr>
                          <a:rPr lang="en-US" sz="23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23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𝑅</m:t>
                        </m:r>
                      </m:e>
                      <m:sup>
                        <m:r>
                          <a:rPr lang="en-US" sz="23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sz="23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3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𝑆</m:t>
                    </m:r>
                    <m:r>
                      <a:rPr lang="en-US" sz="23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US" sz="23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– </a:t>
                </a:r>
                <a:r>
                  <a:rPr lang="ru-RU" sz="23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некоторое множество из пространства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3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23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𝑅</m:t>
                        </m:r>
                      </m:e>
                      <m:sup>
                        <m:r>
                          <a:rPr lang="en-US" sz="23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ru-RU" sz="23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Пусть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3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3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𝑓</m:t>
                        </m:r>
                      </m:e>
                      <m:sub>
                        <m:r>
                          <a:rPr lang="ru-RU" sz="23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</m:sSub>
                    <m:d>
                      <m:dPr>
                        <m:ctrlPr>
                          <a:rPr lang="en-US" sz="23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23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</m:d>
                    <m:r>
                      <a:rPr lang="en-US" sz="23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 …,</m:t>
                    </m:r>
                  </m:oMath>
                </a14:m>
                <a:r>
                  <a:rPr lang="ru-RU" sz="2300" dirty="0"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3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3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𝑓</m:t>
                        </m:r>
                      </m:e>
                      <m:sub>
                        <m:r>
                          <a:rPr lang="en-US" sz="23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𝑚</m:t>
                        </m:r>
                      </m:sub>
                    </m:sSub>
                    <m:d>
                      <m:dPr>
                        <m:ctrlPr>
                          <a:rPr lang="en-US" sz="23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23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</m:d>
                    <m:r>
                      <a:rPr lang="en-US" sz="23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:</m:t>
                    </m:r>
                    <m:r>
                      <a:rPr lang="en-US" sz="23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𝑆</m:t>
                    </m:r>
                    <m:r>
                      <a:rPr lang="en-US" sz="23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→</m:t>
                    </m:r>
                    <m:sSup>
                      <m:sSupPr>
                        <m:ctrlPr>
                          <a:rPr lang="en-US" sz="23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23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𝑅</m:t>
                        </m:r>
                      </m:e>
                      <m:sup>
                        <m:r>
                          <a:rPr lang="en-US" sz="23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p>
                    </m:sSup>
                    <m:r>
                      <a:rPr lang="ru-RU" sz="230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. </m:t>
                    </m:r>
                  </m:oMath>
                </a14:m>
                <a:r>
                  <a:rPr lang="ru-RU" sz="23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Тогда задачу минимизации можно рассматривать в следующем виде 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func>
                      <m:funcPr>
                        <m:ctrlPr>
                          <a:rPr lang="en-US" sz="23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3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min</m:t>
                        </m:r>
                      </m:fName>
                      <m:e>
                        <m:sSub>
                          <m:sSubPr>
                            <m:ctrlPr>
                              <a:rPr lang="en-US" sz="23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23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n-US" sz="23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sz="23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(</m:t>
                        </m:r>
                        <m:r>
                          <a:rPr lang="en-US" sz="23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  <m:r>
                          <a:rPr lang="en-US" sz="23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)</m:t>
                        </m:r>
                      </m:e>
                    </m:func>
                    <m:r>
                      <a:rPr lang="en-US" sz="23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ru-RU" sz="23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при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3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3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𝑓</m:t>
                        </m:r>
                      </m:e>
                      <m:sub>
                        <m:r>
                          <a:rPr lang="en-US" sz="23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sz="23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(x)</a:t>
                </a:r>
                <a14:m>
                  <m:oMath xmlns:m="http://schemas.openxmlformats.org/officeDocument/2006/math">
                    <m:r>
                      <a:rPr lang="en-US" sz="23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≤=</m:t>
                    </m:r>
                  </m:oMath>
                </a14:m>
                <a:r>
                  <a:rPr lang="en-US" sz="23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0, </a:t>
                </a:r>
                <a14:m>
                  <m:oMath xmlns:m="http://schemas.openxmlformats.org/officeDocument/2006/math">
                    <m:r>
                      <a:rPr lang="en-US" sz="23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𝑗</m:t>
                    </m:r>
                    <m:r>
                      <a:rPr lang="en-US" sz="23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=1,…,</m:t>
                    </m:r>
                    <m:r>
                      <a:rPr lang="en-US" sz="23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𝑚</m:t>
                    </m:r>
                    <m:r>
                      <a:rPr lang="en-US" sz="23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 </m:t>
                    </m:r>
                    <m:r>
                      <a:rPr lang="en-US" sz="23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sz="23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∈</m:t>
                    </m:r>
                    <m:r>
                      <a:rPr lang="en-US" sz="23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𝑆</m:t>
                    </m:r>
                    <m:r>
                      <a:rPr lang="en-US" sz="23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.</m:t>
                    </m:r>
                  </m:oMath>
                </a14:m>
                <a:r>
                  <a:rPr lang="ru-RU" sz="2300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    (1)</a:t>
                </a:r>
                <a:endParaRPr lang="en-US" sz="2300" dirty="0"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ru-RU" sz="23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3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𝑓</m:t>
                        </m:r>
                      </m:e>
                      <m:sub>
                        <m:r>
                          <a:rPr lang="en-US" sz="23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</m:sSub>
                    <m:d>
                      <m:dPr>
                        <m:ctrlPr>
                          <a:rPr lang="en-US" sz="23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23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sz="23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- </a:t>
                </a:r>
                <a:r>
                  <a:rPr lang="ru-RU" sz="23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будем называть </a:t>
                </a:r>
                <a:r>
                  <a:rPr lang="ru-RU" sz="23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целевой функцией</a:t>
                </a:r>
                <a:r>
                  <a:rPr lang="ru-RU" sz="23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Функции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3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3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𝑓</m:t>
                        </m:r>
                      </m:e>
                      <m:sub>
                        <m:r>
                          <a:rPr lang="en-US" sz="23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sz="23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(x)</a:t>
                </a:r>
                <a14:m>
                  <m:oMath xmlns:m="http://schemas.openxmlformats.org/officeDocument/2006/math">
                    <m:r>
                      <a:rPr lang="en-US" sz="23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≤=</m:t>
                    </m:r>
                  </m:oMath>
                </a14:m>
                <a:r>
                  <a:rPr lang="en-US" sz="23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</a:t>
                </a:r>
                <a:r>
                  <a:rPr lang="ru-RU" sz="23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как было принято нами ранее, обозначим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3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3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𝑔</m:t>
                        </m:r>
                      </m:e>
                      <m:sub>
                        <m:r>
                          <a:rPr lang="en-US" sz="23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sz="23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(x)</a:t>
                </a:r>
                <a14:m>
                  <m:oMath xmlns:m="http://schemas.openxmlformats.org/officeDocument/2006/math">
                    <m:r>
                      <a:rPr lang="en-US" sz="23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≤</m:t>
                    </m:r>
                  </m:oMath>
                </a14:m>
                <a:r>
                  <a:rPr lang="en-US" sz="23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 </a:t>
                </a:r>
                <a:r>
                  <a:rPr lang="ru-RU" sz="23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или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3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3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𝑔</m:t>
                        </m:r>
                      </m:e>
                      <m:sub>
                        <m:r>
                          <a:rPr lang="en-US" sz="23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sz="23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(x)</a:t>
                </a:r>
                <a:r>
                  <a:rPr lang="ru-RU" sz="23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</a:t>
                </a:r>
                <a:r>
                  <a:rPr lang="en-US" sz="23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</a:t>
                </a:r>
                <a:r>
                  <a:rPr lang="ru-RU" sz="23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:r>
                  <a:rPr lang="en-US" sz="23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u-RU" sz="23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Они называются </a:t>
                </a:r>
                <a:r>
                  <a:rPr lang="ru-RU" sz="23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функциями ограничений </a:t>
                </a:r>
                <a:r>
                  <a:rPr lang="ru-RU" sz="23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и зависят от типа ограничений – равенств или неравенств. Множество </a:t>
                </a:r>
                <a14:m>
                  <m:oMath xmlns:m="http://schemas.openxmlformats.org/officeDocument/2006/math">
                    <m:r>
                      <a:rPr lang="en-US" sz="23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𝑆</m:t>
                    </m:r>
                    <m:r>
                      <a:rPr lang="en-US" sz="23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−</m:t>
                    </m:r>
                  </m:oMath>
                </a14:m>
                <a:endParaRPr lang="ru-RU" sz="23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ru-RU" sz="23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называется </a:t>
                </a:r>
                <a:r>
                  <a:rPr lang="ru-RU" sz="23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базовым допустимым множеством</a:t>
                </a:r>
                <a:r>
                  <a:rPr lang="ru-RU" sz="23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а множество </a:t>
                </a:r>
                <a14:m>
                  <m:oMath xmlns:m="http://schemas.openxmlformats.org/officeDocument/2006/math">
                    <m:r>
                      <a:rPr lang="en-US" sz="23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𝑄</m:t>
                    </m:r>
                  </m:oMath>
                </a14:m>
                <a:endParaRPr lang="en-US" sz="23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sz="23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𝑄</m:t>
                    </m:r>
                    <m:r>
                      <a:rPr lang="en-US" sz="23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d>
                      <m:dPr>
                        <m:ctrlPr>
                          <a:rPr lang="en-US" sz="23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23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  <m:r>
                          <a:rPr lang="en-US" sz="23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∈</m:t>
                        </m:r>
                        <m:r>
                          <a:rPr lang="en-US" sz="23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𝑆</m:t>
                        </m:r>
                        <m:r>
                          <a:rPr lang="en-US" sz="23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|</m:t>
                        </m:r>
                        <m:r>
                          <m:rPr>
                            <m:nor/>
                          </m:rPr>
                          <a:rPr lang="en-US" sz="2300" dirty="0">
                            <a:cs typeface="Times New Roman" panose="02020603050405020304" pitchFamily="18" charset="0"/>
                          </a:rPr>
                          <m:t> </m:t>
                        </m:r>
                        <m:sSub>
                          <m:sSubPr>
                            <m:ctrlPr>
                              <a:rPr lang="en-US" sz="23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23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𝑔</m:t>
                            </m:r>
                          </m:e>
                          <m:sub>
                            <m:r>
                              <a:rPr lang="en-US" sz="23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𝑗</m:t>
                            </m:r>
                          </m:sub>
                        </m:sSub>
                        <m:r>
                          <m:rPr>
                            <m:nor/>
                          </m:rPr>
                          <a:rPr lang="en-US" sz="23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(</m:t>
                        </m:r>
                        <m:r>
                          <m:rPr>
                            <m:nor/>
                          </m:rPr>
                          <a:rPr lang="en-US" sz="23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x</m:t>
                        </m:r>
                        <m:r>
                          <m:rPr>
                            <m:nor/>
                          </m:rPr>
                          <a:rPr lang="en-US" sz="23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)</m:t>
                        </m:r>
                        <m:r>
                          <a:rPr lang="en-US" sz="23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≤</m:t>
                        </m:r>
                        <m:r>
                          <m:rPr>
                            <m:nor/>
                          </m:rPr>
                          <a:rPr lang="en-US" sz="23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0 , </m:t>
                        </m:r>
                        <m:r>
                          <m:rPr>
                            <m:nor/>
                          </m:rPr>
                          <a:rPr lang="en-US" sz="2300" i="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j</m:t>
                        </m:r>
                        <m:r>
                          <m:rPr>
                            <m:nor/>
                          </m:rPr>
                          <a:rPr lang="en-US" sz="2300" i="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=</m:t>
                        </m:r>
                        <m:r>
                          <m:rPr>
                            <m:nor/>
                          </m:rPr>
                          <a:rPr lang="en-US" sz="23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1,…,</m:t>
                        </m:r>
                        <m:r>
                          <m:rPr>
                            <m:nor/>
                          </m:rPr>
                          <a:rPr lang="en-US" sz="2300" i="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m</m:t>
                        </m:r>
                      </m:e>
                    </m:d>
                  </m:oMath>
                </a14:m>
                <a:r>
                  <a:rPr lang="ru-RU" sz="23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</a:t>
                </a:r>
                <a:r>
                  <a:rPr lang="ru-RU" sz="23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Называется просто</a:t>
                </a:r>
                <a:r>
                  <a:rPr lang="ru-RU" sz="23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допустимым множеством.</a:t>
                </a:r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0D1ED755-A80A-478E-BABE-6BAF97F2B64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981200" y="1600200"/>
                <a:ext cx="8229600" cy="5257800"/>
              </a:xfrm>
              <a:blipFill>
                <a:blip r:embed="rId2"/>
                <a:stretch>
                  <a:fillRect l="-1037" t="-1624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402990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C47BD58-21FF-41FF-A04B-EFCFF68EE5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Классификация типов задач многомерной оптимизации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2AE29A57-A2E2-4100-9AD4-9E4241B45C3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981200" y="1417638"/>
                <a:ext cx="8229600" cy="5257800"/>
              </a:xfrm>
            </p:spPr>
            <p:txBody>
              <a:bodyPr/>
              <a:lstStyle/>
              <a:p>
                <a:r>
                  <a:rPr lang="ru-RU" sz="2400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Задачи на условный экстремум</a:t>
                </a:r>
                <a:r>
                  <a:rPr lang="ru-RU" sz="24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𝑄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⊂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𝑅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sup>
                    </m:sSup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.</m:t>
                    </m:r>
                  </m:oMath>
                </a14:m>
                <a:endParaRPr lang="ru-RU" sz="2400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ru-RU" sz="2400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Задачи на безусловный экстремум</a:t>
                </a:r>
                <a:r>
                  <a:rPr lang="ru-RU" sz="24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𝑄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≡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𝑅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sup>
                    </m:sSup>
                    <m:r>
                      <a:rPr lang="ru-RU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.</m:t>
                    </m:r>
                  </m:oMath>
                </a14:m>
                <a:endParaRPr lang="ru-RU" sz="2400" i="1" dirty="0"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r>
                  <a:rPr lang="ru-RU" sz="2400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Гладкие задачи</a:t>
                </a:r>
                <a:r>
                  <a:rPr lang="ru-RU" sz="24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</a:t>
                </a:r>
                <a14:m>
                  <m:oMath xmlns:m="http://schemas.openxmlformats.org/officeDocument/2006/math">
                    <m:r>
                      <a:rPr lang="ru-RU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∀</m:t>
                    </m:r>
                    <m:sSub>
                      <m:sSubPr>
                        <m:ctrlPr>
                          <a:rPr lang="ru-RU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𝑓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𝑗</m:t>
                        </m:r>
                      </m:sub>
                    </m:sSub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</m:d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∈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𝐶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𝑘</m:t>
                        </m:r>
                      </m:sup>
                    </m:sSup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𝑄</m:t>
                        </m:r>
                      </m:e>
                    </m:d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𝑗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=0,…,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𝑚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.</m:t>
                    </m:r>
                  </m:oMath>
                </a14:m>
                <a:endParaRPr lang="en-US" sz="2400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ru-RU" sz="2400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Негладкие задачи</a:t>
                </a:r>
                <a:r>
                  <a:rPr lang="ru-RU" sz="24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  <a14:m>
                  <m:oMath xmlns:m="http://schemas.openxmlformats.org/officeDocument/2006/math">
                    <m:r>
                      <a:rPr lang="ru-RU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∃</m:t>
                    </m:r>
                  </m:oMath>
                </a14:m>
                <a:r>
                  <a:rPr lang="ru-RU" sz="2400" dirty="0"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𝑓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𝑗</m:t>
                        </m:r>
                      </m:sub>
                    </m:sSub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</m:d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∉</m:t>
                    </m:r>
                  </m:oMath>
                </a14:m>
                <a:r>
                  <a:rPr lang="en-US" sz="2400" dirty="0"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𝐶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𝑘</m:t>
                        </m:r>
                      </m:sup>
                    </m:sSup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𝑄</m:t>
                        </m:r>
                      </m:e>
                    </m:d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𝑗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=0,…,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𝑚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;∀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𝑘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≥1 .</m:t>
                    </m:r>
                  </m:oMath>
                </a14:m>
                <a:endParaRPr lang="en-US" sz="2400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ru-RU" sz="2400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Задачи с линейными ограничениями</a:t>
                </a:r>
                <a:r>
                  <a:rPr lang="ru-RU" sz="24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</a:t>
                </a:r>
                <a:r>
                  <a:rPr lang="ru-RU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все функциональные ограничения являются </a:t>
                </a:r>
                <a:r>
                  <a:rPr lang="ru-RU" sz="24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линейными функциями: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𝑗</m:t>
                          </m:r>
                        </m:sub>
                      </m:sSub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e>
                      </m:d>
                      <m:r>
                        <a:rPr lang="ru-RU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ru-RU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𝑖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𝑛</m:t>
                          </m:r>
                        </m:sup>
                        <m:e>
                          <m:sSubSup>
                            <m:sSubSupPr>
                              <m:ctrlPr>
                                <a:rPr lang="ru-RU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𝑗</m:t>
                              </m:r>
                            </m:sub>
                            <m:sup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</m:sup>
                          </m:sSubSup>
                          <m:sSup>
                            <m:sSupPr>
                              <m:ctrlPr>
                                <a:rPr lang="ru-RU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</m:sup>
                          </m:sSup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𝑗</m:t>
                              </m:r>
                            </m:sub>
                          </m:sSub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, 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𝑗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=1,…,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𝑚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. </m:t>
                          </m:r>
                        </m:e>
                      </m:nary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ru-RU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При этом</m:t>
                      </m:r>
                    </m:oMath>
                  </m:oMathPara>
                </a14:m>
                <a:endParaRPr lang="ru-RU" sz="2400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ru-RU" sz="24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базовое множество </a:t>
                </a:r>
                <a:r>
                  <a:rPr lang="en-US" sz="24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 </a:t>
                </a:r>
                <a:r>
                  <a:rPr lang="ru-RU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является </a:t>
                </a:r>
                <a:r>
                  <a:rPr lang="ru-RU" sz="24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многогранником. </a:t>
                </a:r>
                <a:r>
                  <a:rPr lang="ru-RU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Если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𝑓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u-RU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также </a:t>
                </a:r>
                <a:r>
                  <a:rPr lang="ru-RU" sz="24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линейная функция</a:t>
                </a:r>
                <a:r>
                  <a:rPr lang="ru-RU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то исходная задача (1) называется </a:t>
                </a:r>
                <a:r>
                  <a:rPr lang="ru-RU" sz="2400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задачей линейной оптимизации</a:t>
                </a:r>
                <a:r>
                  <a:rPr lang="ru-RU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2AE29A57-A2E2-4100-9AD4-9E4241B45C3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981200" y="1417638"/>
                <a:ext cx="8229600" cy="5257800"/>
              </a:xfrm>
              <a:blipFill>
                <a:blip r:embed="rId2"/>
                <a:stretch>
                  <a:fillRect l="-1111" t="-1624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83854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41A9E75-D9EB-4FF7-A41A-47E81FCFC7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Классификация типов задач многомерной оптимизации</a:t>
            </a:r>
            <a:endParaRPr lang="ru-RU" sz="3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7D76C618-59DF-4C7A-86FA-E37EC4A4209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1. C</a:t>
                </a:r>
                <a:r>
                  <a:rPr lang="ru-RU" sz="2400" b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войства</a:t>
                </a:r>
                <a:r>
                  <a:rPr lang="ru-RU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допустимых множеств.</a:t>
                </a:r>
              </a:p>
              <a:p>
                <a:pPr marL="0" indent="0">
                  <a:buNone/>
                </a:pPr>
                <a:r>
                  <a:rPr lang="ru-RU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◦</a:t>
                </a: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</a:t>
                </a:r>
                <a:r>
                  <a:rPr lang="ru-RU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Задача (1) называется </a:t>
                </a:r>
                <a:r>
                  <a:rPr lang="ru-RU" sz="20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допустимой</a:t>
                </a:r>
                <a:r>
                  <a:rPr lang="ru-RU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если Q </a:t>
                </a:r>
                <a14:m>
                  <m:oMath xmlns:m="http://schemas.openxmlformats.org/officeDocument/2006/math">
                    <m:r>
                      <a:rPr lang="ru-RU" sz="20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≠</m:t>
                    </m:r>
                  </m:oMath>
                </a14:m>
                <a:r>
                  <a:rPr lang="ru-RU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∅. </a:t>
                </a:r>
              </a:p>
              <a:p>
                <a:pPr marL="0" indent="0">
                  <a:buNone/>
                </a:pPr>
                <a:r>
                  <a:rPr lang="ru-RU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◦ Задача (1) называется </a:t>
                </a:r>
                <a:r>
                  <a:rPr lang="ru-RU" sz="20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строго допустимой</a:t>
                </a:r>
                <a:r>
                  <a:rPr lang="ru-RU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если существует такой вектор </a:t>
                </a:r>
                <a:r>
                  <a:rPr lang="ru-RU" sz="20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 </a:t>
                </a:r>
                <a14:m>
                  <m:oMath xmlns:m="http://schemas.openxmlformats.org/officeDocument/2006/math">
                    <m:r>
                      <a:rPr lang="ru-RU" sz="20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∈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𝑖𝑛𝑡</m:t>
                    </m:r>
                  </m:oMath>
                </a14:m>
                <a:r>
                  <a:rPr lang="ru-RU" sz="20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Q</a:t>
                </a:r>
                <a:r>
                  <a:rPr lang="ru-RU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что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𝑓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𝑗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ru-RU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&lt; 0 (или &gt; 0) для всех ограничений-неравенств и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𝑓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𝑗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 </m:t>
                    </m:r>
                  </m:oMath>
                </a14:m>
                <a:r>
                  <a:rPr lang="ru-RU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 0 для всех ограничений-равенств (условие </a:t>
                </a:r>
                <a:r>
                  <a:rPr lang="ru-RU" sz="2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Слэйтера</a:t>
                </a:r>
                <a:r>
                  <a:rPr lang="ru-RU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).</a:t>
                </a:r>
                <a:endParaRPr 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2. </a:t>
                </a:r>
                <a:r>
                  <a:rPr lang="ru-RU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Типы решений задачи (1).</a:t>
                </a:r>
              </a:p>
              <a:p>
                <a:pPr marL="0" indent="0">
                  <a:buNone/>
                </a:pPr>
                <a:r>
                  <a:rPr lang="ru-RU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◦ Точка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ru-RU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называется оптимальным глобальным решением задачи (</a:t>
                </a: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r>
                  <a:rPr lang="ru-RU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), если</a:t>
                </a:r>
                <a:r>
                  <a:rPr lang="en-US" sz="2000" dirty="0"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𝑓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sSup>
                      <m:sSupPr>
                        <m:ctrlPr>
                          <a:rPr lang="ru-RU" sz="20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20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20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∗</m:t>
                        </m:r>
                      </m:sup>
                    </m:sSup>
                    <m:r>
                      <a:rPr lang="en-US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ru-RU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ru-RU" sz="2000" i="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≤</m:t>
                    </m:r>
                  </m:oMath>
                </a14:m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𝑓</m:t>
                        </m:r>
                      </m:e>
                      <m:sub>
                        <m:r>
                          <a:rPr lang="ru-RU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</m:sSub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</m:d>
                    <m:r>
                      <a:rPr lang="en-US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ru-RU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для всех x ∈ Q (</a:t>
                </a:r>
                <a:r>
                  <a:rPr lang="ru-RU" sz="20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глобальный минимум</a:t>
                </a:r>
                <a:r>
                  <a:rPr lang="ru-RU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). В этом случае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𝑓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sSup>
                      <m:sSupPr>
                        <m:ctrlPr>
                          <a:rPr lang="ru-RU" sz="20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20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20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∗</m:t>
                        </m:r>
                      </m:sup>
                    </m:sSup>
                    <m:r>
                      <a:rPr lang="en-US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ru-RU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называется (</a:t>
                </a:r>
                <a:r>
                  <a:rPr lang="ru-RU" sz="20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глобальным</a:t>
                </a:r>
                <a:r>
                  <a:rPr lang="ru-RU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оптимальным значением задачи. </a:t>
                </a:r>
              </a:p>
              <a:p>
                <a:pPr marL="0" indent="0">
                  <a:buNone/>
                </a:pPr>
                <a:r>
                  <a:rPr lang="ru-RU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◦ точка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∗</m:t>
                        </m:r>
                      </m:sup>
                    </m:sSup>
                    <m:r>
                      <a:rPr lang="en-US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ru-RU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называется </a:t>
                </a:r>
                <a:r>
                  <a:rPr lang="ru-RU" sz="20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локальным решением задачи </a:t>
                </a:r>
                <a:r>
                  <a:rPr lang="ru-RU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r>
                  <a:rPr lang="ru-RU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), если для всех </a:t>
                </a:r>
                <a:endParaRPr 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∈</m:t>
                    </m:r>
                    <m:acc>
                      <m:accPr>
                        <m:chr m:val="̅"/>
                        <m:ctrlP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𝑄</m:t>
                        </m:r>
                      </m:e>
                    </m:acc>
                  </m:oMath>
                </a14:m>
                <a:r>
                  <a:rPr lang="ru-RU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⊂ Q выполнено неравенство</a:t>
                </a: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𝑓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sSup>
                      <m:sSupPr>
                        <m:ctrlPr>
                          <a:rPr lang="ru-RU" sz="20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20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20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∗</m:t>
                        </m:r>
                      </m:sup>
                    </m:sSup>
                    <m:r>
                      <a:rPr lang="en-US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ru-RU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ru-RU" sz="2000" i="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≤</m:t>
                    </m:r>
                  </m:oMath>
                </a14:m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𝑓</m:t>
                        </m:r>
                      </m:e>
                      <m:sub>
                        <m:r>
                          <a:rPr lang="ru-RU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</m:sSub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ru-RU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(</a:t>
                </a:r>
                <a:r>
                  <a:rPr lang="ru-RU" sz="20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локальный минимум</a:t>
                </a:r>
                <a:r>
                  <a:rPr lang="ru-RU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).</a:t>
                </a:r>
                <a:endParaRPr lang="en-US" sz="20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ru-RU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7D76C618-59DF-4C7A-86FA-E37EC4A4209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111" t="-1078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229684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altLang="ru-RU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Один экстремум</a:t>
            </a:r>
          </a:p>
        </p:txBody>
      </p:sp>
      <p:sp>
        <p:nvSpPr>
          <p:cNvPr id="35843" name="Rectangle 3"/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ru-RU" alt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Виды задач</a:t>
            </a:r>
            <a:r>
              <a:rPr lang="ru-RU" alt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r>
              <a:rPr lang="ru-RU" alt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методы </a:t>
            </a:r>
            <a:r>
              <a:rPr lang="ru-RU" altLang="ru-RU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одноэкстремальной</a:t>
            </a:r>
            <a:r>
              <a:rPr lang="ru-RU" alt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alt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оптимизации (единственный экстремум – унимодальная функция);</a:t>
            </a:r>
            <a:endParaRPr lang="ru-RU" altLang="ru-RU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35844" name="Object 4"/>
          <p:cNvGraphicFramePr>
            <a:graphicFrameLocks noGrp="1" noChangeAspect="1"/>
          </p:cNvGraphicFramePr>
          <p:nvPr>
            <p:ph sz="half" idx="2"/>
          </p:nvPr>
        </p:nvGraphicFramePr>
        <p:xfrm>
          <a:off x="6383339" y="2060576"/>
          <a:ext cx="2974975" cy="3097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0" r:id="rId3" imgW="2333732" imgH="2010096" progId="">
                  <p:embed/>
                </p:oleObj>
              </mc:Choice>
              <mc:Fallback>
                <p:oleObj r:id="rId3" imgW="2333732" imgH="2010096" progId="">
                  <p:embed/>
                  <p:pic>
                    <p:nvPicPr>
                      <p:cNvPr id="35844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83339" y="2060576"/>
                        <a:ext cx="2974975" cy="3097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altLang="ru-RU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Много экстремумов</a:t>
            </a:r>
          </a:p>
        </p:txBody>
      </p:sp>
      <p:sp>
        <p:nvSpPr>
          <p:cNvPr id="37891" name="Rectangle 3"/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ru-RU" alt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Виды задач</a:t>
            </a:r>
            <a:r>
              <a:rPr lang="ru-RU" alt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>
              <a:buFontTx/>
              <a:buNone/>
            </a:pPr>
            <a:r>
              <a:rPr lang="ru-RU" alt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методы </a:t>
            </a:r>
            <a:r>
              <a:rPr lang="ru-RU" alt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многоэкстремальной</a:t>
            </a:r>
            <a:r>
              <a:rPr lang="ru-RU" alt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оптимизации (много экстремумов – полимодальная функция);</a:t>
            </a:r>
          </a:p>
        </p:txBody>
      </p:sp>
      <p:graphicFrame>
        <p:nvGraphicFramePr>
          <p:cNvPr id="37892" name="Object 4"/>
          <p:cNvGraphicFramePr>
            <a:graphicFrameLocks noGrp="1" noChangeAspect="1"/>
          </p:cNvGraphicFramePr>
          <p:nvPr>
            <p:ph sz="half" idx="2"/>
          </p:nvPr>
        </p:nvGraphicFramePr>
        <p:xfrm>
          <a:off x="6240464" y="2060575"/>
          <a:ext cx="3671887" cy="3384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4" r:id="rId3" imgW="2333732" imgH="2015064" progId="">
                  <p:embed/>
                </p:oleObj>
              </mc:Choice>
              <mc:Fallback>
                <p:oleObj r:id="rId3" imgW="2333732" imgH="2015064" progId="">
                  <p:embed/>
                  <p:pic>
                    <p:nvPicPr>
                      <p:cNvPr id="37892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40464" y="2060575"/>
                        <a:ext cx="3671887" cy="3384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altLang="ru-RU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Многокритериальная оптимизация</a:t>
            </a:r>
          </a:p>
        </p:txBody>
      </p:sp>
      <p:graphicFrame>
        <p:nvGraphicFramePr>
          <p:cNvPr id="39939" name="Object 3"/>
          <p:cNvGraphicFramePr>
            <a:graphicFrameLocks noGrp="1" noChangeAspect="1"/>
          </p:cNvGraphicFramePr>
          <p:nvPr>
            <p:ph idx="1"/>
          </p:nvPr>
        </p:nvGraphicFramePr>
        <p:xfrm>
          <a:off x="3575051" y="1844676"/>
          <a:ext cx="4968875" cy="4176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8" r:id="rId3" imgW="2333732" imgH="2010096" progId="">
                  <p:embed/>
                </p:oleObj>
              </mc:Choice>
              <mc:Fallback>
                <p:oleObj r:id="rId3" imgW="2333732" imgH="2010096" progId="">
                  <p:embed/>
                  <p:pic>
                    <p:nvPicPr>
                      <p:cNvPr id="39939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75051" y="1844676"/>
                        <a:ext cx="4968875" cy="41767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0D4AC957-ED8F-47AA-A2D7-5816298D884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ru-RU" altLang="ru-RU" sz="4000" b="1">
                <a:latin typeface="Times New Roman" panose="02020603050405020304" pitchFamily="18" charset="0"/>
                <a:cs typeface="Times New Roman" panose="02020603050405020304" pitchFamily="18" charset="0"/>
              </a:rPr>
              <a:t>Метод </a:t>
            </a:r>
            <a:r>
              <a:rPr lang="ru-RU" altLang="ru-RU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покоординатного спуска (метод 0-го порядка)</a:t>
            </a:r>
          </a:p>
        </p:txBody>
      </p:sp>
      <p:sp>
        <p:nvSpPr>
          <p:cNvPr id="9219" name="Rectangle 3">
            <a:extLst>
              <a:ext uri="{FF2B5EF4-FFF2-40B4-BE49-F238E27FC236}">
                <a16:creationId xmlns:a16="http://schemas.microsoft.com/office/drawing/2014/main" id="{94F0B5F8-A0A2-4ED4-8D65-1F3C2CBA1BF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Tx/>
              <a:buNone/>
            </a:pPr>
            <a:r>
              <a:rPr lang="ru-RU" alt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Функция </a:t>
            </a:r>
            <a:r>
              <a:rPr lang="ru-RU" altLang="ru-RU" dirty="0"/>
              <a:t> 			–  </a:t>
            </a:r>
            <a:r>
              <a:rPr lang="ru-RU" alt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непрерывная функция</a:t>
            </a:r>
            <a:r>
              <a:rPr lang="ru-RU" altLang="ru-RU" dirty="0"/>
              <a:t>.</a:t>
            </a:r>
          </a:p>
        </p:txBody>
      </p:sp>
      <p:sp>
        <p:nvSpPr>
          <p:cNvPr id="9220" name="Rectangle 5">
            <a:extLst>
              <a:ext uri="{FF2B5EF4-FFF2-40B4-BE49-F238E27FC236}">
                <a16:creationId xmlns:a16="http://schemas.microsoft.com/office/drawing/2014/main" id="{EBDD8FC0-5786-4189-AAF1-186228F4C6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1300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graphicFrame>
        <p:nvGraphicFramePr>
          <p:cNvPr id="9221" name="Object 4">
            <a:extLst>
              <a:ext uri="{FF2B5EF4-FFF2-40B4-BE49-F238E27FC236}">
                <a16:creationId xmlns:a16="http://schemas.microsoft.com/office/drawing/2014/main" id="{31F0BF36-D68C-4366-8A3D-C47B27D5D4B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525196" y="1778000"/>
          <a:ext cx="1944687" cy="503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2" name="Формула" r:id="rId3" imgW="889000" imgH="228600" progId="Equation.3">
                  <p:embed/>
                </p:oleObj>
              </mc:Choice>
              <mc:Fallback>
                <p:oleObj name="Формула" r:id="rId3" imgW="889000" imgH="228600" progId="Equation.3">
                  <p:embed/>
                  <p:pic>
                    <p:nvPicPr>
                      <p:cNvPr id="9221" name="Object 4">
                        <a:extLst>
                          <a:ext uri="{FF2B5EF4-FFF2-40B4-BE49-F238E27FC236}">
                            <a16:creationId xmlns:a16="http://schemas.microsoft.com/office/drawing/2014/main" id="{31F0BF36-D68C-4366-8A3D-C47B27D5D4B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25196" y="1778000"/>
                        <a:ext cx="1944687" cy="5032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9222" name="Picture 6">
            <a:extLst>
              <a:ext uri="{FF2B5EF4-FFF2-40B4-BE49-F238E27FC236}">
                <a16:creationId xmlns:a16="http://schemas.microsoft.com/office/drawing/2014/main" id="{E7B19587-A6B2-43BC-BF2E-AB517F38E8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79651" y="2600325"/>
            <a:ext cx="7345363" cy="3708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9870063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C225272-B99D-43E3-A2A4-1FD9A410BE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Эффективность численных методов оптимизации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EF17A0DF-2E97-4D3B-961C-CD1920B17D6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981200" y="1411101"/>
                <a:ext cx="8229600" cy="5172261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ru-RU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В настоящее время не существует универсальных методов решения задач оптимизации.</a:t>
                </a:r>
              </a:p>
              <a:p>
                <a:pPr marL="0" indent="0" algn="just">
                  <a:buNone/>
                </a:pPr>
                <a:r>
                  <a:rPr lang="ru-RU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Невозможно определить наилучший метод решения некоторой задачи</a:t>
                </a:r>
                <a14:m>
                  <m:oMath xmlns:m="http://schemas.openxmlformats.org/officeDocument/2006/math">
                    <m:r>
                      <a:rPr lang="ru-RU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𝒫</m:t>
                    </m:r>
                    <m:r>
                      <a:rPr lang="ru-RU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.   Однако</m:t>
                    </m:r>
                  </m:oMath>
                </a14:m>
                <a:r>
                  <a:rPr lang="ru-RU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возможно определить класс методов для определенного класса задач. Т.е. класс задач </a:t>
                </a:r>
                <a14:m>
                  <m:oMath xmlns:m="http://schemas.openxmlformats.org/officeDocument/2006/math">
                    <m:r>
                      <a:rPr lang="ru-RU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ℱ</m:t>
                    </m:r>
                  </m:oMath>
                </a14:m>
                <a:r>
                  <a:rPr lang="ru-RU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где </a:t>
                </a:r>
                <a14:m>
                  <m:oMath xmlns:m="http://schemas.openxmlformats.org/officeDocument/2006/math">
                    <m:r>
                      <a:rPr lang="ru-RU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𝒫</m:t>
                    </m:r>
                    <m:r>
                      <a:rPr lang="ru-RU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⊂</m:t>
                    </m:r>
                    <m:r>
                      <a:rPr lang="ru-RU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ℱ</m:t>
                    </m:r>
                    <m:r>
                      <a:rPr lang="ru-RU" sz="240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 и </m:t>
                    </m:r>
                    <m:r>
                      <a:rPr lang="ru-RU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ℱ</m:t>
                    </m:r>
                  </m:oMath>
                </a14:m>
                <a:r>
                  <a:rPr lang="ru-RU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- выделенный класс задач.</a:t>
                </a:r>
                <a:r>
                  <a:rPr lang="ru-RU" sz="2400" dirty="0"/>
                  <a:t> </a:t>
                </a:r>
                <a14:m>
                  <m:oMath xmlns:m="http://schemas.openxmlformats.org/officeDocument/2006/math">
                    <m:r>
                      <a:rPr lang="ru-RU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О</m:t>
                    </m:r>
                  </m:oMath>
                </a14:m>
                <a:r>
                  <a:rPr lang="ru-RU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бычно численные методы разрабатываются для решения многих однотипных задач с близкими характеристиками. Поэтому эффективность метода </a:t>
                </a:r>
                <a14:m>
                  <m:oMath xmlns:m="http://schemas.openxmlformats.org/officeDocument/2006/math">
                    <m:r>
                      <a:rPr lang="ru-RU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ℳ</m:t>
                    </m:r>
                  </m:oMath>
                </a14:m>
                <a:r>
                  <a:rPr lang="ru-RU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на всем классе задач </a:t>
                </a:r>
                <a14:m>
                  <m:oMath xmlns:m="http://schemas.openxmlformats.org/officeDocument/2006/math">
                    <m:r>
                      <a:rPr lang="ru-RU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ℱ</m:t>
                    </m:r>
                    <m:r>
                      <a:rPr lang="ru-RU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ru-RU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можно считать естественной характеристикой его качества.</a:t>
                </a:r>
              </a:p>
              <a:p>
                <a:pPr marL="0" indent="0" algn="just">
                  <a:buNone/>
                </a:pPr>
                <a:r>
                  <a:rPr lang="ru-RU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При этом следует учитывать, что метод </a:t>
                </a:r>
                <a14:m>
                  <m:oMath xmlns:m="http://schemas.openxmlformats.org/officeDocument/2006/math">
                    <m:r>
                      <a:rPr lang="ru-RU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ℳ</m:t>
                    </m:r>
                  </m:oMath>
                </a14:m>
                <a:r>
                  <a:rPr lang="ru-RU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не имеет полной информации о решаемой задаче.</a:t>
                </a:r>
              </a:p>
              <a:p>
                <a:pPr marL="0" indent="0" algn="just">
                  <a:buNone/>
                </a:pPr>
                <a:endParaRPr lang="ru-RU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EF17A0DF-2E97-4D3B-961C-CD1920B17D6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981200" y="1411101"/>
                <a:ext cx="8229600" cy="5172261"/>
              </a:xfrm>
              <a:blipFill>
                <a:blip r:embed="rId2"/>
                <a:stretch>
                  <a:fillRect l="-1481" t="-2002" r="-251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989918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41FFFFC-626B-4493-90CE-725E6FA74E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Теорема о «бесплатных завтраках»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85E2CBB-0E44-4571-A631-0B8E9A5066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81200" y="1600200"/>
            <a:ext cx="8229600" cy="4983162"/>
          </a:xfrm>
        </p:spPr>
        <p:txBody>
          <a:bodyPr/>
          <a:lstStyle/>
          <a:p>
            <a:r>
              <a:rPr lang="ru-RU" sz="2400" b="1" dirty="0">
                <a:solidFill>
                  <a:srgbClr val="2021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Теорема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ru-RU" sz="2400" b="1" dirty="0">
                <a:solidFill>
                  <a:srgbClr val="2021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Дэвида </a:t>
            </a:r>
            <a:r>
              <a:rPr lang="ru-RU" sz="2400" b="1" dirty="0" err="1">
                <a:solidFill>
                  <a:srgbClr val="2021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Волперта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и </a:t>
            </a:r>
            <a:r>
              <a:rPr lang="ru-RU" sz="2400" b="1" dirty="0">
                <a:solidFill>
                  <a:srgbClr val="2021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Уильяма </a:t>
            </a:r>
            <a:r>
              <a:rPr lang="ru-RU" sz="2400" b="1" dirty="0" err="1">
                <a:solidFill>
                  <a:srgbClr val="2021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Макриди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о бесплатном обеде (иногда во множественном числе)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“No</a:t>
            </a:r>
            <a:r>
              <a:rPr lang="ru-RU" sz="2400" dirty="0">
                <a:solidFill>
                  <a:srgbClr val="0645AD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2" tooltip="Дэвид Вольперт"/>
              </a:rPr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Free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Lunch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" (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NFL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появляется в 1997 году в "No Free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Lunch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Theorems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Optimization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». Название отсылает к поговорке «Бесплатных завтраков не бывает», то есть нет простых путей к успеху.</a:t>
            </a:r>
          </a:p>
          <a:p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Формулировка теоремы</a:t>
            </a:r>
          </a:p>
          <a:p>
            <a:pPr marL="0" indent="0"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Если алгоритм хорошо работает над определенным классом задач, то он обязательно платит за это снижением производительности на множестве всех оставшихся задач</a:t>
            </a:r>
            <a:r>
              <a:rPr lang="ru-RU" dirty="0"/>
              <a:t>.</a:t>
            </a:r>
            <a:endParaRPr lang="ru-RU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234502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DB9E826-C0D1-4AB6-8549-6ACD5FB77B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Эффективность численных методов оптимизации</a:t>
            </a:r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9735E459-13A7-47D3-A9A0-F6F2CCC0EB7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981200" y="1600200"/>
                <a:ext cx="8229600" cy="5141168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ru-RU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Заранее известная численному методу «часть» задачи </a:t>
                </a:r>
                <a14:m>
                  <m:oMath xmlns:m="http://schemas.openxmlformats.org/officeDocument/2006/math">
                    <m:r>
                      <a:rPr lang="ru-RU" b="1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𝓟</m:t>
                    </m:r>
                    <m:r>
                      <a:rPr lang="ru-RU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ru-RU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называется моделью решаемой задачи.</a:t>
                </a:r>
              </a:p>
              <a:p>
                <a:pPr marL="0" indent="0">
                  <a:buNone/>
                </a:pPr>
                <a:r>
                  <a:rPr lang="ru-RU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Обозначим модель решаемой задачи символом </a:t>
                </a:r>
                <a14:m>
                  <m:oMath xmlns:m="http://schemas.openxmlformats.org/officeDocument/2006/math">
                    <m:r>
                      <a:rPr lang="el-GR" b="1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𝜮</m:t>
                    </m:r>
                  </m:oMath>
                </a14:m>
                <a:r>
                  <a:rPr lang="ru-RU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u-RU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Обычно в модель включаются формулировка задачи, описание свойств функциональных компонент и т. д. </a:t>
                </a:r>
              </a:p>
              <a:p>
                <a:pPr marL="0" indent="0" algn="just">
                  <a:buNone/>
                </a:pPr>
                <a:r>
                  <a:rPr lang="ru-RU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Для того чтобы распознать задачу </a:t>
                </a:r>
                <a14:m>
                  <m:oMath xmlns:m="http://schemas.openxmlformats.org/officeDocument/2006/math">
                    <m:r>
                      <a:rPr lang="ru-RU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𝒫</m:t>
                    </m:r>
                    <m:r>
                      <a:rPr lang="ru-RU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ru-RU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среди всех прочих задач из данного класса (и тем самым решить ее), численный метод должен уметь накапливать специфическую информацию о решаемой задаче. Этот процесс удобно описывать с помощью понятия оракула. Оракул </a:t>
                </a:r>
                <a14:m>
                  <m:oMath xmlns:m="http://schemas.openxmlformats.org/officeDocument/2006/math">
                    <m:r>
                      <a:rPr lang="ru-RU" sz="2400" b="1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𝓞</m:t>
                    </m:r>
                  </m:oMath>
                </a14:m>
                <a:r>
                  <a:rPr lang="ru-RU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проще всего представить в виде некоторого устройства, которое отвечает на последовательные вопросы численного метода.</a:t>
                </a:r>
                <a:endParaRPr lang="ru-RU" sz="24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9735E459-13A7-47D3-A9A0-F6F2CCC0EB7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981200" y="1600200"/>
                <a:ext cx="8229600" cy="5141168"/>
              </a:xfrm>
              <a:blipFill>
                <a:blip r:embed="rId2"/>
                <a:stretch>
                  <a:fillRect l="-1481" t="-2135" r="-111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4598989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EC351A1-B7B8-42F7-8F36-F91EF76613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Эффективность численных методов оптимизации</a:t>
            </a:r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6AD02280-A102-44AF-AA7A-C46D87E77C4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ru-RU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Естественно определить эффективность метода </a:t>
                </a:r>
                <a14:m>
                  <m:oMath xmlns:m="http://schemas.openxmlformats.org/officeDocument/2006/math">
                    <m:r>
                      <a:rPr lang="ru-RU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ℳ</m:t>
                    </m:r>
                    <m:r>
                      <a:rPr lang="ru-RU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ru-RU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на паре (</a:t>
                </a:r>
                <a14:m>
                  <m:oMath xmlns:m="http://schemas.openxmlformats.org/officeDocument/2006/math">
                    <m:r>
                      <a:rPr lang="el-GR" sz="2400" b="1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𝜮</m:t>
                    </m:r>
                  </m:oMath>
                </a14:m>
                <a:r>
                  <a:rPr lang="ru-RU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</a:t>
                </a:r>
                <a:r>
                  <a:rPr lang="ru-RU" sz="2400" b="1" dirty="0"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ru-RU" sz="2400" b="1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𝓞</m:t>
                    </m:r>
                  </m:oMath>
                </a14:m>
                <a:r>
                  <a:rPr lang="ru-RU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как его эффективность на наихудшем представителе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ru-RU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𝒫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𝑤</m:t>
                        </m:r>
                      </m:sub>
                    </m:sSub>
                  </m:oMath>
                </a14:m>
                <a:r>
                  <a:rPr lang="ru-RU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из (</a:t>
                </a:r>
                <a14:m>
                  <m:oMath xmlns:m="http://schemas.openxmlformats.org/officeDocument/2006/math">
                    <m:r>
                      <a:rPr lang="el-GR" sz="2400" b="1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𝜮</m:t>
                    </m:r>
                  </m:oMath>
                </a14:m>
                <a:r>
                  <a:rPr lang="ru-RU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</a:t>
                </a:r>
                <a:r>
                  <a:rPr lang="ru-RU" sz="2400" b="1" dirty="0"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ru-RU" sz="2400" b="1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𝓞</m:t>
                    </m:r>
                  </m:oMath>
                </a14:m>
                <a:r>
                  <a:rPr lang="ru-RU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). Заметим, что задача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ru-RU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𝒫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𝑤</m:t>
                        </m:r>
                      </m:sub>
                    </m:sSub>
                  </m:oMath>
                </a14:m>
                <a:r>
                  <a:rPr lang="ru-RU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может быть трудной только для этого конкретного метода </a:t>
                </a:r>
                <a14:m>
                  <m:oMath xmlns:m="http://schemas.openxmlformats.org/officeDocument/2006/math">
                    <m:r>
                      <a:rPr lang="ru-RU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ℳ</m:t>
                    </m:r>
                  </m:oMath>
                </a14:m>
                <a:endPara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ru-RU" sz="2400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Эффективность метода </a:t>
                </a:r>
                <a14:m>
                  <m:oMath xmlns:m="http://schemas.openxmlformats.org/officeDocument/2006/math">
                    <m:r>
                      <a:rPr lang="ru-RU" sz="2400" b="1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𝓜</m:t>
                    </m:r>
                    <m:r>
                      <a:rPr lang="ru-RU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ru-RU" sz="2400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на задаче </a:t>
                </a:r>
                <a14:m>
                  <m:oMath xmlns:m="http://schemas.openxmlformats.org/officeDocument/2006/math">
                    <m:r>
                      <a:rPr lang="ru-RU" sz="2400" b="1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𝓟</m:t>
                    </m:r>
                    <m:r>
                      <a:rPr lang="ru-RU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ru-RU" sz="2400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определяется через общие вычислительные затраты метода M, необходимые для того, чтобы решить задачу </a:t>
                </a:r>
                <a14:m>
                  <m:oMath xmlns:m="http://schemas.openxmlformats.org/officeDocument/2006/math">
                    <m:r>
                      <a:rPr lang="ru-RU" sz="2400" b="1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𝓟</m:t>
                    </m:r>
                  </m:oMath>
                </a14:m>
                <a:r>
                  <a:rPr lang="ru-RU" sz="2400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:endParaRPr lang="en-US" sz="2400" b="1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ru-RU" sz="2400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Решить задачу </a:t>
                </a:r>
                <a14:m>
                  <m:oMath xmlns:m="http://schemas.openxmlformats.org/officeDocument/2006/math">
                    <m:r>
                      <a:rPr lang="ru-RU" sz="2400" b="1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𝓟</m:t>
                    </m:r>
                  </m:oMath>
                </a14:m>
                <a:r>
                  <a:rPr lang="ru-RU" sz="2400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означает найти ее приближенное решение с заранее заданной точностью</a:t>
                </a:r>
                <a:r>
                  <a:rPr lang="en-US" sz="2400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b="1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𝜺</m:t>
                    </m:r>
                    <m:r>
                      <a:rPr lang="en-US" sz="2400" b="1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&gt;</m:t>
                    </m:r>
                    <m:r>
                      <a:rPr lang="en-US" sz="2400" b="1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𝟎</m:t>
                    </m:r>
                    <m:r>
                      <a:rPr lang="en-US" sz="2400" b="1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.</m:t>
                    </m:r>
                  </m:oMath>
                </a14:m>
                <a:endParaRPr lang="en-US" sz="2400" b="1" i="1" dirty="0"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ru-RU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Введем обозначение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ru-RU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𝒯</m:t>
                        </m:r>
                      </m:e>
                      <m:sub>
                        <m:r>
                          <a:rPr lang="ru-RU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ℰ</m:t>
                        </m:r>
                      </m:sub>
                    </m:sSub>
                  </m:oMath>
                </a14:m>
                <a:r>
                  <a:rPr lang="ru-RU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для некоторого критерия остановки, способного оценить качество предлагаемого решения. </a:t>
                </a:r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6AD02280-A102-44AF-AA7A-C46D87E77C4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111" t="-1078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6150806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663EDA9-5CCA-45D1-A33B-DCB013EF86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Эффективность численных методов оптимизации</a:t>
            </a:r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95AE8DEB-EFF6-4F20-ADC6-4F034DC284C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959496" y="2492896"/>
                <a:ext cx="8229600" cy="3484984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ru-RU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Формальное определение класса решаемых задач</a:t>
                </a:r>
                <a:endParaRPr lang="ru-RU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a:rPr lang="ru-RU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𝓕</m:t>
                    </m:r>
                    <m:r>
                      <a:rPr lang="ru-RU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=(</m:t>
                    </m:r>
                    <m:r>
                      <a:rPr lang="el-GR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𝜮</m:t>
                    </m:r>
                    <m:r>
                      <m:rPr>
                        <m:nor/>
                      </m:rPr>
                      <a:rPr lang="ru-RU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,</m:t>
                    </m:r>
                    <m:r>
                      <m:rPr>
                        <m:nor/>
                      </m:rPr>
                      <a:rPr lang="ru-RU" b="1" dirty="0"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ru-RU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𝓞</m:t>
                    </m:r>
                    <m:r>
                      <a:rPr lang="en-US" b="1" i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</m:oMath>
                </a14:m>
                <a:r>
                  <a:rPr lang="ru-RU" b="1" dirty="0"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b="1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ru-RU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𝓣</m:t>
                        </m:r>
                      </m:e>
                      <m:sub>
                        <m:r>
                          <a:rPr lang="ru-RU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𝓔</m:t>
                        </m:r>
                      </m:sub>
                    </m:sSub>
                  </m:oMath>
                </a14:m>
                <a:r>
                  <a:rPr lang="ru-RU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).</a:t>
                </a:r>
              </a:p>
              <a:p>
                <a:pPr marL="0" indent="0" algn="just">
                  <a:buNone/>
                </a:pPr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Для решения конкретной задачи </a:t>
                </a:r>
                <a14:m>
                  <m:oMath xmlns:m="http://schemas.openxmlformats.org/officeDocument/2006/math">
                    <m:r>
                      <a:rPr lang="ru-RU" b="1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𝓟</m:t>
                    </m:r>
                    <m:r>
                      <a:rPr lang="ru-RU" b="1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∈</m:t>
                    </m:r>
                    <m:r>
                      <a:rPr lang="ru-RU" b="1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𝓕</m:t>
                    </m:r>
                    <m:r>
                      <a:rPr lang="ru-RU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естественно применить некую </a:t>
                </a:r>
                <a:r>
                  <a:rPr lang="ru-RU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итеративную процедуру. </a:t>
                </a:r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Именно в таком виде удобно записывать любой метод </a:t>
                </a:r>
                <a14:m>
                  <m:oMath xmlns:m="http://schemas.openxmlformats.org/officeDocument/2006/math">
                    <m:r>
                      <a:rPr lang="ru-RU" b="1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𝓜</m:t>
                    </m:r>
                  </m:oMath>
                </a14:m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работающий с оракулом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ru-RU" b="1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𝓞</m:t>
                    </m:r>
                  </m:oMath>
                </a14:m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95AE8DEB-EFF6-4F20-ADC6-4F034DC284C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959496" y="2492896"/>
                <a:ext cx="8229600" cy="3484984"/>
              </a:xfrm>
              <a:blipFill>
                <a:blip r:embed="rId2"/>
                <a:stretch>
                  <a:fillRect l="-1481" t="-3147" r="-1556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8766781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74D3F92-6DDA-4DAE-BFE4-8C562A8738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Эффективность численных методов оптимизации</a:t>
            </a:r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CB3A6643-D8F3-44D7-A278-A985ED8D799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981200" y="1600200"/>
                <a:ext cx="8435280" cy="4709120"/>
              </a:xfrm>
            </p:spPr>
            <p:txBody>
              <a:bodyPr/>
              <a:lstStyle/>
              <a:p>
                <a:pPr marL="0" indent="0" algn="ctr">
                  <a:buNone/>
                </a:pPr>
                <a:r>
                  <a:rPr lang="ru-RU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Общая итеративная схема </a:t>
                </a:r>
                <a:endParaRPr lang="en-US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ru-RU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Вводные данные</a:t>
                </a:r>
                <a:r>
                  <a:rPr lang="ru-RU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начальная точка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u-RU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и требуемая точность </a:t>
                </a:r>
                <a14:m>
                  <m:oMath xmlns:m="http://schemas.openxmlformats.org/officeDocument/2006/math">
                    <m:r>
                      <a:rPr lang="en-US" sz="2000" b="1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𝜺</m:t>
                    </m:r>
                    <m:r>
                      <a:rPr lang="en-US" sz="2000" b="1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&gt;</m:t>
                    </m:r>
                    <m:r>
                      <a:rPr lang="en-US" sz="2000" b="1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𝟎</m:t>
                    </m:r>
                    <m:r>
                      <a:rPr lang="en-US" sz="2000" b="1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ru-RU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</a:t>
                </a:r>
                <a:r>
                  <a:rPr lang="ru-RU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Настройка</a:t>
                </a:r>
                <a:r>
                  <a:rPr lang="ru-RU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Полагаем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𝑘</m:t>
                    </m:r>
                    <m:r>
                      <a:rPr lang="en-US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=0</m:t>
                    </m:r>
                  </m:oMath>
                </a14:m>
                <a:r>
                  <a:rPr lang="ru-RU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и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𝐼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−1</m:t>
                        </m:r>
                      </m:sub>
                    </m:sSub>
                  </m:oMath>
                </a14:m>
                <a:r>
                  <a:rPr lang="ru-RU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 ∅. Здесь </a:t>
                </a:r>
                <a:r>
                  <a:rPr lang="ru-RU" sz="20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 </a:t>
                </a:r>
                <a:r>
                  <a:rPr lang="ru-RU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–– это счетчик итераций, а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𝐼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𝑘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ru-RU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–– это накапливаемая информационная модель решаемой задачи. </a:t>
                </a:r>
                <a:endParaRPr 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ru-RU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Основной цикл</a:t>
                </a:r>
                <a:r>
                  <a:rPr lang="ru-RU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</a:t>
                </a:r>
              </a:p>
              <a:p>
                <a:pPr marL="0" indent="0">
                  <a:buNone/>
                </a:pPr>
                <a:r>
                  <a:rPr lang="ru-RU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Шаг 1.</a:t>
                </a:r>
                <a:r>
                  <a:rPr lang="ru-RU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Задаем вопрос оракулу </a:t>
                </a:r>
                <a14:m>
                  <m:oMath xmlns:m="http://schemas.openxmlformats.org/officeDocument/2006/math">
                    <m:r>
                      <a:rPr lang="ru-RU" sz="2000" b="1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𝓞</m:t>
                    </m:r>
                    <m:r>
                      <a:rPr lang="ru-RU" sz="2000" b="1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ru-RU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в точке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ru-RU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.</a:t>
                </a:r>
              </a:p>
              <a:p>
                <a:pPr marL="0" indent="0">
                  <a:buNone/>
                </a:pPr>
                <a:r>
                  <a:rPr lang="ru-RU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Шаг 2.</a:t>
                </a:r>
                <a:r>
                  <a:rPr lang="ru-RU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Пересчитываем информационную модель: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𝐼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𝑘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𝐼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𝑘</m:t>
                        </m:r>
                        <m:r>
                          <a:rPr lang="en-US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−1</m:t>
                        </m:r>
                      </m:sub>
                    </m:sSub>
                  </m:oMath>
                </a14:m>
                <a:r>
                  <a:rPr lang="ru-RU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∪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(</m:t>
                        </m:r>
                        <m:r>
                          <a:rPr lang="en-US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ru-RU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ru-RU" sz="2000" b="1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𝓞</m:t>
                    </m:r>
                  </m:oMath>
                </a14:m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ru-RU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  <a:r>
                  <a:rPr lang="ru-RU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. </a:t>
                </a:r>
              </a:p>
              <a:p>
                <a:pPr marL="0" indent="0">
                  <a:buNone/>
                </a:pPr>
                <a:r>
                  <a:rPr lang="ru-RU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Шаг 3.</a:t>
                </a:r>
                <a:r>
                  <a:rPr lang="ru-RU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Применяем правила метода </a:t>
                </a:r>
                <a14:m>
                  <m:oMath xmlns:m="http://schemas.openxmlformats.org/officeDocument/2006/math">
                    <m:r>
                      <a:rPr lang="ru-RU" sz="2000" b="1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𝓜</m:t>
                    </m:r>
                    <m:r>
                      <a:rPr lang="ru-RU" sz="2000" b="1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ru-RU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для анализа модели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𝐼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𝑘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ru-RU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и формируем точку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𝑘</m:t>
                        </m:r>
                        <m:r>
                          <a:rPr lang="en-US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+1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ru-RU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</a:t>
                </a:r>
              </a:p>
              <a:p>
                <a:pPr marL="0" indent="0">
                  <a:buNone/>
                </a:pPr>
                <a:r>
                  <a:rPr lang="ru-RU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Шаг 4.</a:t>
                </a:r>
                <a:r>
                  <a:rPr lang="ru-RU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Проверяем критерий остановки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000" b="1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ru-RU" sz="20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𝓣</m:t>
                        </m:r>
                      </m:e>
                      <m:sub>
                        <m:r>
                          <a:rPr lang="ru-RU" sz="20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𝓔</m:t>
                        </m:r>
                      </m:sub>
                    </m:sSub>
                  </m:oMath>
                </a14:m>
                <a:r>
                  <a:rPr lang="ru-RU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u-RU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Если ответ положительный, то генерируем ответ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ru-RU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n-US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</m:acc>
                  </m:oMath>
                </a14:m>
                <a:r>
                  <a:rPr lang="ru-RU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В противном случае полагаем </a:t>
                </a:r>
                <a:r>
                  <a:rPr lang="ru-RU" sz="20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 := k + 1 </a:t>
                </a:r>
                <a:r>
                  <a:rPr lang="ru-RU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и переходим на </a:t>
                </a:r>
                <a:r>
                  <a:rPr lang="ru-RU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шаг </a:t>
                </a:r>
                <a:r>
                  <a:rPr lang="en-US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r>
                  <a:rPr lang="ru-RU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CB3A6643-D8F3-44D7-A278-A985ED8D799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981200" y="1600200"/>
                <a:ext cx="8435280" cy="4709120"/>
              </a:xfrm>
              <a:blipFill>
                <a:blip r:embed="rId2"/>
                <a:stretch>
                  <a:fillRect l="-1084" t="-2332" r="-86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3011402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687B7FF-6A3D-4904-ACB3-B8296C03B2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Эффективность численных методов оптимизации</a:t>
            </a:r>
            <a:endParaRPr lang="ru-RU" sz="3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B1121699-CE33-40FE-BA18-6CB4086F617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775520" y="1600201"/>
                <a:ext cx="8712968" cy="4525963"/>
              </a:xfrm>
            </p:spPr>
            <p:txBody>
              <a:bodyPr/>
              <a:lstStyle/>
              <a:p>
                <a:pPr marL="0" indent="0" algn="just">
                  <a:buNone/>
                </a:pPr>
                <a:r>
                  <a:rPr lang="ru-RU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Наиболее трудоемкими являются два шага. Первый – это обращение к оракулу </a:t>
                </a:r>
                <a14:m>
                  <m:oMath xmlns:m="http://schemas.openxmlformats.org/officeDocument/2006/math">
                    <m:r>
                      <a:rPr lang="ru-RU" sz="2400" b="1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𝓞</m:t>
                    </m:r>
                  </m:oMath>
                </a14:m>
                <a:r>
                  <a:rPr lang="ru-RU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u-RU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Шаг 1. </a:t>
                </a:r>
                <a:r>
                  <a:rPr lang="ru-RU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Второй </a:t>
                </a:r>
                <a:r>
                  <a:rPr lang="ru-RU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Шаг 3, </a:t>
                </a:r>
                <a:r>
                  <a:rPr lang="ru-RU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на котором анализируется накопленная модель и формируется следующая тестовая точка.</a:t>
                </a:r>
              </a:p>
              <a:p>
                <a:pPr marL="0" indent="0" algn="just">
                  <a:buNone/>
                </a:pPr>
                <a:r>
                  <a:rPr lang="ru-RU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Таким образом, можно ввести две меры сложности задачи </a:t>
                </a:r>
                <a14:m>
                  <m:oMath xmlns:m="http://schemas.openxmlformats.org/officeDocument/2006/math">
                    <m:r>
                      <a:rPr lang="ru-RU" sz="2400" b="1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𝓟</m:t>
                    </m:r>
                    <m:r>
                      <a:rPr lang="ru-RU" sz="2400" b="1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ru-RU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и для метода </a:t>
                </a:r>
                <a14:m>
                  <m:oMath xmlns:m="http://schemas.openxmlformats.org/officeDocument/2006/math">
                    <m:r>
                      <a:rPr lang="ru-RU" sz="2400" b="1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𝓜</m:t>
                    </m:r>
                  </m:oMath>
                </a14:m>
                <a:r>
                  <a:rPr lang="ru-RU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marL="0" indent="0" algn="just">
                  <a:buNone/>
                </a:pPr>
                <a:r>
                  <a:rPr lang="ru-RU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Аналитическая сложность. </a:t>
                </a:r>
                <a:r>
                  <a:rPr lang="ru-RU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Это число обращений к оракулу, необходимое для решения задачи </a:t>
                </a:r>
                <a14:m>
                  <m:oMath xmlns:m="http://schemas.openxmlformats.org/officeDocument/2006/math">
                    <m:r>
                      <a:rPr lang="ru-RU" sz="2400" b="1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𝓟</m:t>
                    </m:r>
                    <m:r>
                      <a:rPr lang="ru-RU" sz="2400" b="1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ru-RU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с точностью </a:t>
                </a:r>
                <a14:m>
                  <m:oMath xmlns:m="http://schemas.openxmlformats.org/officeDocument/2006/math">
                    <m:r>
                      <a:rPr lang="en-US" sz="2400" b="1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𝜺</m:t>
                    </m:r>
                    <m:r>
                      <a:rPr lang="en-US" sz="2400" b="1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ru-RU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</a:t>
                </a:r>
                <a:r>
                  <a:rPr lang="ru-RU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Арифметическая сложность</a:t>
                </a:r>
                <a:r>
                  <a:rPr lang="ru-RU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Это общее число всех вычислений (включая как работу оракула, так и работу метода), необходимых для решения задачи </a:t>
                </a:r>
                <a14:m>
                  <m:oMath xmlns:m="http://schemas.openxmlformats.org/officeDocument/2006/math">
                    <m:r>
                      <a:rPr lang="ru-RU" sz="2400" b="1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𝓟</m:t>
                    </m:r>
                    <m:r>
                      <a:rPr lang="ru-RU" sz="2400" b="1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ru-RU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с точностью </a:t>
                </a:r>
                <a14:m>
                  <m:oMath xmlns:m="http://schemas.openxmlformats.org/officeDocument/2006/math">
                    <m:r>
                      <a:rPr lang="en-US" sz="2400" b="1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𝜺</m:t>
                    </m:r>
                  </m:oMath>
                </a14:m>
                <a:r>
                  <a:rPr lang="ru-RU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B1121699-CE33-40FE-BA18-6CB4086F617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775520" y="1600201"/>
                <a:ext cx="8712968" cy="4525963"/>
              </a:xfrm>
              <a:blipFill>
                <a:blip r:embed="rId2"/>
                <a:stretch>
                  <a:fillRect l="-1049" t="-1887" r="-104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278775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1F07142-7254-4179-AA01-EA1B6CA3F3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Эффективность численных методов оптимизации</a:t>
            </a:r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6429A4DC-E731-46A8-9886-B80262AA040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135560" y="2057400"/>
                <a:ext cx="8229600" cy="4525963"/>
              </a:xfrm>
            </p:spPr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:r>
                  <a:rPr lang="ru-RU" sz="2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В соответствии со степенью гладкости функциональной модели можно пользоваться разными типами оракулов. </a:t>
                </a:r>
              </a:p>
              <a:p>
                <a:r>
                  <a:rPr lang="ru-RU" sz="2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Оракул </a:t>
                </a:r>
                <a:r>
                  <a:rPr lang="ru-RU" sz="2600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нулевого порядка</a:t>
                </a:r>
                <a:r>
                  <a:rPr lang="ru-RU" sz="2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возвращает значение функции </a:t>
                </a:r>
                <a14:m>
                  <m:oMath xmlns:m="http://schemas.openxmlformats.org/officeDocument/2006/math">
                    <m:r>
                      <a:rPr lang="en-US" sz="26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𝑓</m:t>
                    </m:r>
                    <m:r>
                      <a:rPr lang="en-US" sz="26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sz="26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sz="26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ru-RU" sz="2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</a:t>
                </a:r>
                <a:endParaRPr lang="en-US" sz="2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ru-RU" sz="2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Оракул </a:t>
                </a:r>
                <a:r>
                  <a:rPr lang="ru-RU" sz="2600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первого порядка: </a:t>
                </a:r>
                <a:r>
                  <a:rPr lang="ru-RU" sz="2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возвращает значение функции </a:t>
                </a:r>
                <a14:m>
                  <m:oMath xmlns:m="http://schemas.openxmlformats.org/officeDocument/2006/math">
                    <m:r>
                      <a:rPr lang="en-US" sz="26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𝑓</m:t>
                    </m:r>
                    <m:r>
                      <a:rPr lang="en-US" sz="26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sz="26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sz="26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ru-RU" sz="2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и ее градиент </a:t>
                </a:r>
                <a14:m>
                  <m:oMath xmlns:m="http://schemas.openxmlformats.org/officeDocument/2006/math">
                    <m:r>
                      <a:rPr lang="en-US" sz="26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𝑓</m:t>
                    </m:r>
                    <m:r>
                      <a:rPr lang="en-US" sz="26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′(</m:t>
                    </m:r>
                    <m:r>
                      <a:rPr lang="en-US" sz="26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sz="26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ru-RU" sz="2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:endParaRPr lang="en-US" sz="2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ru-RU" sz="2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Оракул </a:t>
                </a:r>
                <a:r>
                  <a:rPr lang="ru-RU" sz="2600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второго порядка</a:t>
                </a:r>
                <a:r>
                  <a:rPr lang="ru-RU" sz="2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возвращает </a:t>
                </a:r>
                <a14:m>
                  <m:oMath xmlns:m="http://schemas.openxmlformats.org/officeDocument/2006/math">
                    <m:r>
                      <a:rPr lang="en-US" sz="26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𝑓</m:t>
                    </m:r>
                    <m:d>
                      <m:dPr>
                        <m:ctrlPr>
                          <a:rPr lang="en-US" sz="2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2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</m:d>
                    <m:r>
                      <a:rPr lang="en-US" sz="260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</m:oMath>
                </a14:m>
                <a:r>
                  <a:rPr lang="ru-RU" sz="2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ее градиент </a:t>
                </a:r>
                <a14:m>
                  <m:oMath xmlns:m="http://schemas.openxmlformats.org/officeDocument/2006/math">
                    <m:r>
                      <a:rPr lang="en-US" sz="26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𝑓</m:t>
                    </m:r>
                    <m:r>
                      <a:rPr lang="en-US" sz="26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′(</m:t>
                    </m:r>
                    <m:r>
                      <a:rPr lang="en-US" sz="26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sz="26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 </m:t>
                    </m:r>
                  </m:oMath>
                </a14:m>
                <a:r>
                  <a:rPr lang="ru-RU" sz="2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и матрицу гессиана </a:t>
                </a:r>
                <a14:m>
                  <m:oMath xmlns:m="http://schemas.openxmlformats.org/officeDocument/2006/math">
                    <m:r>
                      <a:rPr lang="en-US" sz="26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𝑓</m:t>
                    </m:r>
                    <m:r>
                      <a:rPr lang="en-US" sz="26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′′(</m:t>
                    </m:r>
                    <m:r>
                      <a:rPr lang="en-US" sz="26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sz="26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 </m:t>
                    </m:r>
                  </m:oMath>
                </a14:m>
                <a:r>
                  <a:rPr lang="ru-RU" sz="2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:endParaRPr lang="en-US" sz="2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ru-RU" sz="2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Мы рассмотрим применение этих оракулов в различных методах.</a:t>
                </a:r>
                <a:endParaRPr lang="en-US" sz="2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ru-RU" sz="2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endParaRPr lang="en-US" sz="2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ru-RU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6429A4DC-E731-46A8-9886-B80262AA040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135560" y="2057400"/>
                <a:ext cx="8229600" cy="4525963"/>
              </a:xfrm>
              <a:blipFill>
                <a:blip r:embed="rId2"/>
                <a:stretch>
                  <a:fillRect l="-1333" t="-3100" r="-103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8994187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0D4AC957-ED8F-47AA-A2D7-5816298D884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ru-RU" altLang="ru-RU" sz="4000" b="1" u="sng" dirty="0"/>
              <a:t> </a:t>
            </a:r>
            <a:r>
              <a:rPr lang="ru-RU" altLang="ru-RU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Метод покоординатного спуска (метод 0-го порядка)</a:t>
            </a:r>
          </a:p>
        </p:txBody>
      </p:sp>
      <p:sp>
        <p:nvSpPr>
          <p:cNvPr id="9219" name="Rectangle 3">
            <a:extLst>
              <a:ext uri="{FF2B5EF4-FFF2-40B4-BE49-F238E27FC236}">
                <a16:creationId xmlns:a16="http://schemas.microsoft.com/office/drawing/2014/main" id="{94F0B5F8-A0A2-4ED4-8D65-1F3C2CBA1BF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Tx/>
              <a:buNone/>
            </a:pPr>
            <a:r>
              <a:rPr lang="ru-RU" alt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Функция </a:t>
            </a:r>
            <a:r>
              <a:rPr lang="ru-RU" altLang="ru-RU" dirty="0"/>
              <a:t> 			–  </a:t>
            </a:r>
            <a:r>
              <a:rPr lang="ru-RU" alt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непрерывная функция</a:t>
            </a:r>
            <a:r>
              <a:rPr lang="ru-RU" altLang="ru-RU" dirty="0"/>
              <a:t>.</a:t>
            </a:r>
          </a:p>
        </p:txBody>
      </p:sp>
      <p:sp>
        <p:nvSpPr>
          <p:cNvPr id="9220" name="Rectangle 5">
            <a:extLst>
              <a:ext uri="{FF2B5EF4-FFF2-40B4-BE49-F238E27FC236}">
                <a16:creationId xmlns:a16="http://schemas.microsoft.com/office/drawing/2014/main" id="{EBDD8FC0-5786-4189-AAF1-186228F4C6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1300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graphicFrame>
        <p:nvGraphicFramePr>
          <p:cNvPr id="9221" name="Object 4">
            <a:extLst>
              <a:ext uri="{FF2B5EF4-FFF2-40B4-BE49-F238E27FC236}">
                <a16:creationId xmlns:a16="http://schemas.microsoft.com/office/drawing/2014/main" id="{31F0BF36-D68C-4366-8A3D-C47B27D5D4B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525196" y="1778000"/>
          <a:ext cx="1944687" cy="503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6" name="Формула" r:id="rId3" imgW="889000" imgH="228600" progId="Equation.3">
                  <p:embed/>
                </p:oleObj>
              </mc:Choice>
              <mc:Fallback>
                <p:oleObj name="Формула" r:id="rId3" imgW="889000" imgH="228600" progId="Equation.3">
                  <p:embed/>
                  <p:pic>
                    <p:nvPicPr>
                      <p:cNvPr id="9221" name="Object 4">
                        <a:extLst>
                          <a:ext uri="{FF2B5EF4-FFF2-40B4-BE49-F238E27FC236}">
                            <a16:creationId xmlns:a16="http://schemas.microsoft.com/office/drawing/2014/main" id="{31F0BF36-D68C-4366-8A3D-C47B27D5D4B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25196" y="1778000"/>
                        <a:ext cx="1944687" cy="5032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9222" name="Picture 6">
            <a:extLst>
              <a:ext uri="{FF2B5EF4-FFF2-40B4-BE49-F238E27FC236}">
                <a16:creationId xmlns:a16="http://schemas.microsoft.com/office/drawing/2014/main" id="{E7B19587-A6B2-43BC-BF2E-AB517F38E8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79651" y="2600325"/>
            <a:ext cx="7345363" cy="3708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9046E4FD-CC34-4CDD-92A7-741E1BFA3D9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ru-RU" altLang="ru-RU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Алгоритм:</a:t>
            </a:r>
          </a:p>
        </p:txBody>
      </p:sp>
      <p:sp>
        <p:nvSpPr>
          <p:cNvPr id="10243" name="Rectangle 3">
            <a:extLst>
              <a:ext uri="{FF2B5EF4-FFF2-40B4-BE49-F238E27FC236}">
                <a16:creationId xmlns:a16="http://schemas.microsoft.com/office/drawing/2014/main" id="{82D45070-4D7F-4ADF-9347-498811F85C2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992313" y="1557338"/>
            <a:ext cx="8229600" cy="4525962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ru-RU" altLang="ru-RU" sz="2000"/>
              <a:t>Ш1. Направление     - выбирается вдоль координаты       от точки       , т.е.   </a:t>
            </a:r>
          </a:p>
        </p:txBody>
      </p:sp>
      <p:sp>
        <p:nvSpPr>
          <p:cNvPr id="10244" name="Rectangle 5">
            <a:extLst>
              <a:ext uri="{FF2B5EF4-FFF2-40B4-BE49-F238E27FC236}">
                <a16:creationId xmlns:a16="http://schemas.microsoft.com/office/drawing/2014/main" id="{23EAA42D-1E5C-4995-827A-7C5ED65B15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graphicFrame>
        <p:nvGraphicFramePr>
          <p:cNvPr id="10245" name="Object 4">
            <a:extLst>
              <a:ext uri="{FF2B5EF4-FFF2-40B4-BE49-F238E27FC236}">
                <a16:creationId xmlns:a16="http://schemas.microsoft.com/office/drawing/2014/main" id="{22A2616F-2DCC-422F-88D7-F093CAEAE2F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027032" y="1455699"/>
          <a:ext cx="415925" cy="433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74" name="Формула" r:id="rId3" imgW="190417" imgH="203112" progId="Equation.3">
                  <p:embed/>
                </p:oleObj>
              </mc:Choice>
              <mc:Fallback>
                <p:oleObj name="Формула" r:id="rId3" imgW="190417" imgH="203112" progId="Equation.3">
                  <p:embed/>
                  <p:pic>
                    <p:nvPicPr>
                      <p:cNvPr id="10245" name="Object 4">
                        <a:extLst>
                          <a:ext uri="{FF2B5EF4-FFF2-40B4-BE49-F238E27FC236}">
                            <a16:creationId xmlns:a16="http://schemas.microsoft.com/office/drawing/2014/main" id="{22A2616F-2DCC-422F-88D7-F093CAEAE2F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27032" y="1455699"/>
                        <a:ext cx="415925" cy="4333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46" name="Rectangle 7">
            <a:extLst>
              <a:ext uri="{FF2B5EF4-FFF2-40B4-BE49-F238E27FC236}">
                <a16:creationId xmlns:a16="http://schemas.microsoft.com/office/drawing/2014/main" id="{17007CEB-2313-4FA5-A3B0-D3BC14445B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172897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graphicFrame>
        <p:nvGraphicFramePr>
          <p:cNvPr id="10247" name="Object 6">
            <a:extLst>
              <a:ext uri="{FF2B5EF4-FFF2-40B4-BE49-F238E27FC236}">
                <a16:creationId xmlns:a16="http://schemas.microsoft.com/office/drawing/2014/main" id="{B85B7292-CF48-4540-B08F-E1FE862F1CF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989203" y="1433512"/>
          <a:ext cx="647700" cy="496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75" name="Формула" r:id="rId5" imgW="253780" imgH="203024" progId="Equation.3">
                  <p:embed/>
                </p:oleObj>
              </mc:Choice>
              <mc:Fallback>
                <p:oleObj name="Формула" r:id="rId5" imgW="253780" imgH="203024" progId="Equation.3">
                  <p:embed/>
                  <p:pic>
                    <p:nvPicPr>
                      <p:cNvPr id="10247" name="Object 6">
                        <a:extLst>
                          <a:ext uri="{FF2B5EF4-FFF2-40B4-BE49-F238E27FC236}">
                            <a16:creationId xmlns:a16="http://schemas.microsoft.com/office/drawing/2014/main" id="{B85B7292-CF48-4540-B08F-E1FE862F1CF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989203" y="1433512"/>
                        <a:ext cx="647700" cy="4968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48" name="Rectangle 9">
            <a:extLst>
              <a:ext uri="{FF2B5EF4-FFF2-40B4-BE49-F238E27FC236}">
                <a16:creationId xmlns:a16="http://schemas.microsoft.com/office/drawing/2014/main" id="{36664BA8-6918-4373-81A5-D2F74F68E6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graphicFrame>
        <p:nvGraphicFramePr>
          <p:cNvPr id="10249" name="Object 8">
            <a:extLst>
              <a:ext uri="{FF2B5EF4-FFF2-40B4-BE49-F238E27FC236}">
                <a16:creationId xmlns:a16="http://schemas.microsoft.com/office/drawing/2014/main" id="{8927286D-94AD-40F1-9E75-6B159E04573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716968" y="1354137"/>
          <a:ext cx="441325" cy="576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76" name="Формула" r:id="rId7" imgW="177646" imgH="228402" progId="Equation.3">
                  <p:embed/>
                </p:oleObj>
              </mc:Choice>
              <mc:Fallback>
                <p:oleObj name="Формула" r:id="rId7" imgW="177646" imgH="228402" progId="Equation.3">
                  <p:embed/>
                  <p:pic>
                    <p:nvPicPr>
                      <p:cNvPr id="10249" name="Object 8">
                        <a:extLst>
                          <a:ext uri="{FF2B5EF4-FFF2-40B4-BE49-F238E27FC236}">
                            <a16:creationId xmlns:a16="http://schemas.microsoft.com/office/drawing/2014/main" id="{8927286D-94AD-40F1-9E75-6B159E04573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16968" y="1354137"/>
                        <a:ext cx="441325" cy="5762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50" name="Rectangle 11">
            <a:extLst>
              <a:ext uri="{FF2B5EF4-FFF2-40B4-BE49-F238E27FC236}">
                <a16:creationId xmlns:a16="http://schemas.microsoft.com/office/drawing/2014/main" id="{84BE58F7-E21D-4E86-84A7-90B6D0F781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020497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graphicFrame>
        <p:nvGraphicFramePr>
          <p:cNvPr id="10251" name="Object 10">
            <a:extLst>
              <a:ext uri="{FF2B5EF4-FFF2-40B4-BE49-F238E27FC236}">
                <a16:creationId xmlns:a16="http://schemas.microsoft.com/office/drawing/2014/main" id="{5A5CCBDF-4DA2-4F9D-A170-91146CA0B77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618125" y="1771305"/>
          <a:ext cx="1439863" cy="777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77" name="Формула" r:id="rId9" imgW="952087" imgH="444307" progId="Equation.3">
                  <p:embed/>
                </p:oleObj>
              </mc:Choice>
              <mc:Fallback>
                <p:oleObj name="Формула" r:id="rId9" imgW="952087" imgH="444307" progId="Equation.3">
                  <p:embed/>
                  <p:pic>
                    <p:nvPicPr>
                      <p:cNvPr id="10251" name="Object 10">
                        <a:extLst>
                          <a:ext uri="{FF2B5EF4-FFF2-40B4-BE49-F238E27FC236}">
                            <a16:creationId xmlns:a16="http://schemas.microsoft.com/office/drawing/2014/main" id="{5A5CCBDF-4DA2-4F9D-A170-91146CA0B77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18125" y="1771305"/>
                        <a:ext cx="1439863" cy="777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52" name="Rectangle 12">
            <a:extLst>
              <a:ext uri="{FF2B5EF4-FFF2-40B4-BE49-F238E27FC236}">
                <a16:creationId xmlns:a16="http://schemas.microsoft.com/office/drawing/2014/main" id="{34A07DF3-042F-4091-803A-1E5003A51E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74826" y="2347269"/>
            <a:ext cx="4275401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sz="2000"/>
              <a:t>Ш2. Определяется величина шага</a:t>
            </a:r>
            <a:r>
              <a:rPr lang="ru-RU" altLang="ru-RU" sz="2400"/>
              <a:t>     </a:t>
            </a:r>
          </a:p>
        </p:txBody>
      </p:sp>
      <p:sp>
        <p:nvSpPr>
          <p:cNvPr id="10253" name="Rectangle 14">
            <a:extLst>
              <a:ext uri="{FF2B5EF4-FFF2-40B4-BE49-F238E27FC236}">
                <a16:creationId xmlns:a16="http://schemas.microsoft.com/office/drawing/2014/main" id="{E4D8A81C-D5BF-4CEC-A4A1-67C53648C2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115747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graphicFrame>
        <p:nvGraphicFramePr>
          <p:cNvPr id="10254" name="Object 13">
            <a:extLst>
              <a:ext uri="{FF2B5EF4-FFF2-40B4-BE49-F238E27FC236}">
                <a16:creationId xmlns:a16="http://schemas.microsoft.com/office/drawing/2014/main" id="{1664A75A-3449-4EC0-92BB-15C8769DF92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096000" y="2349500"/>
          <a:ext cx="3455988" cy="446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78" name="Формула" r:id="rId11" imgW="2336800" imgH="254000" progId="Equation.3">
                  <p:embed/>
                </p:oleObj>
              </mc:Choice>
              <mc:Fallback>
                <p:oleObj name="Формула" r:id="rId11" imgW="2336800" imgH="254000" progId="Equation.3">
                  <p:embed/>
                  <p:pic>
                    <p:nvPicPr>
                      <p:cNvPr id="10254" name="Object 13">
                        <a:extLst>
                          <a:ext uri="{FF2B5EF4-FFF2-40B4-BE49-F238E27FC236}">
                            <a16:creationId xmlns:a16="http://schemas.microsoft.com/office/drawing/2014/main" id="{1664A75A-3449-4EC0-92BB-15C8769DF92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0" y="2349500"/>
                        <a:ext cx="3455988" cy="4460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55" name="Rectangle 15">
            <a:extLst>
              <a:ext uri="{FF2B5EF4-FFF2-40B4-BE49-F238E27FC236}">
                <a16:creationId xmlns:a16="http://schemas.microsoft.com/office/drawing/2014/main" id="{5C80FF1E-CC38-4A54-9701-5F127B7A3A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47850" y="2851121"/>
            <a:ext cx="415492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sz="2000"/>
              <a:t>Ш3. Формируется новое значение    </a:t>
            </a:r>
          </a:p>
        </p:txBody>
      </p:sp>
      <p:sp>
        <p:nvSpPr>
          <p:cNvPr id="10256" name="Rectangle 17">
            <a:extLst>
              <a:ext uri="{FF2B5EF4-FFF2-40B4-BE49-F238E27FC236}">
                <a16:creationId xmlns:a16="http://schemas.microsoft.com/office/drawing/2014/main" id="{3182C4E8-DF6D-4F2E-A73A-9F46EA7002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145909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graphicFrame>
        <p:nvGraphicFramePr>
          <p:cNvPr id="10257" name="Object 16">
            <a:extLst>
              <a:ext uri="{FF2B5EF4-FFF2-40B4-BE49-F238E27FC236}">
                <a16:creationId xmlns:a16="http://schemas.microsoft.com/office/drawing/2014/main" id="{1B3F7DA8-4484-4B75-AA24-73BDAE48B95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096000" y="2852738"/>
          <a:ext cx="316865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79" name="Формула" r:id="rId13" imgW="1371600" imgH="203200" progId="Equation.3">
                  <p:embed/>
                </p:oleObj>
              </mc:Choice>
              <mc:Fallback>
                <p:oleObj name="Формула" r:id="rId13" imgW="1371600" imgH="203200" progId="Equation.3">
                  <p:embed/>
                  <p:pic>
                    <p:nvPicPr>
                      <p:cNvPr id="10257" name="Object 16">
                        <a:extLst>
                          <a:ext uri="{FF2B5EF4-FFF2-40B4-BE49-F238E27FC236}">
                            <a16:creationId xmlns:a16="http://schemas.microsoft.com/office/drawing/2014/main" id="{1B3F7DA8-4484-4B75-AA24-73BDAE48B95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0" y="2852738"/>
                        <a:ext cx="316865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58" name="Rectangle 18">
            <a:extLst>
              <a:ext uri="{FF2B5EF4-FFF2-40B4-BE49-F238E27FC236}">
                <a16:creationId xmlns:a16="http://schemas.microsoft.com/office/drawing/2014/main" id="{7DFE3C48-4CC9-44CA-B5A1-512F3D9321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33899" y="3386108"/>
            <a:ext cx="3209276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just" eaLnBrk="1" hangingPunct="1"/>
            <a:r>
              <a:rPr lang="ru-RU" altLang="ru-RU" sz="2000"/>
              <a:t>Ш4. Проверка сходимости:</a:t>
            </a:r>
            <a:r>
              <a:rPr lang="ru-RU" altLang="ru-RU"/>
              <a:t> </a:t>
            </a:r>
          </a:p>
        </p:txBody>
      </p:sp>
      <p:sp>
        <p:nvSpPr>
          <p:cNvPr id="10259" name="Rectangle 19">
            <a:extLst>
              <a:ext uri="{FF2B5EF4-FFF2-40B4-BE49-F238E27FC236}">
                <a16:creationId xmlns:a16="http://schemas.microsoft.com/office/drawing/2014/main" id="{B8CACEDE-DBD1-4D64-B086-6070A16410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95550" y="3859491"/>
            <a:ext cx="724878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/>
              <a:t>Если </a:t>
            </a:r>
          </a:p>
        </p:txBody>
      </p:sp>
      <p:sp>
        <p:nvSpPr>
          <p:cNvPr id="10260" name="Rectangle 21">
            <a:extLst>
              <a:ext uri="{FF2B5EF4-FFF2-40B4-BE49-F238E27FC236}">
                <a16:creationId xmlns:a16="http://schemas.microsoft.com/office/drawing/2014/main" id="{92D75901-C5D5-4C85-9BD4-B4039008DE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107809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graphicFrame>
        <p:nvGraphicFramePr>
          <p:cNvPr id="10261" name="Object 20">
            <a:extLst>
              <a:ext uri="{FF2B5EF4-FFF2-40B4-BE49-F238E27FC236}">
                <a16:creationId xmlns:a16="http://schemas.microsoft.com/office/drawing/2014/main" id="{684051E8-39D6-40D9-AEC4-DED244EA2E5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216275" y="3789363"/>
          <a:ext cx="4248150" cy="455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80" name="Формула" r:id="rId15" imgW="2552700" imgH="279400" progId="Equation.3">
                  <p:embed/>
                </p:oleObj>
              </mc:Choice>
              <mc:Fallback>
                <p:oleObj name="Формула" r:id="rId15" imgW="2552700" imgH="279400" progId="Equation.3">
                  <p:embed/>
                  <p:pic>
                    <p:nvPicPr>
                      <p:cNvPr id="10261" name="Object 20">
                        <a:extLst>
                          <a:ext uri="{FF2B5EF4-FFF2-40B4-BE49-F238E27FC236}">
                            <a16:creationId xmlns:a16="http://schemas.microsoft.com/office/drawing/2014/main" id="{684051E8-39D6-40D9-AEC4-DED244EA2E5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16275" y="3789363"/>
                        <a:ext cx="4248150" cy="4556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62" name="Rectangle 22">
            <a:extLst>
              <a:ext uri="{FF2B5EF4-FFF2-40B4-BE49-F238E27FC236}">
                <a16:creationId xmlns:a16="http://schemas.microsoft.com/office/drawing/2014/main" id="{F1841370-C8CB-4948-8DF4-017D5F6D8F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64425" y="3789363"/>
            <a:ext cx="14414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/>
              <a:t>, то </a:t>
            </a:r>
            <a:r>
              <a:rPr lang="ru-RU" altLang="ru-RU" i="1"/>
              <a:t>КОНЕЦ</a:t>
            </a:r>
            <a:r>
              <a:rPr lang="ru-RU" altLang="ru-RU"/>
              <a:t> </a:t>
            </a:r>
          </a:p>
        </p:txBody>
      </p:sp>
      <p:sp>
        <p:nvSpPr>
          <p:cNvPr id="10263" name="Rectangle 23">
            <a:extLst>
              <a:ext uri="{FF2B5EF4-FFF2-40B4-BE49-F238E27FC236}">
                <a16:creationId xmlns:a16="http://schemas.microsoft.com/office/drawing/2014/main" id="{CBBCD4F2-9816-44DC-8035-4CECBDA95C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39112" y="4219853"/>
            <a:ext cx="3318088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just" eaLnBrk="1" hangingPunct="1"/>
            <a:r>
              <a:rPr lang="ru-RU" altLang="ru-RU"/>
              <a:t>Иначе  к=к+1 и переход на Ш 1.</a:t>
            </a:r>
          </a:p>
        </p:txBody>
      </p:sp>
      <p:sp>
        <p:nvSpPr>
          <p:cNvPr id="10264" name="Rectangle 24">
            <a:extLst>
              <a:ext uri="{FF2B5EF4-FFF2-40B4-BE49-F238E27FC236}">
                <a16:creationId xmlns:a16="http://schemas.microsoft.com/office/drawing/2014/main" id="{2BC207CA-818D-4AF6-8958-60C9692D81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19288" y="4508500"/>
            <a:ext cx="612140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u="sng"/>
              <a:t>Достоинства:</a:t>
            </a:r>
            <a:r>
              <a:rPr lang="ru-RU" altLang="ru-RU"/>
              <a:t> возможность оптимизации для задач с недифференцируемыми функциями.</a:t>
            </a:r>
          </a:p>
        </p:txBody>
      </p:sp>
      <p:sp>
        <p:nvSpPr>
          <p:cNvPr id="10265" name="Rectangle 25">
            <a:extLst>
              <a:ext uri="{FF2B5EF4-FFF2-40B4-BE49-F238E27FC236}">
                <a16:creationId xmlns:a16="http://schemas.microsoft.com/office/drawing/2014/main" id="{D6680172-C409-48B8-8E36-55B6BF43E1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55213" y="5018774"/>
            <a:ext cx="5513048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just" eaLnBrk="1" hangingPunct="1"/>
            <a:r>
              <a:rPr lang="ru-RU" altLang="ru-RU" u="sng"/>
              <a:t>Недостатки:</a:t>
            </a:r>
            <a:r>
              <a:rPr lang="ru-RU" altLang="ru-RU"/>
              <a:t> </a:t>
            </a:r>
          </a:p>
          <a:p>
            <a:pPr algn="just" eaLnBrk="1" hangingPunct="1"/>
            <a:r>
              <a:rPr lang="ru-RU" altLang="ru-RU"/>
              <a:t>1. Низкая скорость сходимости (сублинейная, т.е. </a:t>
            </a:r>
            <a:r>
              <a:rPr lang="ru-RU" altLang="ru-RU">
                <a:sym typeface="Symbol" panose="05050102010706020507" pitchFamily="18" charset="2"/>
              </a:rPr>
              <a:t></a:t>
            </a:r>
            <a:r>
              <a:rPr lang="ru-RU" altLang="ru-RU"/>
              <a:t>&lt;1)</a:t>
            </a:r>
          </a:p>
        </p:txBody>
      </p:sp>
      <p:sp>
        <p:nvSpPr>
          <p:cNvPr id="10266" name="Rectangle 26">
            <a:extLst>
              <a:ext uri="{FF2B5EF4-FFF2-40B4-BE49-F238E27FC236}">
                <a16:creationId xmlns:a16="http://schemas.microsoft.com/office/drawing/2014/main" id="{4D3B20DB-F635-4C58-A860-E7C6FCFC47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63750" y="5734050"/>
            <a:ext cx="784860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just" eaLnBrk="1" hangingPunct="1"/>
            <a:r>
              <a:rPr lang="ru-RU" altLang="ru-RU"/>
              <a:t>2.Возможность зацикливания при плохой обусловленности задачи, т.е. когда функция </a:t>
            </a:r>
            <a:r>
              <a:rPr lang="ru-RU" altLang="ru-RU">
                <a:sym typeface="Symbol" panose="05050102010706020507" pitchFamily="18" charset="2"/>
              </a:rPr>
              <a:t></a:t>
            </a:r>
            <a:r>
              <a:rPr lang="ru-RU" altLang="ru-RU"/>
              <a:t>(</a:t>
            </a:r>
            <a:r>
              <a:rPr lang="en-US" altLang="ru-RU">
                <a:sym typeface="Symbol" panose="05050102010706020507" pitchFamily="18" charset="2"/>
              </a:rPr>
              <a:t>x</a:t>
            </a:r>
            <a:r>
              <a:rPr lang="ru-RU" altLang="ru-RU">
                <a:sym typeface="Symbol" panose="05050102010706020507" pitchFamily="18" charset="2"/>
              </a:rPr>
              <a:t>) имеет овражный характер.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3FFACE92-94B4-4761-814C-29B8C17E058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ru-RU" altLang="ru-RU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Обусловленность задачи </a:t>
            </a:r>
          </a:p>
        </p:txBody>
      </p:sp>
      <p:sp>
        <p:nvSpPr>
          <p:cNvPr id="11267" name="Rectangle 3">
            <a:extLst>
              <a:ext uri="{FF2B5EF4-FFF2-40B4-BE49-F238E27FC236}">
                <a16:creationId xmlns:a16="http://schemas.microsoft.com/office/drawing/2014/main" id="{BEE17BC1-5B4B-481D-900C-A9CA1ABF0A03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1981201" y="1600201"/>
            <a:ext cx="8291513" cy="4525963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ru-RU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Определяется числом обусловленности матрицы Гессе (если она существует), т.е. отношением</a:t>
            </a:r>
            <a:r>
              <a:rPr lang="ru-RU" alt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11268" name="Rectangle 5">
            <a:extLst>
              <a:ext uri="{FF2B5EF4-FFF2-40B4-BE49-F238E27FC236}">
                <a16:creationId xmlns:a16="http://schemas.microsoft.com/office/drawing/2014/main" id="{50A30DE8-9F7B-4A02-8468-70193BE606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graphicFrame>
        <p:nvGraphicFramePr>
          <p:cNvPr id="11269" name="Object 4">
            <a:extLst>
              <a:ext uri="{FF2B5EF4-FFF2-40B4-BE49-F238E27FC236}">
                <a16:creationId xmlns:a16="http://schemas.microsoft.com/office/drawing/2014/main" id="{AC239070-4288-4E81-BC9C-84ED63DF8FB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951538" y="1844676"/>
          <a:ext cx="863600" cy="785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94" name="Формула" r:id="rId3" imgW="431613" imgH="393529" progId="Equation.3">
                  <p:embed/>
                </p:oleObj>
              </mc:Choice>
              <mc:Fallback>
                <p:oleObj name="Формула" r:id="rId3" imgW="431613" imgH="393529" progId="Equation.3">
                  <p:embed/>
                  <p:pic>
                    <p:nvPicPr>
                      <p:cNvPr id="11269" name="Object 4">
                        <a:extLst>
                          <a:ext uri="{FF2B5EF4-FFF2-40B4-BE49-F238E27FC236}">
                            <a16:creationId xmlns:a16="http://schemas.microsoft.com/office/drawing/2014/main" id="{AC239070-4288-4E81-BC9C-84ED63DF8FB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51538" y="1844676"/>
                        <a:ext cx="863600" cy="785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270" name="Rectangle 6">
            <a:extLst>
              <a:ext uri="{FF2B5EF4-FFF2-40B4-BE49-F238E27FC236}">
                <a16:creationId xmlns:a16="http://schemas.microsoft.com/office/drawing/2014/main" id="{6F568B1E-7E54-4483-AA88-AE771F8FCF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39275" y="2476471"/>
            <a:ext cx="5483039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just" eaLnBrk="1" hangingPunct="1"/>
            <a:r>
              <a:rPr lang="ru-RU" altLang="ru-RU" sz="2000"/>
              <a:t>Где </a:t>
            </a:r>
            <a:r>
              <a:rPr lang="en-US" altLang="ru-RU" sz="2000"/>
              <a:t>L</a:t>
            </a:r>
            <a:r>
              <a:rPr lang="ru-RU" altLang="ru-RU" sz="2000"/>
              <a:t> - максимальное собственное число            ,</a:t>
            </a:r>
          </a:p>
        </p:txBody>
      </p:sp>
      <p:sp>
        <p:nvSpPr>
          <p:cNvPr id="11271" name="Rectangle 8">
            <a:extLst>
              <a:ext uri="{FF2B5EF4-FFF2-40B4-BE49-F238E27FC236}">
                <a16:creationId xmlns:a16="http://schemas.microsoft.com/office/drawing/2014/main" id="{83E68620-3F36-4AE0-805E-2CD61A9C69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79651" y="2831457"/>
            <a:ext cx="4179862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ru-RU" sz="2000" i="1" dirty="0">
                <a:latin typeface="Arial" panose="020B0604020202020204" pitchFamily="34" charset="0"/>
                <a:cs typeface="Times New Roman" panose="02020603050405020304" pitchFamily="18" charset="0"/>
              </a:rPr>
              <a:t>l</a:t>
            </a:r>
            <a:r>
              <a:rPr lang="ru-RU" altLang="ru-RU" sz="2000" dirty="0">
                <a:latin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ru-RU" altLang="ru-RU" sz="2000" dirty="0">
                <a:cs typeface="Times New Roman" panose="02020603050405020304" pitchFamily="18" charset="0"/>
              </a:rPr>
              <a:t>– минимальное собственное число</a:t>
            </a:r>
            <a:r>
              <a:rPr lang="ru-RU" altLang="ru-RU" sz="2400" dirty="0">
                <a:cs typeface="Times New Roman" panose="02020603050405020304" pitchFamily="18" charset="0"/>
              </a:rPr>
              <a:t> </a:t>
            </a:r>
          </a:p>
        </p:txBody>
      </p:sp>
      <p:graphicFrame>
        <p:nvGraphicFramePr>
          <p:cNvPr id="11272" name="Object 7">
            <a:extLst>
              <a:ext uri="{FF2B5EF4-FFF2-40B4-BE49-F238E27FC236}">
                <a16:creationId xmlns:a16="http://schemas.microsoft.com/office/drawing/2014/main" id="{63643A6F-A69F-40F2-9070-9F1DAE4EFBB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383338" y="2924176"/>
          <a:ext cx="792162" cy="360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95" name="Формула" r:id="rId5" imgW="508000" imgH="228600" progId="Equation.3">
                  <p:embed/>
                </p:oleObj>
              </mc:Choice>
              <mc:Fallback>
                <p:oleObj name="Формула" r:id="rId5" imgW="508000" imgH="228600" progId="Equation.3">
                  <p:embed/>
                  <p:pic>
                    <p:nvPicPr>
                      <p:cNvPr id="11272" name="Object 7">
                        <a:extLst>
                          <a:ext uri="{FF2B5EF4-FFF2-40B4-BE49-F238E27FC236}">
                            <a16:creationId xmlns:a16="http://schemas.microsoft.com/office/drawing/2014/main" id="{63643A6F-A69F-40F2-9070-9F1DAE4EFBB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83338" y="2924176"/>
                        <a:ext cx="792162" cy="3603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273" name="Rectangle 9">
            <a:extLst>
              <a:ext uri="{FF2B5EF4-FFF2-40B4-BE49-F238E27FC236}">
                <a16:creationId xmlns:a16="http://schemas.microsoft.com/office/drawing/2014/main" id="{3AEE40C8-4959-4AFA-8B01-A2ECD4F1EC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88163" y="1989138"/>
            <a:ext cx="43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sz="2400">
                <a:latin typeface="Arial" panose="020B0604020202020204" pitchFamily="34" charset="0"/>
                <a:cs typeface="Times New Roman" panose="02020603050405020304" pitchFamily="18" charset="0"/>
              </a:rPr>
              <a:t>.</a:t>
            </a:r>
            <a:r>
              <a:rPr lang="ru-RU" altLang="ru-RU" sz="600">
                <a:latin typeface="Arial" panose="020B0604020202020204" pitchFamily="34" charset="0"/>
              </a:rPr>
              <a:t> </a:t>
            </a:r>
            <a:endParaRPr lang="ru-RU" altLang="ru-RU">
              <a:latin typeface="Arial" panose="020B0604020202020204" pitchFamily="34" charset="0"/>
            </a:endParaRPr>
          </a:p>
        </p:txBody>
      </p:sp>
      <p:graphicFrame>
        <p:nvGraphicFramePr>
          <p:cNvPr id="11274" name="Object 10">
            <a:extLst>
              <a:ext uri="{FF2B5EF4-FFF2-40B4-BE49-F238E27FC236}">
                <a16:creationId xmlns:a16="http://schemas.microsoft.com/office/drawing/2014/main" id="{B6CD26D1-8EEF-4D56-B177-15D7C8B68620}"/>
              </a:ext>
            </a:extLst>
          </p:cNvPr>
          <p:cNvGraphicFramePr>
            <a:graphicFrameLocks noGrp="1" noChangeAspect="1"/>
          </p:cNvGraphicFramePr>
          <p:nvPr>
            <p:ph sz="half" idx="2"/>
          </p:nvPr>
        </p:nvGraphicFramePr>
        <p:xfrm>
          <a:off x="7104063" y="2492375"/>
          <a:ext cx="792162" cy="357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96" name="Формула" r:id="rId7" imgW="508000" imgH="228600" progId="Equation.3">
                  <p:embed/>
                </p:oleObj>
              </mc:Choice>
              <mc:Fallback>
                <p:oleObj name="Формула" r:id="rId7" imgW="508000" imgH="228600" progId="Equation.3">
                  <p:embed/>
                  <p:pic>
                    <p:nvPicPr>
                      <p:cNvPr id="11274" name="Object 10">
                        <a:extLst>
                          <a:ext uri="{FF2B5EF4-FFF2-40B4-BE49-F238E27FC236}">
                            <a16:creationId xmlns:a16="http://schemas.microsoft.com/office/drawing/2014/main" id="{B6CD26D1-8EEF-4D56-B177-15D7C8B6862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04063" y="2492375"/>
                        <a:ext cx="792162" cy="3571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275" name="Rectangle 12">
            <a:extLst>
              <a:ext uri="{FF2B5EF4-FFF2-40B4-BE49-F238E27FC236}">
                <a16:creationId xmlns:a16="http://schemas.microsoft.com/office/drawing/2014/main" id="{F2AFE42D-FA8D-47DF-AB9A-E0C659756B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5500" y="2852738"/>
            <a:ext cx="43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sz="2400">
                <a:latin typeface="Arial" panose="020B0604020202020204" pitchFamily="34" charset="0"/>
                <a:cs typeface="Times New Roman" panose="02020603050405020304" pitchFamily="18" charset="0"/>
              </a:rPr>
              <a:t>.</a:t>
            </a:r>
            <a:r>
              <a:rPr lang="ru-RU" altLang="ru-RU" sz="600">
                <a:latin typeface="Arial" panose="020B0604020202020204" pitchFamily="34" charset="0"/>
              </a:rPr>
              <a:t> </a:t>
            </a:r>
            <a:endParaRPr lang="ru-RU" altLang="ru-RU">
              <a:latin typeface="Arial" panose="020B0604020202020204" pitchFamily="34" charset="0"/>
            </a:endParaRPr>
          </a:p>
        </p:txBody>
      </p:sp>
      <p:sp>
        <p:nvSpPr>
          <p:cNvPr id="11276" name="Rectangle 14">
            <a:extLst>
              <a:ext uri="{FF2B5EF4-FFF2-40B4-BE49-F238E27FC236}">
                <a16:creationId xmlns:a16="http://schemas.microsoft.com/office/drawing/2014/main" id="{DAA86304-1F98-40D9-B85F-73161DAEB0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8214" y="3573464"/>
            <a:ext cx="7991475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just" eaLnBrk="1" hangingPunct="1"/>
            <a:r>
              <a:rPr lang="ru-RU" altLang="ru-RU" sz="2000" dirty="0">
                <a:cs typeface="Times New Roman" panose="02020603050405020304" pitchFamily="18" charset="0"/>
              </a:rPr>
              <a:t>В случае отсутствия матрицы Гессе числом обусловленности может быть отношение</a:t>
            </a:r>
            <a:r>
              <a:rPr lang="ru-RU" altLang="ru-RU" sz="2000" dirty="0">
                <a:latin typeface="Arial" panose="020B0604020202020204" pitchFamily="34" charset="0"/>
                <a:cs typeface="Times New Roman" panose="02020603050405020304" pitchFamily="18" charset="0"/>
              </a:rPr>
              <a:t>: </a:t>
            </a:r>
            <a:endParaRPr lang="ru-RU" altLang="ru-RU" sz="2000" dirty="0">
              <a:latin typeface="Arial" panose="020B0604020202020204" pitchFamily="34" charset="0"/>
            </a:endParaRPr>
          </a:p>
        </p:txBody>
      </p:sp>
      <p:graphicFrame>
        <p:nvGraphicFramePr>
          <p:cNvPr id="11277" name="Object 13">
            <a:extLst>
              <a:ext uri="{FF2B5EF4-FFF2-40B4-BE49-F238E27FC236}">
                <a16:creationId xmlns:a16="http://schemas.microsoft.com/office/drawing/2014/main" id="{5D036A9C-392B-4AF4-AC5F-41B6DED1B56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224339" y="3860800"/>
          <a:ext cx="2879725" cy="1066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97" name="Формула" r:id="rId8" imgW="1651000" imgH="609600" progId="Equation.3">
                  <p:embed/>
                </p:oleObj>
              </mc:Choice>
              <mc:Fallback>
                <p:oleObj name="Формула" r:id="rId8" imgW="1651000" imgH="609600" progId="Equation.3">
                  <p:embed/>
                  <p:pic>
                    <p:nvPicPr>
                      <p:cNvPr id="11277" name="Object 13">
                        <a:extLst>
                          <a:ext uri="{FF2B5EF4-FFF2-40B4-BE49-F238E27FC236}">
                            <a16:creationId xmlns:a16="http://schemas.microsoft.com/office/drawing/2014/main" id="{5D036A9C-392B-4AF4-AC5F-41B6DED1B56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24339" y="3860800"/>
                        <a:ext cx="2879725" cy="1066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278" name="Rectangle 15">
            <a:extLst>
              <a:ext uri="{FF2B5EF4-FFF2-40B4-BE49-F238E27FC236}">
                <a16:creationId xmlns:a16="http://schemas.microsoft.com/office/drawing/2014/main" id="{B8A56557-EA3D-4F8C-8E20-8FE608215A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57538" y="3733800"/>
            <a:ext cx="227012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just" eaLnBrk="1" hangingPunct="1"/>
            <a:r>
              <a:rPr lang="ru-RU" altLang="ru-RU" sz="1200">
                <a:latin typeface="Arial" panose="020B0604020202020204" pitchFamily="34" charset="0"/>
                <a:cs typeface="Times New Roman" panose="02020603050405020304" pitchFamily="18" charset="0"/>
              </a:rPr>
              <a:t>.</a:t>
            </a:r>
            <a:endParaRPr lang="ru-RU" altLang="ru-RU">
              <a:latin typeface="Arial" panose="020B0604020202020204" pitchFamily="34" charset="0"/>
            </a:endParaRPr>
          </a:p>
        </p:txBody>
      </p:sp>
      <p:sp>
        <p:nvSpPr>
          <p:cNvPr id="11279" name="Rectangle 16">
            <a:extLst>
              <a:ext uri="{FF2B5EF4-FFF2-40B4-BE49-F238E27FC236}">
                <a16:creationId xmlns:a16="http://schemas.microsoft.com/office/drawing/2014/main" id="{8FE5A1E5-3854-4D51-9A13-D63BED870B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48525" y="4076700"/>
            <a:ext cx="43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sz="2400">
                <a:latin typeface="Arial" panose="020B0604020202020204" pitchFamily="34" charset="0"/>
                <a:cs typeface="Times New Roman" panose="02020603050405020304" pitchFamily="18" charset="0"/>
              </a:rPr>
              <a:t>.</a:t>
            </a:r>
            <a:r>
              <a:rPr lang="ru-RU" altLang="ru-RU" sz="600">
                <a:latin typeface="Arial" panose="020B0604020202020204" pitchFamily="34" charset="0"/>
              </a:rPr>
              <a:t> </a:t>
            </a:r>
            <a:endParaRPr lang="ru-RU" altLang="ru-RU">
              <a:latin typeface="Arial" panose="020B0604020202020204" pitchFamily="34" charset="0"/>
            </a:endParaRPr>
          </a:p>
        </p:txBody>
      </p:sp>
      <p:pic>
        <p:nvPicPr>
          <p:cNvPr id="11280" name="Picture 17">
            <a:extLst>
              <a:ext uri="{FF2B5EF4-FFF2-40B4-BE49-F238E27FC236}">
                <a16:creationId xmlns:a16="http://schemas.microsoft.com/office/drawing/2014/main" id="{FAFB1D3C-E6F2-48DF-BCD0-18744E08AA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31950" y="4749800"/>
            <a:ext cx="3816350" cy="210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11281" name="Object 19">
            <a:extLst>
              <a:ext uri="{FF2B5EF4-FFF2-40B4-BE49-F238E27FC236}">
                <a16:creationId xmlns:a16="http://schemas.microsoft.com/office/drawing/2014/main" id="{E8DC45ED-951C-4EA8-9B21-6F0131207A6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087939" y="5805488"/>
          <a:ext cx="5184775" cy="501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98" name="Формула" r:id="rId11" imgW="2235200" imgH="228600" progId="Equation.3">
                  <p:embed/>
                </p:oleObj>
              </mc:Choice>
              <mc:Fallback>
                <p:oleObj name="Формула" r:id="rId11" imgW="2235200" imgH="228600" progId="Equation.3">
                  <p:embed/>
                  <p:pic>
                    <p:nvPicPr>
                      <p:cNvPr id="11281" name="Object 19">
                        <a:extLst>
                          <a:ext uri="{FF2B5EF4-FFF2-40B4-BE49-F238E27FC236}">
                            <a16:creationId xmlns:a16="http://schemas.microsoft.com/office/drawing/2014/main" id="{E8DC45ED-951C-4EA8-9B21-6F0131207A6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87939" y="5805488"/>
                        <a:ext cx="5184775" cy="501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282" name="Object 18">
            <a:extLst>
              <a:ext uri="{FF2B5EF4-FFF2-40B4-BE49-F238E27FC236}">
                <a16:creationId xmlns:a16="http://schemas.microsoft.com/office/drawing/2014/main" id="{7E12E328-AC68-4463-B59D-9B26FAE3A1C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524000" y="3436939"/>
          <a:ext cx="114300" cy="212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99" name="Формула" r:id="rId13" imgW="114151" imgH="215619" progId="Equation.3">
                  <p:embed/>
                </p:oleObj>
              </mc:Choice>
              <mc:Fallback>
                <p:oleObj name="Формула" r:id="rId13" imgW="114151" imgH="215619" progId="Equation.3">
                  <p:embed/>
                  <p:pic>
                    <p:nvPicPr>
                      <p:cNvPr id="11282" name="Object 18">
                        <a:extLst>
                          <a:ext uri="{FF2B5EF4-FFF2-40B4-BE49-F238E27FC236}">
                            <a16:creationId xmlns:a16="http://schemas.microsoft.com/office/drawing/2014/main" id="{7E12E328-AC68-4463-B59D-9B26FAE3A1C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0" y="3436939"/>
                        <a:ext cx="114300" cy="212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283" name="Rectangle 20">
            <a:extLst>
              <a:ext uri="{FF2B5EF4-FFF2-40B4-BE49-F238E27FC236}">
                <a16:creationId xmlns:a16="http://schemas.microsoft.com/office/drawing/2014/main" id="{7E3C71FC-8119-4F19-9A14-BB1255E543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50528" y="5065069"/>
            <a:ext cx="418813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just" eaLnBrk="1" hangingPunct="1"/>
            <a:r>
              <a:rPr lang="ru-RU" altLang="ru-RU" sz="2400" u="sng" dirty="0">
                <a:cs typeface="Times New Roman" panose="02020603050405020304" pitchFamily="18" charset="0"/>
              </a:rPr>
              <a:t>Пример</a:t>
            </a:r>
            <a:r>
              <a:rPr lang="ru-RU" altLang="ru-RU" sz="2400" dirty="0">
                <a:cs typeface="Times New Roman" panose="02020603050405020304" pitchFamily="18" charset="0"/>
              </a:rPr>
              <a:t> функция </a:t>
            </a:r>
            <a:r>
              <a:rPr lang="ru-RU" altLang="ru-RU" sz="2400" dirty="0" err="1">
                <a:cs typeface="Times New Roman" panose="02020603050405020304" pitchFamily="18" charset="0"/>
              </a:rPr>
              <a:t>Розенброка</a:t>
            </a:r>
            <a:r>
              <a:rPr lang="ru-RU" altLang="ru-RU" sz="2400" dirty="0">
                <a:cs typeface="Times New Roman" panose="02020603050405020304" pitchFamily="18" charset="0"/>
              </a:rPr>
              <a:t> </a:t>
            </a:r>
            <a:r>
              <a:rPr lang="ru-RU" altLang="ru-RU" sz="2400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ru-RU" altLang="ru-RU" sz="1200" dirty="0">
                <a:latin typeface="Arial" panose="020B0604020202020204" pitchFamily="34" charset="0"/>
                <a:cs typeface="Times New Roman" panose="02020603050405020304" pitchFamily="18" charset="0"/>
              </a:rPr>
              <a:t> </a:t>
            </a:r>
            <a:endParaRPr lang="ru-RU" altLang="ru-RU" dirty="0">
              <a:latin typeface="Arial" panose="020B0604020202020204" pitchFamily="34" charset="0"/>
            </a:endParaRPr>
          </a:p>
        </p:txBody>
      </p:sp>
      <p:sp>
        <p:nvSpPr>
          <p:cNvPr id="11284" name="Rectangle 21">
            <a:extLst>
              <a:ext uri="{FF2B5EF4-FFF2-40B4-BE49-F238E27FC236}">
                <a16:creationId xmlns:a16="http://schemas.microsoft.com/office/drawing/2014/main" id="{272CCF43-2689-45B6-B4C5-011542BD2F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252272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11285" name="Rectangle 22">
            <a:extLst>
              <a:ext uri="{FF2B5EF4-FFF2-40B4-BE49-F238E27FC236}">
                <a16:creationId xmlns:a16="http://schemas.microsoft.com/office/drawing/2014/main" id="{9CAD3255-37C6-466E-B29D-883C5A01B2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649664"/>
            <a:ext cx="227013" cy="27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just" eaLnBrk="1" hangingPunct="1"/>
            <a:r>
              <a:rPr lang="ru-RU" altLang="ru-RU" sz="1200">
                <a:latin typeface="Arial" panose="020B0604020202020204" pitchFamily="34" charset="0"/>
                <a:cs typeface="Times New Roman" panose="02020603050405020304" pitchFamily="18" charset="0"/>
              </a:rPr>
              <a:t>.</a:t>
            </a:r>
            <a:endParaRPr lang="ru-RU" altLang="ru-RU"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>
            <a:extLst>
              <a:ext uri="{FF2B5EF4-FFF2-40B4-BE49-F238E27FC236}">
                <a16:creationId xmlns:a16="http://schemas.microsoft.com/office/drawing/2014/main" id="{1AC596FD-BE54-4534-82E1-8635809B402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ru-RU" altLang="ru-RU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Метод наискорейшего спуска (метод 1-го порядка).</a:t>
            </a:r>
            <a:r>
              <a:rPr lang="ru-RU" altLang="ru-RU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</a:p>
        </p:txBody>
      </p:sp>
      <p:pic>
        <p:nvPicPr>
          <p:cNvPr id="12291" name="Picture 4">
            <a:extLst>
              <a:ext uri="{FF2B5EF4-FFF2-40B4-BE49-F238E27FC236}">
                <a16:creationId xmlns:a16="http://schemas.microsoft.com/office/drawing/2014/main" id="{D4FE4874-B90F-488A-A9D5-7E55E9618BD4}"/>
              </a:ext>
            </a:extLst>
          </p:cNvPr>
          <p:cNvPicPr>
            <a:picLocks noGrp="1" noChangeAspect="1" noChangeArrowheads="1"/>
          </p:cNvPicPr>
          <p:nvPr>
            <p:ph type="body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992314" y="1844676"/>
            <a:ext cx="6624637" cy="286226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12292" name="Picture 5">
            <a:extLst>
              <a:ext uri="{FF2B5EF4-FFF2-40B4-BE49-F238E27FC236}">
                <a16:creationId xmlns:a16="http://schemas.microsoft.com/office/drawing/2014/main" id="{14221315-E609-40CC-991C-C0A5215108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75050" y="4797426"/>
            <a:ext cx="3816350" cy="1871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>
            <a:extLst>
              <a:ext uri="{FF2B5EF4-FFF2-40B4-BE49-F238E27FC236}">
                <a16:creationId xmlns:a16="http://schemas.microsoft.com/office/drawing/2014/main" id="{520D6F4B-993A-4541-ABEE-6584EBC0E0E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ru-RU" altLang="ru-RU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Метод наискорейшего спуска (метод 1-го порядка).</a:t>
            </a:r>
          </a:p>
        </p:txBody>
      </p:sp>
      <p:sp>
        <p:nvSpPr>
          <p:cNvPr id="13315" name="Rectangle 3">
            <a:extLst>
              <a:ext uri="{FF2B5EF4-FFF2-40B4-BE49-F238E27FC236}">
                <a16:creationId xmlns:a16="http://schemas.microsoft.com/office/drawing/2014/main" id="{01F32D13-553B-4591-8683-DF1A629A4E1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703388" y="1600200"/>
            <a:ext cx="8856662" cy="5068888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ru-RU" altLang="ru-RU" sz="2000" b="1" i="1" dirty="0"/>
              <a:t>Функция                                - класс 1 раз дифференцируемых функций.</a:t>
            </a:r>
          </a:p>
        </p:txBody>
      </p:sp>
      <p:graphicFrame>
        <p:nvGraphicFramePr>
          <p:cNvPr id="13316" name="Object 4">
            <a:extLst>
              <a:ext uri="{FF2B5EF4-FFF2-40B4-BE49-F238E27FC236}">
                <a16:creationId xmlns:a16="http://schemas.microsoft.com/office/drawing/2014/main" id="{28FDD183-6CC4-45DB-9B77-7A800FF03FF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928938" y="1536184"/>
          <a:ext cx="1582738" cy="4079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38" name="Формула" r:id="rId3" imgW="889000" imgH="228600" progId="Equation.3">
                  <p:embed/>
                </p:oleObj>
              </mc:Choice>
              <mc:Fallback>
                <p:oleObj name="Формула" r:id="rId3" imgW="889000" imgH="228600" progId="Equation.3">
                  <p:embed/>
                  <p:pic>
                    <p:nvPicPr>
                      <p:cNvPr id="13316" name="Object 4">
                        <a:extLst>
                          <a:ext uri="{FF2B5EF4-FFF2-40B4-BE49-F238E27FC236}">
                            <a16:creationId xmlns:a16="http://schemas.microsoft.com/office/drawing/2014/main" id="{28FDD183-6CC4-45DB-9B77-7A800FF03FF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28938" y="1536184"/>
                        <a:ext cx="1582738" cy="4079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317" name="Rectangle 8">
            <a:extLst>
              <a:ext uri="{FF2B5EF4-FFF2-40B4-BE49-F238E27FC236}">
                <a16:creationId xmlns:a16="http://schemas.microsoft.com/office/drawing/2014/main" id="{2FDF85A3-4768-4EE0-AE0A-12C03D05E5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145909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graphicFrame>
        <p:nvGraphicFramePr>
          <p:cNvPr id="13318" name="Object 7">
            <a:extLst>
              <a:ext uri="{FF2B5EF4-FFF2-40B4-BE49-F238E27FC236}">
                <a16:creationId xmlns:a16="http://schemas.microsoft.com/office/drawing/2014/main" id="{BB3F43DE-2CD5-4892-BCE7-33E6E207838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847850" y="2060575"/>
          <a:ext cx="4103688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39" name="Формула" r:id="rId5" imgW="2209800" imgH="203200" progId="Equation.3">
                  <p:embed/>
                </p:oleObj>
              </mc:Choice>
              <mc:Fallback>
                <p:oleObj name="Формула" r:id="rId5" imgW="2209800" imgH="203200" progId="Equation.3">
                  <p:embed/>
                  <p:pic>
                    <p:nvPicPr>
                      <p:cNvPr id="13318" name="Object 7">
                        <a:extLst>
                          <a:ext uri="{FF2B5EF4-FFF2-40B4-BE49-F238E27FC236}">
                            <a16:creationId xmlns:a16="http://schemas.microsoft.com/office/drawing/2014/main" id="{BB3F43DE-2CD5-4892-BCE7-33E6E207838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47850" y="2060575"/>
                        <a:ext cx="4103688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319" name="Rectangle 9">
            <a:extLst>
              <a:ext uri="{FF2B5EF4-FFF2-40B4-BE49-F238E27FC236}">
                <a16:creationId xmlns:a16="http://schemas.microsoft.com/office/drawing/2014/main" id="{044BEAF4-C644-4275-8209-5B82927346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47850" y="2491066"/>
            <a:ext cx="2189702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/>
              <a:t>Разложим функцию </a:t>
            </a:r>
          </a:p>
        </p:txBody>
      </p:sp>
      <p:sp>
        <p:nvSpPr>
          <p:cNvPr id="13320" name="Rectangle 11">
            <a:extLst>
              <a:ext uri="{FF2B5EF4-FFF2-40B4-BE49-F238E27FC236}">
                <a16:creationId xmlns:a16="http://schemas.microsoft.com/office/drawing/2014/main" id="{45F3AEBD-DF80-495D-ABE8-0619E18C53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1300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graphicFrame>
        <p:nvGraphicFramePr>
          <p:cNvPr id="13321" name="Object 10">
            <a:extLst>
              <a:ext uri="{FF2B5EF4-FFF2-40B4-BE49-F238E27FC236}">
                <a16:creationId xmlns:a16="http://schemas.microsoft.com/office/drawing/2014/main" id="{64C84F2F-F700-4ED4-93B0-EDF2831E4C1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151314" y="2492376"/>
          <a:ext cx="1800225" cy="396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40" name="Формула" r:id="rId7" imgW="1040948" imgH="228501" progId="Equation.3">
                  <p:embed/>
                </p:oleObj>
              </mc:Choice>
              <mc:Fallback>
                <p:oleObj name="Формула" r:id="rId7" imgW="1040948" imgH="228501" progId="Equation.3">
                  <p:embed/>
                  <p:pic>
                    <p:nvPicPr>
                      <p:cNvPr id="13321" name="Object 10">
                        <a:extLst>
                          <a:ext uri="{FF2B5EF4-FFF2-40B4-BE49-F238E27FC236}">
                            <a16:creationId xmlns:a16="http://schemas.microsoft.com/office/drawing/2014/main" id="{64C84F2F-F700-4ED4-93B0-EDF2831E4C1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51314" y="2492376"/>
                        <a:ext cx="1800225" cy="396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322" name="Rectangle 12">
            <a:extLst>
              <a:ext uri="{FF2B5EF4-FFF2-40B4-BE49-F238E27FC236}">
                <a16:creationId xmlns:a16="http://schemas.microsoft.com/office/drawing/2014/main" id="{28A859D7-D941-426E-BFAB-D3EC7F0D28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1" y="2195404"/>
            <a:ext cx="4321175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just" eaLnBrk="1" hangingPunct="1"/>
            <a:r>
              <a:rPr lang="ru-RU" altLang="ru-RU"/>
              <a:t>– в ряд Тейлора, тогда, если учитывать только 2 члена ряда, получим:</a:t>
            </a:r>
          </a:p>
        </p:txBody>
      </p:sp>
      <p:sp>
        <p:nvSpPr>
          <p:cNvPr id="13323" name="Rectangle 14">
            <a:extLst>
              <a:ext uri="{FF2B5EF4-FFF2-40B4-BE49-F238E27FC236}">
                <a16:creationId xmlns:a16="http://schemas.microsoft.com/office/drawing/2014/main" id="{668D97D1-E270-4AC1-A394-8551B1784F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107809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graphicFrame>
        <p:nvGraphicFramePr>
          <p:cNvPr id="13324" name="Object 13">
            <a:extLst>
              <a:ext uri="{FF2B5EF4-FFF2-40B4-BE49-F238E27FC236}">
                <a16:creationId xmlns:a16="http://schemas.microsoft.com/office/drawing/2014/main" id="{ABE03F5F-10D6-40F5-B51F-768F4B6674E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351089" y="2997200"/>
          <a:ext cx="6192837" cy="585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41" name="Формула" r:id="rId9" imgW="2908300" imgH="279400" progId="Equation.3">
                  <p:embed/>
                </p:oleObj>
              </mc:Choice>
              <mc:Fallback>
                <p:oleObj name="Формула" r:id="rId9" imgW="2908300" imgH="279400" progId="Equation.3">
                  <p:embed/>
                  <p:pic>
                    <p:nvPicPr>
                      <p:cNvPr id="13324" name="Object 13">
                        <a:extLst>
                          <a:ext uri="{FF2B5EF4-FFF2-40B4-BE49-F238E27FC236}">
                            <a16:creationId xmlns:a16="http://schemas.microsoft.com/office/drawing/2014/main" id="{ABE03F5F-10D6-40F5-B51F-768F4B6674E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51089" y="2997200"/>
                        <a:ext cx="6192837" cy="5857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325" name="Rectangle 15">
            <a:extLst>
              <a:ext uri="{FF2B5EF4-FFF2-40B4-BE49-F238E27FC236}">
                <a16:creationId xmlns:a16="http://schemas.microsoft.com/office/drawing/2014/main" id="{F7EAB59F-A92D-49FB-ACA7-5839FC8DC7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35189" y="3643591"/>
            <a:ext cx="607320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/>
              <a:t>Для того, чтобы функция уменьшалась, необходимо, чтобы </a:t>
            </a:r>
          </a:p>
        </p:txBody>
      </p:sp>
      <p:sp>
        <p:nvSpPr>
          <p:cNvPr id="13326" name="Rectangle 17">
            <a:extLst>
              <a:ext uri="{FF2B5EF4-FFF2-40B4-BE49-F238E27FC236}">
                <a16:creationId xmlns:a16="http://schemas.microsoft.com/office/drawing/2014/main" id="{45EB9993-0549-423F-A869-1F9E6A23DA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1300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graphicFrame>
        <p:nvGraphicFramePr>
          <p:cNvPr id="13327" name="Object 16">
            <a:extLst>
              <a:ext uri="{FF2B5EF4-FFF2-40B4-BE49-F238E27FC236}">
                <a16:creationId xmlns:a16="http://schemas.microsoft.com/office/drawing/2014/main" id="{846E551D-FA55-489E-85D5-CF33F5E8C6F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616950" y="3644900"/>
          <a:ext cx="1728788" cy="369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42" name="Формула" r:id="rId11" imgW="1066800" imgH="228600" progId="Equation.3">
                  <p:embed/>
                </p:oleObj>
              </mc:Choice>
              <mc:Fallback>
                <p:oleObj name="Формула" r:id="rId11" imgW="1066800" imgH="228600" progId="Equation.3">
                  <p:embed/>
                  <p:pic>
                    <p:nvPicPr>
                      <p:cNvPr id="13327" name="Object 16">
                        <a:extLst>
                          <a:ext uri="{FF2B5EF4-FFF2-40B4-BE49-F238E27FC236}">
                            <a16:creationId xmlns:a16="http://schemas.microsoft.com/office/drawing/2014/main" id="{846E551D-FA55-489E-85D5-CF33F5E8C6F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616950" y="3644900"/>
                        <a:ext cx="1728788" cy="3698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328" name="Rectangle 19">
            <a:extLst>
              <a:ext uri="{FF2B5EF4-FFF2-40B4-BE49-F238E27FC236}">
                <a16:creationId xmlns:a16="http://schemas.microsoft.com/office/drawing/2014/main" id="{7E774A5D-9FF3-4E86-BE10-A5B4B41951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299668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graphicFrame>
        <p:nvGraphicFramePr>
          <p:cNvPr id="13329" name="Object 18">
            <a:extLst>
              <a:ext uri="{FF2B5EF4-FFF2-40B4-BE49-F238E27FC236}">
                <a16:creationId xmlns:a16="http://schemas.microsoft.com/office/drawing/2014/main" id="{179806AB-02EE-450F-A6BD-50C55212665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063751" y="3986213"/>
          <a:ext cx="1871663" cy="781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43" name="Формула" r:id="rId13" imgW="1193800" imgH="495300" progId="Equation.3">
                  <p:embed/>
                </p:oleObj>
              </mc:Choice>
              <mc:Fallback>
                <p:oleObj name="Формула" r:id="rId13" imgW="1193800" imgH="495300" progId="Equation.3">
                  <p:embed/>
                  <p:pic>
                    <p:nvPicPr>
                      <p:cNvPr id="13329" name="Object 18">
                        <a:extLst>
                          <a:ext uri="{FF2B5EF4-FFF2-40B4-BE49-F238E27FC236}">
                            <a16:creationId xmlns:a16="http://schemas.microsoft.com/office/drawing/2014/main" id="{179806AB-02EE-450F-A6BD-50C55212665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63751" y="3986213"/>
                        <a:ext cx="1871663" cy="781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330" name="Rectangle 20">
            <a:extLst>
              <a:ext uri="{FF2B5EF4-FFF2-40B4-BE49-F238E27FC236}">
                <a16:creationId xmlns:a16="http://schemas.microsoft.com/office/drawing/2014/main" id="{EDF3B4F0-0030-4A8E-B8C1-D71CA14F3D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08439" y="4075391"/>
            <a:ext cx="101502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/>
              <a:t>.  Тогда  </a:t>
            </a:r>
          </a:p>
        </p:txBody>
      </p:sp>
      <p:sp>
        <p:nvSpPr>
          <p:cNvPr id="13331" name="Rectangle 22">
            <a:extLst>
              <a:ext uri="{FF2B5EF4-FFF2-40B4-BE49-F238E27FC236}">
                <a16:creationId xmlns:a16="http://schemas.microsoft.com/office/drawing/2014/main" id="{D32FA5D7-ABBF-45C4-8384-0BFDB43C3C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299668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graphicFrame>
        <p:nvGraphicFramePr>
          <p:cNvPr id="13332" name="Object 21">
            <a:extLst>
              <a:ext uri="{FF2B5EF4-FFF2-40B4-BE49-F238E27FC236}">
                <a16:creationId xmlns:a16="http://schemas.microsoft.com/office/drawing/2014/main" id="{9A582A4C-9F94-4B0E-AF08-BFBB4F431A5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087938" y="3933826"/>
          <a:ext cx="3097212" cy="854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44" name="Формула" r:id="rId15" imgW="1803400" imgH="495300" progId="Equation.3">
                  <p:embed/>
                </p:oleObj>
              </mc:Choice>
              <mc:Fallback>
                <p:oleObj name="Формула" r:id="rId15" imgW="1803400" imgH="495300" progId="Equation.3">
                  <p:embed/>
                  <p:pic>
                    <p:nvPicPr>
                      <p:cNvPr id="13332" name="Object 21">
                        <a:extLst>
                          <a:ext uri="{FF2B5EF4-FFF2-40B4-BE49-F238E27FC236}">
                            <a16:creationId xmlns:a16="http://schemas.microsoft.com/office/drawing/2014/main" id="{9A582A4C-9F94-4B0E-AF08-BFBB4F431A5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87938" y="3933826"/>
                        <a:ext cx="3097212" cy="854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333" name="Rectangle 23">
            <a:extLst>
              <a:ext uri="{FF2B5EF4-FFF2-40B4-BE49-F238E27FC236}">
                <a16:creationId xmlns:a16="http://schemas.microsoft.com/office/drawing/2014/main" id="{C0B272B7-2B4B-4BF4-A8E8-0D169B48AD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92314" y="4723091"/>
            <a:ext cx="1217577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/>
              <a:t>При этом  </a:t>
            </a:r>
          </a:p>
        </p:txBody>
      </p:sp>
      <p:sp>
        <p:nvSpPr>
          <p:cNvPr id="13334" name="Rectangle 25">
            <a:extLst>
              <a:ext uri="{FF2B5EF4-FFF2-40B4-BE49-F238E27FC236}">
                <a16:creationId xmlns:a16="http://schemas.microsoft.com/office/drawing/2014/main" id="{81451B62-2613-4BB2-BE37-78EF688525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115747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graphicFrame>
        <p:nvGraphicFramePr>
          <p:cNvPr id="13335" name="Object 24">
            <a:extLst>
              <a:ext uri="{FF2B5EF4-FFF2-40B4-BE49-F238E27FC236}">
                <a16:creationId xmlns:a16="http://schemas.microsoft.com/office/drawing/2014/main" id="{67DB4F27-A6B3-484C-86F9-15C65D7A971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143251" y="4724400"/>
          <a:ext cx="3097213" cy="407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45" name="Формула" r:id="rId17" imgW="2311400" imgH="254000" progId="Equation.3">
                  <p:embed/>
                </p:oleObj>
              </mc:Choice>
              <mc:Fallback>
                <p:oleObj name="Формула" r:id="rId17" imgW="2311400" imgH="254000" progId="Equation.3">
                  <p:embed/>
                  <p:pic>
                    <p:nvPicPr>
                      <p:cNvPr id="13335" name="Object 24">
                        <a:extLst>
                          <a:ext uri="{FF2B5EF4-FFF2-40B4-BE49-F238E27FC236}">
                            <a16:creationId xmlns:a16="http://schemas.microsoft.com/office/drawing/2014/main" id="{67DB4F27-A6B3-484C-86F9-15C65D7A971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43251" y="4724400"/>
                        <a:ext cx="3097213" cy="4079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336" name="Rectangle 26">
            <a:extLst>
              <a:ext uri="{FF2B5EF4-FFF2-40B4-BE49-F238E27FC236}">
                <a16:creationId xmlns:a16="http://schemas.microsoft.com/office/drawing/2014/main" id="{148D2CE4-DACF-45C1-8985-D9671CACBF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92314" y="5083453"/>
            <a:ext cx="2168735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u="sng"/>
              <a:t>Особенность МНС:</a:t>
            </a:r>
            <a:r>
              <a:rPr lang="ru-RU" altLang="ru-RU"/>
              <a:t> </a:t>
            </a:r>
          </a:p>
        </p:txBody>
      </p:sp>
      <p:sp>
        <p:nvSpPr>
          <p:cNvPr id="13337" name="Rectangle 28">
            <a:extLst>
              <a:ext uri="{FF2B5EF4-FFF2-40B4-BE49-F238E27FC236}">
                <a16:creationId xmlns:a16="http://schemas.microsoft.com/office/drawing/2014/main" id="{CCF20329-9CAA-4B65-A378-5B26BB27D8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1300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graphicFrame>
        <p:nvGraphicFramePr>
          <p:cNvPr id="13338" name="Object 27">
            <a:extLst>
              <a:ext uri="{FF2B5EF4-FFF2-40B4-BE49-F238E27FC236}">
                <a16:creationId xmlns:a16="http://schemas.microsoft.com/office/drawing/2014/main" id="{C57AD135-7F3B-444B-ADD7-143FF16876A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079875" y="5084763"/>
          <a:ext cx="2376488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46" name="Формула" r:id="rId19" imgW="1536700" imgH="228600" progId="Equation.3">
                  <p:embed/>
                </p:oleObj>
              </mc:Choice>
              <mc:Fallback>
                <p:oleObj name="Формула" r:id="rId19" imgW="1536700" imgH="228600" progId="Equation.3">
                  <p:embed/>
                  <p:pic>
                    <p:nvPicPr>
                      <p:cNvPr id="13338" name="Object 27">
                        <a:extLst>
                          <a:ext uri="{FF2B5EF4-FFF2-40B4-BE49-F238E27FC236}">
                            <a16:creationId xmlns:a16="http://schemas.microsoft.com/office/drawing/2014/main" id="{C57AD135-7F3B-444B-ADD7-143FF16876A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79875" y="5084763"/>
                        <a:ext cx="2376488" cy="355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339" name="Rectangle 29">
            <a:extLst>
              <a:ext uri="{FF2B5EF4-FFF2-40B4-BE49-F238E27FC236}">
                <a16:creationId xmlns:a16="http://schemas.microsoft.com/office/drawing/2014/main" id="{942A656B-2016-4692-B13D-D8F8FB21B1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27801" y="5012016"/>
            <a:ext cx="931217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/>
              <a:t>то есть </a:t>
            </a:r>
          </a:p>
        </p:txBody>
      </p:sp>
      <p:sp>
        <p:nvSpPr>
          <p:cNvPr id="13340" name="Rectangle 31">
            <a:extLst>
              <a:ext uri="{FF2B5EF4-FFF2-40B4-BE49-F238E27FC236}">
                <a16:creationId xmlns:a16="http://schemas.microsoft.com/office/drawing/2014/main" id="{A9D1C46D-D5F5-4DD6-86D7-3CC779458F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145909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graphicFrame>
        <p:nvGraphicFramePr>
          <p:cNvPr id="13341" name="Object 30">
            <a:extLst>
              <a:ext uri="{FF2B5EF4-FFF2-40B4-BE49-F238E27FC236}">
                <a16:creationId xmlns:a16="http://schemas.microsoft.com/office/drawing/2014/main" id="{4A163139-B336-42F7-AE48-2377F929BC2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535863" y="5013326"/>
          <a:ext cx="1655762" cy="347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47" name="Формула" r:id="rId21" imgW="939392" imgH="203112" progId="Equation.3">
                  <p:embed/>
                </p:oleObj>
              </mc:Choice>
              <mc:Fallback>
                <p:oleObj name="Формула" r:id="rId21" imgW="939392" imgH="203112" progId="Equation.3">
                  <p:embed/>
                  <p:pic>
                    <p:nvPicPr>
                      <p:cNvPr id="13341" name="Object 30">
                        <a:extLst>
                          <a:ext uri="{FF2B5EF4-FFF2-40B4-BE49-F238E27FC236}">
                            <a16:creationId xmlns:a16="http://schemas.microsoft.com/office/drawing/2014/main" id="{4A163139-B336-42F7-AE48-2377F929BC2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35863" y="5013326"/>
                        <a:ext cx="1655762" cy="3476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342" name="Rectangle 32">
            <a:extLst>
              <a:ext uri="{FF2B5EF4-FFF2-40B4-BE49-F238E27FC236}">
                <a16:creationId xmlns:a16="http://schemas.microsoft.com/office/drawing/2014/main" id="{8324EC7A-EA63-4C1B-8362-130941304A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91625" y="5013326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sz="2000"/>
              <a:t>. </a:t>
            </a:r>
          </a:p>
        </p:txBody>
      </p:sp>
      <p:sp>
        <p:nvSpPr>
          <p:cNvPr id="13343" name="Rectangle 33">
            <a:extLst>
              <a:ext uri="{FF2B5EF4-FFF2-40B4-BE49-F238E27FC236}">
                <a16:creationId xmlns:a16="http://schemas.microsoft.com/office/drawing/2014/main" id="{22F1365A-2C35-4F8B-8F68-22925AFA34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92314" y="5494923"/>
            <a:ext cx="8351837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sz="1600" u="sng"/>
              <a:t>Достоинства.</a:t>
            </a:r>
            <a:r>
              <a:rPr lang="ru-RU" altLang="ru-RU" sz="1600"/>
              <a:t> Линейная скорость сходимости для функций </a:t>
            </a:r>
            <a:r>
              <a:rPr lang="ru-RU" altLang="ru-RU" sz="1600">
                <a:sym typeface="Symbol" panose="05050102010706020507" pitchFamily="18" charset="2"/>
              </a:rPr>
              <a:t></a:t>
            </a:r>
            <a:r>
              <a:rPr lang="ru-RU" altLang="ru-RU" sz="1600"/>
              <a:t>(</a:t>
            </a:r>
            <a:r>
              <a:rPr lang="en-US" altLang="ru-RU" sz="1600">
                <a:sym typeface="Symbol" panose="05050102010706020507" pitchFamily="18" charset="2"/>
              </a:rPr>
              <a:t>x</a:t>
            </a:r>
            <a:r>
              <a:rPr lang="ru-RU" altLang="ru-RU" sz="1600">
                <a:sym typeface="Symbol" panose="05050102010706020507" pitchFamily="18" charset="2"/>
              </a:rPr>
              <a:t>) близких к квадратичным. </a:t>
            </a:r>
          </a:p>
        </p:txBody>
      </p:sp>
      <p:sp>
        <p:nvSpPr>
          <p:cNvPr id="13344" name="Rectangle 34">
            <a:extLst>
              <a:ext uri="{FF2B5EF4-FFF2-40B4-BE49-F238E27FC236}">
                <a16:creationId xmlns:a16="http://schemas.microsoft.com/office/drawing/2014/main" id="{30A4B667-28AE-4407-887B-9A294A37E5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30703" y="5963236"/>
            <a:ext cx="1259897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just" eaLnBrk="1" hangingPunct="1"/>
            <a:r>
              <a:rPr lang="ru-RU" altLang="ru-RU" sz="1600" u="sng"/>
              <a:t>Недостатки:</a:t>
            </a:r>
          </a:p>
        </p:txBody>
      </p:sp>
      <p:sp>
        <p:nvSpPr>
          <p:cNvPr id="13345" name="Rectangle 37">
            <a:extLst>
              <a:ext uri="{FF2B5EF4-FFF2-40B4-BE49-F238E27FC236}">
                <a16:creationId xmlns:a16="http://schemas.microsoft.com/office/drawing/2014/main" id="{E62E56D1-F8BF-44B7-B22D-0A433D8B3C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19565" y="5845761"/>
            <a:ext cx="1261884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just" eaLnBrk="1" hangingPunct="1"/>
            <a:r>
              <a:rPr lang="ru-RU" altLang="ru-RU" sz="1600">
                <a:latin typeface="Arial" panose="020B0604020202020204" pitchFamily="34" charset="0"/>
                <a:cs typeface="Times New Roman" panose="02020603050405020304" pitchFamily="18" charset="0"/>
              </a:rPr>
              <a:t>1.Функция </a:t>
            </a:r>
            <a:r>
              <a:rPr lang="ru-RU" altLang="ru-RU" sz="1200">
                <a:latin typeface="Arial" panose="020B0604020202020204" pitchFamily="34" charset="0"/>
                <a:cs typeface="Times New Roman" panose="02020603050405020304" pitchFamily="18" charset="0"/>
              </a:rPr>
              <a:t> </a:t>
            </a:r>
            <a:endParaRPr lang="ru-RU" altLang="ru-RU">
              <a:latin typeface="Arial" panose="020B0604020202020204" pitchFamily="34" charset="0"/>
            </a:endParaRPr>
          </a:p>
        </p:txBody>
      </p:sp>
      <p:graphicFrame>
        <p:nvGraphicFramePr>
          <p:cNvPr id="13346" name="Object 36">
            <a:extLst>
              <a:ext uri="{FF2B5EF4-FFF2-40B4-BE49-F238E27FC236}">
                <a16:creationId xmlns:a16="http://schemas.microsoft.com/office/drawing/2014/main" id="{418C9064-A52B-4609-A096-F1A81D140D0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511676" y="5876925"/>
          <a:ext cx="1152525" cy="300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48" name="Формула" r:id="rId23" imgW="876300" imgH="228600" progId="Equation.3">
                  <p:embed/>
                </p:oleObj>
              </mc:Choice>
              <mc:Fallback>
                <p:oleObj name="Формула" r:id="rId23" imgW="876300" imgH="228600" progId="Equation.3">
                  <p:embed/>
                  <p:pic>
                    <p:nvPicPr>
                      <p:cNvPr id="13346" name="Object 36">
                        <a:extLst>
                          <a:ext uri="{FF2B5EF4-FFF2-40B4-BE49-F238E27FC236}">
                            <a16:creationId xmlns:a16="http://schemas.microsoft.com/office/drawing/2014/main" id="{418C9064-A52B-4609-A096-F1A81D140D0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11676" y="5876925"/>
                        <a:ext cx="1152525" cy="300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347" name="Rectangle 38">
            <a:extLst>
              <a:ext uri="{FF2B5EF4-FFF2-40B4-BE49-F238E27FC236}">
                <a16:creationId xmlns:a16="http://schemas.microsoft.com/office/drawing/2014/main" id="{E8E4F62B-2E4E-4C24-B3DF-AADBC09C2D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84480" y="5845761"/>
            <a:ext cx="3594767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just" eaLnBrk="1" hangingPunct="1"/>
            <a:r>
              <a:rPr lang="ru-RU" altLang="ru-RU" sz="1200">
                <a:latin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ru-RU" altLang="ru-RU" sz="1600">
                <a:latin typeface="Arial" panose="020B0604020202020204" pitchFamily="34" charset="0"/>
                <a:cs typeface="Times New Roman" panose="02020603050405020304" pitchFamily="18" charset="0"/>
              </a:rPr>
              <a:t>– должна быть дифференцируема.</a:t>
            </a:r>
            <a:endParaRPr lang="ru-RU" altLang="ru-RU" sz="1600">
              <a:latin typeface="Arial" panose="020B0604020202020204" pitchFamily="34" charset="0"/>
            </a:endParaRPr>
          </a:p>
        </p:txBody>
      </p:sp>
      <p:sp>
        <p:nvSpPr>
          <p:cNvPr id="13348" name="Rectangle 39">
            <a:extLst>
              <a:ext uri="{FF2B5EF4-FFF2-40B4-BE49-F238E27FC236}">
                <a16:creationId xmlns:a16="http://schemas.microsoft.com/office/drawing/2014/main" id="{C167D4EB-0BEA-4381-B6C3-1AD512A2F5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41702" y="6164848"/>
            <a:ext cx="6054799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just" eaLnBrk="1" hangingPunct="1"/>
            <a:r>
              <a:rPr lang="ru-RU" altLang="ru-RU" sz="1600"/>
              <a:t>2.Возможность зацикливания при плохой обусловленности задачи.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CD76865A-E892-4A08-90B0-40EC9152050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eaLnBrk="1" hangingPunct="1"/>
            <a:r>
              <a:rPr lang="ru-RU" altLang="ru-RU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Метод Ньютона (метод второго порядка)</a:t>
            </a:r>
          </a:p>
        </p:txBody>
      </p:sp>
      <p:sp>
        <p:nvSpPr>
          <p:cNvPr id="14339" name="Rectangle 3">
            <a:extLst>
              <a:ext uri="{FF2B5EF4-FFF2-40B4-BE49-F238E27FC236}">
                <a16:creationId xmlns:a16="http://schemas.microsoft.com/office/drawing/2014/main" id="{959709F1-4E9A-4D74-B83B-76C3E153D279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pPr eaLnBrk="1" hangingPunct="1">
              <a:buFontTx/>
              <a:buNone/>
            </a:pP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Условием использования этого метода является</a:t>
            </a:r>
            <a:r>
              <a:rPr lang="ru-RU" alt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</a:p>
        </p:txBody>
      </p:sp>
      <p:sp>
        <p:nvSpPr>
          <p:cNvPr id="14340" name="Rectangle 5">
            <a:extLst>
              <a:ext uri="{FF2B5EF4-FFF2-40B4-BE49-F238E27FC236}">
                <a16:creationId xmlns:a16="http://schemas.microsoft.com/office/drawing/2014/main" id="{EB865BEF-592E-4DCC-A6A4-32E9956E9C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graphicFrame>
        <p:nvGraphicFramePr>
          <p:cNvPr id="14341" name="Object 4">
            <a:extLst>
              <a:ext uri="{FF2B5EF4-FFF2-40B4-BE49-F238E27FC236}">
                <a16:creationId xmlns:a16="http://schemas.microsoft.com/office/drawing/2014/main" id="{D88C8045-5454-403D-B56E-295C0649541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112125" y="1700214"/>
          <a:ext cx="1728788" cy="447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58" name="Формула" r:id="rId3" imgW="889000" imgH="228600" progId="Equation.3">
                  <p:embed/>
                </p:oleObj>
              </mc:Choice>
              <mc:Fallback>
                <p:oleObj name="Формула" r:id="rId3" imgW="889000" imgH="228600" progId="Equation.3">
                  <p:embed/>
                  <p:pic>
                    <p:nvPicPr>
                      <p:cNvPr id="14341" name="Object 4">
                        <a:extLst>
                          <a:ext uri="{FF2B5EF4-FFF2-40B4-BE49-F238E27FC236}">
                            <a16:creationId xmlns:a16="http://schemas.microsoft.com/office/drawing/2014/main" id="{D88C8045-5454-403D-B56E-295C0649541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12125" y="1700214"/>
                        <a:ext cx="1728788" cy="447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342" name="Rectangle 6">
            <a:extLst>
              <a:ext uri="{FF2B5EF4-FFF2-40B4-BE49-F238E27FC236}">
                <a16:creationId xmlns:a16="http://schemas.microsoft.com/office/drawing/2014/main" id="{533E72F5-E681-4D56-A999-770830FEE4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67888" y="1773238"/>
            <a:ext cx="2984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/>
              <a:t>, </a:t>
            </a:r>
          </a:p>
        </p:txBody>
      </p:sp>
      <p:sp>
        <p:nvSpPr>
          <p:cNvPr id="14343" name="Rectangle 7">
            <a:extLst>
              <a:ext uri="{FF2B5EF4-FFF2-40B4-BE49-F238E27FC236}">
                <a16:creationId xmlns:a16="http://schemas.microsoft.com/office/drawing/2014/main" id="{69DB55E9-80B0-44E6-99F7-F5E4722D95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47851" y="2203728"/>
            <a:ext cx="6441059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/>
              <a:t>а также условие выпуклости </a:t>
            </a:r>
            <a:r>
              <a:rPr lang="ru-RU" altLang="ru-RU">
                <a:sym typeface="Symbol" panose="05050102010706020507" pitchFamily="18" charset="2"/>
              </a:rPr>
              <a:t></a:t>
            </a:r>
            <a:r>
              <a:rPr lang="ru-RU" altLang="ru-RU"/>
              <a:t>(</a:t>
            </a:r>
            <a:r>
              <a:rPr lang="en-US" altLang="ru-RU">
                <a:sym typeface="Symbol" panose="05050102010706020507" pitchFamily="18" charset="2"/>
              </a:rPr>
              <a:t>x</a:t>
            </a:r>
            <a:r>
              <a:rPr lang="ru-RU" altLang="ru-RU">
                <a:sym typeface="Symbol" panose="05050102010706020507" pitchFamily="18" charset="2"/>
              </a:rPr>
              <a:t>)  в окрестности точки поиска. </a:t>
            </a:r>
          </a:p>
        </p:txBody>
      </p:sp>
      <p:sp>
        <p:nvSpPr>
          <p:cNvPr id="14344" name="Rectangle 9">
            <a:extLst>
              <a:ext uri="{FF2B5EF4-FFF2-40B4-BE49-F238E27FC236}">
                <a16:creationId xmlns:a16="http://schemas.microsoft.com/office/drawing/2014/main" id="{2B9EC536-4301-4DAD-8159-5E3C6CA430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92313" y="2418707"/>
            <a:ext cx="884153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sz="2000" dirty="0">
                <a:cs typeface="Times New Roman" panose="02020603050405020304" pitchFamily="18" charset="0"/>
              </a:rPr>
              <a:t>Точка</a:t>
            </a:r>
            <a:r>
              <a:rPr lang="ru-RU" altLang="ru-RU" sz="2400" dirty="0">
                <a:cs typeface="Times New Roman" panose="02020603050405020304" pitchFamily="18" charset="0"/>
              </a:rPr>
              <a:t> </a:t>
            </a:r>
          </a:p>
        </p:txBody>
      </p:sp>
      <p:graphicFrame>
        <p:nvGraphicFramePr>
          <p:cNvPr id="14345" name="Object 8">
            <a:extLst>
              <a:ext uri="{FF2B5EF4-FFF2-40B4-BE49-F238E27FC236}">
                <a16:creationId xmlns:a16="http://schemas.microsoft.com/office/drawing/2014/main" id="{E3787030-9232-49A8-8E62-05EC3A9F4A4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855913" y="2492376"/>
          <a:ext cx="290512" cy="358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59" name="Формула" r:id="rId5" imgW="164957" imgH="203024" progId="Equation.3">
                  <p:embed/>
                </p:oleObj>
              </mc:Choice>
              <mc:Fallback>
                <p:oleObj name="Формула" r:id="rId5" imgW="164957" imgH="203024" progId="Equation.3">
                  <p:embed/>
                  <p:pic>
                    <p:nvPicPr>
                      <p:cNvPr id="14345" name="Object 8">
                        <a:extLst>
                          <a:ext uri="{FF2B5EF4-FFF2-40B4-BE49-F238E27FC236}">
                            <a16:creationId xmlns:a16="http://schemas.microsoft.com/office/drawing/2014/main" id="{E3787030-9232-49A8-8E62-05EC3A9F4A4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55913" y="2492376"/>
                        <a:ext cx="290512" cy="358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346" name="Rectangle 10">
            <a:extLst>
              <a:ext uri="{FF2B5EF4-FFF2-40B4-BE49-F238E27FC236}">
                <a16:creationId xmlns:a16="http://schemas.microsoft.com/office/drawing/2014/main" id="{EE11A6C5-5089-44B3-8B90-019256A79D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16276" y="2490758"/>
            <a:ext cx="6130589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sz="2000" dirty="0">
                <a:latin typeface="Arial" panose="020B0604020202020204" pitchFamily="34" charset="0"/>
                <a:cs typeface="Times New Roman" panose="02020603050405020304" pitchFamily="18" charset="0"/>
              </a:rPr>
              <a:t>– </a:t>
            </a:r>
            <a:r>
              <a:rPr lang="ru-RU" altLang="ru-RU" sz="2000" dirty="0">
                <a:cs typeface="Times New Roman" panose="02020603050405020304" pitchFamily="18" charset="0"/>
              </a:rPr>
              <a:t>стационарная точка (точка локального экстремума ) </a:t>
            </a:r>
          </a:p>
        </p:txBody>
      </p:sp>
      <p:sp>
        <p:nvSpPr>
          <p:cNvPr id="14347" name="Rectangle 11">
            <a:extLst>
              <a:ext uri="{FF2B5EF4-FFF2-40B4-BE49-F238E27FC236}">
                <a16:creationId xmlns:a16="http://schemas.microsoft.com/office/drawing/2014/main" id="{F0F60CDD-FE3E-471B-ADE6-7A00A9D197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91625" y="2492376"/>
            <a:ext cx="2413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>
                <a:sym typeface="Symbol" panose="05050102010706020507" pitchFamily="18" charset="2"/>
              </a:rPr>
              <a:t>.</a:t>
            </a:r>
          </a:p>
        </p:txBody>
      </p:sp>
      <p:sp>
        <p:nvSpPr>
          <p:cNvPr id="14348" name="Rectangle 12">
            <a:extLst>
              <a:ext uri="{FF2B5EF4-FFF2-40B4-BE49-F238E27FC236}">
                <a16:creationId xmlns:a16="http://schemas.microsoft.com/office/drawing/2014/main" id="{9BF1B3B5-00EA-4180-AEC1-20DD4B189F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92314" y="2924176"/>
            <a:ext cx="865187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/>
              <a:t>Пусть:</a:t>
            </a:r>
          </a:p>
        </p:txBody>
      </p:sp>
      <p:sp>
        <p:nvSpPr>
          <p:cNvPr id="14349" name="Rectangle 14">
            <a:extLst>
              <a:ext uri="{FF2B5EF4-FFF2-40B4-BE49-F238E27FC236}">
                <a16:creationId xmlns:a16="http://schemas.microsoft.com/office/drawing/2014/main" id="{56CD8D76-8D1F-43F6-B956-35EF14B6E5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2893497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graphicFrame>
        <p:nvGraphicFramePr>
          <p:cNvPr id="14350" name="Object 13">
            <a:extLst>
              <a:ext uri="{FF2B5EF4-FFF2-40B4-BE49-F238E27FC236}">
                <a16:creationId xmlns:a16="http://schemas.microsoft.com/office/drawing/2014/main" id="{9DE89CA7-8646-40A6-84DF-58E3C3E42EB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855914" y="2852738"/>
          <a:ext cx="2160587" cy="1301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60" name="Формула" r:id="rId7" imgW="1168400" imgH="698500" progId="Equation.3">
                  <p:embed/>
                </p:oleObj>
              </mc:Choice>
              <mc:Fallback>
                <p:oleObj name="Формула" r:id="rId7" imgW="1168400" imgH="698500" progId="Equation.3">
                  <p:embed/>
                  <p:pic>
                    <p:nvPicPr>
                      <p:cNvPr id="14350" name="Object 13">
                        <a:extLst>
                          <a:ext uri="{FF2B5EF4-FFF2-40B4-BE49-F238E27FC236}">
                            <a16:creationId xmlns:a16="http://schemas.microsoft.com/office/drawing/2014/main" id="{9DE89CA7-8646-40A6-84DF-58E3C3E42EB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55914" y="2852738"/>
                        <a:ext cx="2160587" cy="1301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351" name="Rectangle 15">
            <a:extLst>
              <a:ext uri="{FF2B5EF4-FFF2-40B4-BE49-F238E27FC236}">
                <a16:creationId xmlns:a16="http://schemas.microsoft.com/office/drawing/2014/main" id="{813F1311-22D4-427B-A67B-3BE4482087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59376" y="2922866"/>
            <a:ext cx="848309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/>
              <a:t>Тогда :</a:t>
            </a:r>
          </a:p>
        </p:txBody>
      </p:sp>
      <p:sp>
        <p:nvSpPr>
          <p:cNvPr id="14352" name="Rectangle 17">
            <a:extLst>
              <a:ext uri="{FF2B5EF4-FFF2-40B4-BE49-F238E27FC236}">
                <a16:creationId xmlns:a16="http://schemas.microsoft.com/office/drawing/2014/main" id="{CCBD88F0-DD5F-421F-93DB-4B19342277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0284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14353" name="Rectangle 18">
            <a:extLst>
              <a:ext uri="{FF2B5EF4-FFF2-40B4-BE49-F238E27FC236}">
                <a16:creationId xmlns:a16="http://schemas.microsoft.com/office/drawing/2014/main" id="{F45964DB-1A90-444C-B200-70B6EE607C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40238" y="3932516"/>
            <a:ext cx="54508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/>
              <a:t>где </a:t>
            </a:r>
          </a:p>
        </p:txBody>
      </p:sp>
      <p:sp>
        <p:nvSpPr>
          <p:cNvPr id="14354" name="Rectangle 20">
            <a:extLst>
              <a:ext uri="{FF2B5EF4-FFF2-40B4-BE49-F238E27FC236}">
                <a16:creationId xmlns:a16="http://schemas.microsoft.com/office/drawing/2014/main" id="{CE281A9E-CF4E-4D11-B2D3-EF6A3F89A9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2883972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graphicFrame>
        <p:nvGraphicFramePr>
          <p:cNvPr id="14355" name="Object 19">
            <a:extLst>
              <a:ext uri="{FF2B5EF4-FFF2-40B4-BE49-F238E27FC236}">
                <a16:creationId xmlns:a16="http://schemas.microsoft.com/office/drawing/2014/main" id="{19000D4C-B926-4F8F-BC2C-C3C8EC646B1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016501" y="3644900"/>
          <a:ext cx="3167063" cy="1100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61" name="Формула" r:id="rId9" imgW="1371600" imgH="571500" progId="Equation.3">
                  <p:embed/>
                </p:oleObj>
              </mc:Choice>
              <mc:Fallback>
                <p:oleObj name="Формула" r:id="rId9" imgW="1371600" imgH="571500" progId="Equation.3">
                  <p:embed/>
                  <p:pic>
                    <p:nvPicPr>
                      <p:cNvPr id="14355" name="Object 19">
                        <a:extLst>
                          <a:ext uri="{FF2B5EF4-FFF2-40B4-BE49-F238E27FC236}">
                            <a16:creationId xmlns:a16="http://schemas.microsoft.com/office/drawing/2014/main" id="{19000D4C-B926-4F8F-BC2C-C3C8EC646B1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16501" y="3644900"/>
                        <a:ext cx="3167063" cy="11001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356" name="Rectangle 21">
            <a:extLst>
              <a:ext uri="{FF2B5EF4-FFF2-40B4-BE49-F238E27FC236}">
                <a16:creationId xmlns:a16="http://schemas.microsoft.com/office/drawing/2014/main" id="{6082E652-0B7E-4614-B03D-E30D8E0DEB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92313" y="4581525"/>
            <a:ext cx="8424862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/>
              <a:t>Разложение функции </a:t>
            </a:r>
            <a:r>
              <a:rPr lang="ru-RU" altLang="ru-RU">
                <a:sym typeface="Symbol" panose="05050102010706020507" pitchFamily="18" charset="2"/>
              </a:rPr>
              <a:t></a:t>
            </a:r>
            <a:r>
              <a:rPr lang="ru-RU" altLang="ru-RU"/>
              <a:t>(х*) в окрестности х* в ряд Тейлора до 3-го члена дает квадратичную аппроксимацию этой функции в </a:t>
            </a:r>
            <a:r>
              <a:rPr lang="en-US" altLang="ru-RU">
                <a:sym typeface="Symbol" panose="05050102010706020507" pitchFamily="18" charset="2"/>
              </a:rPr>
              <a:t>U</a:t>
            </a:r>
            <a:r>
              <a:rPr lang="ru-RU" altLang="ru-RU"/>
              <a:t>(</a:t>
            </a:r>
            <a:r>
              <a:rPr lang="en-US" altLang="ru-RU">
                <a:sym typeface="Symbol" panose="05050102010706020507" pitchFamily="18" charset="2"/>
              </a:rPr>
              <a:t>x</a:t>
            </a:r>
            <a:r>
              <a:rPr lang="ru-RU" altLang="ru-RU">
                <a:sym typeface="Symbol" panose="05050102010706020507" pitchFamily="18" charset="2"/>
              </a:rPr>
              <a:t>*):</a:t>
            </a:r>
          </a:p>
        </p:txBody>
      </p:sp>
      <p:sp>
        <p:nvSpPr>
          <p:cNvPr id="14357" name="Rectangle 23">
            <a:extLst>
              <a:ext uri="{FF2B5EF4-FFF2-40B4-BE49-F238E27FC236}">
                <a16:creationId xmlns:a16="http://schemas.microsoft.com/office/drawing/2014/main" id="{A5CE2E69-59CC-4EBC-8E95-B146FD7F02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1300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graphicFrame>
        <p:nvGraphicFramePr>
          <p:cNvPr id="14358" name="Object 22">
            <a:extLst>
              <a:ext uri="{FF2B5EF4-FFF2-40B4-BE49-F238E27FC236}">
                <a16:creationId xmlns:a16="http://schemas.microsoft.com/office/drawing/2014/main" id="{B8D52444-434E-470A-80BE-7BDE18EA96C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063750" y="5300663"/>
          <a:ext cx="3600450" cy="463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62" name="Формула" r:id="rId11" imgW="1765300" imgH="228600" progId="Equation.3">
                  <p:embed/>
                </p:oleObj>
              </mc:Choice>
              <mc:Fallback>
                <p:oleObj name="Формула" r:id="rId11" imgW="1765300" imgH="228600" progId="Equation.3">
                  <p:embed/>
                  <p:pic>
                    <p:nvPicPr>
                      <p:cNvPr id="14358" name="Object 22">
                        <a:extLst>
                          <a:ext uri="{FF2B5EF4-FFF2-40B4-BE49-F238E27FC236}">
                            <a16:creationId xmlns:a16="http://schemas.microsoft.com/office/drawing/2014/main" id="{B8D52444-434E-470A-80BE-7BDE18EA96C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63750" y="5300663"/>
                        <a:ext cx="3600450" cy="463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359" name="Rectangle 25">
            <a:extLst>
              <a:ext uri="{FF2B5EF4-FFF2-40B4-BE49-F238E27FC236}">
                <a16:creationId xmlns:a16="http://schemas.microsoft.com/office/drawing/2014/main" id="{76DCDDC0-4D90-4795-BC55-17EA200748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1300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graphicFrame>
        <p:nvGraphicFramePr>
          <p:cNvPr id="14360" name="Object 24">
            <a:extLst>
              <a:ext uri="{FF2B5EF4-FFF2-40B4-BE49-F238E27FC236}">
                <a16:creationId xmlns:a16="http://schemas.microsoft.com/office/drawing/2014/main" id="{B1A5C943-A0D3-4B6B-A767-BE7DA6B9DAD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240464" y="5300664"/>
          <a:ext cx="4105275" cy="4524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63" name="Формула" r:id="rId13" imgW="2070100" imgH="228600" progId="Equation.3">
                  <p:embed/>
                </p:oleObj>
              </mc:Choice>
              <mc:Fallback>
                <p:oleObj name="Формула" r:id="rId13" imgW="2070100" imgH="228600" progId="Equation.3">
                  <p:embed/>
                  <p:pic>
                    <p:nvPicPr>
                      <p:cNvPr id="14360" name="Object 24">
                        <a:extLst>
                          <a:ext uri="{FF2B5EF4-FFF2-40B4-BE49-F238E27FC236}">
                            <a16:creationId xmlns:a16="http://schemas.microsoft.com/office/drawing/2014/main" id="{B1A5C943-A0D3-4B6B-A767-BE7DA6B9DAD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40464" y="5300664"/>
                        <a:ext cx="4105275" cy="4524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361" name="Rectangle 26">
            <a:extLst>
              <a:ext uri="{FF2B5EF4-FFF2-40B4-BE49-F238E27FC236}">
                <a16:creationId xmlns:a16="http://schemas.microsoft.com/office/drawing/2014/main" id="{E7761BFB-A875-4D3C-88E8-9865A0B1C8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35638" y="5300663"/>
            <a:ext cx="24130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>
                <a:sym typeface="Symbol" panose="05050102010706020507" pitchFamily="18" charset="2"/>
              </a:rPr>
              <a:t>.</a:t>
            </a:r>
          </a:p>
        </p:txBody>
      </p:sp>
      <p:sp>
        <p:nvSpPr>
          <p:cNvPr id="14362" name="Rectangle 28">
            <a:extLst>
              <a:ext uri="{FF2B5EF4-FFF2-40B4-BE49-F238E27FC236}">
                <a16:creationId xmlns:a16="http://schemas.microsoft.com/office/drawing/2014/main" id="{1742B285-A34A-43D7-8BB9-A452930D88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1300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graphicFrame>
        <p:nvGraphicFramePr>
          <p:cNvPr id="14363" name="Object 27">
            <a:extLst>
              <a:ext uri="{FF2B5EF4-FFF2-40B4-BE49-F238E27FC236}">
                <a16:creationId xmlns:a16="http://schemas.microsoft.com/office/drawing/2014/main" id="{CF95B998-5ED1-45E4-8088-A43177E6945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992313" y="5805488"/>
          <a:ext cx="2736850" cy="373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64" name="Формула" r:id="rId15" imgW="1676400" imgH="228600" progId="Equation.3">
                  <p:embed/>
                </p:oleObj>
              </mc:Choice>
              <mc:Fallback>
                <p:oleObj name="Формула" r:id="rId15" imgW="1676400" imgH="228600" progId="Equation.3">
                  <p:embed/>
                  <p:pic>
                    <p:nvPicPr>
                      <p:cNvPr id="14363" name="Object 27">
                        <a:extLst>
                          <a:ext uri="{FF2B5EF4-FFF2-40B4-BE49-F238E27FC236}">
                            <a16:creationId xmlns:a16="http://schemas.microsoft.com/office/drawing/2014/main" id="{CF95B998-5ED1-45E4-8088-A43177E6945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92313" y="5805488"/>
                        <a:ext cx="2736850" cy="3730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364" name="Rectangle 30">
            <a:extLst>
              <a:ext uri="{FF2B5EF4-FFF2-40B4-BE49-F238E27FC236}">
                <a16:creationId xmlns:a16="http://schemas.microsoft.com/office/drawing/2014/main" id="{AD0ED72A-B7E7-4FC4-9D50-E53382CD72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126859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graphicFrame>
        <p:nvGraphicFramePr>
          <p:cNvPr id="14365" name="Object 29">
            <a:extLst>
              <a:ext uri="{FF2B5EF4-FFF2-40B4-BE49-F238E27FC236}">
                <a16:creationId xmlns:a16="http://schemas.microsoft.com/office/drawing/2014/main" id="{B38285AC-5146-4A19-9B04-9E0E61C093F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872039" y="5805488"/>
          <a:ext cx="2663825" cy="411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65" name="Формула" r:id="rId17" imgW="1536700" imgH="241300" progId="Equation.3">
                  <p:embed/>
                </p:oleObj>
              </mc:Choice>
              <mc:Fallback>
                <p:oleObj name="Формула" r:id="rId17" imgW="1536700" imgH="241300" progId="Equation.3">
                  <p:embed/>
                  <p:pic>
                    <p:nvPicPr>
                      <p:cNvPr id="14365" name="Object 29">
                        <a:extLst>
                          <a:ext uri="{FF2B5EF4-FFF2-40B4-BE49-F238E27FC236}">
                            <a16:creationId xmlns:a16="http://schemas.microsoft.com/office/drawing/2014/main" id="{B38285AC-5146-4A19-9B04-9E0E61C093F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72039" y="5805488"/>
                        <a:ext cx="2663825" cy="4111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366" name="Rectangle 32">
            <a:extLst>
              <a:ext uri="{FF2B5EF4-FFF2-40B4-BE49-F238E27FC236}">
                <a16:creationId xmlns:a16="http://schemas.microsoft.com/office/drawing/2014/main" id="{84FC44D8-1FA1-4D6F-B161-25E58EFF55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145909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graphicFrame>
        <p:nvGraphicFramePr>
          <p:cNvPr id="14367" name="Object 31">
            <a:extLst>
              <a:ext uri="{FF2B5EF4-FFF2-40B4-BE49-F238E27FC236}">
                <a16:creationId xmlns:a16="http://schemas.microsoft.com/office/drawing/2014/main" id="{396730EC-032D-48C9-89FE-87A20F5EBF9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751764" y="5876925"/>
          <a:ext cx="2376487" cy="344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66" name="Формула" r:id="rId19" imgW="1371600" imgH="203200" progId="Equation.3">
                  <p:embed/>
                </p:oleObj>
              </mc:Choice>
              <mc:Fallback>
                <p:oleObj name="Формула" r:id="rId19" imgW="1371600" imgH="203200" progId="Equation.3">
                  <p:embed/>
                  <p:pic>
                    <p:nvPicPr>
                      <p:cNvPr id="14367" name="Object 31">
                        <a:extLst>
                          <a:ext uri="{FF2B5EF4-FFF2-40B4-BE49-F238E27FC236}">
                            <a16:creationId xmlns:a16="http://schemas.microsoft.com/office/drawing/2014/main" id="{396730EC-032D-48C9-89FE-87A20F5EBF9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51764" y="5876925"/>
                        <a:ext cx="2376487" cy="3444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368" name="Rectangle 34">
            <a:extLst>
              <a:ext uri="{FF2B5EF4-FFF2-40B4-BE49-F238E27FC236}">
                <a16:creationId xmlns:a16="http://schemas.microsoft.com/office/drawing/2014/main" id="{EFE192E2-B9D3-418A-B630-8A879D1FBD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145909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14369" name="Rectangle 35">
            <a:extLst>
              <a:ext uri="{FF2B5EF4-FFF2-40B4-BE49-F238E27FC236}">
                <a16:creationId xmlns:a16="http://schemas.microsoft.com/office/drawing/2014/main" id="{AECC8EFF-028C-46FE-A466-854CD8D5AA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56138" y="5805488"/>
            <a:ext cx="30480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/>
              <a:t>; </a:t>
            </a:r>
          </a:p>
        </p:txBody>
      </p:sp>
      <p:sp>
        <p:nvSpPr>
          <p:cNvPr id="14370" name="Rectangle 36">
            <a:extLst>
              <a:ext uri="{FF2B5EF4-FFF2-40B4-BE49-F238E27FC236}">
                <a16:creationId xmlns:a16="http://schemas.microsoft.com/office/drawing/2014/main" id="{8B6CEA71-B47C-41DB-A0F7-61422A44AE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91400" y="5876926"/>
            <a:ext cx="3048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/>
              <a:t>; </a:t>
            </a:r>
          </a:p>
        </p:txBody>
      </p:sp>
      <p:sp>
        <p:nvSpPr>
          <p:cNvPr id="14371" name="Rectangle 37">
            <a:extLst>
              <a:ext uri="{FF2B5EF4-FFF2-40B4-BE49-F238E27FC236}">
                <a16:creationId xmlns:a16="http://schemas.microsoft.com/office/drawing/2014/main" id="{F9C59969-4DE5-43B1-B4B5-AA888CF55D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56813" y="5876926"/>
            <a:ext cx="2413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>
                <a:sym typeface="Symbol" panose="05050102010706020507" pitchFamily="18" charset="2"/>
              </a:rPr>
              <a:t>.</a:t>
            </a:r>
          </a:p>
        </p:txBody>
      </p:sp>
      <p:graphicFrame>
        <p:nvGraphicFramePr>
          <p:cNvPr id="14372" name="Object 38">
            <a:extLst>
              <a:ext uri="{FF2B5EF4-FFF2-40B4-BE49-F238E27FC236}">
                <a16:creationId xmlns:a16="http://schemas.microsoft.com/office/drawing/2014/main" id="{EEF48CE6-8EAA-4ADC-9723-4EA79D91506E}"/>
              </a:ext>
            </a:extLst>
          </p:cNvPr>
          <p:cNvGraphicFramePr>
            <a:graphicFrameLocks noGrp="1" noChangeAspect="1"/>
          </p:cNvGraphicFramePr>
          <p:nvPr>
            <p:ph sz="half" idx="2"/>
          </p:nvPr>
        </p:nvGraphicFramePr>
        <p:xfrm>
          <a:off x="4440238" y="3284538"/>
          <a:ext cx="5759450" cy="558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67" name="Формула" r:id="rId21" imgW="4051300" imgH="393700" progId="Equation.3">
                  <p:embed/>
                </p:oleObj>
              </mc:Choice>
              <mc:Fallback>
                <p:oleObj name="Формула" r:id="rId21" imgW="4051300" imgH="393700" progId="Equation.3">
                  <p:embed/>
                  <p:pic>
                    <p:nvPicPr>
                      <p:cNvPr id="14372" name="Object 38">
                        <a:extLst>
                          <a:ext uri="{FF2B5EF4-FFF2-40B4-BE49-F238E27FC236}">
                            <a16:creationId xmlns:a16="http://schemas.microsoft.com/office/drawing/2014/main" id="{EEF48CE6-8EAA-4ADC-9723-4EA79D91506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40238" y="3284538"/>
                        <a:ext cx="5759450" cy="558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A7E73DC4-DC19-4FA8-8324-26893A710D5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ru-RU" altLang="ru-RU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Метод Ньютона (метод второго порядка)</a:t>
            </a:r>
          </a:p>
        </p:txBody>
      </p:sp>
      <p:pic>
        <p:nvPicPr>
          <p:cNvPr id="15363" name="Picture 4">
            <a:extLst>
              <a:ext uri="{FF2B5EF4-FFF2-40B4-BE49-F238E27FC236}">
                <a16:creationId xmlns:a16="http://schemas.microsoft.com/office/drawing/2014/main" id="{1A6202BF-EA89-402A-A783-1B1F39473C68}"/>
              </a:ext>
            </a:extLst>
          </p:cNvPr>
          <p:cNvPicPr>
            <a:picLocks noGrp="1" noChangeAspect="1" noChangeArrowheads="1"/>
          </p:cNvPicPr>
          <p:nvPr>
            <p:ph type="body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057400" y="1925638"/>
            <a:ext cx="5334000" cy="36639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15364" name="Picture 5">
            <a:extLst>
              <a:ext uri="{FF2B5EF4-FFF2-40B4-BE49-F238E27FC236}">
                <a16:creationId xmlns:a16="http://schemas.microsoft.com/office/drawing/2014/main" id="{ECE06511-6BE7-407F-ABE2-DA733A0078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51763" y="2492376"/>
            <a:ext cx="2400300" cy="2449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>
            <a:extLst>
              <a:ext uri="{FF2B5EF4-FFF2-40B4-BE49-F238E27FC236}">
                <a16:creationId xmlns:a16="http://schemas.microsoft.com/office/drawing/2014/main" id="{204E884A-78EA-4A8F-BAF9-973ACDB005E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ru-RU" altLang="ru-RU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Метод Ньютона (метод второго порядка).</a:t>
            </a:r>
          </a:p>
        </p:txBody>
      </p:sp>
      <p:sp>
        <p:nvSpPr>
          <p:cNvPr id="16387" name="Rectangle 3">
            <a:extLst>
              <a:ext uri="{FF2B5EF4-FFF2-40B4-BE49-F238E27FC236}">
                <a16:creationId xmlns:a16="http://schemas.microsoft.com/office/drawing/2014/main" id="{C451375E-C514-4878-8D5F-7886C5E5087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38200" y="1901031"/>
            <a:ext cx="10515600" cy="4351338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ru-RU" altLang="ru-RU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Сопряженность:</a:t>
            </a:r>
            <a:r>
              <a:rPr lang="ru-RU" alt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16388" name="Rectangle 5">
            <a:extLst>
              <a:ext uri="{FF2B5EF4-FFF2-40B4-BE49-F238E27FC236}">
                <a16:creationId xmlns:a16="http://schemas.microsoft.com/office/drawing/2014/main" id="{1210A526-E317-4577-9FD7-81E8E72144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099872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graphicFrame>
        <p:nvGraphicFramePr>
          <p:cNvPr id="16389" name="Object 4">
            <a:extLst>
              <a:ext uri="{FF2B5EF4-FFF2-40B4-BE49-F238E27FC236}">
                <a16:creationId xmlns:a16="http://schemas.microsoft.com/office/drawing/2014/main" id="{944FAEC8-508B-4A78-901E-5F1537C4B71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181476" y="1869588"/>
          <a:ext cx="2808287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62" name="Формула" r:id="rId3" imgW="1397000" imgH="228600" progId="Equation.3">
                  <p:embed/>
                </p:oleObj>
              </mc:Choice>
              <mc:Fallback>
                <p:oleObj name="Формула" r:id="rId3" imgW="1397000" imgH="228600" progId="Equation.3">
                  <p:embed/>
                  <p:pic>
                    <p:nvPicPr>
                      <p:cNvPr id="16389" name="Object 4">
                        <a:extLst>
                          <a:ext uri="{FF2B5EF4-FFF2-40B4-BE49-F238E27FC236}">
                            <a16:creationId xmlns:a16="http://schemas.microsoft.com/office/drawing/2014/main" id="{944FAEC8-508B-4A78-901E-5F1537C4B71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81476" y="1869588"/>
                        <a:ext cx="2808287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390" name="Rectangle 6">
            <a:extLst>
              <a:ext uri="{FF2B5EF4-FFF2-40B4-BE49-F238E27FC236}">
                <a16:creationId xmlns:a16="http://schemas.microsoft.com/office/drawing/2014/main" id="{3FFEBD23-771D-442A-9FC6-DAC85E5972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3586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16391" name="Rectangle 7">
            <a:extLst>
              <a:ext uri="{FF2B5EF4-FFF2-40B4-BE49-F238E27FC236}">
                <a16:creationId xmlns:a16="http://schemas.microsoft.com/office/drawing/2014/main" id="{79DCCE1E-4321-4794-98C6-4CF8D0BC16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92313" y="2095501"/>
            <a:ext cx="8280400" cy="1006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sz="2400" u="sng"/>
              <a:t>Достоинства :</a:t>
            </a:r>
            <a:r>
              <a:rPr lang="ru-RU" altLang="ru-RU" u="sng"/>
              <a:t> </a:t>
            </a:r>
            <a:r>
              <a:rPr lang="ru-RU" altLang="ru-RU"/>
              <a:t>  </a:t>
            </a:r>
          </a:p>
          <a:p>
            <a:pPr eaLnBrk="1" hangingPunct="1"/>
            <a:r>
              <a:rPr lang="ru-RU" altLang="ru-RU"/>
              <a:t>Для функций, близких к квадратичным, скорость сходимости алгоритма суперлинейная.</a:t>
            </a:r>
          </a:p>
        </p:txBody>
      </p:sp>
      <p:sp>
        <p:nvSpPr>
          <p:cNvPr id="16392" name="Rectangle 8">
            <a:extLst>
              <a:ext uri="{FF2B5EF4-FFF2-40B4-BE49-F238E27FC236}">
                <a16:creationId xmlns:a16="http://schemas.microsoft.com/office/drawing/2014/main" id="{18E3DF10-08FE-48B1-8057-09FFEC72BF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63750" y="2994969"/>
            <a:ext cx="1872116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sz="2400" u="sng"/>
              <a:t>Недостатки:</a:t>
            </a:r>
            <a:r>
              <a:rPr lang="ru-RU" altLang="ru-RU" sz="2400"/>
              <a:t> </a:t>
            </a:r>
          </a:p>
        </p:txBody>
      </p:sp>
      <p:sp>
        <p:nvSpPr>
          <p:cNvPr id="16393" name="Rectangle 9">
            <a:extLst>
              <a:ext uri="{FF2B5EF4-FFF2-40B4-BE49-F238E27FC236}">
                <a16:creationId xmlns:a16="http://schemas.microsoft.com/office/drawing/2014/main" id="{773D0CE6-ED0B-4891-B44D-052E2C1D24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74825" y="3370541"/>
            <a:ext cx="317503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/>
              <a:t>1.Необходимость вычисления </a:t>
            </a:r>
          </a:p>
        </p:txBody>
      </p:sp>
      <p:sp>
        <p:nvSpPr>
          <p:cNvPr id="16394" name="Rectangle 11">
            <a:extLst>
              <a:ext uri="{FF2B5EF4-FFF2-40B4-BE49-F238E27FC236}">
                <a16:creationId xmlns:a16="http://schemas.microsoft.com/office/drawing/2014/main" id="{59BDBA98-DF85-4407-B152-B28AC578C9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1300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graphicFrame>
        <p:nvGraphicFramePr>
          <p:cNvPr id="16395" name="Object 10">
            <a:extLst>
              <a:ext uri="{FF2B5EF4-FFF2-40B4-BE49-F238E27FC236}">
                <a16:creationId xmlns:a16="http://schemas.microsoft.com/office/drawing/2014/main" id="{94781E6B-A18A-4D7D-A5AF-A4821FAE3A2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448300" y="3357564"/>
          <a:ext cx="1295400" cy="479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63" name="Формула" r:id="rId5" imgW="622030" imgH="228501" progId="Equation.3">
                  <p:embed/>
                </p:oleObj>
              </mc:Choice>
              <mc:Fallback>
                <p:oleObj name="Формула" r:id="rId5" imgW="622030" imgH="228501" progId="Equation.3">
                  <p:embed/>
                  <p:pic>
                    <p:nvPicPr>
                      <p:cNvPr id="16395" name="Object 10">
                        <a:extLst>
                          <a:ext uri="{FF2B5EF4-FFF2-40B4-BE49-F238E27FC236}">
                            <a16:creationId xmlns:a16="http://schemas.microsoft.com/office/drawing/2014/main" id="{94781E6B-A18A-4D7D-A5AF-A4821FAE3A2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48300" y="3357564"/>
                        <a:ext cx="1295400" cy="479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396" name="Rectangle 12">
            <a:extLst>
              <a:ext uri="{FF2B5EF4-FFF2-40B4-BE49-F238E27FC236}">
                <a16:creationId xmlns:a16="http://schemas.microsoft.com/office/drawing/2014/main" id="{5DA16338-C003-4265-8BD5-F809CF7ACB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72263" y="3384550"/>
            <a:ext cx="3175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sz="2400"/>
              <a:t>.</a:t>
            </a:r>
            <a:r>
              <a:rPr lang="ru-RU" altLang="ru-RU"/>
              <a:t> </a:t>
            </a:r>
          </a:p>
        </p:txBody>
      </p:sp>
      <p:sp>
        <p:nvSpPr>
          <p:cNvPr id="16397" name="Rectangle 14">
            <a:extLst>
              <a:ext uri="{FF2B5EF4-FFF2-40B4-BE49-F238E27FC236}">
                <a16:creationId xmlns:a16="http://schemas.microsoft.com/office/drawing/2014/main" id="{1D272351-C9BB-4DE1-95B2-7B1F5AF4E8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03389" y="3740151"/>
            <a:ext cx="5545137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>
                <a:latin typeface="Arial" panose="020B0604020202020204" pitchFamily="34" charset="0"/>
                <a:cs typeface="Times New Roman" panose="02020603050405020304" pitchFamily="18" charset="0"/>
              </a:rPr>
              <a:t>2.Процесс решения сильно зависит от выбора </a:t>
            </a:r>
            <a:endParaRPr lang="ru-RU" altLang="ru-RU">
              <a:latin typeface="Arial" panose="020B0604020202020204" pitchFamily="34" charset="0"/>
            </a:endParaRPr>
          </a:p>
        </p:txBody>
      </p:sp>
      <p:graphicFrame>
        <p:nvGraphicFramePr>
          <p:cNvPr id="16398" name="Object 13">
            <a:extLst>
              <a:ext uri="{FF2B5EF4-FFF2-40B4-BE49-F238E27FC236}">
                <a16:creationId xmlns:a16="http://schemas.microsoft.com/office/drawing/2014/main" id="{3FFA216E-B536-45D7-AB0E-0E5A550BA44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888163" y="3716339"/>
          <a:ext cx="576262" cy="441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64" name="Формула" r:id="rId7" imgW="253780" imgH="203024" progId="Equation.3">
                  <p:embed/>
                </p:oleObj>
              </mc:Choice>
              <mc:Fallback>
                <p:oleObj name="Формула" r:id="rId7" imgW="253780" imgH="203024" progId="Equation.3">
                  <p:embed/>
                  <p:pic>
                    <p:nvPicPr>
                      <p:cNvPr id="16398" name="Object 13">
                        <a:extLst>
                          <a:ext uri="{FF2B5EF4-FFF2-40B4-BE49-F238E27FC236}">
                            <a16:creationId xmlns:a16="http://schemas.microsoft.com/office/drawing/2014/main" id="{3FFA216E-B536-45D7-AB0E-0E5A550BA44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88163" y="3716339"/>
                        <a:ext cx="576262" cy="441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399" name="Rectangle 15">
            <a:extLst>
              <a:ext uri="{FF2B5EF4-FFF2-40B4-BE49-F238E27FC236}">
                <a16:creationId xmlns:a16="http://schemas.microsoft.com/office/drawing/2014/main" id="{AE5F1ACA-7258-414F-937B-A81554F5C5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91400" y="3802341"/>
            <a:ext cx="2811924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>
                <a:latin typeface="Arial" panose="020B0604020202020204" pitchFamily="34" charset="0"/>
                <a:cs typeface="Times New Roman" panose="02020603050405020304" pitchFamily="18" charset="0"/>
              </a:rPr>
              <a:t>(т.е. от начальной точки)</a:t>
            </a:r>
            <a:endParaRPr lang="ru-RU" altLang="ru-RU">
              <a:latin typeface="Arial" panose="020B0604020202020204" pitchFamily="34" charset="0"/>
            </a:endParaRPr>
          </a:p>
        </p:txBody>
      </p:sp>
      <p:sp>
        <p:nvSpPr>
          <p:cNvPr id="16400" name="Rectangle 16">
            <a:extLst>
              <a:ext uri="{FF2B5EF4-FFF2-40B4-BE49-F238E27FC236}">
                <a16:creationId xmlns:a16="http://schemas.microsoft.com/office/drawing/2014/main" id="{E46C9506-35AC-4488-BE76-6EC0926C69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12350" y="3716338"/>
            <a:ext cx="3175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sz="2400"/>
              <a:t>.</a:t>
            </a:r>
            <a:r>
              <a:rPr lang="ru-RU" altLang="ru-RU"/>
              <a:t> </a:t>
            </a:r>
          </a:p>
        </p:txBody>
      </p:sp>
      <p:sp>
        <p:nvSpPr>
          <p:cNvPr id="16401" name="Rectangle 17">
            <a:extLst>
              <a:ext uri="{FF2B5EF4-FFF2-40B4-BE49-F238E27FC236}">
                <a16:creationId xmlns:a16="http://schemas.microsoft.com/office/drawing/2014/main" id="{2B24271C-B3CA-4B56-A712-9D1EF56938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03389" y="4148416"/>
            <a:ext cx="5593839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/>
              <a:t>3.Функция </a:t>
            </a:r>
            <a:r>
              <a:rPr lang="ru-RU" altLang="ru-RU">
                <a:sym typeface="Symbol" panose="05050102010706020507" pitchFamily="18" charset="2"/>
              </a:rPr>
              <a:t></a:t>
            </a:r>
            <a:r>
              <a:rPr lang="ru-RU" altLang="ru-RU"/>
              <a:t>(х) должна быть выпуклой во всех точках </a:t>
            </a:r>
          </a:p>
        </p:txBody>
      </p:sp>
      <p:sp>
        <p:nvSpPr>
          <p:cNvPr id="16402" name="Rectangle 19">
            <a:extLst>
              <a:ext uri="{FF2B5EF4-FFF2-40B4-BE49-F238E27FC236}">
                <a16:creationId xmlns:a16="http://schemas.microsoft.com/office/drawing/2014/main" id="{CEFFB27D-15A7-4302-8CF8-7ECE571D71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145909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graphicFrame>
        <p:nvGraphicFramePr>
          <p:cNvPr id="16403" name="Object 18">
            <a:extLst>
              <a:ext uri="{FF2B5EF4-FFF2-40B4-BE49-F238E27FC236}">
                <a16:creationId xmlns:a16="http://schemas.microsoft.com/office/drawing/2014/main" id="{685BA3D4-9780-4523-8437-B76DABFC5DD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464425" y="4149725"/>
          <a:ext cx="431800" cy="331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65" name="Формула" r:id="rId9" imgW="253780" imgH="203024" progId="Equation.3">
                  <p:embed/>
                </p:oleObj>
              </mc:Choice>
              <mc:Fallback>
                <p:oleObj name="Формула" r:id="rId9" imgW="253780" imgH="203024" progId="Equation.3">
                  <p:embed/>
                  <p:pic>
                    <p:nvPicPr>
                      <p:cNvPr id="16403" name="Object 18">
                        <a:extLst>
                          <a:ext uri="{FF2B5EF4-FFF2-40B4-BE49-F238E27FC236}">
                            <a16:creationId xmlns:a16="http://schemas.microsoft.com/office/drawing/2014/main" id="{685BA3D4-9780-4523-8437-B76DABFC5DD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64425" y="4149725"/>
                        <a:ext cx="431800" cy="3317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404" name="Rectangle 22">
            <a:extLst>
              <a:ext uri="{FF2B5EF4-FFF2-40B4-BE49-F238E27FC236}">
                <a16:creationId xmlns:a16="http://schemas.microsoft.com/office/drawing/2014/main" id="{3347BC4D-4D04-4DFC-B54C-2E1F56F3FF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2871272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16405" name="Rectangle 23">
            <a:extLst>
              <a:ext uri="{FF2B5EF4-FFF2-40B4-BE49-F238E27FC236}">
                <a16:creationId xmlns:a16="http://schemas.microsoft.com/office/drawing/2014/main" id="{9F7C6488-2E27-4BA6-A75D-56723A6C1E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67664" y="4148416"/>
            <a:ext cx="112146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>
                <a:latin typeface="Arial" panose="020B0604020202020204" pitchFamily="34" charset="0"/>
                <a:cs typeface="Times New Roman" panose="02020603050405020304" pitchFamily="18" charset="0"/>
              </a:rPr>
              <a:t>, то есть</a:t>
            </a:r>
            <a:r>
              <a:rPr lang="ru-RU" altLang="ru-RU" sz="1200">
                <a:latin typeface="Arial" panose="020B0604020202020204" pitchFamily="34" charset="0"/>
                <a:cs typeface="Times New Roman" panose="02020603050405020304" pitchFamily="18" charset="0"/>
              </a:rPr>
              <a:t> </a:t>
            </a:r>
            <a:endParaRPr lang="ru-RU" altLang="ru-RU">
              <a:latin typeface="Arial" panose="020B0604020202020204" pitchFamily="34" charset="0"/>
            </a:endParaRPr>
          </a:p>
        </p:txBody>
      </p:sp>
      <p:sp>
        <p:nvSpPr>
          <p:cNvPr id="16406" name="Rectangle 25">
            <a:extLst>
              <a:ext uri="{FF2B5EF4-FFF2-40B4-BE49-F238E27FC236}">
                <a16:creationId xmlns:a16="http://schemas.microsoft.com/office/drawing/2014/main" id="{CFA7F9A9-A2EA-4231-9A8B-4D4F2B20A9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1300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graphicFrame>
        <p:nvGraphicFramePr>
          <p:cNvPr id="16407" name="Object 24">
            <a:extLst>
              <a:ext uri="{FF2B5EF4-FFF2-40B4-BE49-F238E27FC236}">
                <a16:creationId xmlns:a16="http://schemas.microsoft.com/office/drawing/2014/main" id="{BE2B792D-88B9-4455-BD89-57EE9EC7A95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904288" y="4149725"/>
          <a:ext cx="1441450" cy="369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66" name="Формула" r:id="rId11" imgW="889000" imgH="228600" progId="Equation.3">
                  <p:embed/>
                </p:oleObj>
              </mc:Choice>
              <mc:Fallback>
                <p:oleObj name="Формула" r:id="rId11" imgW="889000" imgH="228600" progId="Equation.3">
                  <p:embed/>
                  <p:pic>
                    <p:nvPicPr>
                      <p:cNvPr id="16407" name="Object 24">
                        <a:extLst>
                          <a:ext uri="{FF2B5EF4-FFF2-40B4-BE49-F238E27FC236}">
                            <a16:creationId xmlns:a16="http://schemas.microsoft.com/office/drawing/2014/main" id="{BE2B792D-88B9-4455-BD89-57EE9EC7A95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904288" y="4149725"/>
                        <a:ext cx="1441450" cy="3698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408" name="Rectangle 26">
            <a:extLst>
              <a:ext uri="{FF2B5EF4-FFF2-40B4-BE49-F238E27FC236}">
                <a16:creationId xmlns:a16="http://schemas.microsoft.com/office/drawing/2014/main" id="{9DB6E284-DC5F-4CF7-95A5-DF5E387F49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50500" y="4076700"/>
            <a:ext cx="3175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sz="2400"/>
              <a:t>.</a:t>
            </a:r>
            <a:r>
              <a:rPr lang="ru-RU" altLang="ru-RU"/>
              <a:t> 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518F7EF-7813-485D-9A32-65C71A41E8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ru-RU" sz="2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ГРАДИЕНТНЫЕ МЕТОДЫ В МАШИННОМ ОБУЧЕНИИ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119A55B-327F-42B8-9615-A2D0B1E244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 последние 18-20 лет произошел огромный скачок в развитии систем искусственного интеллекта на основе машинного обучения и глубоких нейронных сетей. Это было обусловлено четырьмя  основными факторами:</a:t>
            </a:r>
          </a:p>
          <a:p>
            <a:pPr marL="385763" indent="-385763">
              <a:buAutoNum type="arabicPeriod"/>
            </a:pP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Значительным повышением производительности компьютерных систем.</a:t>
            </a:r>
          </a:p>
          <a:p>
            <a:pPr marL="385763" indent="-385763">
              <a:buAutoNum type="arabicPeriod"/>
            </a:pP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Наличием доступных очень больших баз данных.</a:t>
            </a:r>
          </a:p>
          <a:p>
            <a:pPr marL="385763" indent="-385763">
              <a:buAutoNum type="arabicPeriod"/>
            </a:pP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Созданием новых методов оптимизации на основе стохастического градиентного спуска.</a:t>
            </a:r>
          </a:p>
          <a:p>
            <a:pPr marL="385763" indent="-385763">
              <a:buAutoNum type="arabicPeriod"/>
            </a:pP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Разработкой и созданием систем параллельной обработки информации на основе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CUDA, GPU 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TPU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ru-RU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Мы рассмотрим те методы оптимизации, которые легли в основу машинного обучения и теории глубоких нейронных сетей.</a:t>
            </a:r>
          </a:p>
          <a:p>
            <a:pPr marL="0" indent="0">
              <a:buNone/>
            </a:pPr>
            <a:endParaRPr lang="ru-RU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85763" indent="-385763">
              <a:buAutoNum type="arabicPeriod"/>
            </a:pPr>
            <a:endParaRPr lang="ru-RU" sz="1800" dirty="0"/>
          </a:p>
          <a:p>
            <a:pPr marL="385763" indent="-385763">
              <a:buAutoNum type="arabicPeriod"/>
            </a:pPr>
            <a:endParaRPr lang="ru-RU" sz="1800" dirty="0"/>
          </a:p>
          <a:p>
            <a:pPr marL="0" indent="0">
              <a:buNone/>
            </a:pPr>
            <a:r>
              <a:rPr lang="ru-RU" sz="18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84826280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DFD1F0A6-64AD-4008-BFD3-5A83CB9F9A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ru-RU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Метод градиентного спуска является одним из наиболее популярных алгоритмов в области оптимизации для реализации обучения в современных нейронных сетях. В настоящее время разработан целый ряд библиотек глубокого машинного обучения, реализованных в виде соответствующих фреймворков. Ядром этих фреймворков являются методы оптимизации, основанные на использовании различных вариантов стохастического градиентного спуска.</a:t>
            </a:r>
          </a:p>
          <a:p>
            <a:pPr marL="0" indent="0">
              <a:buNone/>
            </a:pPr>
            <a:endParaRPr lang="ru-RU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ru-RU" dirty="0"/>
          </a:p>
        </p:txBody>
      </p:sp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B0FFCC61-6EB3-458E-9499-B2FDE4ADED70}"/>
              </a:ext>
            </a:extLst>
          </p:cNvPr>
          <p:cNvSpPr txBox="1">
            <a:spLocks/>
          </p:cNvSpPr>
          <p:nvPr/>
        </p:nvSpPr>
        <p:spPr>
          <a:xfrm>
            <a:off x="2183841" y="234751"/>
            <a:ext cx="7886700" cy="994172"/>
          </a:xfrm>
          <a:prstGeom prst="rect">
            <a:avLst/>
          </a:prstGeom>
        </p:spPr>
        <p:txBody>
          <a:bodyPr vert="horz" lIns="68580" tIns="34290" rIns="68580" bIns="3429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2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ГРАДИЕНТНЫЕ МЕТОДЫ В МАШИННОМ ОБУЧЕНИИ</a:t>
            </a:r>
            <a:endParaRPr lang="ru-RU" sz="2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Заголовок 5">
            <a:extLst>
              <a:ext uri="{FF2B5EF4-FFF2-40B4-BE49-F238E27FC236}">
                <a16:creationId xmlns:a16="http://schemas.microsoft.com/office/drawing/2014/main" id="{77C482B3-7691-4F91-8AFD-BEFCD49699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73547" y="99514"/>
            <a:ext cx="8507288" cy="1143000"/>
          </a:xfrm>
        </p:spPr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51517030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Text Box 2"/>
          <p:cNvSpPr txBox="1">
            <a:spLocks noChangeArrowheads="1"/>
          </p:cNvSpPr>
          <p:nvPr/>
        </p:nvSpPr>
        <p:spPr bwMode="auto">
          <a:xfrm>
            <a:off x="1524000" y="857252"/>
            <a:ext cx="9144000" cy="6369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67500" tIns="35100" rIns="67500" bIns="35100"/>
          <a:lstStyle>
            <a:lvl1pPr defTabSz="449263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defTabSz="449263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defTabSz="449263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defTabSz="449263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defTabSz="449263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ru-RU" altLang="ru-RU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Фреймворки для работы с глубокими сетями</a:t>
            </a:r>
          </a:p>
        </p:txBody>
      </p:sp>
      <p:sp>
        <p:nvSpPr>
          <p:cNvPr id="101380" name="Text Box 4"/>
          <p:cNvSpPr txBox="1">
            <a:spLocks noChangeArrowheads="1"/>
          </p:cNvSpPr>
          <p:nvPr/>
        </p:nvSpPr>
        <p:spPr bwMode="auto">
          <a:xfrm>
            <a:off x="526026" y="2589190"/>
            <a:ext cx="11665974" cy="3579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67500" tIns="35100" rIns="67500" bIns="35100">
            <a:spAutoFit/>
          </a:bodyPr>
          <a:lstStyle>
            <a:lvl1pPr defTabSz="449263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defTabSz="449263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defTabSz="449263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defTabSz="449263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defTabSz="449263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fontAlgn="base">
              <a:buNone/>
            </a:pPr>
            <a:r>
              <a:rPr lang="ru-RU" altLang="ru-RU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</a:t>
            </a:r>
            <a:r>
              <a:rPr lang="ru-RU" sz="2000" u="none" strike="noStrike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TensorFlow</a:t>
            </a:r>
            <a:r>
              <a:rPr lang="ru-RU" sz="20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— это комплексная платформа для машинного обучения с открытым исходным кодом. 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Разработана компанией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GOOGLE.</a:t>
            </a:r>
            <a:endParaRPr lang="ru-RU" sz="200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Clr>
                <a:srgbClr val="000000"/>
              </a:buClr>
              <a:buNone/>
            </a:pPr>
            <a:r>
              <a:rPr lang="ru-RU" altLang="ru-RU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ru-RU" altLang="ru-RU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ru-RU" sz="2000" b="0" i="0" u="none" strike="noStrike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PyTorch</a:t>
            </a:r>
            <a:r>
              <a:rPr lang="ru-RU" sz="20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— это среда машинного обучения на языке Python с открытым исходным кодом, обеспечивающая тензорные вычисления с GPU-ускорением. Она была разработана компанией Facebook и представлена в октябре 2016 года.</a:t>
            </a:r>
          </a:p>
          <a:p>
            <a:pPr eaLnBrk="1" hangingPunct="1">
              <a:spcBef>
                <a:spcPct val="0"/>
              </a:spcBef>
              <a:buClr>
                <a:srgbClr val="000000"/>
              </a:buClr>
              <a:buNone/>
            </a:pPr>
            <a:r>
              <a:rPr lang="ru-RU" altLang="ru-RU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</a:t>
            </a:r>
            <a:r>
              <a:rPr lang="ru-RU" sz="2000" b="0" i="0" u="none" strike="noStrike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  <a:hlinkClick r:id="rId5"/>
              </a:rPr>
              <a:t>Keras</a:t>
            </a:r>
            <a:r>
              <a:rPr lang="ru-RU" sz="20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— открытая среда глубокого обучения, написанная на Python. Она была разработана инженером из Google Франсуа </a:t>
            </a:r>
            <a:r>
              <a:rPr lang="ru-RU" sz="2000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Шолле</a:t>
            </a:r>
            <a:r>
              <a:rPr lang="ru-RU" sz="20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и представлена в марте 2015 года.</a:t>
            </a:r>
          </a:p>
          <a:p>
            <a:pPr eaLnBrk="1" hangingPunct="1">
              <a:spcBef>
                <a:spcPct val="0"/>
              </a:spcBef>
              <a:buClr>
                <a:srgbClr val="000000"/>
              </a:buClr>
              <a:buNone/>
            </a:pPr>
            <a:r>
              <a:rPr lang="ru-RU" altLang="ru-RU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 </a:t>
            </a:r>
            <a:r>
              <a:rPr lang="ru-RU" sz="2000" b="0" i="0" u="none" strike="noStrike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  <a:hlinkClick r:id="rId6"/>
              </a:rPr>
              <a:t>Darknet</a:t>
            </a:r>
            <a:r>
              <a:rPr lang="ru-RU" sz="20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— это фреймворк с открытым исходным кодом, написанный на языке C с использованием программно-аппаратной архитектуры параллельных вычислений CUDA.</a:t>
            </a:r>
          </a:p>
          <a:p>
            <a:pPr eaLnBrk="1" hangingPunct="1">
              <a:spcBef>
                <a:spcPct val="0"/>
              </a:spcBef>
              <a:buClr>
                <a:srgbClr val="000000"/>
              </a:buClr>
              <a:buNone/>
            </a:pPr>
            <a:r>
              <a:rPr lang="ru-RU" sz="2000" b="0" i="0" u="none" strike="noStrike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  <a:hlinkClick r:id="rId7"/>
              </a:rPr>
              <a:t>5. </a:t>
            </a:r>
            <a:r>
              <a:rPr lang="ru-RU" sz="2000" b="0" i="0" u="none" strike="noStrike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  <a:hlinkClick r:id="rId7"/>
              </a:rPr>
              <a:t>XGBoost</a:t>
            </a:r>
            <a:r>
              <a:rPr lang="ru-RU" sz="20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— это фреймворк с открытым исходным кодом, который предлагает систему градиентного </a:t>
            </a:r>
            <a:r>
              <a:rPr lang="ru-RU" sz="2000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бустинга</a:t>
            </a:r>
            <a:r>
              <a:rPr lang="ru-RU" sz="20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для C++, Java, Python, R, </a:t>
            </a:r>
            <a:r>
              <a:rPr lang="ru-RU" sz="2000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Julia</a:t>
            </a:r>
            <a:r>
              <a:rPr lang="ru-RU" sz="20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altLang="ru-RU" sz="20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1CD0576-FED2-42DF-8155-57027DF5493B}"/>
              </a:ext>
            </a:extLst>
          </p:cNvPr>
          <p:cNvSpPr txBox="1"/>
          <p:nvPr/>
        </p:nvSpPr>
        <p:spPr>
          <a:xfrm>
            <a:off x="2412095" y="5955285"/>
            <a:ext cx="814771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hangingPunct="1">
              <a:spcBef>
                <a:spcPct val="0"/>
              </a:spcBef>
              <a:buClr>
                <a:srgbClr val="000000"/>
              </a:buClr>
              <a:buNone/>
            </a:pPr>
            <a:r>
              <a:rPr lang="ru-RU" altLang="ru-RU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На следующей лекции мы рассмотрим основные концепции, касающиеся структуры и функционирования искусственных нейронных сетей.</a:t>
            </a:r>
          </a:p>
        </p:txBody>
      </p:sp>
      <p:sp>
        <p:nvSpPr>
          <p:cNvPr id="8" name="Text Box 4">
            <a:extLst>
              <a:ext uri="{FF2B5EF4-FFF2-40B4-BE49-F238E27FC236}">
                <a16:creationId xmlns:a16="http://schemas.microsoft.com/office/drawing/2014/main" id="{ABBC7FD3-269D-40EB-B1DE-A000BF250E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83899" y="1467166"/>
            <a:ext cx="6318647" cy="11788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67500" tIns="35100" rIns="67500" bIns="35100">
            <a:spAutoFit/>
          </a:bodyPr>
          <a:lstStyle>
            <a:lvl1pPr defTabSz="449263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defTabSz="449263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defTabSz="449263">
              <a:spcBef>
                <a:spcPct val="20000"/>
              </a:spcBef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defTabSz="449263">
              <a:spcBef>
                <a:spcPct val="20000"/>
              </a:spcBef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defTabSz="449263">
              <a:spcBef>
                <a:spcPct val="20000"/>
              </a:spcBef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>
                <a:srgbClr val="000000"/>
              </a:buClr>
              <a:buNone/>
            </a:pPr>
            <a:r>
              <a:rPr lang="ru-RU" altLang="ru-RU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Определение графа вычислений</a:t>
            </a:r>
          </a:p>
          <a:p>
            <a:pPr eaLnBrk="1" hangingPunct="1">
              <a:spcBef>
                <a:spcPct val="0"/>
              </a:spcBef>
              <a:buClr>
                <a:srgbClr val="000000"/>
              </a:buClr>
              <a:buNone/>
            </a:pPr>
            <a:r>
              <a:rPr lang="ru-RU" altLang="ru-RU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 Расчет графа вычислений</a:t>
            </a:r>
          </a:p>
          <a:p>
            <a:pPr eaLnBrk="1" hangingPunct="1">
              <a:spcBef>
                <a:spcPct val="0"/>
              </a:spcBef>
              <a:buClr>
                <a:srgbClr val="000000"/>
              </a:buClr>
              <a:buNone/>
            </a:pPr>
            <a:r>
              <a:rPr lang="ru-RU" altLang="ru-RU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Дифференцирование графа</a:t>
            </a:r>
          </a:p>
        </p:txBody>
      </p:sp>
    </p:spTree>
    <p:extLst>
      <p:ext uri="{BB962C8B-B14F-4D97-AF65-F5344CB8AC3E}">
        <p14:creationId xmlns:p14="http://schemas.microsoft.com/office/powerpoint/2010/main" val="3902496025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975F06B-4790-414E-99CD-56A81FF20C6F}"/>
              </a:ext>
            </a:extLst>
          </p:cNvPr>
          <p:cNvSpPr txBox="1">
            <a:spLocks/>
          </p:cNvSpPr>
          <p:nvPr/>
        </p:nvSpPr>
        <p:spPr>
          <a:xfrm>
            <a:off x="2152650" y="1091906"/>
            <a:ext cx="7886700" cy="994172"/>
          </a:xfrm>
          <a:prstGeom prst="rect">
            <a:avLst/>
          </a:prstGeom>
        </p:spPr>
        <p:txBody>
          <a:bodyPr vert="horz" lIns="68580" tIns="34290" rIns="68580" bIns="3429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2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ГРАДИЕНТНЫЕ МЕТОДЫ В МАШИННОМ ОБУЧЕНИИ</a:t>
            </a:r>
            <a:endParaRPr lang="ru-RU" sz="2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155F01B-CCB0-42A3-B6E5-53D96F5D68B6}"/>
              </a:ext>
            </a:extLst>
          </p:cNvPr>
          <p:cNvSpPr txBox="1">
            <a:spLocks/>
          </p:cNvSpPr>
          <p:nvPr/>
        </p:nvSpPr>
        <p:spPr>
          <a:xfrm>
            <a:off x="2152650" y="2226469"/>
            <a:ext cx="7886700" cy="3263504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ru-RU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ru-RU" sz="2100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6B46887B-30AC-4550-A1E5-F8B18960CAA4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91890" y="2226470"/>
            <a:ext cx="6652259" cy="304929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26094790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4CB2B2B-422C-439F-8FD3-B5CB718161DE}"/>
              </a:ext>
            </a:extLst>
          </p:cNvPr>
          <p:cNvSpPr txBox="1"/>
          <p:nvPr/>
        </p:nvSpPr>
        <p:spPr>
          <a:xfrm>
            <a:off x="2053118" y="692696"/>
            <a:ext cx="819889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ГРАДИЕНТНЫЕ МЕТОДЫ В ИСКУССТВЕННЫХ НЕЙРОННЫХ СЕТЯХ</a:t>
            </a:r>
            <a:endParaRPr lang="ru-RU" sz="2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Объект 2">
                <a:extLst>
                  <a:ext uri="{FF2B5EF4-FFF2-40B4-BE49-F238E27FC236}">
                    <a16:creationId xmlns:a16="http://schemas.microsoft.com/office/drawing/2014/main" id="{88CB823A-B60F-4065-BB8A-41753101885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070764" y="1878451"/>
                <a:ext cx="7886700" cy="3263504"/>
              </a:xfrm>
              <a:prstGeom prst="rect">
                <a:avLst/>
              </a:prstGeom>
            </p:spPr>
            <p:txBody>
              <a:bodyPr>
                <a:normAutofit fontScale="92500" lnSpcReduction="20000"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ru-RU" sz="2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Введем следующие обозначения: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ru-RU" sz="21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𝜃</m:t>
                    </m:r>
                  </m:oMath>
                </a14:m>
                <a:r>
                  <a:rPr lang="ru-RU" sz="2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– переменные оптимизации (веса синапсов искусственных нейронов, т.е. </a:t>
                </a:r>
                <a14:m>
                  <m:oMath xmlns:m="http://schemas.openxmlformats.org/officeDocument/2006/math">
                    <m:r>
                      <a:rPr lang="en-US" sz="21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𝑊</m:t>
                    </m:r>
                    <m:r>
                      <a:rPr lang="en-US" sz="21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 в</m:t>
                    </m:r>
                  </m:oMath>
                </a14:m>
                <a:r>
                  <a:rPr lang="ru-RU" sz="2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обозначениях на рисунке) 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ru-RU" sz="21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𝜃</m:t>
                    </m:r>
                    <m:r>
                      <a:rPr lang="ru-RU" sz="21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∈</m:t>
                    </m:r>
                    <m:sSup>
                      <m:sSupPr>
                        <m:ctrlPr>
                          <a:rPr lang="ru-RU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𝑅</m:t>
                        </m:r>
                      </m:e>
                      <m:sup>
                        <m: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𝑑</m:t>
                        </m:r>
                      </m:sup>
                    </m:sSup>
                    <m:r>
                      <a:rPr lang="en-US" sz="21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, </m:t>
                    </m:r>
                  </m:oMath>
                </a14:m>
                <a:r>
                  <a:rPr lang="ru-RU" sz="2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где </a:t>
                </a:r>
                <a14:m>
                  <m:oMath xmlns:m="http://schemas.openxmlformats.org/officeDocument/2006/math">
                    <m:r>
                      <a:rPr lang="en-US" sz="21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𝑑</m:t>
                    </m:r>
                  </m:oMath>
                </a14:m>
                <a:r>
                  <a:rPr lang="en-US" sz="2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– </a:t>
                </a:r>
                <a:r>
                  <a:rPr lang="ru-RU" sz="2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размерность вектора оптимизации.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sz="21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𝐽</m:t>
                    </m:r>
                    <m:r>
                      <a:rPr lang="en-US" sz="21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ru-RU" sz="21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𝜃</m:t>
                    </m:r>
                  </m:oMath>
                </a14:m>
                <a:r>
                  <a:rPr lang="en-US" sz="2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– </a:t>
                </a:r>
                <a:r>
                  <a:rPr lang="ru-RU" sz="2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целевая функция (функция ошибки или «потери»</a:t>
                </a:r>
                <a:endParaRPr lang="en-US" sz="21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ru-RU" sz="2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1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𝐿</m:t>
                    </m:r>
                    <m:r>
                      <a:rPr lang="ru-RU" sz="21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sz="21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sz="21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sz="21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𝑊</m:t>
                    </m:r>
                    <m:r>
                      <a:rPr lang="en-US" sz="21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sz="21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𝑦</m:t>
                    </m:r>
                    <m:r>
                      <a:rPr lang="en-US" sz="21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US" sz="2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– </a:t>
                </a:r>
                <a:r>
                  <a:rPr lang="ru-RU" sz="2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в обозначениях на рисунке).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ru-RU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ru-RU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∇</m:t>
                        </m:r>
                      </m:e>
                      <m:sub>
                        <m:r>
                          <a:rPr lang="ru-RU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𝜃</m:t>
                        </m:r>
                      </m:sub>
                    </m:sSub>
                    <m:r>
                      <a:rPr lang="en-US" sz="21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𝐽</m:t>
                    </m:r>
                    <m:r>
                      <a:rPr lang="en-US" sz="21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ru-RU" sz="21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𝜃</m:t>
                    </m:r>
                    <m:r>
                      <m:rPr>
                        <m:nor/>
                      </m:rPr>
                      <a:rPr lang="en-US" sz="2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ru-RU" sz="2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– градиент целевой функции.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ru-RU" sz="21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𝜂</m:t>
                    </m:r>
                  </m:oMath>
                </a14:m>
                <a:r>
                  <a:rPr lang="ru-RU" sz="2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– коэффициент обучения, определяющий величину шага в направлении локального минимума.</a:t>
                </a:r>
              </a:p>
              <a:p>
                <a:pPr marL="0" indent="0">
                  <a:buNone/>
                </a:pPr>
                <a:r>
                  <a:rPr lang="ru-RU" sz="2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Выделим три основных варианта градиентного спуска. </a:t>
                </a:r>
              </a:p>
              <a:p>
                <a:pPr marL="0" indent="0">
                  <a:buNone/>
                </a:pPr>
                <a:endParaRPr lang="ru-RU" sz="2100" dirty="0"/>
              </a:p>
            </p:txBody>
          </p:sp>
        </mc:Choice>
        <mc:Fallback xmlns="">
          <p:sp>
            <p:nvSpPr>
              <p:cNvPr id="4" name="Объект 2">
                <a:extLst>
                  <a:ext uri="{FF2B5EF4-FFF2-40B4-BE49-F238E27FC236}">
                    <a16:creationId xmlns:a16="http://schemas.microsoft.com/office/drawing/2014/main" id="{88CB823A-B60F-4065-BB8A-4175310188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70764" y="1878451"/>
                <a:ext cx="7886700" cy="3263504"/>
              </a:xfrm>
              <a:prstGeom prst="rect">
                <a:avLst/>
              </a:prstGeom>
              <a:blipFill>
                <a:blip r:embed="rId2"/>
                <a:stretch>
                  <a:fillRect l="-773" t="-3364" r="-1392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7116324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7F6A7B5-F632-4DD4-8412-EEF352CE4626}"/>
              </a:ext>
            </a:extLst>
          </p:cNvPr>
          <p:cNvSpPr txBox="1"/>
          <p:nvPr/>
        </p:nvSpPr>
        <p:spPr>
          <a:xfrm>
            <a:off x="1996555" y="1082121"/>
            <a:ext cx="819889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ГРАДИЕНТНЫЕ МЕТОДЫ В ИСКУССТВЕННЫХ НЕЙРОННЫХ СЕТЯХ</a:t>
            </a:r>
            <a:endParaRPr lang="ru-RU" sz="2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12A8A58A-D964-4F72-BEE9-002A70D72047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152649" y="2246940"/>
                <a:ext cx="7886700" cy="3263504"/>
              </a:xfrm>
              <a:prstGeom prst="rect">
                <a:avLst/>
              </a:prstGeom>
            </p:spPr>
            <p:txBody>
              <a:bodyPr>
                <a:normAutofit fontScale="85000" lnSpcReduction="20000"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buNone/>
                </a:pPr>
                <a:r>
                  <a:rPr lang="en-US" sz="2925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Batch gradient descent</a:t>
                </a:r>
                <a:r>
                  <a:rPr lang="ru-RU" sz="2925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:endParaRPr lang="ru-RU" sz="2925" b="1" i="1" dirty="0"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a:rPr lang="ru-RU" sz="2925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𝜃</m:t>
                    </m:r>
                    <m:r>
                      <a:rPr lang="en-US" sz="2925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</m:oMath>
                </a14:m>
                <a:r>
                  <a:rPr lang="ru-RU" sz="2925" dirty="0"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ru-RU" sz="2925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𝜃</m:t>
                    </m:r>
                  </m:oMath>
                </a14:m>
                <a:r>
                  <a:rPr lang="ru-RU" sz="2925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–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925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ru-RU" sz="2925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𝜂</m:t>
                        </m:r>
                        <m:r>
                          <m:rPr>
                            <m:nor/>
                          </m:rPr>
                          <a:rPr lang="ru-RU" sz="2925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ru-RU" sz="2925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∇</m:t>
                        </m:r>
                      </m:e>
                      <m:sub>
                        <m:r>
                          <a:rPr lang="ru-RU" sz="2925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𝜃</m:t>
                        </m:r>
                      </m:sub>
                    </m:sSub>
                    <m:r>
                      <a:rPr lang="en-US" sz="2925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𝐽</m:t>
                    </m:r>
                    <m:r>
                      <a:rPr lang="en-US" sz="2925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ru-RU" sz="2925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𝜃</m:t>
                    </m:r>
                    <m:r>
                      <m:rPr>
                        <m:nor/>
                      </m:rPr>
                      <a:rPr lang="en-US" sz="2925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) </m:t>
                    </m:r>
                  </m:oMath>
                </a14:m>
                <a:endParaRPr lang="ru-RU" sz="2925" i="1" dirty="0"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ru-RU" sz="2250" i="1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Градиентный метод, который рассчитан на вычисление градиента для </a:t>
                </a:r>
                <a:r>
                  <a:rPr lang="ru-RU" sz="2250" b="1" i="1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всего набора данных (выборке  - </a:t>
                </a:r>
                <a:r>
                  <a:rPr lang="en-US" sz="2250" b="1" i="1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batch)</a:t>
                </a:r>
                <a:r>
                  <a:rPr lang="ru-RU" sz="2250" i="1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. </a:t>
                </a:r>
              </a:p>
              <a:p>
                <a:pPr marL="0" indent="0">
                  <a:buNone/>
                </a:pPr>
                <a:r>
                  <a:rPr lang="ru-RU" sz="2250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Применение этого метода обладает следующими особенностями: </a:t>
                </a:r>
              </a:p>
              <a:p>
                <a:pPr marL="385763" indent="-385763">
                  <a:buAutoNum type="arabicParenR"/>
                </a:pPr>
                <a:r>
                  <a:rPr lang="ru-RU" sz="2250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Требует достаточно большого объема памяти.</a:t>
                </a:r>
              </a:p>
              <a:p>
                <a:pPr marL="385763" indent="-385763">
                  <a:buAutoNum type="arabicParenR"/>
                </a:pPr>
                <a:r>
                  <a:rPr lang="ru-RU" sz="2250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Обладает низкой скоростью сходимости.</a:t>
                </a:r>
              </a:p>
              <a:p>
                <a:pPr marL="385763" indent="-385763">
                  <a:buAutoNum type="arabicParenR"/>
                </a:pPr>
                <a:r>
                  <a:rPr lang="ru-RU" sz="2250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Низкой точностью.</a:t>
                </a:r>
              </a:p>
              <a:p>
                <a:pPr marL="0" indent="0">
                  <a:buNone/>
                </a:pPr>
                <a:endParaRPr lang="ru-RU" sz="21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ru-RU" sz="2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endParaRPr lang="ru-RU" sz="2100" dirty="0"/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12A8A58A-D964-4F72-BEE9-002A70D720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52649" y="2246940"/>
                <a:ext cx="7886700" cy="3263504"/>
              </a:xfrm>
              <a:prstGeom prst="rect">
                <a:avLst/>
              </a:prstGeom>
              <a:blipFill>
                <a:blip r:embed="rId2"/>
                <a:stretch>
                  <a:fillRect l="-696" t="-486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4333889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EAC104E-2898-49A7-A874-B62EFF445A3F}"/>
              </a:ext>
            </a:extLst>
          </p:cNvPr>
          <p:cNvSpPr txBox="1">
            <a:spLocks/>
          </p:cNvSpPr>
          <p:nvPr/>
        </p:nvSpPr>
        <p:spPr>
          <a:xfrm>
            <a:off x="2152650" y="1091906"/>
            <a:ext cx="7886700" cy="994172"/>
          </a:xfrm>
          <a:prstGeom prst="rect">
            <a:avLst/>
          </a:prstGeom>
        </p:spPr>
        <p:txBody>
          <a:bodyPr vert="horz" lIns="68580" tIns="34290" rIns="68580" bIns="3429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endParaRPr lang="ru-RU" sz="27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DB5263E-1085-4898-85D4-DDABA6B9AC04}"/>
              </a:ext>
            </a:extLst>
          </p:cNvPr>
          <p:cNvSpPr txBox="1"/>
          <p:nvPr/>
        </p:nvSpPr>
        <p:spPr>
          <a:xfrm>
            <a:off x="1996555" y="1082121"/>
            <a:ext cx="819889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ГРАДИЕНТНЫЕ МЕТОДЫ В ИСКУССТВЕННЫХ НЕЙРОННЫХ СЕТЯХ</a:t>
            </a:r>
            <a:endParaRPr lang="ru-RU" sz="2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Объект 2">
                <a:extLst>
                  <a:ext uri="{FF2B5EF4-FFF2-40B4-BE49-F238E27FC236}">
                    <a16:creationId xmlns:a16="http://schemas.microsoft.com/office/drawing/2014/main" id="{9D6DCD5D-F9F0-410E-B26A-14A21DDF754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152649" y="2246940"/>
                <a:ext cx="7886700" cy="3263504"/>
              </a:xfrm>
              <a:prstGeom prst="rect">
                <a:avLst/>
              </a:prstGeom>
            </p:spPr>
            <p:txBody>
              <a:bodyPr>
                <a:normAutofit fontScale="25000" lnSpcReduction="20000"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buNone/>
                </a:pPr>
                <a:r>
                  <a:rPr lang="en-US" sz="9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Stochastic gradient descent</a:t>
                </a:r>
                <a:r>
                  <a:rPr lang="ru-RU" sz="9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(</a:t>
                </a:r>
                <a:r>
                  <a:rPr lang="en-US" sz="9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SGD)</a:t>
                </a:r>
                <a:endParaRPr lang="ru-RU" sz="9600" b="1" i="1" dirty="0"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a:rPr lang="ru-RU" sz="96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𝜃</m:t>
                    </m:r>
                    <m:r>
                      <a:rPr lang="en-US" sz="96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</m:oMath>
                </a14:m>
                <a:r>
                  <a:rPr lang="ru-RU" sz="9600" dirty="0"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ru-RU" sz="96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𝜃</m:t>
                    </m:r>
                  </m:oMath>
                </a14:m>
                <a:r>
                  <a:rPr lang="ru-RU" sz="9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–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96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ru-RU" sz="96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𝜂</m:t>
                        </m:r>
                        <m:r>
                          <m:rPr>
                            <m:nor/>
                          </m:rPr>
                          <a:rPr lang="ru-RU" sz="96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ru-RU" sz="96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∇</m:t>
                        </m:r>
                      </m:e>
                      <m:sub>
                        <m:r>
                          <a:rPr lang="ru-RU" sz="96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𝜃</m:t>
                        </m:r>
                      </m:sub>
                    </m:sSub>
                    <m:r>
                      <a:rPr lang="en-US" sz="96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𝐽</m:t>
                    </m:r>
                    <m:r>
                      <a:rPr lang="en-US" sz="96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ru-RU" sz="96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𝜃</m:t>
                    </m:r>
                    <m:r>
                      <a:rPr lang="en-US" sz="96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;</m:t>
                    </m:r>
                    <m:sSup>
                      <m:sSupPr>
                        <m:ctrlPr>
                          <a:rPr lang="en-US" sz="96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96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p>
                        <m:d>
                          <m:dPr>
                            <m:ctrlPr>
                              <a:rPr lang="en-US" sz="9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sz="9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e>
                        </m:d>
                      </m:sup>
                    </m:sSup>
                    <m:r>
                      <a:rPr lang="en-US" sz="96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;</m:t>
                    </m:r>
                    <m:sSup>
                      <m:sSupPr>
                        <m:ctrlPr>
                          <a:rPr lang="en-US" sz="96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96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𝑦</m:t>
                        </m:r>
                      </m:e>
                      <m:sup>
                        <m:r>
                          <a:rPr lang="en-US" sz="96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(</m:t>
                        </m:r>
                        <m:r>
                          <a:rPr lang="en-US" sz="96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  <m:r>
                          <a:rPr lang="en-US" sz="96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)</m:t>
                        </m:r>
                      </m:sup>
                    </m:sSup>
                    <m:r>
                      <m:rPr>
                        <m:nor/>
                      </m:rPr>
                      <a:rPr lang="en-US" sz="9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) </m:t>
                    </m:r>
                  </m:oMath>
                </a14:m>
                <a:endParaRPr lang="ru-RU" sz="9600" i="1" dirty="0"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ru-RU" sz="7200" i="1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В отличии от традиционного градиентного метода, метод стохастического градиента позволяет обрабатывать за одну итерацию относительно </a:t>
                </a:r>
                <a:r>
                  <a:rPr lang="ru-RU" sz="7200" b="1" i="1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небольшой набор обучающих данных и</a:t>
                </a:r>
                <a:r>
                  <a:rPr lang="ru-RU" sz="7200" i="1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з </a:t>
                </a:r>
                <a:r>
                  <a:rPr lang="ru-RU" sz="7200" b="1" i="1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всего набора данных </a:t>
                </a:r>
                <a:r>
                  <a:rPr lang="en-US" sz="7200" b="1" i="1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(</a:t>
                </a:r>
                <a:r>
                  <a:rPr lang="ru-RU" sz="7200" b="1" i="1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выборки - </a:t>
                </a:r>
                <a:r>
                  <a:rPr lang="en-US" sz="7200" b="1" i="1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batch)</a:t>
                </a:r>
                <a:r>
                  <a:rPr lang="ru-RU" sz="7200" i="1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. </a:t>
                </a:r>
              </a:p>
              <a:p>
                <a:pPr marL="0" indent="0">
                  <a:buNone/>
                </a:pPr>
                <a:r>
                  <a:rPr lang="ru-RU" sz="7200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Применение этого метода позволяет избежать недостатки традиционного градиентного метода: </a:t>
                </a:r>
              </a:p>
              <a:p>
                <a:pPr marL="385763" indent="-385763">
                  <a:buAutoNum type="arabicParenR"/>
                </a:pPr>
                <a:r>
                  <a:rPr lang="ru-RU" sz="7200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Требуется значительно меньше необходимого объема памяти.</a:t>
                </a:r>
              </a:p>
              <a:p>
                <a:pPr marL="385763" indent="-385763">
                  <a:buAutoNum type="arabicParenR"/>
                </a:pPr>
                <a:r>
                  <a:rPr lang="ru-RU" sz="7200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Повышается скорость сходимости.</a:t>
                </a:r>
              </a:p>
              <a:p>
                <a:pPr marL="385763" indent="-385763">
                  <a:buAutoNum type="arabicParenR"/>
                </a:pPr>
                <a:r>
                  <a:rPr lang="ru-RU" sz="7200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Увеличивается робастность к </a:t>
                </a:r>
                <a:r>
                  <a:rPr lang="ru-RU" sz="7200" dirty="0" err="1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невыпуклости</a:t>
                </a:r>
                <a:r>
                  <a:rPr lang="ru-RU" sz="7200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целевых функций.</a:t>
                </a:r>
              </a:p>
              <a:p>
                <a:pPr marL="385763" indent="-385763">
                  <a:buAutoNum type="arabicParenR"/>
                </a:pPr>
                <a:r>
                  <a:rPr lang="ru-RU" sz="7200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Возможна оптимизация многоэкстремальных целевых функций.</a:t>
                </a:r>
              </a:p>
              <a:p>
                <a:pPr marL="0" indent="0">
                  <a:buNone/>
                </a:pPr>
                <a:endParaRPr lang="ru-RU" sz="7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ru-RU" sz="7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endParaRPr lang="ru-RU" sz="7200" dirty="0"/>
              </a:p>
            </p:txBody>
          </p:sp>
        </mc:Choice>
        <mc:Fallback xmlns="">
          <p:sp>
            <p:nvSpPr>
              <p:cNvPr id="4" name="Объект 2">
                <a:extLst>
                  <a:ext uri="{FF2B5EF4-FFF2-40B4-BE49-F238E27FC236}">
                    <a16:creationId xmlns:a16="http://schemas.microsoft.com/office/drawing/2014/main" id="{9D6DCD5D-F9F0-410E-B26A-14A21DDF75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52649" y="2246940"/>
                <a:ext cx="7886700" cy="3263504"/>
              </a:xfrm>
              <a:prstGeom prst="rect">
                <a:avLst/>
              </a:prstGeom>
              <a:blipFill>
                <a:blip r:embed="rId2"/>
                <a:stretch>
                  <a:fillRect l="-618" t="-4486" b="-841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6675649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7AB21A6-2507-4951-8F98-98429DF5F4FC}"/>
              </a:ext>
            </a:extLst>
          </p:cNvPr>
          <p:cNvSpPr txBox="1"/>
          <p:nvPr/>
        </p:nvSpPr>
        <p:spPr>
          <a:xfrm>
            <a:off x="1996555" y="1082121"/>
            <a:ext cx="819889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ГРАДИЕНТНЫЕ МЕТОДЫ В ИСКУССТВЕННЫХ НЕЙРОННЫХ СЕТЯХ</a:t>
            </a:r>
            <a:endParaRPr lang="ru-RU" sz="2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83DFF056-614D-461F-8D5A-A4C64CB879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35135" y="1975270"/>
            <a:ext cx="7240088" cy="33690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F8E71A8-3A0D-448D-94BA-005CB3680B83}"/>
              </a:ext>
            </a:extLst>
          </p:cNvPr>
          <p:cNvSpPr txBox="1"/>
          <p:nvPr/>
        </p:nvSpPr>
        <p:spPr>
          <a:xfrm>
            <a:off x="1996554" y="5414409"/>
            <a:ext cx="8198893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100" dirty="0">
                <a:solidFill>
                  <a:srgbClr val="2021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Флуктуации целевой функции в процессе работы алгоритма</a:t>
            </a:r>
            <a:endParaRPr lang="ru-RU"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7606461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4D9B666-6A30-4FAC-9702-1CF61C79CD4E}"/>
              </a:ext>
            </a:extLst>
          </p:cNvPr>
          <p:cNvSpPr txBox="1"/>
          <p:nvPr/>
        </p:nvSpPr>
        <p:spPr>
          <a:xfrm>
            <a:off x="1996555" y="1082121"/>
            <a:ext cx="819889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ГРАДИЕНТНЫЕ МЕТОДЫ В ИСКУССТВЕННЫХ НЕЙРОННЫХ СЕТЯХ</a:t>
            </a:r>
            <a:endParaRPr lang="ru-RU" sz="2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67E9EB55-BF3A-4BE8-B27F-FED1132BCD5D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152649" y="2246941"/>
                <a:ext cx="7886700" cy="3528939"/>
              </a:xfrm>
              <a:prstGeom prst="rect">
                <a:avLst/>
              </a:prstGeom>
            </p:spPr>
            <p:txBody>
              <a:bodyPr>
                <a:normAutofit fontScale="25000" lnSpcReduction="20000"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buNone/>
                </a:pPr>
                <a:r>
                  <a:rPr lang="en-US" sz="9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Mini-batch gradient descent</a:t>
                </a:r>
                <a:endParaRPr lang="ru-RU" sz="9600" b="1" i="1" dirty="0"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a:rPr lang="ru-RU" sz="8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𝜃</m:t>
                    </m:r>
                    <m:r>
                      <a:rPr lang="en-US" sz="8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</m:oMath>
                </a14:m>
                <a:r>
                  <a:rPr lang="ru-RU" sz="8400" dirty="0"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ru-RU" sz="8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𝜃</m:t>
                    </m:r>
                  </m:oMath>
                </a14:m>
                <a:r>
                  <a:rPr lang="ru-RU" sz="8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–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8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ru-RU" sz="8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𝜂</m:t>
                        </m:r>
                        <m:r>
                          <m:rPr>
                            <m:nor/>
                          </m:rPr>
                          <a:rPr lang="ru-RU" sz="8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ru-RU" sz="8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∇</m:t>
                        </m:r>
                      </m:e>
                      <m:sub>
                        <m:r>
                          <a:rPr lang="ru-RU" sz="8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𝜃</m:t>
                        </m:r>
                      </m:sub>
                    </m:sSub>
                    <m:r>
                      <a:rPr lang="en-US" sz="8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𝐽</m:t>
                    </m:r>
                    <m:r>
                      <a:rPr lang="en-US" sz="8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ru-RU" sz="8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𝜃</m:t>
                    </m:r>
                    <m:r>
                      <a:rPr lang="en-US" sz="8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;</m:t>
                    </m:r>
                    <m:sSup>
                      <m:sSupPr>
                        <m:ctrlPr>
                          <a:rPr lang="en-US" sz="8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8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p>
                        <m:d>
                          <m:dPr>
                            <m:ctrlPr>
                              <a:rPr lang="en-US" sz="8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sz="8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𝑖</m:t>
                            </m:r>
                            <m:r>
                              <a:rPr lang="en-US" sz="8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:</m:t>
                            </m:r>
                            <m:r>
                              <a:rPr lang="en-US" sz="8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𝑖</m:t>
                            </m:r>
                            <m:r>
                              <a:rPr lang="en-US" sz="8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+</m:t>
                            </m:r>
                            <m:r>
                              <a:rPr lang="en-US" sz="8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𝑛</m:t>
                            </m:r>
                          </m:e>
                        </m:d>
                      </m:sup>
                    </m:sSup>
                    <m:r>
                      <a:rPr lang="en-US" sz="8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;</m:t>
                    </m:r>
                    <m:sSup>
                      <m:sSupPr>
                        <m:ctrlPr>
                          <a:rPr lang="en-US" sz="8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8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𝑦</m:t>
                        </m:r>
                      </m:e>
                      <m:sup>
                        <m:r>
                          <a:rPr lang="en-US" sz="8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(</m:t>
                        </m:r>
                        <m:r>
                          <a:rPr lang="en-US" sz="8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  <m:r>
                          <a:rPr lang="en-US" sz="8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:</m:t>
                        </m:r>
                        <m:r>
                          <a:rPr lang="en-US" sz="8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  <m:r>
                          <a:rPr lang="en-US" sz="8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+</m:t>
                        </m:r>
                        <m:r>
                          <a:rPr lang="en-US" sz="8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  <m:r>
                          <a:rPr lang="en-US" sz="8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)</m:t>
                        </m:r>
                      </m:sup>
                    </m:sSup>
                    <m:r>
                      <m:rPr>
                        <m:nor/>
                      </m:rPr>
                      <a:rPr lang="en-US" sz="8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) </m:t>
                    </m:r>
                  </m:oMath>
                </a14:m>
                <a:endParaRPr lang="ru-RU" sz="8400" i="1" dirty="0"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ru-RU" sz="7200" b="1" i="1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За каждую эпоху отбирается </a:t>
                </a:r>
                <a:r>
                  <a:rPr lang="en-US" sz="7200" b="1" i="1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7200" b="1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𝒏</m:t>
                    </m:r>
                    <m:r>
                      <a:rPr lang="en-US" sz="7200" b="1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ru-RU" sz="7200" b="1" i="1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данных  (</a:t>
                </a:r>
                <a14:m>
                  <m:oMath xmlns:m="http://schemas.openxmlformats.org/officeDocument/2006/math">
                    <m:r>
                      <a:rPr lang="en-US" sz="7200" b="1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𝒏</m:t>
                    </m:r>
                    <m:r>
                      <a:rPr lang="en-US" sz="7200" b="1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sz="7200" b="1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𝟓𝟎</m:t>
                    </m:r>
                    <m:r>
                      <a:rPr lang="en-US" sz="7200" b="1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−</m:t>
                    </m:r>
                    <m:r>
                      <a:rPr lang="ru-RU" sz="7200" b="1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𝟐𝟓</m:t>
                    </m:r>
                    <m:r>
                      <a:rPr lang="en-US" sz="7200" b="1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𝟎</m:t>
                    </m:r>
                    <m:r>
                      <a:rPr lang="en-US" sz="7200" b="1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) </m:t>
                    </m:r>
                  </m:oMath>
                </a14:m>
                <a:r>
                  <a:rPr lang="ru-RU" sz="7200" b="1" i="1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небольшой набор обучающих данных и</a:t>
                </a:r>
                <a:r>
                  <a:rPr lang="ru-RU" sz="7200" i="1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з </a:t>
                </a:r>
                <a:r>
                  <a:rPr lang="ru-RU" sz="7200" b="1" i="1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всего набора данных </a:t>
                </a:r>
                <a:r>
                  <a:rPr lang="en-US" sz="7200" b="1" i="1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(</a:t>
                </a:r>
                <a:r>
                  <a:rPr lang="ru-RU" sz="7200" b="1" i="1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выборки - </a:t>
                </a:r>
                <a:r>
                  <a:rPr lang="en-US" sz="7200" b="1" i="1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batch)</a:t>
                </a:r>
                <a:r>
                  <a:rPr lang="ru-RU" sz="7200" i="1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. </a:t>
                </a:r>
              </a:p>
              <a:p>
                <a:pPr marL="0" indent="0">
                  <a:buNone/>
                </a:pPr>
                <a:r>
                  <a:rPr lang="ru-RU" sz="7200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Применение этого метода дает следующие преимущества: </a:t>
                </a:r>
              </a:p>
              <a:p>
                <a:pPr marL="385763" indent="-385763">
                  <a:buAutoNum type="arabicParenR"/>
                </a:pPr>
                <a:r>
                  <a:rPr lang="ru-RU" sz="7200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Уменьшает дисперсию разброса параметров что ведет к более устойчивой сходимости.</a:t>
                </a:r>
              </a:p>
              <a:p>
                <a:pPr marL="385763" indent="-385763">
                  <a:buAutoNum type="arabicParenR"/>
                </a:pPr>
                <a:r>
                  <a:rPr lang="ru-RU" sz="7200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Позволяет использовать матричные и тензорные операции, входящие в состав современных  библиотек методов глубокого обучения (смотри слайд 12).</a:t>
                </a:r>
              </a:p>
              <a:p>
                <a:pPr marL="0" indent="0">
                  <a:buNone/>
                </a:pPr>
                <a:r>
                  <a:rPr lang="ru-RU" sz="7200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Все это делает использование </a:t>
                </a:r>
                <a:r>
                  <a:rPr lang="en-US" sz="7200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SGD </a:t>
                </a:r>
                <a:r>
                  <a:rPr lang="ru-RU" sz="7200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на </a:t>
                </a:r>
                <a:r>
                  <a:rPr lang="ru-RU" sz="7200" dirty="0" err="1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минибатчах</a:t>
                </a:r>
                <a:r>
                  <a:rPr lang="ru-RU" sz="7200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очень эффективными для решения задач по глубокому обучению.</a:t>
                </a:r>
              </a:p>
              <a:p>
                <a:pPr marL="0" indent="0" algn="ctr">
                  <a:buNone/>
                </a:pPr>
                <a:r>
                  <a:rPr lang="ru-RU" sz="8400" b="1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Далее мы рассмотрим дальнейшее развитие методов </a:t>
                </a:r>
                <a:r>
                  <a:rPr lang="en-US" sz="8400" b="1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SGD.</a:t>
                </a:r>
                <a:endParaRPr lang="ru-RU" sz="8400" b="1" dirty="0"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67E9EB55-BF3A-4BE8-B27F-FED1132BCD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52649" y="2246941"/>
                <a:ext cx="7886700" cy="3528939"/>
              </a:xfrm>
              <a:prstGeom prst="rect">
                <a:avLst/>
              </a:prstGeom>
              <a:blipFill>
                <a:blip r:embed="rId2"/>
                <a:stretch>
                  <a:fillRect l="-618" t="-4152" r="-464" b="-640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1051937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1B5D23A-5C1D-47E2-9911-D34A98CF6747}"/>
              </a:ext>
            </a:extLst>
          </p:cNvPr>
          <p:cNvSpPr txBox="1"/>
          <p:nvPr/>
        </p:nvSpPr>
        <p:spPr>
          <a:xfrm>
            <a:off x="1996555" y="1082121"/>
            <a:ext cx="819889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ГРАДИЕНТНЫЕ МЕТОДЫ В ИСКУССТВЕННЫХ НЕЙРОННЫХ СЕТЯХ</a:t>
            </a:r>
            <a:endParaRPr lang="ru-RU" sz="2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337680D5-D895-4DF6-B85E-6C0B213D8017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152649" y="2246940"/>
                <a:ext cx="7886700" cy="3625862"/>
              </a:xfrm>
              <a:prstGeom prst="rect">
                <a:avLst/>
              </a:prstGeom>
            </p:spPr>
            <p:txBody>
              <a:bodyPr>
                <a:normAutofit fontScale="25000" lnSpcReduction="20000"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buNone/>
                </a:pPr>
                <a:r>
                  <a:rPr lang="en-US" sz="9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Momentum</a:t>
                </a:r>
                <a:endParaRPr lang="ru-RU" sz="9600" b="1" i="1" dirty="0"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8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8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𝑣</m:t>
                        </m:r>
                      </m:e>
                      <m:sub>
                        <m:r>
                          <a:rPr lang="en-US" sz="8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</m:sub>
                    </m:sSub>
                    <m:r>
                      <a:rPr lang="en-US" sz="8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sSub>
                      <m:sSubPr>
                        <m:ctrlPr>
                          <a:rPr lang="en-US" sz="8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8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𝑣</m:t>
                        </m:r>
                      </m:e>
                      <m:sub>
                        <m:r>
                          <a:rPr lang="en-US" sz="8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  <m:r>
                          <a:rPr lang="en-US" sz="8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−1</m:t>
                        </m:r>
                      </m:sub>
                    </m:sSub>
                    <m:r>
                      <a:rPr lang="en-US" sz="8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+</m:t>
                    </m:r>
                    <m:sSub>
                      <m:sSubPr>
                        <m:ctrlPr>
                          <a:rPr lang="ru-RU" sz="8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ru-RU" sz="8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𝜂</m:t>
                        </m:r>
                        <m:r>
                          <m:rPr>
                            <m:nor/>
                          </m:rPr>
                          <a:rPr lang="ru-RU" sz="8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ru-RU" sz="8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∇</m:t>
                        </m:r>
                      </m:e>
                      <m:sub>
                        <m:r>
                          <a:rPr lang="ru-RU" sz="8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𝜃</m:t>
                        </m:r>
                      </m:sub>
                    </m:sSub>
                    <m:r>
                      <a:rPr lang="en-US" sz="8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𝐽</m:t>
                    </m:r>
                    <m:r>
                      <a:rPr lang="en-US" sz="8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ru-RU" sz="8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𝜃</m:t>
                    </m:r>
                  </m:oMath>
                </a14:m>
                <a:r>
                  <a:rPr lang="en-US" sz="8400" i="1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)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a:rPr lang="ru-RU" sz="8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𝜃</m:t>
                    </m:r>
                    <m:r>
                      <a:rPr lang="en-US" sz="8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</m:oMath>
                </a14:m>
                <a:r>
                  <a:rPr lang="ru-RU" sz="8400" dirty="0"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ru-RU" sz="8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𝜃</m:t>
                    </m:r>
                  </m:oMath>
                </a14:m>
                <a:r>
                  <a:rPr lang="ru-RU" sz="8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–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8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8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𝑣</m:t>
                        </m:r>
                      </m:e>
                      <m:sub>
                        <m:r>
                          <a:rPr lang="en-US" sz="8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</m:sub>
                    </m:sSub>
                  </m:oMath>
                </a14:m>
                <a:endParaRPr lang="ru-RU" sz="8400" i="1" dirty="0"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ru-RU" sz="8400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Этот метод, применительно к </a:t>
                </a:r>
                <a:r>
                  <a:rPr lang="en-US" sz="8400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SGD</a:t>
                </a:r>
                <a:r>
                  <a:rPr lang="ru-RU" sz="8400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позволяет преодолевать овраги.</a:t>
                </a:r>
                <a:r>
                  <a:rPr lang="en-US" sz="8400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u-RU" sz="8400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Кроме того, он позволяет увеличить скорость сходимости алгоритмов </a:t>
                </a:r>
                <a:r>
                  <a:rPr lang="en-US" sz="8400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SGD</a:t>
                </a:r>
                <a:r>
                  <a:rPr lang="ru-RU" sz="8400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marL="0" indent="0">
                  <a:buNone/>
                </a:pPr>
                <a:r>
                  <a:rPr lang="ru-RU" sz="8400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Метод моментов был предложен в 1964 году Б.Т. Поляком.</a:t>
                </a:r>
                <a:endParaRPr lang="en-US" sz="8400" dirty="0"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ru-RU" sz="8400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Другое название этого метода - «метод тяжелого шарика». Он рассматривался нами раньше в лекции посвященной многоэкстремальной оптимизации. </a:t>
                </a:r>
              </a:p>
              <a:p>
                <a:pPr marL="0" indent="0">
                  <a:buNone/>
                </a:pPr>
                <a:r>
                  <a:rPr lang="ru-RU" sz="8400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В 1986 году этот метод был использован  Джеффри Хинтоном и Дэвидом </a:t>
                </a:r>
                <a:r>
                  <a:rPr lang="ru-RU" sz="8400" dirty="0" err="1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Руммельхартом</a:t>
                </a:r>
                <a:r>
                  <a:rPr lang="ru-RU" sz="8400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для обучения нейронных сетей методом обратного распространения ошибки.</a:t>
                </a:r>
              </a:p>
              <a:p>
                <a:pPr marL="0" indent="0">
                  <a:buNone/>
                </a:pPr>
                <a:endParaRPr lang="en-US" sz="8400" dirty="0"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ru-RU" sz="8400" b="1" dirty="0"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337680D5-D895-4DF6-B85E-6C0B213D80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52649" y="2246940"/>
                <a:ext cx="7886700" cy="3625862"/>
              </a:xfrm>
              <a:prstGeom prst="rect">
                <a:avLst/>
              </a:prstGeom>
              <a:blipFill>
                <a:blip r:embed="rId2"/>
                <a:stretch>
                  <a:fillRect l="-927" t="-4040" b="-8418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0133082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6EA6D89-E184-49DB-BEF6-99B68BFBE3DE}"/>
              </a:ext>
            </a:extLst>
          </p:cNvPr>
          <p:cNvSpPr txBox="1"/>
          <p:nvPr/>
        </p:nvSpPr>
        <p:spPr>
          <a:xfrm>
            <a:off x="1996555" y="1082121"/>
            <a:ext cx="819889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ГРАДИЕНТНЫЕ МЕТОДЫ В ИСКУССТВЕННЫХ НЕЙРОННЫХ СЕТЯХ</a:t>
            </a:r>
            <a:endParaRPr lang="ru-RU" sz="2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7B7291B-D3FC-48A0-90EB-FC4FEDF357EE}"/>
              </a:ext>
            </a:extLst>
          </p:cNvPr>
          <p:cNvSpPr txBox="1">
            <a:spLocks/>
          </p:cNvSpPr>
          <p:nvPr/>
        </p:nvSpPr>
        <p:spPr>
          <a:xfrm>
            <a:off x="2152649" y="2246941"/>
            <a:ext cx="7886700" cy="3528939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ru-RU" sz="3000" b="1" dirty="0"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Адаптивные методы</a:t>
            </a:r>
          </a:p>
          <a:p>
            <a:pPr marL="557213" indent="-557213">
              <a:buFont typeface="+mj-lt"/>
              <a:buAutoNum type="arabicPeriod"/>
            </a:pPr>
            <a:r>
              <a:rPr lang="en-US" sz="2400" b="1" dirty="0"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NAG. (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Nesterov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accelerated gradient</a:t>
            </a:r>
            <a:r>
              <a:rPr lang="en-US" sz="2400" b="1" dirty="0"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)</a:t>
            </a:r>
          </a:p>
          <a:p>
            <a:pPr marL="557213" indent="-557213">
              <a:buFont typeface="+mj-lt"/>
              <a:buAutoNum type="arabicPeriod"/>
            </a:pPr>
            <a:r>
              <a:rPr lang="en-US" sz="2400" b="1" dirty="0" err="1"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Adagrad</a:t>
            </a:r>
            <a:r>
              <a:rPr lang="en-US" sz="2400" b="1" dirty="0"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. (Adapted gradient)</a:t>
            </a:r>
          </a:p>
          <a:p>
            <a:pPr marL="557213" indent="-557213">
              <a:buFont typeface="+mj-lt"/>
              <a:buAutoNum type="arabicPeriod"/>
            </a:pPr>
            <a:r>
              <a:rPr lang="en-US" sz="2400" b="1" dirty="0" err="1"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Adadelta</a:t>
            </a:r>
            <a:r>
              <a:rPr lang="en-US" sz="2400" b="1" dirty="0"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. (E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xtension of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Adagrad</a:t>
            </a:r>
            <a:r>
              <a:rPr lang="en-US" sz="2400" b="1" dirty="0"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)</a:t>
            </a:r>
          </a:p>
          <a:p>
            <a:pPr marL="557213" indent="-557213">
              <a:buFont typeface="+mj-lt"/>
              <a:buAutoNum type="arabicPeriod"/>
            </a:pPr>
            <a:r>
              <a:rPr lang="en-US" sz="2400" b="1" dirty="0" err="1"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RMSProp</a:t>
            </a:r>
            <a:r>
              <a:rPr lang="en-US" sz="2400" b="1" dirty="0"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. (A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daptive Root Mean Squared)</a:t>
            </a:r>
            <a:endParaRPr lang="en-US" sz="2400" b="1" dirty="0">
              <a:latin typeface="Times New Roman" panose="02020603050405020304" pitchFamily="18" charset="0"/>
              <a:ea typeface="Cambria Math" panose="02040503050406030204" pitchFamily="18" charset="0"/>
              <a:cs typeface="Times New Roman" panose="02020603050405020304" pitchFamily="18" charset="0"/>
            </a:endParaRPr>
          </a:p>
          <a:p>
            <a:pPr marL="557213" indent="-557213">
              <a:buFont typeface="+mj-lt"/>
              <a:buAutoNum type="arabicPeriod"/>
            </a:pPr>
            <a:r>
              <a:rPr lang="en-US" sz="2400" b="1" dirty="0"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Adam. (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Adaptive moment estimation)</a:t>
            </a:r>
            <a:endParaRPr lang="en-US" sz="2400" b="1" dirty="0">
              <a:latin typeface="Times New Roman" panose="02020603050405020304" pitchFamily="18" charset="0"/>
              <a:ea typeface="Cambria Math" panose="02040503050406030204" pitchFamily="18" charset="0"/>
              <a:cs typeface="Times New Roman" panose="02020603050405020304" pitchFamily="18" charset="0"/>
            </a:endParaRPr>
          </a:p>
          <a:p>
            <a:pPr marL="557213" indent="-557213">
              <a:buFont typeface="+mj-lt"/>
              <a:buAutoNum type="arabicPeriod"/>
            </a:pPr>
            <a:r>
              <a:rPr lang="en-US" sz="2400" b="1" dirty="0" err="1"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AdaMax</a:t>
            </a:r>
            <a:r>
              <a:rPr lang="en-US" sz="2400" b="1" dirty="0"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. (Modification Adam)</a:t>
            </a:r>
          </a:p>
          <a:p>
            <a:pPr marL="557213" indent="-557213">
              <a:buFont typeface="+mj-lt"/>
              <a:buAutoNum type="arabicPeriod"/>
            </a:pPr>
            <a:r>
              <a:rPr lang="en-US" sz="2400" b="1" dirty="0" err="1"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Nadam</a:t>
            </a:r>
            <a:r>
              <a:rPr lang="en-US" sz="2400" b="1" dirty="0"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. (</a:t>
            </a:r>
            <a:r>
              <a:rPr lang="en-US" sz="2400" b="1" dirty="0" err="1"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Nesterov</a:t>
            </a:r>
            <a:r>
              <a:rPr lang="en-US" sz="2400" b="1" dirty="0"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 modification Adam)</a:t>
            </a:r>
          </a:p>
          <a:p>
            <a:pPr marL="557213" indent="-557213">
              <a:buFont typeface="+mj-lt"/>
              <a:buAutoNum type="arabicPeriod"/>
            </a:pPr>
            <a:endParaRPr lang="en-US" sz="2400" b="1" dirty="0">
              <a:latin typeface="Times New Roman" panose="02020603050405020304" pitchFamily="18" charset="0"/>
              <a:ea typeface="Cambria Math" panose="02040503050406030204" pitchFamily="18" charset="0"/>
              <a:cs typeface="Times New Roman" panose="02020603050405020304" pitchFamily="18" charset="0"/>
            </a:endParaRPr>
          </a:p>
          <a:p>
            <a:pPr marL="557213" indent="-557213">
              <a:buFont typeface="+mj-lt"/>
              <a:buAutoNum type="arabicPeriod"/>
            </a:pPr>
            <a:endParaRPr lang="ru-RU" sz="3000" b="1" dirty="0">
              <a:latin typeface="Times New Roman" panose="02020603050405020304" pitchFamily="18" charset="0"/>
              <a:ea typeface="Cambria Math" panose="020405030504060302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7200" dirty="0">
              <a:latin typeface="Times New Roman" panose="02020603050405020304" pitchFamily="18" charset="0"/>
              <a:ea typeface="Cambria Math" panose="020405030504060302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ru-RU" sz="8400" b="1" dirty="0">
              <a:latin typeface="Times New Roman" panose="02020603050405020304" pitchFamily="18" charset="0"/>
              <a:ea typeface="Cambria Math" panose="020405030504060302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4765874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222CDAB-487D-4561-A49F-182E5F086669}"/>
              </a:ext>
            </a:extLst>
          </p:cNvPr>
          <p:cNvSpPr txBox="1"/>
          <p:nvPr/>
        </p:nvSpPr>
        <p:spPr>
          <a:xfrm>
            <a:off x="1996555" y="1082121"/>
            <a:ext cx="819889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ГРАДИЕНТНЫЕ МЕТОДЫ В ИСКУССТВЕННЫХ НЕЙРОННЫХ СЕТЯХ</a:t>
            </a:r>
            <a:endParaRPr lang="ru-RU" sz="2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EF78415B-D12D-4F8C-914E-8BBE2AECF8DB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152649" y="2246941"/>
                <a:ext cx="7886700" cy="3528939"/>
              </a:xfrm>
              <a:prstGeom prst="rect">
                <a:avLst/>
              </a:prstGeom>
            </p:spPr>
            <p:txBody>
              <a:bodyPr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buNone/>
                </a:pPr>
                <a:r>
                  <a:rPr lang="en-US" sz="2400" b="1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NAG. (</a:t>
                </a:r>
                <a:r>
                  <a:rPr lang="en-US" sz="2400" b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Nesterov</a:t>
                </a:r>
                <a:r>
                  <a:rPr lang="en-US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accelerated gradient</a:t>
                </a:r>
                <a:r>
                  <a:rPr lang="en-US" sz="2400" b="1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)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𝑣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𝑣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−1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+</m:t>
                    </m:r>
                    <m:sSub>
                      <m:sSubPr>
                        <m:ctrlPr>
                          <a:rPr lang="ru-RU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ru-RU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𝜂</m:t>
                        </m:r>
                        <m:r>
                          <m:rPr>
                            <m:nor/>
                          </m:rPr>
                          <a:rPr lang="ru-RU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ru-RU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∇</m:t>
                        </m:r>
                      </m:e>
                      <m:sub>
                        <m:r>
                          <a:rPr lang="ru-RU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𝜃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𝐽</m:t>
                    </m:r>
                    <m:r>
                      <a:rPr lang="en-US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ru-RU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𝜃</m:t>
                    </m:r>
                  </m:oMath>
                </a14:m>
                <a:r>
                  <a:rPr lang="ru-RU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–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𝛾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𝑣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  <m:r>
                          <a:rPr lang="ru-RU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−1</m:t>
                        </m:r>
                      </m:sub>
                    </m:sSub>
                  </m:oMath>
                </a14:m>
                <a:r>
                  <a:rPr lang="en-US" sz="2400" i="1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)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a:rPr lang="ru-RU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𝜃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</m:oMath>
                </a14:m>
                <a:r>
                  <a:rPr lang="ru-RU" sz="2400" dirty="0"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ru-RU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𝜃</m:t>
                    </m:r>
                  </m:oMath>
                </a14:m>
                <a:r>
                  <a:rPr lang="ru-RU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–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𝑣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</m:sub>
                    </m:sSub>
                  </m:oMath>
                </a14:m>
                <a:endParaRPr lang="ru-RU" sz="2400" i="1" dirty="0"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 algn="ctr">
                  <a:buNone/>
                </a:pPr>
                <a:endParaRPr lang="en-US" sz="2400" b="1" dirty="0"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US" sz="2400" b="1" dirty="0"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557213" indent="-557213">
                  <a:buFont typeface="+mj-lt"/>
                  <a:buAutoNum type="arabicPeriod"/>
                </a:pPr>
                <a:endParaRPr lang="ru-RU" sz="3000" b="1" dirty="0"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US" sz="7200" dirty="0"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ru-RU" sz="8400" b="1" dirty="0"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EF78415B-D12D-4F8C-914E-8BBE2AECF8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52649" y="2246941"/>
                <a:ext cx="7886700" cy="3528939"/>
              </a:xfrm>
              <a:prstGeom prst="rect">
                <a:avLst/>
              </a:prstGeom>
              <a:blipFill>
                <a:blip r:embed="rId2"/>
                <a:stretch>
                  <a:fillRect t="-2422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419647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222CDAB-487D-4561-A49F-182E5F086669}"/>
              </a:ext>
            </a:extLst>
          </p:cNvPr>
          <p:cNvSpPr txBox="1"/>
          <p:nvPr/>
        </p:nvSpPr>
        <p:spPr>
          <a:xfrm>
            <a:off x="1996555" y="1082121"/>
            <a:ext cx="819889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ГРАДИЕНТНЫЕ МЕТОДЫ В ИСКУССТВЕННЫХ НЕЙРОННЫХ СЕТЯХ</a:t>
            </a:r>
            <a:endParaRPr lang="ru-RU" sz="2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EF78415B-D12D-4F8C-914E-8BBE2AECF8DB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152649" y="2246941"/>
                <a:ext cx="7886700" cy="3528939"/>
              </a:xfrm>
              <a:prstGeom prst="rect">
                <a:avLst/>
              </a:prstGeom>
            </p:spPr>
            <p:txBody>
              <a:bodyPr>
                <a:normAutofit fontScale="92500"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buNone/>
                </a:pPr>
                <a:r>
                  <a:rPr lang="en-US" sz="2400" b="1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Adagrad. (Adapted gradient)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𝑔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</m:oMath>
                </a14:m>
                <a:r>
                  <a:rPr lang="ru-RU" sz="2400" dirty="0"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ru-RU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ru-RU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∇</m:t>
                        </m:r>
                      </m:e>
                      <m:sub>
                        <m:sSub>
                          <m:sSubPr>
                            <m:ctrlPr>
                              <a:rPr lang="ru-RU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ru-RU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𝑡</m:t>
                            </m:r>
                          </m:sub>
                        </m:sSub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𝐽</m:t>
                    </m:r>
                    <m:r>
                      <a:rPr lang="en-US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ru-RU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endParaRPr lang="ru-RU" sz="2400" i="1" dirty="0"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ru-RU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𝑡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+1,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ru-RU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𝑡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,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𝜂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radPr>
                            <m:deg/>
                            <m:e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𝐺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𝑡</m:t>
                                  </m:r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,</m:t>
                                  </m:r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𝑖𝑖</m:t>
                                  </m:r>
                                </m:sub>
                              </m:sSub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+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𝜀</m:t>
                              </m:r>
                            </m:e>
                          </m:rad>
                        </m:den>
                      </m:f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𝑔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𝑡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,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ru-RU" sz="2400" i="1" dirty="0"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𝐺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𝑖𝑖</m:t>
                        </m:r>
                      </m:sub>
                    </m:sSub>
                  </m:oMath>
                </a14:m>
                <a:r>
                  <a:rPr lang="ru-RU" sz="2400" b="1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- </a:t>
                </a:r>
                <a:r>
                  <a:rPr lang="ru-RU" sz="2400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диагональная матрица, </a:t>
                </a:r>
                <a14:m>
                  <m:oMath xmlns:m="http://schemas.openxmlformats.org/officeDocument/2006/math">
                    <m:r>
                      <a:rPr lang="ru-RU" sz="24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содержащая </m:t>
                    </m:r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𝑙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ru-RU" sz="2400" b="1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-</a:t>
                </a:r>
                <a:r>
                  <a:rPr lang="ru-RU" sz="2400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норму градиентов всех предыдущих итераций, включая текущую итерацию, для каждого измерения.</a:t>
                </a:r>
                <a:r>
                  <a:rPr lang="en-US" sz="2400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u-RU" sz="2400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Матрица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𝐺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  <m:r>
                          <a:rPr lang="ru-RU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</m:sub>
                    </m:sSub>
                  </m:oMath>
                </a14:m>
                <a:r>
                  <a:rPr lang="ru-RU" sz="2400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имеет следующий вид: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𝐺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  <m:r>
                          <a:rPr lang="ru-RU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</m:sub>
                    </m:sSub>
                    <m:r>
                      <a:rPr lang="ru-RU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𝑑𝑖𝑎𝑔</m:t>
                    </m:r>
                    <m:d>
                      <m:dPr>
                        <m:begChr m:val="["/>
                        <m:endChr m:val="]"/>
                        <m:ctrlP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ad>
                          <m:radPr>
                            <m:degHide m:val="on"/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radPr>
                          <m:deg/>
                          <m:e>
                            <m:nary>
                              <m:naryPr>
                                <m:chr m:val="∑"/>
                                <m:limLoc m:val="subSup"/>
                                <m:ctrlPr>
                                  <a:rPr lang="en-US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naryPr>
                              <m:sub>
                                <m:r>
                                  <m:rPr>
                                    <m:brk m:alnAt="25"/>
                                  </m:rPr>
                                  <a:rPr lang="en-US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𝑟</m:t>
                                </m:r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=1</m:t>
                                </m:r>
                              </m:sub>
                              <m:sup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𝑖</m:t>
                                </m:r>
                              </m:sup>
                              <m:e>
                                <m:sSub>
                                  <m:sSubPr>
                                    <m:ctrlPr>
                                      <a:rPr lang="en-US" sz="2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sSubSup>
                                      <m:sSubSupPr>
                                        <m:ctrlPr>
                                          <a:rPr lang="en-US" sz="24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en-US" sz="24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𝜃</m:t>
                                        </m:r>
                                      </m:e>
                                      <m:sub>
                                        <m:r>
                                          <a:rPr lang="en-US" sz="24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𝑟</m:t>
                                        </m:r>
                                      </m:sub>
                                      <m:sup>
                                        <m:r>
                                          <a:rPr lang="en-US" sz="24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2</m:t>
                                        </m:r>
                                      </m:sup>
                                    </m:sSubSup>
                                  </m:e>
                                  <m:sub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𝑡</m:t>
                                    </m:r>
                                  </m:sub>
                                </m:sSub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+</m:t>
                                </m:r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𝜀</m:t>
                                </m:r>
                              </m:e>
                            </m:nary>
                          </m:e>
                        </m:rad>
                      </m:e>
                    </m:d>
                    <m:r>
                      <a:rPr lang="ru-RU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US" sz="2400" dirty="0" err="1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t,i</a:t>
                </a:r>
                <a:endParaRPr lang="en-US" sz="2400" dirty="0"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US" sz="2400" b="1" dirty="0"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557213" indent="-557213">
                  <a:buFont typeface="+mj-lt"/>
                  <a:buAutoNum type="arabicPeriod"/>
                </a:pPr>
                <a:endParaRPr lang="ru-RU" sz="3000" b="1" dirty="0"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US" sz="7200" dirty="0"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ru-RU" sz="8400" b="1" dirty="0"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EF78415B-D12D-4F8C-914E-8BBE2AECF8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52649" y="2246941"/>
                <a:ext cx="7886700" cy="3528939"/>
              </a:xfrm>
              <a:prstGeom prst="rect">
                <a:avLst/>
              </a:prstGeom>
              <a:blipFill>
                <a:blip r:embed="rId2"/>
                <a:stretch>
                  <a:fillRect l="-1005" t="-2076" r="-115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4372620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222CDAB-487D-4561-A49F-182E5F086669}"/>
              </a:ext>
            </a:extLst>
          </p:cNvPr>
          <p:cNvSpPr txBox="1"/>
          <p:nvPr/>
        </p:nvSpPr>
        <p:spPr>
          <a:xfrm>
            <a:off x="1996555" y="1082121"/>
            <a:ext cx="819889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700" b="1" dirty="0"/>
              <a:t>ГРАДИЕНТНЫЕ МЕТОДЫ В ИСКУССТВЕННЫХ НЕЙРОННЫХ СЕТЯХ</a:t>
            </a:r>
            <a:endParaRPr lang="ru-RU" sz="27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EF78415B-D12D-4F8C-914E-8BBE2AECF8DB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52854" y="2246941"/>
                <a:ext cx="10568354" cy="3528939"/>
              </a:xfrm>
              <a:prstGeom prst="rect">
                <a:avLst/>
              </a:prstGeom>
            </p:spPr>
            <p:txBody>
              <a:bodyPr>
                <a:normAutofit fontScale="92500" lnSpcReduction="10000"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buNone/>
                </a:pPr>
                <a:r>
                  <a:rPr lang="en-US" sz="2400" b="1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Adadelta. (E</a:t>
                </a:r>
                <a:r>
                  <a:rPr lang="en-US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xtension of </a:t>
                </a:r>
                <a:r>
                  <a:rPr lang="en-US" sz="2400" b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Adagrad</a:t>
                </a:r>
                <a:r>
                  <a:rPr lang="en-US" sz="2400" b="1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)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+1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+</m:t>
                    </m:r>
                    <m:r>
                      <a:rPr lang="ru-RU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∆</m:t>
                    </m:r>
                    <m:sSub>
                      <m:sSubPr>
                        <m:ctrlPr>
                          <a:rPr lang="ru-RU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ru-RU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sz="2400" i="1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∆</m:t>
                      </m:r>
                      <m:sSub>
                        <m:sSubPr>
                          <m:ctrlPr>
                            <a:rPr lang="ru-RU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ru-RU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=−</m:t>
                      </m:r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𝑅𝑀𝑆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ru-RU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∆</m:t>
                              </m:r>
                              <m:sSub>
                                <m:sSubPr>
                                  <m:ctrlPr>
                                    <a:rPr lang="ru-RU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𝑡</m:t>
                                  </m:r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−1</m:t>
                                  </m:r>
                                </m:sub>
                              </m:sSub>
                            </m:e>
                          </m:d>
                        </m:num>
                        <m:den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𝑅𝑀𝑆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ru-RU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𝑔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</m:e>
                          </m:d>
                        </m:den>
                      </m:f>
                      <m:sSub>
                        <m:sSubPr>
                          <m:ctrlPr>
                            <a:rPr lang="ru-RU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𝑔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.</m:t>
                      </m:r>
                    </m:oMath>
                  </m:oMathPara>
                </a14:m>
                <a:endParaRPr lang="en-US" sz="2400" i="1" dirty="0"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𝑀</m:t>
                    </m:r>
                    <m:d>
                      <m:dPr>
                        <m:begChr m:val="["/>
                        <m:endChr m:val="]"/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ru-RU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∆</m:t>
                            </m:r>
                            <m:sSub>
                              <m:sSubPr>
                                <m:ctrlPr>
                                  <a:rPr lang="ru-RU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ru-RU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𝜃</m:t>
                                </m:r>
                              </m:e>
                              <m:sub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𝑡</m:t>
                                </m:r>
                              </m:sub>
                            </m:sSub>
                          </m:e>
                          <m:sup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sz="2400" i="1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=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𝛾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𝑀</m:t>
                    </m:r>
                    <m:d>
                      <m:dPr>
                        <m:begChr m:val="["/>
                        <m:endChr m:val="]"/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ru-RU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∆</m:t>
                            </m:r>
                            <m:sSub>
                              <m:sSubPr>
                                <m:ctrlPr>
                                  <a:rPr lang="ru-RU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ru-RU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𝜃</m:t>
                                </m:r>
                              </m:e>
                              <m:sub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𝑡</m:t>
                                </m:r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−1</m:t>
                                </m:r>
                              </m:sub>
                            </m:sSub>
                          </m:e>
                          <m:sup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a:rPr lang="en-US" sz="240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+(1−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𝛾</m:t>
                    </m:r>
                  </m:oMath>
                </a14:m>
                <a:r>
                  <a:rPr lang="en-US" sz="2400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)</a:t>
                </a:r>
                <a:r>
                  <a:rPr lang="en-US" sz="2400" dirty="0"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ru-RU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∆</m:t>
                        </m:r>
                        <m:sSub>
                          <m:sSubPr>
                            <m:ctrlPr>
                              <a:rPr lang="ru-RU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ru-RU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𝑡</m:t>
                            </m:r>
                          </m:sub>
                        </m:sSub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.</m:t>
                    </m:r>
                  </m:oMath>
                </a14:m>
                <a:r>
                  <a:rPr lang="ru-RU" sz="2400" i="1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endParaRPr lang="en-US" sz="2400" i="1" dirty="0"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𝑀</m:t>
                    </m:r>
                    <m:d>
                      <m:dPr>
                        <m:begChr m:val="["/>
                        <m:endChr m:val="]"/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sSub>
                              <m:sSubPr>
                                <m:ctrlPr>
                                  <a:rPr lang="ru-RU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𝑔</m:t>
                                </m:r>
                              </m:e>
                              <m:sub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𝑡</m:t>
                                </m:r>
                              </m:sub>
                            </m:sSub>
                          </m:e>
                          <m:sup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sz="2400" i="1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=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𝛾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𝑀</m:t>
                    </m:r>
                    <m:d>
                      <m:dPr>
                        <m:begChr m:val="["/>
                        <m:endChr m:val="]"/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sSub>
                              <m:sSubPr>
                                <m:ctrlPr>
                                  <a:rPr lang="ru-RU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𝑔</m:t>
                                </m:r>
                              </m:e>
                              <m:sub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𝑡</m:t>
                                </m:r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−1</m:t>
                                </m:r>
                              </m:sub>
                            </m:sSub>
                          </m:e>
                          <m:sup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a:rPr lang="en-US" sz="240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+(1−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𝛾</m:t>
                    </m:r>
                  </m:oMath>
                </a14:m>
                <a:r>
                  <a:rPr lang="en-US" sz="2400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)</a:t>
                </a:r>
                <a:r>
                  <a:rPr lang="en-US" sz="2400" dirty="0"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ru-RU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𝑔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𝑡</m:t>
                            </m:r>
                          </m:sub>
                        </m:sSub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.</m:t>
                    </m:r>
                  </m:oMath>
                </a14:m>
                <a:endParaRPr lang="en-US" sz="2400" dirty="0"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𝑅𝑀𝑆</m:t>
                    </m:r>
                    <m:d>
                      <m:dPr>
                        <m:begChr m:val="["/>
                        <m:endChr m:val="]"/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ru-RU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∆</m:t>
                        </m:r>
                        <m:sSub>
                          <m:sSubPr>
                            <m:ctrlPr>
                              <a:rPr lang="ru-RU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ru-RU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𝑡</m:t>
                            </m:r>
                          </m:sub>
                        </m:sSub>
                      </m:e>
                    </m:d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radPr>
                      <m:deg/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𝑀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ru-RU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∆</m:t>
                                </m:r>
                                <m:sSub>
                                  <m:sSubPr>
                                    <m:ctrlPr>
                                      <a:rPr lang="ru-RU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ru-RU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𝜃</m:t>
                                    </m:r>
                                  </m:e>
                                  <m:sub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𝑡</m:t>
                                    </m:r>
                                  </m:sub>
                                </m:sSub>
                              </m:e>
                              <m:sup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d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+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𝜀</m:t>
                        </m:r>
                      </m:e>
                    </m:rad>
                  </m:oMath>
                </a14:m>
                <a:r>
                  <a:rPr lang="ru-RU" sz="2400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- среднеквадратичное значение переменной.</a:t>
                </a:r>
                <a:endParaRPr lang="en-US" sz="2400" dirty="0"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𝑅𝑀𝑆</m:t>
                    </m:r>
                    <m:d>
                      <m:dPr>
                        <m:begChr m:val="["/>
                        <m:endChr m:val="]"/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𝑔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𝑡</m:t>
                            </m:r>
                          </m:sub>
                        </m:sSub>
                      </m:e>
                    </m:d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radPr>
                      <m:deg/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𝑀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pPr>
                              <m:e>
                                <m:sSub>
                                  <m:sSub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𝑔</m:t>
                                    </m:r>
                                  </m:e>
                                  <m:sub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𝑡</m:t>
                                    </m:r>
                                  </m:sub>
                                </m:sSub>
                              </m:e>
                              <m:sup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d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+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𝜀</m:t>
                        </m:r>
                      </m:e>
                    </m:rad>
                    <m:r>
                      <a:rPr lang="ru-RU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ru-RU" sz="2400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- среднеквадратичное значение градиента.</a:t>
                </a:r>
                <a:endParaRPr lang="en-US" sz="2400" i="1" dirty="0"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US" sz="2400" b="1" dirty="0"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557213" indent="-557213">
                  <a:buFont typeface="+mj-lt"/>
                  <a:buAutoNum type="arabicPeriod"/>
                </a:pPr>
                <a:endParaRPr lang="ru-RU" sz="3000" b="1" dirty="0"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US" sz="7200" dirty="0"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ru-RU" sz="8400" b="1" dirty="0"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EF78415B-D12D-4F8C-914E-8BBE2AECF8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2854" y="2246941"/>
                <a:ext cx="10568354" cy="3528939"/>
              </a:xfrm>
              <a:prstGeom prst="rect">
                <a:avLst/>
              </a:prstGeom>
              <a:blipFill>
                <a:blip r:embed="rId2"/>
                <a:stretch>
                  <a:fillRect t="-3114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4548267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222CDAB-487D-4561-A49F-182E5F086669}"/>
              </a:ext>
            </a:extLst>
          </p:cNvPr>
          <p:cNvSpPr txBox="1"/>
          <p:nvPr/>
        </p:nvSpPr>
        <p:spPr>
          <a:xfrm>
            <a:off x="1996555" y="1082121"/>
            <a:ext cx="819889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ГРАДИЕНТНЫЕ МЕТОДЫ В ИСКУССТВЕННЫХ НЕЙРОННЫХ СЕТЯХ</a:t>
            </a:r>
            <a:endParaRPr lang="ru-RU" sz="2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EF78415B-D12D-4F8C-914E-8BBE2AECF8DB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152649" y="2246941"/>
                <a:ext cx="7886700" cy="3528939"/>
              </a:xfrm>
              <a:prstGeom prst="rect">
                <a:avLst/>
              </a:prstGeom>
            </p:spPr>
            <p:txBody>
              <a:bodyPr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sz="2400" b="1" dirty="0">
                          <a:latin typeface="Times New Roman" panose="020206030504050203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RMSProp</m:t>
                      </m:r>
                      <m:r>
                        <m:rPr>
                          <m:nor/>
                        </m:rPr>
                        <a:rPr lang="en-US" sz="2400" b="1" dirty="0">
                          <a:latin typeface="Times New Roman" panose="020206030504050203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. (</m:t>
                      </m:r>
                      <m:r>
                        <m:rPr>
                          <m:nor/>
                        </m:rPr>
                        <a:rPr lang="en-US" sz="2400" b="1" dirty="0">
                          <a:latin typeface="Times New Roman" panose="020206030504050203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Adaptive</m:t>
                      </m:r>
                      <m:r>
                        <m:rPr>
                          <m:nor/>
                        </m:rPr>
                        <a:rPr lang="en-US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Root</m:t>
                      </m:r>
                      <m:r>
                        <m:rPr>
                          <m:nor/>
                        </m:rPr>
                        <a:rPr lang="en-US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Mean</m:t>
                      </m:r>
                      <m:r>
                        <m:rPr>
                          <m:nor/>
                        </m:rPr>
                        <a:rPr lang="en-US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Squared</m:t>
                      </m:r>
                      <m:r>
                        <m:rPr>
                          <m:nor/>
                        </m:rPr>
                        <a:rPr lang="en-US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)</m:t>
                      </m:r>
                    </m:oMath>
                  </m:oMathPara>
                </a14:m>
                <a:endParaRPr 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+1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−</m:t>
                    </m:r>
                  </m:oMath>
                </a14:m>
                <a:r>
                  <a:rPr lang="en-US" sz="2400" dirty="0"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𝜂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𝑀</m:t>
                            </m:r>
                            <m:d>
                              <m:dPr>
                                <m:begChr m:val="["/>
                                <m:endChr m:val="]"/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dPr>
                              <m:e>
                                <m:sSup>
                                  <m:sSup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pPr>
                                  <m:e>
                                    <m:sSub>
                                      <m:sSubPr>
                                        <m:ctrlPr>
                                          <a:rPr lang="en-US" sz="24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4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𝑔</m:t>
                                        </m:r>
                                      </m:e>
                                      <m:sub>
                                        <m:r>
                                          <a:rPr lang="en-US" sz="24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𝑡</m:t>
                                        </m:r>
                                      </m:sub>
                                    </m:sSub>
                                  </m:e>
                                  <m:sup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e>
                            </m:d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+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𝜀</m:t>
                            </m:r>
                          </m:e>
                        </m:rad>
                      </m:den>
                    </m:f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𝑔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sz="2400" i="1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𝑀</m:t>
                    </m:r>
                    <m:d>
                      <m:dPr>
                        <m:begChr m:val="["/>
                        <m:endChr m:val="]"/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sSub>
                              <m:sSubPr>
                                <m:ctrlPr>
                                  <a:rPr lang="ru-RU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𝑔</m:t>
                                </m:r>
                              </m:e>
                              <m:sub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𝑡</m:t>
                                </m:r>
                              </m:sub>
                            </m:sSub>
                          </m:e>
                          <m:sup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sz="2400" i="1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=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0.9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𝑀</m:t>
                    </m:r>
                    <m:d>
                      <m:dPr>
                        <m:begChr m:val="["/>
                        <m:endChr m:val="]"/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sSub>
                              <m:sSubPr>
                                <m:ctrlPr>
                                  <a:rPr lang="ru-RU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𝑔</m:t>
                                </m:r>
                              </m:e>
                              <m:sub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𝑡</m:t>
                                </m:r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−1</m:t>
                                </m:r>
                              </m:sub>
                            </m:sSub>
                          </m:e>
                          <m:sup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a:rPr lang="en-US" sz="240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+</m:t>
                    </m:r>
                  </m:oMath>
                </a14:m>
                <a:r>
                  <a:rPr lang="en-US" sz="2400" dirty="0">
                    <a:ea typeface="Cambria Math" panose="02040503050406030204" pitchFamily="18" charset="0"/>
                    <a:cs typeface="Times New Roman" panose="02020603050405020304" pitchFamily="18" charset="0"/>
                  </a:rPr>
                  <a:t>0.1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ru-RU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𝑔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𝑡</m:t>
                            </m:r>
                          </m:sub>
                        </m:sSub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.</m:t>
                    </m:r>
                  </m:oMath>
                </a14:m>
                <a:endParaRPr lang="en-US" sz="2400" dirty="0"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 algn="ctr">
                  <a:buNone/>
                </a:pPr>
                <a:endParaRPr lang="en-US" sz="2400" b="1" dirty="0"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 algn="ctr">
                  <a:buNone/>
                </a:pPr>
                <a:endParaRPr lang="en-US" sz="2400" i="1" dirty="0"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US" sz="2400" b="1" dirty="0"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557213" indent="-557213">
                  <a:buFont typeface="+mj-lt"/>
                  <a:buAutoNum type="arabicPeriod"/>
                </a:pPr>
                <a:endParaRPr lang="ru-RU" sz="3000" b="1" dirty="0"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US" sz="7200" dirty="0"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ru-RU" sz="8400" b="1" dirty="0"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EF78415B-D12D-4F8C-914E-8BBE2AECF8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52649" y="2246941"/>
                <a:ext cx="7886700" cy="352893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5487343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222CDAB-487D-4561-A49F-182E5F086669}"/>
              </a:ext>
            </a:extLst>
          </p:cNvPr>
          <p:cNvSpPr txBox="1"/>
          <p:nvPr/>
        </p:nvSpPr>
        <p:spPr>
          <a:xfrm>
            <a:off x="1996555" y="1082121"/>
            <a:ext cx="819889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ГРАДИЕНТНЫЕ МЕТОДЫ В ИСКУССТВЕННЫХ НЕЙРОННЫХ СЕТЯХ</a:t>
            </a:r>
            <a:endParaRPr lang="ru-RU" sz="2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EF78415B-D12D-4F8C-914E-8BBE2AECF8DB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152649" y="2246941"/>
                <a:ext cx="7886700" cy="3528939"/>
              </a:xfrm>
              <a:prstGeom prst="rect">
                <a:avLst/>
              </a:prstGeom>
            </p:spPr>
            <p:txBody>
              <a:bodyPr>
                <a:normAutofit lnSpcReduction="10000"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buNone/>
                </a:pPr>
                <a:r>
                  <a:rPr lang="en-US" sz="2400" b="1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Adam. (</a:t>
                </a:r>
                <a:r>
                  <a:rPr lang="en-US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Adaptive moment estimation)</a:t>
                </a:r>
                <a:endParaRPr lang="en-US" sz="2400" b="1" dirty="0"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+1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−</m:t>
                    </m:r>
                  </m:oMath>
                </a14:m>
                <a:r>
                  <a:rPr lang="en-US" sz="2400" dirty="0"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𝜂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radPr>
                          <m:deg/>
                          <m:e>
                            <m:sSub>
                              <m:sSub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acc>
                                  <m:accPr>
                                    <m:chr m:val="̂"/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𝑣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𝑡</m:t>
                                </m:r>
                              </m:sub>
                            </m:sSub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+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𝜀</m:t>
                            </m:r>
                          </m:e>
                        </m:rad>
                      </m:den>
                    </m:f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𝑚</m:t>
                                </m:r>
                              </m:e>
                            </m:acc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𝑡</m:t>
                            </m:r>
                          </m:sub>
                        </m:sSub>
                      </m:e>
                      <m:sub/>
                    </m:sSub>
                  </m:oMath>
                </a14:m>
                <a:r>
                  <a:rPr lang="en-US" sz="2400" i="1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𝑚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𝑚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−1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+(1−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400" i="1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)</a:t>
                </a:r>
                <a:r>
                  <a:rPr lang="en-US" sz="2400" dirty="0"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𝑔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.</m:t>
                    </m:r>
                  </m:oMath>
                </a14:m>
                <a:endParaRPr lang="en-US" sz="2400" dirty="0"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𝑣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𝑣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−1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+(1−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400" i="1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)</a:t>
                </a:r>
                <a:r>
                  <a:rPr lang="en-US" sz="2400" dirty="0"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𝑔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</m:sub>
                      <m:sup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bSup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.</m:t>
                    </m:r>
                  </m:oMath>
                </a14:m>
                <a:endParaRPr lang="en-US" sz="2400" dirty="0"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𝑡</m:t>
                            </m:r>
                          </m:sub>
                        </m:sSub>
                      </m:e>
                    </m:acc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𝑡</m:t>
                            </m:r>
                          </m:sub>
                        </m:sSub>
                      </m:num>
                      <m:den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1−</m:t>
                        </m:r>
                        <m:sSubSup>
                          <m:sSubSupPr>
                            <m:ctrlP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Sup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𝑡</m:t>
                            </m:r>
                          </m:sup>
                        </m:sSubSup>
                      </m:den>
                    </m:f>
                  </m:oMath>
                </a14:m>
                <a:r>
                  <a:rPr lang="en-US" sz="2400" dirty="0">
                    <a:ea typeface="Cambria Math" panose="020405030504060302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𝑡</m:t>
                            </m:r>
                          </m:sub>
                        </m:sSub>
                      </m:e>
                    </m:acc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𝑡</m:t>
                            </m:r>
                          </m:sub>
                        </m:sSub>
                      </m:num>
                      <m:den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1−</m:t>
                        </m:r>
                        <m:sSubSup>
                          <m:sSubSupPr>
                            <m:ctrlP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Sup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b>
                          <m:sup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𝑡</m:t>
                            </m:r>
                          </m:sup>
                        </m:sSubSup>
                      </m:den>
                    </m:f>
                  </m:oMath>
                </a14:m>
                <a:r>
                  <a:rPr lang="en-US" sz="2400" dirty="0">
                    <a:ea typeface="Cambria Math" panose="020405030504060302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=0.98</m:t>
                    </m:r>
                  </m:oMath>
                </a14:m>
                <a:r>
                  <a:rPr lang="en-US" sz="2400" dirty="0">
                    <a:ea typeface="Cambria Math" panose="020405030504060302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marL="0" indent="0" algn="ctr">
                  <a:buNone/>
                </a:pPr>
                <a:endParaRPr lang="en-US" sz="2400" dirty="0"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 algn="ctr">
                  <a:buNone/>
                </a:pPr>
                <a:endParaRPr lang="en-US" sz="2400" dirty="0"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 algn="ctr">
                  <a:buNone/>
                </a:pPr>
                <a:endParaRPr lang="en-US" sz="2400" i="1" dirty="0"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 algn="ctr">
                  <a:buNone/>
                </a:pPr>
                <a:endParaRPr lang="en-US" sz="2400" i="1" dirty="0"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US" sz="2400" b="1" dirty="0"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557213" indent="-557213">
                  <a:buFont typeface="+mj-lt"/>
                  <a:buAutoNum type="arabicPeriod"/>
                </a:pPr>
                <a:endParaRPr lang="ru-RU" sz="3000" b="1" dirty="0"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US" sz="7200" dirty="0"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ru-RU" sz="8400" b="1" dirty="0"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EF78415B-D12D-4F8C-914E-8BBE2AECF8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52649" y="2246941"/>
                <a:ext cx="7886700" cy="3528939"/>
              </a:xfrm>
              <a:prstGeom prst="rect">
                <a:avLst/>
              </a:prstGeom>
              <a:blipFill>
                <a:blip r:embed="rId2"/>
                <a:stretch>
                  <a:fillRect t="-346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0359996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222CDAB-487D-4561-A49F-182E5F086669}"/>
              </a:ext>
            </a:extLst>
          </p:cNvPr>
          <p:cNvSpPr txBox="1"/>
          <p:nvPr/>
        </p:nvSpPr>
        <p:spPr>
          <a:xfrm>
            <a:off x="1996555" y="1082121"/>
            <a:ext cx="819889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ГРАДИЕНТНЫЕ МЕТОДЫ В ИСКУССТВЕННЫХ НЕЙРОННЫХ СЕТЯХ</a:t>
            </a:r>
            <a:endParaRPr lang="ru-RU" sz="2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EF78415B-D12D-4F8C-914E-8BBE2AECF8DB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152649" y="2246941"/>
                <a:ext cx="7886700" cy="3528939"/>
              </a:xfrm>
              <a:prstGeom prst="rect">
                <a:avLst/>
              </a:prstGeom>
            </p:spPr>
            <p:txBody>
              <a:bodyPr>
                <a:normAutofit lnSpcReduction="10000"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buNone/>
                </a:pPr>
                <a:r>
                  <a:rPr lang="en-US" sz="2400" b="1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AdaMax. (Modification Adam)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  <m: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+1</m:t>
                        </m:r>
                      </m:sub>
                    </m:sSub>
                    <m:r>
                      <a:rPr lang="en-US" sz="21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sSub>
                      <m:sSubPr>
                        <m:ctrlP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</m:sub>
                    </m:sSub>
                    <m:r>
                      <a:rPr lang="en-US" sz="21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−</m:t>
                    </m:r>
                  </m:oMath>
                </a14:m>
                <a:r>
                  <a:rPr lang="en-US" sz="2100" dirty="0"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𝜂</m:t>
                        </m:r>
                      </m:num>
                      <m:den>
                        <m:sSub>
                          <m:sSubPr>
                            <m:ctrlPr>
                              <a:rPr lang="en-US" sz="21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21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sz="21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𝑡</m:t>
                            </m:r>
                          </m:sub>
                        </m:sSub>
                      </m:den>
                    </m:f>
                    <m:sSub>
                      <m:sSubPr>
                        <m:ctrlP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21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accPr>
                          <m:e>
                            <m:r>
                              <a:rPr lang="en-US" sz="21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𝑚</m:t>
                            </m:r>
                          </m:e>
                        </m:acc>
                      </m:e>
                      <m:sub>
                        <m: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sz="2100" i="1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𝑚</m:t>
                        </m:r>
                      </m:e>
                      <m:sub>
                        <m: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</m:sub>
                    </m:sSub>
                    <m:r>
                      <a:rPr lang="en-US" sz="21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sSub>
                      <m:sSubPr>
                        <m:ctrlP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𝑚</m:t>
                        </m:r>
                      </m:e>
                      <m:sub>
                        <m: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  <m: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−1</m:t>
                        </m:r>
                      </m:sub>
                    </m:sSub>
                    <m:r>
                      <a:rPr lang="en-US" sz="21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+(1−</m:t>
                    </m:r>
                    <m:sSub>
                      <m:sSubPr>
                        <m:ctrlP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100" i="1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)</a:t>
                </a:r>
                <a:r>
                  <a:rPr lang="en-US" sz="2100" dirty="0"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𝑔</m:t>
                        </m:r>
                      </m:e>
                      <m:sub>
                        <m: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</m:sub>
                    </m:sSub>
                    <m:r>
                      <a:rPr lang="en-US" sz="21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.</m:t>
                    </m:r>
                  </m:oMath>
                </a14:m>
                <a:endParaRPr lang="en-US" sz="2100" dirty="0"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𝑣</m:t>
                        </m:r>
                      </m:e>
                      <m:sub>
                        <m: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</m:sub>
                    </m:sSub>
                    <m:r>
                      <a:rPr lang="en-US" sz="21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sSub>
                      <m:sSubPr>
                        <m:ctrlP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𝑣</m:t>
                        </m:r>
                      </m:e>
                      <m:sub>
                        <m: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  <m: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−1</m:t>
                        </m:r>
                      </m:sub>
                    </m:sSub>
                    <m:r>
                      <a:rPr lang="en-US" sz="21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+(1−</m:t>
                    </m:r>
                    <m:sSub>
                      <m:sSubPr>
                        <m:ctrlP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100" i="1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)</a:t>
                </a:r>
                <a:r>
                  <a:rPr lang="en-US" sz="2100" dirty="0"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𝑔</m:t>
                        </m:r>
                      </m:e>
                      <m:sub>
                        <m: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</m:sub>
                      <m:sup>
                        <m: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bSup>
                    <m:r>
                      <a:rPr lang="en-US" sz="21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.</m:t>
                    </m:r>
                  </m:oMath>
                </a14:m>
                <a:endParaRPr lang="en-US" sz="2100" dirty="0"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sz="21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21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US" sz="21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𝑡</m:t>
                            </m:r>
                          </m:sub>
                        </m:sSub>
                      </m:e>
                    </m:acc>
                    <m:r>
                      <a:rPr lang="en-US" sz="21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21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21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US" sz="21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𝑡</m:t>
                            </m:r>
                          </m:sub>
                        </m:sSub>
                      </m:num>
                      <m:den>
                        <m: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1−</m:t>
                        </m:r>
                        <m:sSubSup>
                          <m:sSubSupPr>
                            <m:ctrlPr>
                              <a:rPr lang="en-US" sz="21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SupPr>
                          <m:e>
                            <m:r>
                              <a:rPr lang="en-US" sz="21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US" sz="21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US" sz="21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𝑡</m:t>
                            </m:r>
                          </m:sup>
                        </m:sSubSup>
                      </m:den>
                    </m:f>
                  </m:oMath>
                </a14:m>
                <a:r>
                  <a:rPr lang="en-US" sz="2100" dirty="0">
                    <a:ea typeface="Cambria Math" panose="020405030504060302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sz="21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21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sz="21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𝑡</m:t>
                            </m:r>
                          </m:sub>
                        </m:sSub>
                      </m:e>
                    </m:acc>
                    <m:r>
                      <a:rPr lang="en-US" sz="21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21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21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sz="21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𝑡</m:t>
                            </m:r>
                          </m:sub>
                        </m:sSub>
                      </m:num>
                      <m:den>
                        <m: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1−</m:t>
                        </m:r>
                        <m:sSubSup>
                          <m:sSubSupPr>
                            <m:ctrlPr>
                              <a:rPr lang="en-US" sz="21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SupPr>
                          <m:e>
                            <m:r>
                              <a:rPr lang="en-US" sz="21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US" sz="21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b>
                          <m:sup>
                            <m:r>
                              <a:rPr lang="en-US" sz="21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𝑡</m:t>
                            </m:r>
                          </m:sup>
                        </m:sSubSup>
                      </m:den>
                    </m:f>
                  </m:oMath>
                </a14:m>
                <a:r>
                  <a:rPr lang="en-US" sz="2100" dirty="0">
                    <a:ea typeface="Cambria Math" panose="02040503050406030204" pitchFamily="18" charset="0"/>
                    <a:cs typeface="Times New Roman" panose="02020603050405020304" pitchFamily="18" charset="0"/>
                  </a:rPr>
                  <a:t>. 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𝑢</m:t>
                        </m:r>
                      </m:e>
                      <m:sub>
                        <m: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</m:sub>
                    </m:sSub>
                    <m:r>
                      <a:rPr lang="en-US" sz="21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sz="21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𝑚𝑎𝑥</m:t>
                    </m:r>
                  </m:oMath>
                </a14:m>
                <a:r>
                  <a:rPr lang="en-US" sz="2100" dirty="0">
                    <a:ea typeface="Cambria Math" panose="02040503050406030204" pitchFamily="18" charset="0"/>
                    <a:cs typeface="Times New Roman" panose="02020603050405020304" pitchFamily="18" charset="0"/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𝑣</m:t>
                        </m:r>
                      </m:e>
                      <m:sub>
                        <m: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  <m: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−1</m:t>
                        </m:r>
                      </m:sub>
                    </m:sSub>
                  </m:oMath>
                </a14:m>
                <a:r>
                  <a:rPr lang="en-US" sz="2100" dirty="0">
                    <a:ea typeface="Cambria Math" panose="02040503050406030204" pitchFamily="18" charset="0"/>
                    <a:cs typeface="Times New Roman" panose="02020603050405020304" pitchFamily="18" charset="0"/>
                  </a:rPr>
                  <a:t>,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sz="21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1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21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𝑔</m:t>
                            </m:r>
                          </m:e>
                          <m:sub>
                            <m:r>
                              <a:rPr lang="en-US" sz="21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𝑡</m:t>
                            </m:r>
                          </m:sub>
                        </m:sSub>
                      </m:e>
                    </m:d>
                    <m:r>
                      <a:rPr lang="en-US" sz="2100" i="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endParaRPr lang="en-US" sz="2100" dirty="0"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a:rPr lang="en-US" sz="21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𝜂</m:t>
                    </m:r>
                    <m:r>
                      <a:rPr lang="en-US" sz="21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=0.002;</m:t>
                    </m:r>
                    <m:sSub>
                      <m:sSubPr>
                        <m:ctrlP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r>
                      <a:rPr lang="en-US" sz="21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=0.9; </m:t>
                    </m:r>
                    <m:sSub>
                      <m:sSubPr>
                        <m:ctrlP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  <m:r>
                      <a:rPr lang="en-US" sz="21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=0.9</m:t>
                    </m:r>
                  </m:oMath>
                </a14:m>
                <a:r>
                  <a:rPr lang="en-US" sz="2100" dirty="0">
                    <a:ea typeface="Cambria Math" panose="02040503050406030204" pitchFamily="18" charset="0"/>
                    <a:cs typeface="Times New Roman" panose="02020603050405020304" pitchFamily="18" charset="0"/>
                  </a:rPr>
                  <a:t>99.</a:t>
                </a:r>
              </a:p>
              <a:p>
                <a:pPr marL="0" indent="0" algn="ctr">
                  <a:buNone/>
                </a:pPr>
                <a:endParaRPr lang="en-US" sz="2400" dirty="0"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 algn="ctr">
                  <a:buNone/>
                </a:pPr>
                <a:endParaRPr lang="en-US" sz="2400" dirty="0"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 algn="ctr">
                  <a:buNone/>
                </a:pPr>
                <a:endParaRPr lang="en-US" sz="2400" i="1" dirty="0"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 algn="ctr">
                  <a:buNone/>
                </a:pPr>
                <a:endParaRPr lang="en-US" sz="2400" i="1" dirty="0"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US" sz="2400" b="1" dirty="0"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557213" indent="-557213">
                  <a:buFont typeface="+mj-lt"/>
                  <a:buAutoNum type="arabicPeriod"/>
                </a:pPr>
                <a:endParaRPr lang="ru-RU" sz="3000" b="1" dirty="0"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US" sz="7200" dirty="0"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ru-RU" sz="8400" b="1" dirty="0"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EF78415B-D12D-4F8C-914E-8BBE2AECF8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52649" y="2246941"/>
                <a:ext cx="7886700" cy="3528939"/>
              </a:xfrm>
              <a:prstGeom prst="rect">
                <a:avLst/>
              </a:prstGeom>
              <a:blipFill>
                <a:blip r:embed="rId2"/>
                <a:stretch>
                  <a:fillRect t="-3460" b="-121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5816292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222CDAB-487D-4561-A49F-182E5F086669}"/>
              </a:ext>
            </a:extLst>
          </p:cNvPr>
          <p:cNvSpPr txBox="1"/>
          <p:nvPr/>
        </p:nvSpPr>
        <p:spPr>
          <a:xfrm>
            <a:off x="1996555" y="1082121"/>
            <a:ext cx="819889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ГРАДИЕНТНЫЕ МЕТОДЫ В ИСКУССТВЕННЫХ НЕЙРОННЫХ СЕТЯХ</a:t>
            </a:r>
            <a:endParaRPr lang="ru-RU" sz="2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EF78415B-D12D-4F8C-914E-8BBE2AECF8DB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152649" y="1982369"/>
                <a:ext cx="7886700" cy="3793511"/>
              </a:xfrm>
              <a:prstGeom prst="rect">
                <a:avLst/>
              </a:prstGeom>
            </p:spPr>
            <p:txBody>
              <a:bodyPr>
                <a:normAutofit lnSpcReduction="10000"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buNone/>
                </a:pPr>
                <a:r>
                  <a:rPr lang="en-US" sz="2625" b="1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Nadam. (</a:t>
                </a:r>
                <a:r>
                  <a:rPr lang="en-US" sz="2625" b="1" dirty="0" err="1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Nesterov</a:t>
                </a:r>
                <a:r>
                  <a:rPr lang="en-US" sz="2625" b="1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modification Adam)</a:t>
                </a:r>
              </a:p>
              <a:p>
                <a:pPr marL="0" indent="0" algn="ctr">
                  <a:buNone/>
                </a:pPr>
                <a:r>
                  <a:rPr lang="ru-RU" sz="2100" b="1" i="1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Является комбинацией </a:t>
                </a:r>
                <a:r>
                  <a:rPr lang="en-US" sz="2100" b="1" i="1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NAG </a:t>
                </a:r>
                <a:r>
                  <a:rPr lang="ru-RU" sz="2100" b="1" i="1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и </a:t>
                </a:r>
                <a:r>
                  <a:rPr lang="en-US" sz="2100" b="1" i="1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Adam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  <m: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+1</m:t>
                        </m:r>
                      </m:sub>
                    </m:sSub>
                    <m:r>
                      <a:rPr lang="en-US" sz="21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sSub>
                      <m:sSubPr>
                        <m:ctrlP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</m:sub>
                    </m:sSub>
                    <m:r>
                      <a:rPr lang="en-US" sz="21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−</m:t>
                    </m:r>
                  </m:oMath>
                </a14:m>
                <a:r>
                  <a:rPr lang="en-US" sz="2100" dirty="0"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𝜂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sz="21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radPr>
                          <m:deg/>
                          <m:e>
                            <m:sSub>
                              <m:sSubPr>
                                <m:ctrlPr>
                                  <a:rPr lang="en-US" sz="21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acc>
                                  <m:accPr>
                                    <m:chr m:val="̂"/>
                                    <m:ctrlPr>
                                      <a:rPr lang="en-US" sz="21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sz="21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𝑣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en-US" sz="21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𝑡</m:t>
                                </m:r>
                              </m:sub>
                            </m:sSub>
                            <m:r>
                              <a:rPr lang="en-US" sz="21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+</m:t>
                            </m:r>
                            <m:r>
                              <a:rPr lang="en-US" sz="21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𝜀</m:t>
                            </m:r>
                          </m:e>
                        </m:rad>
                      </m:den>
                    </m:f>
                    <m:r>
                      <a:rPr lang="en-US" sz="21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 (</m:t>
                    </m:r>
                    <m:sSub>
                      <m:sSubPr>
                        <m:ctrlP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acc>
                      <m:accPr>
                        <m:chr m:val="̂"/>
                        <m:ctrlP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sz="21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21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US" sz="21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𝑡</m:t>
                            </m:r>
                          </m:sub>
                        </m:sSub>
                      </m:e>
                    </m:acc>
                    <m:r>
                      <a:rPr lang="en-US" sz="21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+</m:t>
                    </m:r>
                  </m:oMath>
                </a14:m>
                <a:r>
                  <a:rPr lang="en-US" sz="2100" dirty="0"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(1−</m:t>
                        </m:r>
                        <m:sSub>
                          <m:sSubPr>
                            <m:ctrlPr>
                              <a:rPr lang="en-US" sz="21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21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US" sz="21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nor/>
                          </m:rPr>
                          <a:rPr lang="en-US" sz="2100" i="1" dirty="0">
                            <a:latin typeface="Times New Roman" panose="020206030504050203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)</m:t>
                        </m:r>
                        <m:r>
                          <m:rPr>
                            <m:nor/>
                          </m:rPr>
                          <a:rPr lang="en-US" sz="2100" dirty="0"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  <m:sSub>
                          <m:sSubPr>
                            <m:ctrlPr>
                              <a:rPr lang="en-US" sz="21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21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𝑔</m:t>
                            </m:r>
                          </m:e>
                          <m:sub>
                            <m:r>
                              <a:rPr lang="en-US" sz="21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𝑡</m:t>
                            </m:r>
                          </m:sub>
                        </m:sSub>
                      </m:num>
                      <m:den>
                        <m: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1−</m:t>
                        </m:r>
                        <m:sSubSup>
                          <m:sSubSupPr>
                            <m:ctrlPr>
                              <a:rPr lang="en-US" sz="21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SupPr>
                          <m:e>
                            <m:r>
                              <a:rPr lang="en-US" sz="21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US" sz="21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US" sz="21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𝑡</m:t>
                            </m:r>
                          </m:sup>
                        </m:sSubSup>
                      </m:den>
                    </m:f>
                    <m:r>
                      <a:rPr lang="en-US" sz="21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US" sz="2100" i="1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𝑚</m:t>
                        </m:r>
                      </m:e>
                      <m:sub>
                        <m: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</m:sub>
                    </m:sSub>
                    <m:r>
                      <a:rPr lang="en-US" sz="21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sSub>
                      <m:sSubPr>
                        <m:ctrlP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𝑚</m:t>
                        </m:r>
                      </m:e>
                      <m:sub>
                        <m: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  <m: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−1</m:t>
                        </m:r>
                      </m:sub>
                    </m:sSub>
                    <m:r>
                      <a:rPr lang="en-US" sz="21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+(1−</m:t>
                    </m:r>
                    <m:sSub>
                      <m:sSubPr>
                        <m:ctrlP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100" i="1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)</a:t>
                </a:r>
                <a:r>
                  <a:rPr lang="en-US" sz="2100" dirty="0"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𝑔</m:t>
                        </m:r>
                      </m:e>
                      <m:sub>
                        <m: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</m:sub>
                    </m:sSub>
                    <m:r>
                      <a:rPr lang="en-US" sz="21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.</m:t>
                    </m:r>
                  </m:oMath>
                </a14:m>
                <a:endParaRPr lang="en-US" sz="2100" dirty="0"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𝑣</m:t>
                        </m:r>
                      </m:e>
                      <m:sub>
                        <m: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</m:sub>
                    </m:sSub>
                    <m:r>
                      <a:rPr lang="en-US" sz="21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sSub>
                      <m:sSubPr>
                        <m:ctrlP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𝑣</m:t>
                        </m:r>
                      </m:e>
                      <m:sub>
                        <m: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  <m: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−1</m:t>
                        </m:r>
                      </m:sub>
                    </m:sSub>
                    <m:r>
                      <a:rPr lang="en-US" sz="21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+(1−</m:t>
                    </m:r>
                    <m:sSub>
                      <m:sSubPr>
                        <m:ctrlP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100" i="1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)</a:t>
                </a:r>
                <a:r>
                  <a:rPr lang="en-US" sz="2100" dirty="0"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𝑔</m:t>
                        </m:r>
                      </m:e>
                      <m:sub>
                        <m: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</m:sub>
                      <m:sup>
                        <m: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bSup>
                    <m:r>
                      <a:rPr lang="en-US" sz="21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.</m:t>
                    </m:r>
                  </m:oMath>
                </a14:m>
                <a:endParaRPr lang="en-US" sz="2100" dirty="0"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sz="21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21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US" sz="21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𝑡</m:t>
                            </m:r>
                          </m:sub>
                        </m:sSub>
                      </m:e>
                    </m:acc>
                    <m:r>
                      <a:rPr lang="en-US" sz="21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21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21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US" sz="21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𝑡</m:t>
                            </m:r>
                          </m:sub>
                        </m:sSub>
                      </m:num>
                      <m:den>
                        <m: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1−</m:t>
                        </m:r>
                        <m:sSubSup>
                          <m:sSubSupPr>
                            <m:ctrlPr>
                              <a:rPr lang="en-US" sz="21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SupPr>
                          <m:e>
                            <m:r>
                              <a:rPr lang="en-US" sz="21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US" sz="21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US" sz="21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𝑡</m:t>
                            </m:r>
                          </m:sup>
                        </m:sSubSup>
                      </m:den>
                    </m:f>
                  </m:oMath>
                </a14:m>
                <a:r>
                  <a:rPr lang="en-US" sz="2100" dirty="0">
                    <a:ea typeface="Cambria Math" panose="020405030504060302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sz="21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21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sz="21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𝑡</m:t>
                            </m:r>
                          </m:sub>
                        </m:sSub>
                      </m:e>
                    </m:acc>
                    <m:r>
                      <a:rPr lang="en-US" sz="21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21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21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sz="21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𝑡</m:t>
                            </m:r>
                          </m:sub>
                        </m:sSub>
                      </m:num>
                      <m:den>
                        <m: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1−</m:t>
                        </m:r>
                        <m:sSubSup>
                          <m:sSubSupPr>
                            <m:ctrlPr>
                              <a:rPr lang="en-US" sz="21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SupPr>
                          <m:e>
                            <m:r>
                              <a:rPr lang="en-US" sz="21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US" sz="21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b>
                          <m:sup>
                            <m:r>
                              <a:rPr lang="en-US" sz="21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𝑡</m:t>
                            </m:r>
                          </m:sup>
                        </m:sSubSup>
                      </m:den>
                    </m:f>
                  </m:oMath>
                </a14:m>
                <a:r>
                  <a:rPr lang="en-US" sz="2100" dirty="0">
                    <a:ea typeface="Cambria Math" panose="02040503050406030204" pitchFamily="18" charset="0"/>
                    <a:cs typeface="Times New Roman" panose="02020603050405020304" pitchFamily="18" charset="0"/>
                  </a:rPr>
                  <a:t>. 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a:rPr lang="en-US" sz="21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𝜂</m:t>
                    </m:r>
                    <m:r>
                      <a:rPr lang="en-US" sz="21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=0.002;</m:t>
                    </m:r>
                    <m:sSub>
                      <m:sSubPr>
                        <m:ctrlP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r>
                      <a:rPr lang="en-US" sz="21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=0.9; </m:t>
                    </m:r>
                    <m:sSub>
                      <m:sSubPr>
                        <m:ctrlP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  <m:r>
                      <a:rPr lang="en-US" sz="21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=0.9</m:t>
                    </m:r>
                  </m:oMath>
                </a14:m>
                <a:r>
                  <a:rPr lang="en-US" sz="2100" dirty="0">
                    <a:ea typeface="Cambria Math" panose="02040503050406030204" pitchFamily="18" charset="0"/>
                    <a:cs typeface="Times New Roman" panose="02020603050405020304" pitchFamily="18" charset="0"/>
                  </a:rPr>
                  <a:t>99.</a:t>
                </a:r>
              </a:p>
              <a:p>
                <a:pPr marL="0" indent="0" algn="ctr">
                  <a:buNone/>
                </a:pPr>
                <a:endParaRPr lang="en-US" sz="2400" dirty="0"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 algn="ctr">
                  <a:buNone/>
                </a:pPr>
                <a:endParaRPr lang="en-US" sz="2400" dirty="0"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 algn="ctr">
                  <a:buNone/>
                </a:pPr>
                <a:endParaRPr lang="en-US" sz="2400" i="1" dirty="0"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 algn="ctr">
                  <a:buNone/>
                </a:pPr>
                <a:endParaRPr lang="en-US" sz="2400" i="1" dirty="0"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US" sz="2400" b="1" dirty="0"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557213" indent="-557213">
                  <a:buFont typeface="+mj-lt"/>
                  <a:buAutoNum type="arabicPeriod"/>
                </a:pPr>
                <a:endParaRPr lang="ru-RU" sz="3000" b="1" dirty="0"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US" sz="7200" dirty="0"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ru-RU" sz="8400" b="1" dirty="0"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EF78415B-D12D-4F8C-914E-8BBE2AECF8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52649" y="1982369"/>
                <a:ext cx="7886700" cy="3793511"/>
              </a:xfrm>
              <a:prstGeom prst="rect">
                <a:avLst/>
              </a:prstGeom>
              <a:blipFill>
                <a:blip r:embed="rId2"/>
                <a:stretch>
                  <a:fillRect t="-353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63393543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218</TotalTime>
  <Words>2869</Words>
  <Application>Microsoft Office PowerPoint</Application>
  <PresentationFormat>Широкоэкранный</PresentationFormat>
  <Paragraphs>309</Paragraphs>
  <Slides>42</Slides>
  <Notes>1</Notes>
  <HiddenSlides>0</HiddenSlides>
  <MMClips>0</MMClips>
  <ScaleCrop>false</ScaleCrop>
  <HeadingPairs>
    <vt:vector size="8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Внедренные серверы OLE</vt:lpstr>
      </vt:variant>
      <vt:variant>
        <vt:i4>1</vt:i4>
      </vt:variant>
      <vt:variant>
        <vt:lpstr>Заголовки слайдов</vt:lpstr>
      </vt:variant>
      <vt:variant>
        <vt:i4>42</vt:i4>
      </vt:variant>
    </vt:vector>
  </HeadingPairs>
  <TitlesOfParts>
    <vt:vector size="49" baseType="lpstr">
      <vt:lpstr>Arial</vt:lpstr>
      <vt:lpstr>Calibri</vt:lpstr>
      <vt:lpstr>Calibri Light</vt:lpstr>
      <vt:lpstr>Cambria Math</vt:lpstr>
      <vt:lpstr>Times New Roman</vt:lpstr>
      <vt:lpstr>Тема Office</vt:lpstr>
      <vt:lpstr>Формула</vt:lpstr>
      <vt:lpstr>ТЕОРИЯ ИСКУССТВЕННЫХ НЕЙРОННЫХ СЕТЕЙ Каганов Ю.Т. к.т.н., доцент каф. ИУ-9 «Теоретическая информатика и компьютерные технологии» </vt:lpstr>
      <vt:lpstr>Постановка задачи многомерной оптимизации</vt:lpstr>
      <vt:lpstr>Классификация типов задач многомерной оптимизации</vt:lpstr>
      <vt:lpstr>Классификация типов задач многомерной оптимизации</vt:lpstr>
      <vt:lpstr>Один экстремум</vt:lpstr>
      <vt:lpstr>Много экстремумов</vt:lpstr>
      <vt:lpstr>Многокритериальная оптимизация</vt:lpstr>
      <vt:lpstr>Метод покоординатного спуска (метод 0-го порядка)</vt:lpstr>
      <vt:lpstr>Эффективность численных методов оптимизации</vt:lpstr>
      <vt:lpstr>Теорема о «бесплатных завтраках»</vt:lpstr>
      <vt:lpstr>Эффективность численных методов оптимизации</vt:lpstr>
      <vt:lpstr>Эффективность численных методов оптимизации</vt:lpstr>
      <vt:lpstr>Эффективность численных методов оптимизации</vt:lpstr>
      <vt:lpstr>Эффективность численных методов оптимизации</vt:lpstr>
      <vt:lpstr>Эффективность численных методов оптимизации</vt:lpstr>
      <vt:lpstr>Эффективность численных методов оптимизации</vt:lpstr>
      <vt:lpstr> Метод покоординатного спуска (метод 0-го порядка)</vt:lpstr>
      <vt:lpstr>Алгоритм:</vt:lpstr>
      <vt:lpstr>Обусловленность задачи </vt:lpstr>
      <vt:lpstr>Метод наискорейшего спуска (метод 1-го порядка).  </vt:lpstr>
      <vt:lpstr>Метод наискорейшего спуска (метод 1-го порядка).</vt:lpstr>
      <vt:lpstr>Метод Ньютона (метод второго порядка)</vt:lpstr>
      <vt:lpstr>Метод Ньютона (метод второго порядка)</vt:lpstr>
      <vt:lpstr>Метод Ньютона (метод второго порядка).</vt:lpstr>
      <vt:lpstr>ГРАДИЕНТНЫЕ МЕТОДЫ В МАШИННОМ ОБУЧЕНИИ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Yuriy Kaganov</dc:creator>
  <cp:lastModifiedBy>Yuriy Kaganov</cp:lastModifiedBy>
  <cp:revision>15</cp:revision>
  <dcterms:created xsi:type="dcterms:W3CDTF">2022-09-17T09:37:33Z</dcterms:created>
  <dcterms:modified xsi:type="dcterms:W3CDTF">2024-09-25T19:57:18Z</dcterms:modified>
</cp:coreProperties>
</file>