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59" r:id="rId2"/>
    <p:sldId id="257" r:id="rId3"/>
    <p:sldId id="360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07" r:id="rId13"/>
    <p:sldId id="309" r:id="rId14"/>
    <p:sldId id="310" r:id="rId15"/>
    <p:sldId id="272" r:id="rId16"/>
    <p:sldId id="273" r:id="rId17"/>
    <p:sldId id="36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64" r:id="rId27"/>
    <p:sldId id="265" r:id="rId28"/>
    <p:sldId id="305" r:id="rId29"/>
    <p:sldId id="308" r:id="rId30"/>
    <p:sldId id="306" r:id="rId31"/>
    <p:sldId id="354" r:id="rId32"/>
    <p:sldId id="355" r:id="rId33"/>
    <p:sldId id="315" r:id="rId34"/>
    <p:sldId id="356" r:id="rId35"/>
    <p:sldId id="357" r:id="rId36"/>
    <p:sldId id="358" r:id="rId37"/>
    <p:sldId id="320" r:id="rId38"/>
    <p:sldId id="318" r:id="rId39"/>
    <p:sldId id="321" r:id="rId40"/>
    <p:sldId id="322" r:id="rId41"/>
    <p:sldId id="324" r:id="rId42"/>
    <p:sldId id="323" r:id="rId43"/>
    <p:sldId id="325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79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7C966-0835-4D16-A50C-9F38D91E890B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8BF29-C526-4B5B-BA94-5B625E3D68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38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8A4ECF-E9BE-490F-9F87-BFC63A03AC70}" type="slidenum">
              <a:rPr lang="ru-RU" altLang="ru-RU" smtClean="0"/>
              <a:pPr/>
              <a:t>28</a:t>
            </a:fld>
            <a:endParaRPr lang="ru-RU" altLang="ru-RU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Text Box 3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t>Здравствуйте, уважаемые члены государственной аттестационной комиссии. Тема моей магистерской диссертации ()</a:t>
            </a:r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C8545881-05A8-44F9-8A0E-0C9B85D5369E}" type="slidenum"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SzPct val="100000"/>
              </a:pPr>
              <a:t>28</a:t>
            </a:fld>
            <a:endParaRPr lang="ru-RU" altLang="ru-RU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291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42DF8-AA84-4120-AB25-5F2648FE5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081FD-37DF-4289-A764-ADEC3205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047626-3E70-4485-86F6-55F2262D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D84EED-B627-492C-8D13-1D490E01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29CE1-DBFD-4E22-B719-B6D51994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3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09660-5726-4204-BED8-A1E9F6DF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11D7AA-235F-4B2F-964D-7CC10809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595A23-1146-495C-BE3B-942C676E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695294-6C76-4C19-BFD5-F082BCC5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CA3451-97D5-4F50-AB12-48C4E4FF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1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32AAB-6ED0-4F57-8F6A-2ED083BD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64554F-1644-43B1-836F-99B87CE68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5C925C-B12A-46CE-ACEA-BBCF0B99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9952B-6677-4E99-A91D-9440C15D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BF5188-1502-43B7-A1F9-F2558907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14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5BD98-126E-4D56-948F-29F915B5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5CF457-37BC-4F70-86B3-C6ECD0614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FFBB2C-218D-4E8F-AF2B-47C510D03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9BCFEC-950F-413B-8DD3-18CACFBC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CA1E4D-84E1-45DA-B006-E34EE8D7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5F164F-A078-4CAA-9110-6523E362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03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5A38-E7B0-4949-BAD6-320F3DFD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4F734E-422D-47E6-B0EC-29D609E09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B7FD7C-5949-4C93-BEFA-06AB8E5B3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905E93-C02C-41CC-A0B5-FCB8A8652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0283BE-F4A0-4F93-83C1-66F77F0B5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20D3F0-CBCB-4E84-9B68-C1C37065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2150BF-ED4C-4B86-BB8F-104873DE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7660CA-0418-4DB1-8869-CFEC6493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92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E77F0-628C-4602-8AF3-7BD2539C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58F4DA-82F1-4611-8FE9-8A5EBE71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682D9-F9F6-4792-A6D2-9B6723ED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AC2CA4-9264-468C-AB2C-51EDF886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09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CA2535-A979-45D7-903A-54BFB60D4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B2865E-A142-439C-BF88-2A58270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9EAFE-1EA4-42B4-AEE1-7311B733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88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EEA7-DCEE-42A1-846E-08E8753B3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423595-2BBE-4643-8FAF-0C8538B3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1332E0-8374-4A7B-B593-67B1D50DC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32668-6F98-4F8C-AECD-23F69407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A975DC-8D80-4387-9459-A6118A43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D5744F-375E-4F21-84F7-5F04686F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3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7AE13-17E8-48F0-86B8-053C525D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C3D994-B784-4FE8-86A2-F7AF5C57F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8CC998-5459-40E1-8E9B-31B572287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8B9B26-7501-491C-90E6-33449239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3B3DA-D97A-4992-BB67-4DBCDCAD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3A17B6-DB38-43A8-A70C-C879CE1C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58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FE9A7-B71E-421E-8E5B-BF26B1CB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FC261A-5A6E-4A59-9D47-11AACF05D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96BF4-DDD4-43EB-A0C4-82DD12FB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4057B-B145-498C-BE22-ABB178C1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49325-00FE-4369-933E-B64F818E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45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B6C5D3-FA14-4D1C-8B75-0880059BA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BDEFA4-E240-4E10-A27B-C3D498A75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803179-AF7F-4A15-931E-7C342EB7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B43E2-75EC-4A4F-A80D-750137A3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D29654-4268-4E5C-89D1-E96E107C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28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197600" y="3938591"/>
            <a:ext cx="53848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350477-8AED-46E3-B52D-927B4FD37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91F6CB-E7EF-4FD6-88FB-7CCFB2AD4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A0C32C-3910-4C1C-87A4-5E6190096C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AB2ED-AC81-4393-ABE4-C78ADC96987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21373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310CE31-C5C2-4905-8D68-E58DE77935D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1099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37023-CA40-4175-BAAF-1CC9DEE5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AB59D5-6629-4625-BEE7-0BBDEF651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1CFD2-3A90-43EA-B146-598B9E8B1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EB753-BBEB-4C3C-9673-2186C8B64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888EB-C156-4101-87D6-52D5A8E3B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F4CD5-54AC-46BE-B3A1-48DCD3073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51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3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4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11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31.bin"/><Relationship Id="rId4" Type="http://schemas.openxmlformats.org/officeDocument/2006/relationships/image" Target="../media/image29.wmf"/><Relationship Id="rId9" Type="http://schemas.openxmlformats.org/officeDocument/2006/relationships/image" Target="../media/image36.jpeg"/><Relationship Id="rId14" Type="http://schemas.openxmlformats.org/officeDocument/2006/relationships/oleObject" Target="../embeddings/oleObject3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5.wmf"/><Relationship Id="rId11" Type="http://schemas.openxmlformats.org/officeDocument/2006/relationships/image" Target="../media/image47.wmf"/><Relationship Id="rId5" Type="http://schemas.openxmlformats.org/officeDocument/2006/relationships/oleObject" Target="../embeddings/oleObject43.bin"/><Relationship Id="rId10" Type="http://schemas.openxmlformats.org/officeDocument/2006/relationships/oleObject" Target="../embeddings/oleObject45.bin"/><Relationship Id="rId4" Type="http://schemas.openxmlformats.org/officeDocument/2006/relationships/image" Target="../media/image44.wmf"/><Relationship Id="rId9" Type="http://schemas.openxmlformats.org/officeDocument/2006/relationships/image" Target="../media/image4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3.jpeg"/><Relationship Id="rId4" Type="http://schemas.openxmlformats.org/officeDocument/2006/relationships/image" Target="../media/image5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6.jpeg"/><Relationship Id="rId4" Type="http://schemas.openxmlformats.org/officeDocument/2006/relationships/image" Target="../media/image61.wmf"/><Relationship Id="rId9" Type="http://schemas.openxmlformats.org/officeDocument/2006/relationships/image" Target="../media/image63.wmf"/><Relationship Id="rId14" Type="http://schemas.openxmlformats.org/officeDocument/2006/relationships/image" Target="../media/image65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63.bin"/><Relationship Id="rId21" Type="http://schemas.openxmlformats.org/officeDocument/2006/relationships/oleObject" Target="../embeddings/oleObject72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67.bin"/><Relationship Id="rId24" Type="http://schemas.openxmlformats.org/officeDocument/2006/relationships/image" Target="../media/image79.wmf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23" Type="http://schemas.openxmlformats.org/officeDocument/2006/relationships/oleObject" Target="../embeddings/oleObject73.bin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71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4.wmf"/><Relationship Id="rId22" Type="http://schemas.openxmlformats.org/officeDocument/2006/relationships/image" Target="../media/image7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87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87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xgboost.ai/" TargetMode="External"/><Relationship Id="rId5" Type="http://schemas.openxmlformats.org/officeDocument/2006/relationships/hyperlink" Target="https://pjreddie.com/darknet/" TargetMode="External"/><Relationship Id="rId4" Type="http://schemas.openxmlformats.org/officeDocument/2006/relationships/hyperlink" Target="https://pytorch.org/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389" y="333375"/>
            <a:ext cx="8785225" cy="3671888"/>
          </a:xfrm>
        </p:spPr>
        <p:txBody>
          <a:bodyPr/>
          <a:lstStyle/>
          <a:p>
            <a:pPr eaLnBrk="1" hangingPunct="1"/>
            <a:r>
              <a:rPr lang="ru-RU" sz="4000" b="1" dirty="0">
                <a:latin typeface="+mn-lt"/>
              </a:rPr>
              <a:t>ТЕОРИЯ ИСКУССТВЕННЫХ НЕЙРОННЫХ СЕТЕЙ</a:t>
            </a:r>
            <a:br>
              <a:rPr lang="ru-RU" sz="4000" b="1" dirty="0">
                <a:latin typeface="+mn-lt"/>
              </a:rPr>
            </a:br>
            <a:r>
              <a:rPr lang="ru-RU" sz="4000" b="1" dirty="0">
                <a:latin typeface="+mn-lt"/>
              </a:rPr>
              <a:t>Каганов Ю.Т.</a:t>
            </a:r>
            <a:br>
              <a:rPr lang="ru-RU" sz="4000" b="1" dirty="0">
                <a:latin typeface="+mn-lt"/>
              </a:rPr>
            </a:br>
            <a:r>
              <a:rPr lang="ru-RU" sz="3200" b="1" dirty="0">
                <a:latin typeface="+mn-lt"/>
              </a:rPr>
              <a:t>к.т.н., доцент каф. ИУ-9</a:t>
            </a:r>
            <a:br>
              <a:rPr lang="ru-RU" sz="3200" b="1" dirty="0">
                <a:latin typeface="+mn-lt"/>
              </a:rPr>
            </a:br>
            <a:r>
              <a:rPr lang="ru-RU" sz="3200" b="1" dirty="0">
                <a:latin typeface="+mn-lt"/>
              </a:rPr>
              <a:t>«Теоретическая информатика и компьютерные технологии»</a:t>
            </a:r>
            <a:br>
              <a:rPr lang="ru-RU" sz="3200" b="1" dirty="0">
                <a:latin typeface="+mn-lt"/>
              </a:rPr>
            </a:br>
            <a:endParaRPr lang="ru-RU" sz="3200" b="1" dirty="0">
              <a:latin typeface="+mn-lt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1069" y="4149726"/>
            <a:ext cx="9214339" cy="2016125"/>
          </a:xfrm>
        </p:spPr>
        <p:txBody>
          <a:bodyPr/>
          <a:lstStyle/>
          <a:p>
            <a:pPr eaLnBrk="1" hangingPunct="1"/>
            <a:r>
              <a:rPr lang="ru-RU" sz="3600" b="1" dirty="0"/>
              <a:t>ЛЕКЦИЯ № 5</a:t>
            </a:r>
          </a:p>
          <a:p>
            <a:pPr eaLnBrk="1" hangingPunct="1"/>
            <a:r>
              <a:rPr lang="ru-RU" sz="3200" b="1" dirty="0">
                <a:ea typeface="Times New Roman" panose="02020603050405020304" pitchFamily="18" charset="0"/>
              </a:rPr>
              <a:t>Математические основы ТИНС</a:t>
            </a:r>
          </a:p>
          <a:p>
            <a:pPr eaLnBrk="1" hangingPunct="1"/>
            <a:r>
              <a:rPr lang="ru-RU" sz="2800" b="1" dirty="0"/>
              <a:t>Часть 2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/>
          <a:lstStyle/>
          <a:p>
            <a:pPr algn="ctr" eaLnBrk="1" hangingPunct="1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ЛЕКЦИИ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196975"/>
            <a:ext cx="8362950" cy="49291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Методы многомерной оптимизации с ограничениями.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Классификация типов методов решения задач оптимизации.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Градиентные методы в машинном обучении.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Стохастический градиент.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Современные методы многомерной оптимизации ориентированные на использование в искусственных нейронных сетях 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1.    NAG.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2.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3.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AutoNum type="arabicPeriod" startAt="4"/>
            </a:pP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</a:p>
          <a:p>
            <a:pPr marL="514350" indent="-514350">
              <a:buAutoNum type="arabicPeriod" startAt="4"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en-US" sz="26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3C7BD72-1306-4CA3-977F-DEDDFEFAF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</a:t>
            </a:r>
            <a:endParaRPr lang="ru-RU" altLang="ru-RU" sz="2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35BBD96-AD9F-40A1-8D98-7D3FAF1B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8F16C00F-2C55-4428-BA7B-303636D3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07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76DC5DC-7CC9-40BB-AB6E-518CE600A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0D4088C6-59E6-443B-96FF-261AB2E71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60475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D1BC99F8-03AE-4552-A81C-EF30567BE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8" name="Rectangle 8">
            <a:extLst>
              <a:ext uri="{FF2B5EF4-FFF2-40B4-BE49-F238E27FC236}">
                <a16:creationId xmlns:a16="http://schemas.microsoft.com/office/drawing/2014/main" id="{9E955F76-421B-4A1B-8EA8-CDA03EF0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9" name="Rectangle 9">
            <a:extLst>
              <a:ext uri="{FF2B5EF4-FFF2-40B4-BE49-F238E27FC236}">
                <a16:creationId xmlns:a16="http://schemas.microsoft.com/office/drawing/2014/main" id="{DC9BA92F-B3AA-48CE-9BBA-82739721D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07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30" name="Rectangle 10">
            <a:extLst>
              <a:ext uri="{FF2B5EF4-FFF2-40B4-BE49-F238E27FC236}">
                <a16:creationId xmlns:a16="http://schemas.microsoft.com/office/drawing/2014/main" id="{8B6D7657-14D5-416C-A724-E4FB3832C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31" name="Rectangle 11">
            <a:extLst>
              <a:ext uri="{FF2B5EF4-FFF2-40B4-BE49-F238E27FC236}">
                <a16:creationId xmlns:a16="http://schemas.microsoft.com/office/drawing/2014/main" id="{009B57D2-EEBB-4C58-9742-2032ACD13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1506816"/>
            <a:ext cx="8507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Условия существования экстремума с учетом ограничений</a:t>
            </a:r>
          </a:p>
        </p:txBody>
      </p:sp>
      <p:sp>
        <p:nvSpPr>
          <p:cNvPr id="30732" name="Rectangle 12">
            <a:extLst>
              <a:ext uri="{FF2B5EF4-FFF2-40B4-BE49-F238E27FC236}">
                <a16:creationId xmlns:a16="http://schemas.microsoft.com/office/drawing/2014/main" id="{71CA6470-719E-4E39-9F8B-F1503B079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132291"/>
            <a:ext cx="22561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r>
              <a:rPr lang="ru-RU" altLang="ru-RU" sz="1800" b="1" u="sng" dirty="0"/>
              <a:t>:</a:t>
            </a:r>
          </a:p>
        </p:txBody>
      </p:sp>
      <p:sp>
        <p:nvSpPr>
          <p:cNvPr id="30733" name="Rectangle 13">
            <a:extLst>
              <a:ext uri="{FF2B5EF4-FFF2-40B4-BE49-F238E27FC236}">
                <a16:creationId xmlns:a16="http://schemas.microsoft.com/office/drawing/2014/main" id="{3EFFC93E-C8A8-4185-A334-3F78F0516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636838"/>
            <a:ext cx="1119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30734" name="Rectangle 14">
            <a:extLst>
              <a:ext uri="{FF2B5EF4-FFF2-40B4-BE49-F238E27FC236}">
                <a16:creationId xmlns:a16="http://schemas.microsoft.com/office/drawing/2014/main" id="{35AD76D3-0D79-43A8-BC63-09CE84029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35" name="Object 15">
            <a:extLst>
              <a:ext uri="{FF2B5EF4-FFF2-40B4-BE49-F238E27FC236}">
                <a16:creationId xmlns:a16="http://schemas.microsoft.com/office/drawing/2014/main" id="{AD985AF6-4407-418F-9691-89A649F8C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2636838"/>
          <a:ext cx="22320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30735" name="Object 15">
                        <a:extLst>
                          <a:ext uri="{FF2B5EF4-FFF2-40B4-BE49-F238E27FC236}">
                            <a16:creationId xmlns:a16="http://schemas.microsoft.com/office/drawing/2014/main" id="{AD985AF6-4407-418F-9691-89A649F8C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2636838"/>
                        <a:ext cx="22320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Rectangle 16">
            <a:extLst>
              <a:ext uri="{FF2B5EF4-FFF2-40B4-BE49-F238E27FC236}">
                <a16:creationId xmlns:a16="http://schemas.microsoft.com/office/drawing/2014/main" id="{85CD2060-2F48-439D-8236-012AF41C7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37" name="Rectangle 17">
            <a:extLst>
              <a:ext uri="{FF2B5EF4-FFF2-40B4-BE49-F238E27FC236}">
                <a16:creationId xmlns:a16="http://schemas.microsoft.com/office/drawing/2014/main" id="{228D9B38-4B52-47B6-BF7A-D65CA3466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2635250"/>
            <a:ext cx="29670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выпуклая функция; </a:t>
            </a:r>
          </a:p>
        </p:txBody>
      </p:sp>
      <p:sp>
        <p:nvSpPr>
          <p:cNvPr id="30738" name="Rectangle 18">
            <a:extLst>
              <a:ext uri="{FF2B5EF4-FFF2-40B4-BE49-F238E27FC236}">
                <a16:creationId xmlns:a16="http://schemas.microsoft.com/office/drawing/2014/main" id="{46AF5428-84F3-4C85-9837-7E0910D86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39" name="Object 19">
            <a:extLst>
              <a:ext uri="{FF2B5EF4-FFF2-40B4-BE49-F238E27FC236}">
                <a16:creationId xmlns:a16="http://schemas.microsoft.com/office/drawing/2014/main" id="{E85AC9BF-8AB9-4805-9C94-643F72069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2997201"/>
          <a:ext cx="27368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name="Формула" r:id="rId5" imgW="1676400" imgH="228600" progId="Equation.3">
                  <p:embed/>
                </p:oleObj>
              </mc:Choice>
              <mc:Fallback>
                <p:oleObj name="Формула" r:id="rId5" imgW="1676400" imgH="228600" progId="Equation.3">
                  <p:embed/>
                  <p:pic>
                    <p:nvPicPr>
                      <p:cNvPr id="30739" name="Object 19">
                        <a:extLst>
                          <a:ext uri="{FF2B5EF4-FFF2-40B4-BE49-F238E27FC236}">
                            <a16:creationId xmlns:a16="http://schemas.microsoft.com/office/drawing/2014/main" id="{E85AC9BF-8AB9-4805-9C94-643F72069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997201"/>
                        <a:ext cx="27368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0" name="Rectangle 20">
            <a:extLst>
              <a:ext uri="{FF2B5EF4-FFF2-40B4-BE49-F238E27FC236}">
                <a16:creationId xmlns:a16="http://schemas.microsoft.com/office/drawing/2014/main" id="{3B98EB39-BEC4-43B0-9C3C-A48D6AE55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1" y="2997201"/>
            <a:ext cx="1268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и пусть </a:t>
            </a:r>
            <a:r>
              <a:rPr lang="en-US" altLang="ru-RU" sz="1800"/>
              <a:t>g</a:t>
            </a:r>
            <a:r>
              <a:rPr lang="ru-RU" altLang="ru-RU" sz="1800"/>
              <a:t>: </a:t>
            </a:r>
          </a:p>
        </p:txBody>
      </p:sp>
      <p:sp>
        <p:nvSpPr>
          <p:cNvPr id="30741" name="Rectangle 21">
            <a:extLst>
              <a:ext uri="{FF2B5EF4-FFF2-40B4-BE49-F238E27FC236}">
                <a16:creationId xmlns:a16="http://schemas.microsoft.com/office/drawing/2014/main" id="{E0649776-07D9-4F05-90DF-9E5CC3D26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42" name="Object 22">
            <a:extLst>
              <a:ext uri="{FF2B5EF4-FFF2-40B4-BE49-F238E27FC236}">
                <a16:creationId xmlns:a16="http://schemas.microsoft.com/office/drawing/2014/main" id="{F6CBCD9E-64FD-4665-9EEF-73047E842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3068638"/>
          <a:ext cx="237648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30742" name="Object 22">
                        <a:extLst>
                          <a:ext uri="{FF2B5EF4-FFF2-40B4-BE49-F238E27FC236}">
                            <a16:creationId xmlns:a16="http://schemas.microsoft.com/office/drawing/2014/main" id="{F6CBCD9E-64FD-4665-9EEF-73047E8424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3068638"/>
                        <a:ext cx="2376487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Rectangle 23">
            <a:extLst>
              <a:ext uri="{FF2B5EF4-FFF2-40B4-BE49-F238E27FC236}">
                <a16:creationId xmlns:a16="http://schemas.microsoft.com/office/drawing/2014/main" id="{C76C323C-0844-4CC3-A0F8-A015A1EB9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68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44" name="Object 24">
            <a:extLst>
              <a:ext uri="{FF2B5EF4-FFF2-40B4-BE49-F238E27FC236}">
                <a16:creationId xmlns:a16="http://schemas.microsoft.com/office/drawing/2014/main" id="{95F8EE2E-FE80-4695-87A4-6F85AE6BFC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3357563"/>
          <a:ext cx="2592387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" name="Формула" r:id="rId9" imgW="1638300" imgH="749300" progId="Equation.3">
                  <p:embed/>
                </p:oleObj>
              </mc:Choice>
              <mc:Fallback>
                <p:oleObj name="Формула" r:id="rId9" imgW="1638300" imgH="749300" progId="Equation.3">
                  <p:embed/>
                  <p:pic>
                    <p:nvPicPr>
                      <p:cNvPr id="30744" name="Object 24">
                        <a:extLst>
                          <a:ext uri="{FF2B5EF4-FFF2-40B4-BE49-F238E27FC236}">
                            <a16:creationId xmlns:a16="http://schemas.microsoft.com/office/drawing/2014/main" id="{95F8EE2E-FE80-4695-87A4-6F85AE6BFC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357563"/>
                        <a:ext cx="2592387" cy="119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5" name="Rectangle 25">
            <a:extLst>
              <a:ext uri="{FF2B5EF4-FFF2-40B4-BE49-F238E27FC236}">
                <a16:creationId xmlns:a16="http://schemas.microsoft.com/office/drawing/2014/main" id="{0BDE30D6-AA55-4958-841F-F19B2AEC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3768725"/>
            <a:ext cx="3835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  вогнутые или выпуклые функции,</a:t>
            </a:r>
          </a:p>
        </p:txBody>
      </p:sp>
      <p:sp>
        <p:nvSpPr>
          <p:cNvPr id="30746" name="Rectangle 26">
            <a:extLst>
              <a:ext uri="{FF2B5EF4-FFF2-40B4-BE49-F238E27FC236}">
                <a16:creationId xmlns:a16="http://schemas.microsoft.com/office/drawing/2014/main" id="{624CE846-9B78-4C59-A5EA-6AFF32D29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6" y="4176713"/>
            <a:ext cx="12033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</a:t>
            </a:r>
          </a:p>
        </p:txBody>
      </p:sp>
      <p:sp>
        <p:nvSpPr>
          <p:cNvPr id="30747" name="Rectangle 27">
            <a:extLst>
              <a:ext uri="{FF2B5EF4-FFF2-40B4-BE49-F238E27FC236}">
                <a16:creationId xmlns:a16="http://schemas.microsoft.com/office/drawing/2014/main" id="{C200B7B1-13FD-42E9-82BB-540774181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48" name="Object 28">
            <a:extLst>
              <a:ext uri="{FF2B5EF4-FFF2-40B4-BE49-F238E27FC236}">
                <a16:creationId xmlns:a16="http://schemas.microsoft.com/office/drawing/2014/main" id="{8289284A-5402-4B8D-91EC-B7196BF8D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0725" y="4205289"/>
          <a:ext cx="10795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Формула" r:id="rId11" imgW="710891" imgH="241195" progId="Equation.3">
                  <p:embed/>
                </p:oleObj>
              </mc:Choice>
              <mc:Fallback>
                <p:oleObj name="Формула" r:id="rId11" imgW="710891" imgH="241195" progId="Equation.3">
                  <p:embed/>
                  <p:pic>
                    <p:nvPicPr>
                      <p:cNvPr id="30748" name="Object 28">
                        <a:extLst>
                          <a:ext uri="{FF2B5EF4-FFF2-40B4-BE49-F238E27FC236}">
                            <a16:creationId xmlns:a16="http://schemas.microsoft.com/office/drawing/2014/main" id="{8289284A-5402-4B8D-91EC-B7196BF8DD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4205289"/>
                        <a:ext cx="10795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9" name="Rectangle 29">
            <a:extLst>
              <a:ext uri="{FF2B5EF4-FFF2-40B4-BE49-F238E27FC236}">
                <a16:creationId xmlns:a16="http://schemas.microsoft.com/office/drawing/2014/main" id="{25A26CAC-22A8-4902-8FFC-63B42C803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689" y="4179888"/>
            <a:ext cx="31972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ограничения типа равенства. </a:t>
            </a:r>
          </a:p>
        </p:txBody>
      </p:sp>
      <p:sp>
        <p:nvSpPr>
          <p:cNvPr id="30750" name="Rectangle 30">
            <a:extLst>
              <a:ext uri="{FF2B5EF4-FFF2-40B4-BE49-F238E27FC236}">
                <a16:creationId xmlns:a16="http://schemas.microsoft.com/office/drawing/2014/main" id="{E08EBD05-B8B3-42F1-A77A-E580EE8F4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264" y="4583113"/>
            <a:ext cx="74882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задачу поиска экстремума функции при наличии ограничений можно записать:</a:t>
            </a:r>
          </a:p>
        </p:txBody>
      </p:sp>
      <p:sp>
        <p:nvSpPr>
          <p:cNvPr id="30751" name="Rectangle 31">
            <a:extLst>
              <a:ext uri="{FF2B5EF4-FFF2-40B4-BE49-F238E27FC236}">
                <a16:creationId xmlns:a16="http://schemas.microsoft.com/office/drawing/2014/main" id="{29B37204-8267-4313-BF35-6792E5659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92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52" name="Object 32">
            <a:extLst>
              <a:ext uri="{FF2B5EF4-FFF2-40B4-BE49-F238E27FC236}">
                <a16:creationId xmlns:a16="http://schemas.microsoft.com/office/drawing/2014/main" id="{143261D1-3535-4BA4-8FE1-BB58E4163B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5013326"/>
          <a:ext cx="2303463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Формула" r:id="rId13" imgW="1231900" imgH="736600" progId="Equation.3">
                  <p:embed/>
                </p:oleObj>
              </mc:Choice>
              <mc:Fallback>
                <p:oleObj name="Формула" r:id="rId13" imgW="1231900" imgH="736600" progId="Equation.3">
                  <p:embed/>
                  <p:pic>
                    <p:nvPicPr>
                      <p:cNvPr id="30752" name="Object 32">
                        <a:extLst>
                          <a:ext uri="{FF2B5EF4-FFF2-40B4-BE49-F238E27FC236}">
                            <a16:creationId xmlns:a16="http://schemas.microsoft.com/office/drawing/2014/main" id="{143261D1-3535-4BA4-8FE1-BB58E4163B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013326"/>
                        <a:ext cx="2303463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184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875CFD2-2620-4E17-A763-8802EE6C7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6F5A205-22AF-4C85-BF8F-51A2E486B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6" y="2997201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A464961D-7888-43A6-B1B6-03EAACE39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23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CDA4DED2-0FF7-4674-BA7E-3E7FDC120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1483003"/>
            <a:ext cx="3401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множителей Лагранжа.</a:t>
            </a:r>
            <a:r>
              <a:rPr lang="ru-RU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F6800D61-AC09-43F1-9AF6-ED2E56296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9" y="1482725"/>
            <a:ext cx="36099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u="sng"/>
              <a:t>(</a:t>
            </a: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1788г.”Аналитическая механика”)</a:t>
            </a: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CCD91431-779B-4CD7-9E3A-2DCDB74DA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52" name="Object 8">
            <a:extLst>
              <a:ext uri="{FF2B5EF4-FFF2-40B4-BE49-F238E27FC236}">
                <a16:creationId xmlns:a16="http://schemas.microsoft.com/office/drawing/2014/main" id="{53DC7CBE-88F5-4A64-A67D-D3BDD3764D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4" y="1844676"/>
          <a:ext cx="3095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" name="Формула" r:id="rId3" imgW="1739900" imgH="444500" progId="Equation.3">
                  <p:embed/>
                </p:oleObj>
              </mc:Choice>
              <mc:Fallback>
                <p:oleObj name="Формула" r:id="rId3" imgW="1739900" imgH="444500" progId="Equation.3">
                  <p:embed/>
                  <p:pic>
                    <p:nvPicPr>
                      <p:cNvPr id="31752" name="Object 8">
                        <a:extLst>
                          <a:ext uri="{FF2B5EF4-FFF2-40B4-BE49-F238E27FC236}">
                            <a16:creationId xmlns:a16="http://schemas.microsoft.com/office/drawing/2014/main" id="{53DC7CBE-88F5-4A64-A67D-D3BDD3764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1844676"/>
                        <a:ext cx="30956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9">
            <a:extLst>
              <a:ext uri="{FF2B5EF4-FFF2-40B4-BE49-F238E27FC236}">
                <a16:creationId xmlns:a16="http://schemas.microsoft.com/office/drawing/2014/main" id="{6C1A37BD-8576-4BE9-8121-E449E79E8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1989138"/>
            <a:ext cx="3024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вида:</a:t>
            </a:r>
          </a:p>
        </p:txBody>
      </p:sp>
      <p:sp>
        <p:nvSpPr>
          <p:cNvPr id="31754" name="Rectangle 10">
            <a:extLst>
              <a:ext uri="{FF2B5EF4-FFF2-40B4-BE49-F238E27FC236}">
                <a16:creationId xmlns:a16="http://schemas.microsoft.com/office/drawing/2014/main" id="{1961DFA1-E940-475E-9D0F-46CF4BCFF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8" y="2490789"/>
            <a:ext cx="538321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взять вариацию от функции 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/>
              <a:t> в</a:t>
            </a:r>
            <a:r>
              <a:rPr lang="en-US" altLang="ru-RU" sz="1800"/>
              <a:t>                </a:t>
            </a:r>
            <a:r>
              <a:rPr lang="ru-RU" altLang="ru-RU" sz="1800">
                <a:sym typeface="Symbol" panose="05050102010706020507" pitchFamily="18" charset="2"/>
              </a:rPr>
              <a:t>:</a:t>
            </a:r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9413B289-6284-4E2C-8CE8-BC84AF692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56" name="Object 12">
            <a:extLst>
              <a:ext uri="{FF2B5EF4-FFF2-40B4-BE49-F238E27FC236}">
                <a16:creationId xmlns:a16="http://schemas.microsoft.com/office/drawing/2014/main" id="{A00C539A-B740-45A5-86EE-1CCB1BDCB9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2852739"/>
          <a:ext cx="43926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" name="Формула" r:id="rId5" imgW="2743200" imgH="444500" progId="Equation.3">
                  <p:embed/>
                </p:oleObj>
              </mc:Choice>
              <mc:Fallback>
                <p:oleObj name="Формула" r:id="rId5" imgW="2743200" imgH="444500" progId="Equation.3">
                  <p:embed/>
                  <p:pic>
                    <p:nvPicPr>
                      <p:cNvPr id="31756" name="Object 12">
                        <a:extLst>
                          <a:ext uri="{FF2B5EF4-FFF2-40B4-BE49-F238E27FC236}">
                            <a16:creationId xmlns:a16="http://schemas.microsoft.com/office/drawing/2014/main" id="{A00C539A-B740-45A5-86EE-1CCB1BDCB9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852739"/>
                        <a:ext cx="43926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Rectangle 13">
            <a:extLst>
              <a:ext uri="{FF2B5EF4-FFF2-40B4-BE49-F238E27FC236}">
                <a16:creationId xmlns:a16="http://schemas.microsoft.com/office/drawing/2014/main" id="{BDBB80C3-F5C2-4441-A32F-3C2D69673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58" name="Object 14">
            <a:extLst>
              <a:ext uri="{FF2B5EF4-FFF2-40B4-BE49-F238E27FC236}">
                <a16:creationId xmlns:a16="http://schemas.microsoft.com/office/drawing/2014/main" id="{A644A77E-1026-42DB-A472-3E4407D70C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6" y="2919414"/>
          <a:ext cx="936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8" name="Формула" r:id="rId7" imgW="406048" imgH="203024" progId="Equation.3">
                  <p:embed/>
                </p:oleObj>
              </mc:Choice>
              <mc:Fallback>
                <p:oleObj name="Формула" r:id="rId7" imgW="406048" imgH="203024" progId="Equation.3">
                  <p:embed/>
                  <p:pic>
                    <p:nvPicPr>
                      <p:cNvPr id="31758" name="Object 14">
                        <a:extLst>
                          <a:ext uri="{FF2B5EF4-FFF2-40B4-BE49-F238E27FC236}">
                            <a16:creationId xmlns:a16="http://schemas.microsoft.com/office/drawing/2014/main" id="{A644A77E-1026-42DB-A472-3E4407D70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6" y="2919414"/>
                        <a:ext cx="9366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Rectangle 15">
            <a:extLst>
              <a:ext uri="{FF2B5EF4-FFF2-40B4-BE49-F238E27FC236}">
                <a16:creationId xmlns:a16="http://schemas.microsoft.com/office/drawing/2014/main" id="{C2EB0E55-3A09-4617-BE01-8C2AA06D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2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60" name="Object 16">
            <a:extLst>
              <a:ext uri="{FF2B5EF4-FFF2-40B4-BE49-F238E27FC236}">
                <a16:creationId xmlns:a16="http://schemas.microsoft.com/office/drawing/2014/main" id="{618470F9-CC4A-4523-9EA4-8FD51C0C8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3597275"/>
          <a:ext cx="35274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" name="Формула" r:id="rId9" imgW="2578100" imgH="520700" progId="Equation.3">
                  <p:embed/>
                </p:oleObj>
              </mc:Choice>
              <mc:Fallback>
                <p:oleObj name="Формула" r:id="rId9" imgW="2578100" imgH="520700" progId="Equation.3">
                  <p:embed/>
                  <p:pic>
                    <p:nvPicPr>
                      <p:cNvPr id="31760" name="Object 16">
                        <a:extLst>
                          <a:ext uri="{FF2B5EF4-FFF2-40B4-BE49-F238E27FC236}">
                            <a16:creationId xmlns:a16="http://schemas.microsoft.com/office/drawing/2014/main" id="{618470F9-CC4A-4523-9EA4-8FD51C0C83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3597275"/>
                        <a:ext cx="35274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1" name="Rectangle 17">
            <a:extLst>
              <a:ext uri="{FF2B5EF4-FFF2-40B4-BE49-F238E27FC236}">
                <a16:creationId xmlns:a16="http://schemas.microsoft.com/office/drawing/2014/main" id="{CA8B5E5C-3372-4886-8DFC-60275ED99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4364039"/>
            <a:ext cx="47767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 получаем систему уравнений : </a:t>
            </a:r>
          </a:p>
        </p:txBody>
      </p:sp>
      <p:sp>
        <p:nvSpPr>
          <p:cNvPr id="31762" name="Rectangle 18">
            <a:extLst>
              <a:ext uri="{FF2B5EF4-FFF2-40B4-BE49-F238E27FC236}">
                <a16:creationId xmlns:a16="http://schemas.microsoft.com/office/drawing/2014/main" id="{DBBF3B35-7643-4873-8CFA-AEE9CC5A3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2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63" name="Object 19">
            <a:extLst>
              <a:ext uri="{FF2B5EF4-FFF2-40B4-BE49-F238E27FC236}">
                <a16:creationId xmlns:a16="http://schemas.microsoft.com/office/drawing/2014/main" id="{6C87B0A9-6F3A-475D-B4F8-132162EBD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5" y="4005264"/>
          <a:ext cx="259238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Формула" r:id="rId11" imgW="1562100" imgH="520700" progId="Equation.3">
                  <p:embed/>
                </p:oleObj>
              </mc:Choice>
              <mc:Fallback>
                <p:oleObj name="Формула" r:id="rId11" imgW="1562100" imgH="520700" progId="Equation.3">
                  <p:embed/>
                  <p:pic>
                    <p:nvPicPr>
                      <p:cNvPr id="31763" name="Object 19">
                        <a:extLst>
                          <a:ext uri="{FF2B5EF4-FFF2-40B4-BE49-F238E27FC236}">
                            <a16:creationId xmlns:a16="http://schemas.microsoft.com/office/drawing/2014/main" id="{6C87B0A9-6F3A-475D-B4F8-132162EBD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4005264"/>
                        <a:ext cx="259238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4" name="Object 20">
            <a:extLst>
              <a:ext uri="{FF2B5EF4-FFF2-40B4-BE49-F238E27FC236}">
                <a16:creationId xmlns:a16="http://schemas.microsoft.com/office/drawing/2014/main" id="{B679618C-8336-40AB-BE1A-D70C31E058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0" y="5057776"/>
          <a:ext cx="8636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Формула" r:id="rId13" imgW="596641" imgH="215806" progId="Equation.3">
                  <p:embed/>
                </p:oleObj>
              </mc:Choice>
              <mc:Fallback>
                <p:oleObj name="Формула" r:id="rId13" imgW="596641" imgH="215806" progId="Equation.3">
                  <p:embed/>
                  <p:pic>
                    <p:nvPicPr>
                      <p:cNvPr id="31764" name="Object 20">
                        <a:extLst>
                          <a:ext uri="{FF2B5EF4-FFF2-40B4-BE49-F238E27FC236}">
                            <a16:creationId xmlns:a16="http://schemas.microsoft.com/office/drawing/2014/main" id="{B679618C-8336-40AB-BE1A-D70C31E058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057776"/>
                        <a:ext cx="8636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21">
            <a:extLst>
              <a:ext uri="{FF2B5EF4-FFF2-40B4-BE49-F238E27FC236}">
                <a16:creationId xmlns:a16="http://schemas.microsoft.com/office/drawing/2014/main" id="{1303D344-C3A5-4113-B987-743FF16701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2851" y="5013326"/>
          <a:ext cx="4476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31765" name="Object 21">
                        <a:extLst>
                          <a:ext uri="{FF2B5EF4-FFF2-40B4-BE49-F238E27FC236}">
                            <a16:creationId xmlns:a16="http://schemas.microsoft.com/office/drawing/2014/main" id="{1303D344-C3A5-4113-B987-743FF16701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1" y="5013326"/>
                        <a:ext cx="44767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6" name="Rectangle 22">
            <a:extLst>
              <a:ext uri="{FF2B5EF4-FFF2-40B4-BE49-F238E27FC236}">
                <a16:creationId xmlns:a16="http://schemas.microsoft.com/office/drawing/2014/main" id="{BEC60500-0DF2-42D0-B611-113B1A1B0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4724400"/>
            <a:ext cx="79930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Подбором определенных значений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можно добиться того, чтобы эти уравнения удовлетворялись при </a:t>
            </a:r>
          </a:p>
        </p:txBody>
      </p:sp>
      <p:sp>
        <p:nvSpPr>
          <p:cNvPr id="31767" name="Rectangle 23">
            <a:extLst>
              <a:ext uri="{FF2B5EF4-FFF2-40B4-BE49-F238E27FC236}">
                <a16:creationId xmlns:a16="http://schemas.microsoft.com/office/drawing/2014/main" id="{1C9F7DC2-1FBB-41F8-AB68-5A9790363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6" y="5084763"/>
            <a:ext cx="1858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в точке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68" name="Rectangle 24">
            <a:extLst>
              <a:ext uri="{FF2B5EF4-FFF2-40B4-BE49-F238E27FC236}">
                <a16:creationId xmlns:a16="http://schemas.microsoft.com/office/drawing/2014/main" id="{45E269EA-3DCC-43B5-B149-17A125F4F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5300663"/>
            <a:ext cx="7921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достигается стационарность функции 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т.е. экстремум функции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при заданных ограничениях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)=0.</a:t>
            </a:r>
          </a:p>
        </p:txBody>
      </p:sp>
      <p:sp>
        <p:nvSpPr>
          <p:cNvPr id="31769" name="Rectangle 25">
            <a:extLst>
              <a:ext uri="{FF2B5EF4-FFF2-40B4-BE49-F238E27FC236}">
                <a16:creationId xmlns:a16="http://schemas.microsoft.com/office/drawing/2014/main" id="{788B2C8D-FF66-4002-A9B4-8632E0F0C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1770" name="Rectangle 26">
            <a:extLst>
              <a:ext uri="{FF2B5EF4-FFF2-40B4-BE49-F238E27FC236}">
                <a16:creationId xmlns:a16="http://schemas.microsoft.com/office/drawing/2014/main" id="{0197C7F1-4F0C-41B8-B012-450CF8524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1771" name="Rectangle 27">
            <a:extLst>
              <a:ext uri="{FF2B5EF4-FFF2-40B4-BE49-F238E27FC236}">
                <a16:creationId xmlns:a16="http://schemas.microsoft.com/office/drawing/2014/main" id="{8D53B7AD-E61A-40D5-B628-BC430E2F1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72" name="Object 28">
            <a:extLst>
              <a:ext uri="{FF2B5EF4-FFF2-40B4-BE49-F238E27FC236}">
                <a16:creationId xmlns:a16="http://schemas.microsoft.com/office/drawing/2014/main" id="{CBCABAD5-D1A4-4B40-9FDC-B0CF56904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2441576"/>
          <a:ext cx="8651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name="Формула" r:id="rId17" imgW="482391" imgH="241195" progId="Equation.3">
                  <p:embed/>
                </p:oleObj>
              </mc:Choice>
              <mc:Fallback>
                <p:oleObj name="Формула" r:id="rId17" imgW="482391" imgH="241195" progId="Equation.3">
                  <p:embed/>
                  <p:pic>
                    <p:nvPicPr>
                      <p:cNvPr id="31772" name="Object 28">
                        <a:extLst>
                          <a:ext uri="{FF2B5EF4-FFF2-40B4-BE49-F238E27FC236}">
                            <a16:creationId xmlns:a16="http://schemas.microsoft.com/office/drawing/2014/main" id="{CBCABAD5-D1A4-4B40-9FDC-B0CF569041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441576"/>
                        <a:ext cx="8651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892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D517309-6C1A-40DA-85A9-00B452F1E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520526A-4CD8-4934-8633-0BF0ADEC0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23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71D31CE1-A3FD-4A39-AA83-68F05A4B0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1557338"/>
            <a:ext cx="37596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множителей Лагранжа.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782796CE-A38C-4ACA-93AB-EF23A30B3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1987550"/>
            <a:ext cx="57070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Задачу можно переформулировать следующим образом.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BFE94E4-31AF-442D-80E5-6C893F3CD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2419350"/>
            <a:ext cx="18653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найти:</a:t>
            </a:r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DAF14535-2E53-4822-95D7-47793C0FA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8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2776" name="Object 8">
            <a:extLst>
              <a:ext uri="{FF2B5EF4-FFF2-40B4-BE49-F238E27FC236}">
                <a16:creationId xmlns:a16="http://schemas.microsoft.com/office/drawing/2014/main" id="{FE2C307C-8E3F-491B-BC27-71DA28A648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214" y="2276476"/>
          <a:ext cx="287972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Формула" r:id="rId3" imgW="1587500" imgH="508000" progId="Equation.3">
                  <p:embed/>
                </p:oleObj>
              </mc:Choice>
              <mc:Fallback>
                <p:oleObj name="Формула" r:id="rId3" imgW="1587500" imgH="508000" progId="Equation.3">
                  <p:embed/>
                  <p:pic>
                    <p:nvPicPr>
                      <p:cNvPr id="32776" name="Object 8">
                        <a:extLst>
                          <a:ext uri="{FF2B5EF4-FFF2-40B4-BE49-F238E27FC236}">
                            <a16:creationId xmlns:a16="http://schemas.microsoft.com/office/drawing/2014/main" id="{FE2C307C-8E3F-491B-BC27-71DA28A648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4" y="2276476"/>
                        <a:ext cx="2879725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Rectangle 9">
            <a:extLst>
              <a:ext uri="{FF2B5EF4-FFF2-40B4-BE49-F238E27FC236}">
                <a16:creationId xmlns:a16="http://schemas.microsoft.com/office/drawing/2014/main" id="{ADCE17AC-A63F-4163-9C07-2C6CABC89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3067050"/>
            <a:ext cx="66278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решение задачи состоит в совместном решении уравнений:</a:t>
            </a:r>
          </a:p>
        </p:txBody>
      </p:sp>
      <p:sp>
        <p:nvSpPr>
          <p:cNvPr id="32778" name="Rectangle 10">
            <a:extLst>
              <a:ext uri="{FF2B5EF4-FFF2-40B4-BE49-F238E27FC236}">
                <a16:creationId xmlns:a16="http://schemas.microsoft.com/office/drawing/2014/main" id="{1ECCE2C6-DC2A-4241-B462-B550BD3BA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87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2779" name="Rectangle 11">
            <a:extLst>
              <a:ext uri="{FF2B5EF4-FFF2-40B4-BE49-F238E27FC236}">
                <a16:creationId xmlns:a16="http://schemas.microsoft.com/office/drawing/2014/main" id="{F9AEA2A1-B1AD-4F9E-9F32-2A5CF6B35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3859214"/>
            <a:ext cx="50863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Составляются и решаются 2 системы уравнений:</a:t>
            </a:r>
          </a:p>
        </p:txBody>
      </p:sp>
      <p:sp>
        <p:nvSpPr>
          <p:cNvPr id="32780" name="Rectangle 12">
            <a:extLst>
              <a:ext uri="{FF2B5EF4-FFF2-40B4-BE49-F238E27FC236}">
                <a16:creationId xmlns:a16="http://schemas.microsoft.com/office/drawing/2014/main" id="{E5187D75-1540-4FFE-A705-84B62F8CA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92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2781" name="Object 13">
            <a:extLst>
              <a:ext uri="{FF2B5EF4-FFF2-40B4-BE49-F238E27FC236}">
                <a16:creationId xmlns:a16="http://schemas.microsoft.com/office/drawing/2014/main" id="{F272444D-612A-4CD7-A086-F6EC1746B3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8" y="4284663"/>
          <a:ext cx="439261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Формула" r:id="rId5" imgW="2247900" imgH="736600" progId="Equation.3">
                  <p:embed/>
                </p:oleObj>
              </mc:Choice>
              <mc:Fallback>
                <p:oleObj name="Формула" r:id="rId5" imgW="2247900" imgH="736600" progId="Equation.3">
                  <p:embed/>
                  <p:pic>
                    <p:nvPicPr>
                      <p:cNvPr id="32781" name="Object 13">
                        <a:extLst>
                          <a:ext uri="{FF2B5EF4-FFF2-40B4-BE49-F238E27FC236}">
                            <a16:creationId xmlns:a16="http://schemas.microsoft.com/office/drawing/2014/main" id="{F272444D-612A-4CD7-A086-F6EC1746B3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4284663"/>
                        <a:ext cx="439261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>
            <a:extLst>
              <a:ext uri="{FF2B5EF4-FFF2-40B4-BE49-F238E27FC236}">
                <a16:creationId xmlns:a16="http://schemas.microsoft.com/office/drawing/2014/main" id="{E3EA87FC-48BB-4B8E-B778-D943EFFA032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063750" y="3554413"/>
          <a:ext cx="25923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Формула" r:id="rId7" imgW="1435100" imgH="914400" progId="Equation.3">
                  <p:embed/>
                </p:oleObj>
              </mc:Choice>
              <mc:Fallback>
                <p:oleObj name="Формула" r:id="rId7" imgW="1435100" imgH="914400" progId="Equation.3">
                  <p:embed/>
                  <p:pic>
                    <p:nvPicPr>
                      <p:cNvPr id="32782" name="Object 14">
                        <a:extLst>
                          <a:ext uri="{FF2B5EF4-FFF2-40B4-BE49-F238E27FC236}">
                            <a16:creationId xmlns:a16="http://schemas.microsoft.com/office/drawing/2014/main" id="{E3EA87FC-48BB-4B8E-B778-D943EFFA0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554413"/>
                        <a:ext cx="2592388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9293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DB61493-CC42-473B-BFF4-3BB9A7701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824BAD8-3797-4CD2-B9D1-C72CDB347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применения классического метода множителей Лагранжа.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5DBDE855-91B6-4FBC-AC90-03F02DF78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484438"/>
            <a:ext cx="80645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поиска экстремума методами классического математического анализа связана с удовлетворением следующих условий, накладываемых на функции: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EA9F6982-6C48-4368-B590-DA12FE754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4" y="3244850"/>
            <a:ext cx="77231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1.Целевая функция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должна быть выпуклой (в случае поиска минимума).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B1AC3755-6B6D-45C9-B338-9F28E91F4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644900"/>
            <a:ext cx="8189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2.Функции ограничений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должны быть вогнутыми или выпуклыми функциями.</a:t>
            </a: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DCCA3664-46B1-432C-9ED1-90058CE3A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364039"/>
            <a:ext cx="47148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3.Ограничения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типа равенств.</a:t>
            </a:r>
          </a:p>
        </p:txBody>
      </p:sp>
      <p:sp>
        <p:nvSpPr>
          <p:cNvPr id="33800" name="Rectangle 8">
            <a:extLst>
              <a:ext uri="{FF2B5EF4-FFF2-40B4-BE49-F238E27FC236}">
                <a16:creationId xmlns:a16="http://schemas.microsoft.com/office/drawing/2014/main" id="{2DB3AF35-4D71-41DC-A69A-0DF452374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4805363"/>
            <a:ext cx="8569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Последнее условие связано с тем, что если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&lt; 0, то классический метод множителей Лагранжа не дает единственного решения </a:t>
            </a:r>
          </a:p>
        </p:txBody>
      </p:sp>
      <p:sp>
        <p:nvSpPr>
          <p:cNvPr id="33801" name="Rectangle 9">
            <a:extLst>
              <a:ext uri="{FF2B5EF4-FFF2-40B4-BE49-F238E27FC236}">
                <a16:creationId xmlns:a16="http://schemas.microsoft.com/office/drawing/2014/main" id="{1FAD50FC-C6B4-445A-96D8-65FF1695C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3802" name="Object 10">
            <a:extLst>
              <a:ext uri="{FF2B5EF4-FFF2-40B4-BE49-F238E27FC236}">
                <a16:creationId xmlns:a16="http://schemas.microsoft.com/office/drawing/2014/main" id="{556D0D42-F9B6-46FC-BE86-D4EA70B8F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5060950"/>
          <a:ext cx="23764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Формула" r:id="rId3" imgW="1155700" imgH="228600" progId="Equation.3">
                  <p:embed/>
                </p:oleObj>
              </mc:Choice>
              <mc:Fallback>
                <p:oleObj name="Формула" r:id="rId3" imgW="1155700" imgH="228600" progId="Equation.3">
                  <p:embed/>
                  <p:pic>
                    <p:nvPicPr>
                      <p:cNvPr id="33802" name="Object 10">
                        <a:extLst>
                          <a:ext uri="{FF2B5EF4-FFF2-40B4-BE49-F238E27FC236}">
                            <a16:creationId xmlns:a16="http://schemas.microsoft.com/office/drawing/2014/main" id="{556D0D42-F9B6-46FC-BE86-D4EA70B8F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5060950"/>
                        <a:ext cx="2376488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11">
            <a:extLst>
              <a:ext uri="{FF2B5EF4-FFF2-40B4-BE49-F238E27FC236}">
                <a16:creationId xmlns:a16="http://schemas.microsoft.com/office/drawing/2014/main" id="{7D534FD5-EE84-4841-9868-6E4AB0850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5443539"/>
            <a:ext cx="31369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и, следовательно, не работает.</a:t>
            </a:r>
          </a:p>
        </p:txBody>
      </p:sp>
    </p:spTree>
    <p:extLst>
      <p:ext uri="{BB962C8B-B14F-4D97-AF65-F5344CB8AC3E}">
        <p14:creationId xmlns:p14="http://schemas.microsoft.com/office/powerpoint/2010/main" val="2142487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CBB3596-BA80-441E-9F4C-9F9842D7B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</a:t>
            </a:r>
            <a:endParaRPr lang="ru-RU" altLang="ru-RU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3E0D0FF-13F2-4C88-B769-8AEDA964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20" name="Object 4">
            <a:extLst>
              <a:ext uri="{FF2B5EF4-FFF2-40B4-BE49-F238E27FC236}">
                <a16:creationId xmlns:a16="http://schemas.microsoft.com/office/drawing/2014/main" id="{91D674E1-3FDC-440E-918C-83A271901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9700" y="2957514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34820" name="Object 4">
                        <a:extLst>
                          <a:ext uri="{FF2B5EF4-FFF2-40B4-BE49-F238E27FC236}">
                            <a16:creationId xmlns:a16="http://schemas.microsoft.com/office/drawing/2014/main" id="{91D674E1-3FDC-440E-918C-83A2719018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2957514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5">
            <a:extLst>
              <a:ext uri="{FF2B5EF4-FFF2-40B4-BE49-F238E27FC236}">
                <a16:creationId xmlns:a16="http://schemas.microsoft.com/office/drawing/2014/main" id="{F4815095-8376-45A9-BE91-07C86E915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CE83F791-5489-48F7-97BE-29E3E37CB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6" y="1660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21C755DD-7354-4B96-9326-8E4FDCFFF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AECFFE1F-C64F-4ED7-BB6D-B9AAA39B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5" name="Rectangle 9">
            <a:extLst>
              <a:ext uri="{FF2B5EF4-FFF2-40B4-BE49-F238E27FC236}">
                <a16:creationId xmlns:a16="http://schemas.microsoft.com/office/drawing/2014/main" id="{89C63FD5-2BE0-4375-A80A-B7EE50C54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6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6" name="Rectangle 10">
            <a:extLst>
              <a:ext uri="{FF2B5EF4-FFF2-40B4-BE49-F238E27FC236}">
                <a16:creationId xmlns:a16="http://schemas.microsoft.com/office/drawing/2014/main" id="{AD947827-873A-4587-A049-86DD1F903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7" name="Rectangle 11">
            <a:extLst>
              <a:ext uri="{FF2B5EF4-FFF2-40B4-BE49-F238E27FC236}">
                <a16:creationId xmlns:a16="http://schemas.microsoft.com/office/drawing/2014/main" id="{AA62C05F-FD7C-4186-9437-B7CEF90A1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8" name="Rectangle 12">
            <a:extLst>
              <a:ext uri="{FF2B5EF4-FFF2-40B4-BE49-F238E27FC236}">
                <a16:creationId xmlns:a16="http://schemas.microsoft.com/office/drawing/2014/main" id="{47A0F4DA-23EE-4F94-B276-22F39F557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6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9" name="Rectangle 13">
            <a:extLst>
              <a:ext uri="{FF2B5EF4-FFF2-40B4-BE49-F238E27FC236}">
                <a16:creationId xmlns:a16="http://schemas.microsoft.com/office/drawing/2014/main" id="{44B40A86-3A70-46A9-88C1-52AE1E07C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0" name="Rectangle 14">
            <a:extLst>
              <a:ext uri="{FF2B5EF4-FFF2-40B4-BE49-F238E27FC236}">
                <a16:creationId xmlns:a16="http://schemas.microsoft.com/office/drawing/2014/main" id="{3168B79A-405D-4DA8-AEC0-017C8BC61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6" y="1641129"/>
            <a:ext cx="34529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/>
              <a:t>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задачи </a:t>
            </a:r>
          </a:p>
        </p:txBody>
      </p:sp>
      <p:sp>
        <p:nvSpPr>
          <p:cNvPr id="34831" name="Rectangle 15">
            <a:extLst>
              <a:ext uri="{FF2B5EF4-FFF2-40B4-BE49-F238E27FC236}">
                <a16:creationId xmlns:a16="http://schemas.microsoft.com/office/drawing/2014/main" id="{52A3EF34-54DD-4CD4-B7D1-013451386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2" name="Rectangle 16">
            <a:extLst>
              <a:ext uri="{FF2B5EF4-FFF2-40B4-BE49-F238E27FC236}">
                <a16:creationId xmlns:a16="http://schemas.microsoft.com/office/drawing/2014/main" id="{50A7804E-2033-408D-AE6E-4865B2B8D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3" name="Rectangle 17">
            <a:extLst>
              <a:ext uri="{FF2B5EF4-FFF2-40B4-BE49-F238E27FC236}">
                <a16:creationId xmlns:a16="http://schemas.microsoft.com/office/drawing/2014/main" id="{CA6795FF-F39B-477B-983A-EED098889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34834" name="Rectangle 18">
            <a:extLst>
              <a:ext uri="{FF2B5EF4-FFF2-40B4-BE49-F238E27FC236}">
                <a16:creationId xmlns:a16="http://schemas.microsoft.com/office/drawing/2014/main" id="{CED1F1E3-2CCC-42E6-8D4B-2556597DC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5" name="Rectangle 19">
            <a:extLst>
              <a:ext uri="{FF2B5EF4-FFF2-40B4-BE49-F238E27FC236}">
                <a16:creationId xmlns:a16="http://schemas.microsoft.com/office/drawing/2014/main" id="{DA96D82C-C821-4984-9D99-4678426A9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6" name="Rectangle 20">
            <a:extLst>
              <a:ext uri="{FF2B5EF4-FFF2-40B4-BE49-F238E27FC236}">
                <a16:creationId xmlns:a16="http://schemas.microsoft.com/office/drawing/2014/main" id="{8CB73EAA-DF55-404B-B6EA-4C9C53EDF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32845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800"/>
              <a:t> </a:t>
            </a:r>
          </a:p>
        </p:txBody>
      </p:sp>
      <p:sp>
        <p:nvSpPr>
          <p:cNvPr id="34837" name="Rectangle 21">
            <a:extLst>
              <a:ext uri="{FF2B5EF4-FFF2-40B4-BE49-F238E27FC236}">
                <a16:creationId xmlns:a16="http://schemas.microsoft.com/office/drawing/2014/main" id="{14773C1A-90A3-40B1-80A7-E48CDDD49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30686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34838" name="Rectangle 22">
            <a:extLst>
              <a:ext uri="{FF2B5EF4-FFF2-40B4-BE49-F238E27FC236}">
                <a16:creationId xmlns:a16="http://schemas.microsoft.com/office/drawing/2014/main" id="{0456594B-90D9-401D-81D3-86D9E2586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27082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800"/>
              <a:t> </a:t>
            </a:r>
          </a:p>
        </p:txBody>
      </p:sp>
      <p:sp>
        <p:nvSpPr>
          <p:cNvPr id="34839" name="Rectangle 23">
            <a:extLst>
              <a:ext uri="{FF2B5EF4-FFF2-40B4-BE49-F238E27FC236}">
                <a16:creationId xmlns:a16="http://schemas.microsoft.com/office/drawing/2014/main" id="{6B2C7049-EB62-4FFE-BFD6-FB91C9A7D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2420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800"/>
              <a:t> </a:t>
            </a:r>
          </a:p>
        </p:txBody>
      </p:sp>
      <p:sp>
        <p:nvSpPr>
          <p:cNvPr id="34840" name="Rectangle 24">
            <a:extLst>
              <a:ext uri="{FF2B5EF4-FFF2-40B4-BE49-F238E27FC236}">
                <a16:creationId xmlns:a16="http://schemas.microsoft.com/office/drawing/2014/main" id="{F3416B9D-DBE2-4389-B915-0D0787DF1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41" name="Rectangle 25">
            <a:extLst>
              <a:ext uri="{FF2B5EF4-FFF2-40B4-BE49-F238E27FC236}">
                <a16:creationId xmlns:a16="http://schemas.microsoft.com/office/drawing/2014/main" id="{C1486A2D-C744-43BA-9879-13CE7CED7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42" name="Rectangle 26">
            <a:extLst>
              <a:ext uri="{FF2B5EF4-FFF2-40B4-BE49-F238E27FC236}">
                <a16:creationId xmlns:a16="http://schemas.microsoft.com/office/drawing/2014/main" id="{A92F2140-F4CD-44AF-907B-D4617ECA7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349501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843" name="Rectangle 27">
            <a:extLst>
              <a:ext uri="{FF2B5EF4-FFF2-40B4-BE49-F238E27FC236}">
                <a16:creationId xmlns:a16="http://schemas.microsoft.com/office/drawing/2014/main" id="{00A53FBF-9079-4056-9AD1-E2433308E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44" name="Object 28">
            <a:extLst>
              <a:ext uri="{FF2B5EF4-FFF2-40B4-BE49-F238E27FC236}">
                <a16:creationId xmlns:a16="http://schemas.microsoft.com/office/drawing/2014/main" id="{F8662295-15F0-4A4F-A309-3E16F0E30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349501"/>
          <a:ext cx="28082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34844" name="Object 28">
                        <a:extLst>
                          <a:ext uri="{FF2B5EF4-FFF2-40B4-BE49-F238E27FC236}">
                            <a16:creationId xmlns:a16="http://schemas.microsoft.com/office/drawing/2014/main" id="{F8662295-15F0-4A4F-A309-3E16F0E300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349501"/>
                        <a:ext cx="28082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5" name="Rectangle 29">
            <a:extLst>
              <a:ext uri="{FF2B5EF4-FFF2-40B4-BE49-F238E27FC236}">
                <a16:creationId xmlns:a16="http://schemas.microsoft.com/office/drawing/2014/main" id="{9AAF7B2F-3E4E-4B5F-8275-FA58E10E8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46" name="Rectangle 30">
            <a:extLst>
              <a:ext uri="{FF2B5EF4-FFF2-40B4-BE49-F238E27FC236}">
                <a16:creationId xmlns:a16="http://schemas.microsoft.com/office/drawing/2014/main" id="{B9242C92-4915-43F4-9918-7861D9EBA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47" name="Object 31">
            <a:extLst>
              <a:ext uri="{FF2B5EF4-FFF2-40B4-BE49-F238E27FC236}">
                <a16:creationId xmlns:a16="http://schemas.microsoft.com/office/drawing/2014/main" id="{6654BB7F-CF6F-47A7-8B6F-4071CF7C73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708276"/>
          <a:ext cx="2520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0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34847" name="Object 31">
                        <a:extLst>
                          <a:ext uri="{FF2B5EF4-FFF2-40B4-BE49-F238E27FC236}">
                            <a16:creationId xmlns:a16="http://schemas.microsoft.com/office/drawing/2014/main" id="{6654BB7F-CF6F-47A7-8B6F-4071CF7C73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708276"/>
                        <a:ext cx="25209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8" name="Rectangle 32">
            <a:extLst>
              <a:ext uri="{FF2B5EF4-FFF2-40B4-BE49-F238E27FC236}">
                <a16:creationId xmlns:a16="http://schemas.microsoft.com/office/drawing/2014/main" id="{BEB3BF42-AD4D-49B2-A0C6-88455563D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2706688"/>
            <a:ext cx="504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800"/>
              <a:t> </a:t>
            </a:r>
          </a:p>
        </p:txBody>
      </p:sp>
      <p:sp>
        <p:nvSpPr>
          <p:cNvPr id="34849" name="Rectangle 33">
            <a:extLst>
              <a:ext uri="{FF2B5EF4-FFF2-40B4-BE49-F238E27FC236}">
                <a16:creationId xmlns:a16="http://schemas.microsoft.com/office/drawing/2014/main" id="{626F8F8D-D6E5-41E3-8432-05B416B7D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50" name="Object 34">
            <a:extLst>
              <a:ext uri="{FF2B5EF4-FFF2-40B4-BE49-F238E27FC236}">
                <a16:creationId xmlns:a16="http://schemas.microsoft.com/office/drawing/2014/main" id="{A327CBC1-0586-4099-B235-09D4E1797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3068638"/>
          <a:ext cx="30972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1" name="Формула" r:id="rId9" imgW="1828800" imgH="228600" progId="Equation.3">
                  <p:embed/>
                </p:oleObj>
              </mc:Choice>
              <mc:Fallback>
                <p:oleObj name="Формула" r:id="rId9" imgW="1828800" imgH="228600" progId="Equation.3">
                  <p:embed/>
                  <p:pic>
                    <p:nvPicPr>
                      <p:cNvPr id="34850" name="Object 34">
                        <a:extLst>
                          <a:ext uri="{FF2B5EF4-FFF2-40B4-BE49-F238E27FC236}">
                            <a16:creationId xmlns:a16="http://schemas.microsoft.com/office/drawing/2014/main" id="{A327CBC1-0586-4099-B235-09D4E1797D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3068638"/>
                        <a:ext cx="30972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1" name="Rectangle 35">
            <a:extLst>
              <a:ext uri="{FF2B5EF4-FFF2-40B4-BE49-F238E27FC236}">
                <a16:creationId xmlns:a16="http://schemas.microsoft.com/office/drawing/2014/main" id="{47EF2C5B-388A-48E1-9983-2991C0159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52" name="Object 36">
            <a:extLst>
              <a:ext uri="{FF2B5EF4-FFF2-40B4-BE49-F238E27FC236}">
                <a16:creationId xmlns:a16="http://schemas.microsoft.com/office/drawing/2014/main" id="{33703B15-2CC6-4FAC-AB15-5E7EB22BA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3429000"/>
          <a:ext cx="39608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2" name="Формула" r:id="rId11" imgW="2019300" imgH="241300" progId="Equation.3">
                  <p:embed/>
                </p:oleObj>
              </mc:Choice>
              <mc:Fallback>
                <p:oleObj name="Формула" r:id="rId11" imgW="2019300" imgH="241300" progId="Equation.3">
                  <p:embed/>
                  <p:pic>
                    <p:nvPicPr>
                      <p:cNvPr id="34852" name="Object 36">
                        <a:extLst>
                          <a:ext uri="{FF2B5EF4-FFF2-40B4-BE49-F238E27FC236}">
                            <a16:creationId xmlns:a16="http://schemas.microsoft.com/office/drawing/2014/main" id="{33703B15-2CC6-4FAC-AB15-5E7EB22BAF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429000"/>
                        <a:ext cx="39608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3" name="Rectangle 37">
            <a:extLst>
              <a:ext uri="{FF2B5EF4-FFF2-40B4-BE49-F238E27FC236}">
                <a16:creationId xmlns:a16="http://schemas.microsoft.com/office/drawing/2014/main" id="{4F9A87BA-A806-41DD-9272-14E245054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54" name="Object 38">
            <a:extLst>
              <a:ext uri="{FF2B5EF4-FFF2-40B4-BE49-F238E27FC236}">
                <a16:creationId xmlns:a16="http://schemas.microsoft.com/office/drawing/2014/main" id="{95E0DA9B-7FA9-4CCA-B2F1-47C411253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3859214"/>
          <a:ext cx="1873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" name="Формула" r:id="rId13" imgW="1155700" imgH="241300" progId="Equation.3">
                  <p:embed/>
                </p:oleObj>
              </mc:Choice>
              <mc:Fallback>
                <p:oleObj name="Формула" r:id="rId13" imgW="1155700" imgH="241300" progId="Equation.3">
                  <p:embed/>
                  <p:pic>
                    <p:nvPicPr>
                      <p:cNvPr id="34854" name="Object 38">
                        <a:extLst>
                          <a:ext uri="{FF2B5EF4-FFF2-40B4-BE49-F238E27FC236}">
                            <a16:creationId xmlns:a16="http://schemas.microsoft.com/office/drawing/2014/main" id="{95E0DA9B-7FA9-4CCA-B2F1-47C411253E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859214"/>
                        <a:ext cx="187325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5" name="Rectangle 39">
            <a:extLst>
              <a:ext uri="{FF2B5EF4-FFF2-40B4-BE49-F238E27FC236}">
                <a16:creationId xmlns:a16="http://schemas.microsoft.com/office/drawing/2014/main" id="{FB8A3DF2-F8E3-48A0-8A45-A56FF447B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8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56" name="Rectangle 40">
            <a:extLst>
              <a:ext uri="{FF2B5EF4-FFF2-40B4-BE49-F238E27FC236}">
                <a16:creationId xmlns:a16="http://schemas.microsoft.com/office/drawing/2014/main" id="{84D0293E-3004-4E54-ADED-3A0FD4941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9" y="3860801"/>
            <a:ext cx="34559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ограничения типа равенств.</a:t>
            </a:r>
          </a:p>
        </p:txBody>
      </p:sp>
      <p:sp>
        <p:nvSpPr>
          <p:cNvPr id="34857" name="Rectangle 41">
            <a:extLst>
              <a:ext uri="{FF2B5EF4-FFF2-40B4-BE49-F238E27FC236}">
                <a16:creationId xmlns:a16="http://schemas.microsoft.com/office/drawing/2014/main" id="{78F5A012-9347-4D99-A57C-62FEEB506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44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58" name="Object 42">
            <a:extLst>
              <a:ext uri="{FF2B5EF4-FFF2-40B4-BE49-F238E27FC236}">
                <a16:creationId xmlns:a16="http://schemas.microsoft.com/office/drawing/2014/main" id="{8476E3D9-936C-44E1-87FE-27F277EE5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4221163"/>
          <a:ext cx="2166937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4" name="Формула" r:id="rId15" imgW="1447800" imgH="241300" progId="Equation.3">
                  <p:embed/>
                </p:oleObj>
              </mc:Choice>
              <mc:Fallback>
                <p:oleObj name="Формула" r:id="rId15" imgW="1447800" imgH="241300" progId="Equation.3">
                  <p:embed/>
                  <p:pic>
                    <p:nvPicPr>
                      <p:cNvPr id="34858" name="Object 42">
                        <a:extLst>
                          <a:ext uri="{FF2B5EF4-FFF2-40B4-BE49-F238E27FC236}">
                            <a16:creationId xmlns:a16="http://schemas.microsoft.com/office/drawing/2014/main" id="{8476E3D9-936C-44E1-87FE-27F277EE5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4221163"/>
                        <a:ext cx="2166937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9" name="Rectangle 43">
            <a:extLst>
              <a:ext uri="{FF2B5EF4-FFF2-40B4-BE49-F238E27FC236}">
                <a16:creationId xmlns:a16="http://schemas.microsoft.com/office/drawing/2014/main" id="{AA895E22-DCAD-4CDD-849F-7E624ECA6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4219853"/>
            <a:ext cx="33171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– ограничения типа неравенств.</a:t>
            </a:r>
          </a:p>
        </p:txBody>
      </p:sp>
      <p:sp>
        <p:nvSpPr>
          <p:cNvPr id="34860" name="Rectangle 44">
            <a:extLst>
              <a:ext uri="{FF2B5EF4-FFF2-40B4-BE49-F238E27FC236}">
                <a16:creationId xmlns:a16="http://schemas.microsoft.com/office/drawing/2014/main" id="{71CFFD39-7B4B-4627-8982-9D838696A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4660901"/>
            <a:ext cx="3600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Обозначим множество индексов: </a:t>
            </a:r>
          </a:p>
        </p:txBody>
      </p:sp>
      <p:sp>
        <p:nvSpPr>
          <p:cNvPr id="34861" name="Rectangle 45">
            <a:extLst>
              <a:ext uri="{FF2B5EF4-FFF2-40B4-BE49-F238E27FC236}">
                <a16:creationId xmlns:a16="http://schemas.microsoft.com/office/drawing/2014/main" id="{D094CED0-FD18-498B-AECE-C206D6C98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62" name="Object 46">
            <a:extLst>
              <a:ext uri="{FF2B5EF4-FFF2-40B4-BE49-F238E27FC236}">
                <a16:creationId xmlns:a16="http://schemas.microsoft.com/office/drawing/2014/main" id="{7F8F5C8B-8F89-4D1B-860A-CDEAF35485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6750" y="4722813"/>
          <a:ext cx="18732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5" name="Формула" r:id="rId17" imgW="1231366" imgH="215806" progId="Equation.3">
                  <p:embed/>
                </p:oleObj>
              </mc:Choice>
              <mc:Fallback>
                <p:oleObj name="Формула" r:id="rId17" imgW="1231366" imgH="215806" progId="Equation.3">
                  <p:embed/>
                  <p:pic>
                    <p:nvPicPr>
                      <p:cNvPr id="34862" name="Object 46">
                        <a:extLst>
                          <a:ext uri="{FF2B5EF4-FFF2-40B4-BE49-F238E27FC236}">
                            <a16:creationId xmlns:a16="http://schemas.microsoft.com/office/drawing/2014/main" id="{7F8F5C8B-8F89-4D1B-860A-CDEAF35485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0" y="4722813"/>
                        <a:ext cx="18732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63" name="Rectangle 47">
            <a:extLst>
              <a:ext uri="{FF2B5EF4-FFF2-40B4-BE49-F238E27FC236}">
                <a16:creationId xmlns:a16="http://schemas.microsoft.com/office/drawing/2014/main" id="{0C5782A6-1BE5-4428-82F4-10FC29527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467677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130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96C0864-7D65-4712-A62E-7E25A988F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программирования.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532835F-8550-4E5C-AE28-74A0430DB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ограничения.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B4D1A311-3A51-4EDC-8E7D-685C1733D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8FF9F53B-B3B6-43C9-88A9-DA7CB9A32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E1A844C4-8558-479F-958F-E98F77D11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D0774A3B-0006-4ABE-A6C7-CC6128670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8" name="Rectangle 8">
            <a:extLst>
              <a:ext uri="{FF2B5EF4-FFF2-40B4-BE49-F238E27FC236}">
                <a16:creationId xmlns:a16="http://schemas.microsoft.com/office/drawing/2014/main" id="{3947E37B-2DE6-4B93-AC26-A36AC17E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50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89B7DE28-ED5A-4412-A089-8945DCD2B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50" name="Rectangle 10">
            <a:extLst>
              <a:ext uri="{FF2B5EF4-FFF2-40B4-BE49-F238E27FC236}">
                <a16:creationId xmlns:a16="http://schemas.microsoft.com/office/drawing/2014/main" id="{3C0E6A40-35FB-497F-A7C0-81B32D7CF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pic>
        <p:nvPicPr>
          <p:cNvPr id="35851" name="Picture 11" descr="81">
            <a:extLst>
              <a:ext uri="{FF2B5EF4-FFF2-40B4-BE49-F238E27FC236}">
                <a16:creationId xmlns:a16="http://schemas.microsoft.com/office/drawing/2014/main" id="{01F016FC-3BF7-4B45-8F2E-72AF7BC2E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6" y="2276475"/>
            <a:ext cx="611981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2" name="Rectangle 12">
            <a:extLst>
              <a:ext uri="{FF2B5EF4-FFF2-40B4-BE49-F238E27FC236}">
                <a16:creationId xmlns:a16="http://schemas.microsoft.com/office/drawing/2014/main" id="{BF0DEED5-6C54-4428-8098-036BC8D89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713289"/>
            <a:ext cx="8785225" cy="1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решения задачи происходит перемещение текущей точки из заданной начальной точки в конечную точку. При этом возможен выход на границу области допустимых решений  Х.  Такие нарушенные ограничения носят название активных.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Определение множества индексов активных ограничений:</a:t>
            </a:r>
          </a:p>
        </p:txBody>
      </p:sp>
      <p:sp>
        <p:nvSpPr>
          <p:cNvPr id="35853" name="Rectangle 13">
            <a:extLst>
              <a:ext uri="{FF2B5EF4-FFF2-40B4-BE49-F238E27FC236}">
                <a16:creationId xmlns:a16="http://schemas.microsoft.com/office/drawing/2014/main" id="{A1FC18D3-26C9-40AB-89C5-0903C3A0F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5854" name="Object 14">
            <a:extLst>
              <a:ext uri="{FF2B5EF4-FFF2-40B4-BE49-F238E27FC236}">
                <a16:creationId xmlns:a16="http://schemas.microsoft.com/office/drawing/2014/main" id="{F9B80A3A-5717-4AA6-B1F2-3BD0A7AC42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6011864"/>
          <a:ext cx="669766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Формула" r:id="rId4" imgW="3568700" imgH="254000" progId="Equation.3">
                  <p:embed/>
                </p:oleObj>
              </mc:Choice>
              <mc:Fallback>
                <p:oleObj name="Формула" r:id="rId4" imgW="3568700" imgH="254000" progId="Equation.3">
                  <p:embed/>
                  <p:pic>
                    <p:nvPicPr>
                      <p:cNvPr id="35854" name="Object 14">
                        <a:extLst>
                          <a:ext uri="{FF2B5EF4-FFF2-40B4-BE49-F238E27FC236}">
                            <a16:creationId xmlns:a16="http://schemas.microsoft.com/office/drawing/2014/main" id="{F9B80A3A-5717-4AA6-B1F2-3BD0A7AC4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6011864"/>
                        <a:ext cx="6697662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101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12ECA32-FDD5-4BE4-8582-273AC7957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Куна-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(функция Лагранжа) для задач выпуклого программирования (1951г.)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08C8F5B-1703-401E-8CDF-2B086710A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68" name="Object 4">
            <a:extLst>
              <a:ext uri="{FF2B5EF4-FFF2-40B4-BE49-F238E27FC236}">
                <a16:creationId xmlns:a16="http://schemas.microsoft.com/office/drawing/2014/main" id="{B376CB40-44CD-4FF8-B768-260E7A088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1237457"/>
          <a:ext cx="6480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9" name="Формула" r:id="rId3" imgW="2717800" imgH="444500" progId="Equation.3">
                  <p:embed/>
                </p:oleObj>
              </mc:Choice>
              <mc:Fallback>
                <p:oleObj name="Формула" r:id="rId3" imgW="2717800" imgH="444500" progId="Equation.3">
                  <p:embed/>
                  <p:pic>
                    <p:nvPicPr>
                      <p:cNvPr id="36868" name="Object 4">
                        <a:extLst>
                          <a:ext uri="{FF2B5EF4-FFF2-40B4-BE49-F238E27FC236}">
                            <a16:creationId xmlns:a16="http://schemas.microsoft.com/office/drawing/2014/main" id="{B376CB40-44CD-4FF8-B768-260E7A0889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1237457"/>
                        <a:ext cx="64801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5">
            <a:extLst>
              <a:ext uri="{FF2B5EF4-FFF2-40B4-BE49-F238E27FC236}">
                <a16:creationId xmlns:a16="http://schemas.microsoft.com/office/drawing/2014/main" id="{DEA141AA-B8D3-483C-8C83-AF1F20E39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236788"/>
            <a:ext cx="828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Продифференцируем функцию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по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и приравняем  0.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Если продифференцировать по 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то получим неравенства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82FA0B0F-B272-4F59-95BB-38C441828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8" y="2781300"/>
            <a:ext cx="86407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что не позволяет получить единственное решение. Противоречие состоит в том, что для ЗВП имеется единственное решение.</a:t>
            </a:r>
          </a:p>
        </p:txBody>
      </p:sp>
      <p:graphicFrame>
        <p:nvGraphicFramePr>
          <p:cNvPr id="36871" name="Object 7">
            <a:extLst>
              <a:ext uri="{FF2B5EF4-FFF2-40B4-BE49-F238E27FC236}">
                <a16:creationId xmlns:a16="http://schemas.microsoft.com/office/drawing/2014/main" id="{919BA163-98BA-4914-B20B-64D6BA1C43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01051" y="2565400"/>
          <a:ext cx="246063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" name="Формула" r:id="rId5" imgW="126835" imgH="152202" progId="Equation.3">
                  <p:embed/>
                </p:oleObj>
              </mc:Choice>
              <mc:Fallback>
                <p:oleObj name="Формула" r:id="rId5" imgW="126835" imgH="152202" progId="Equation.3">
                  <p:embed/>
                  <p:pic>
                    <p:nvPicPr>
                      <p:cNvPr id="36871" name="Object 7">
                        <a:extLst>
                          <a:ext uri="{FF2B5EF4-FFF2-40B4-BE49-F238E27FC236}">
                            <a16:creationId xmlns:a16="http://schemas.microsoft.com/office/drawing/2014/main" id="{919BA163-98BA-4914-B20B-64D6BA1C43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1051" y="2565400"/>
                        <a:ext cx="246063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8">
            <a:extLst>
              <a:ext uri="{FF2B5EF4-FFF2-40B4-BE49-F238E27FC236}">
                <a16:creationId xmlns:a16="http://schemas.microsoft.com/office/drawing/2014/main" id="{F3561B6D-C6FE-42C4-A54E-91AE5494F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2492376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i="1">
                <a:cs typeface="Times New Roman" panose="02020603050405020304" pitchFamily="18" charset="0"/>
              </a:rPr>
              <a:t>,</a:t>
            </a:r>
            <a:r>
              <a:rPr lang="ru-RU" altLang="ru-RU" sz="1800" i="1"/>
              <a:t> </a:t>
            </a:r>
          </a:p>
        </p:txBody>
      </p:sp>
      <p:sp>
        <p:nvSpPr>
          <p:cNvPr id="36873" name="Rectangle 9">
            <a:extLst>
              <a:ext uri="{FF2B5EF4-FFF2-40B4-BE49-F238E27FC236}">
                <a16:creationId xmlns:a16="http://schemas.microsoft.com/office/drawing/2014/main" id="{9457F506-3839-4D9E-9C81-867CF7EA9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014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74" name="Object 10">
            <a:extLst>
              <a:ext uri="{FF2B5EF4-FFF2-40B4-BE49-F238E27FC236}">
                <a16:creationId xmlns:a16="http://schemas.microsoft.com/office/drawing/2014/main" id="{84EE41A8-1A1E-41F9-AFC9-C0CCAE975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3357564"/>
          <a:ext cx="59769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" name="Формула" r:id="rId7" imgW="3746500" imgH="482600" progId="Equation.3">
                  <p:embed/>
                </p:oleObj>
              </mc:Choice>
              <mc:Fallback>
                <p:oleObj name="Формула" r:id="rId7" imgW="3746500" imgH="482600" progId="Equation.3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84EE41A8-1A1E-41F9-AFC9-C0CCAE975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3357564"/>
                        <a:ext cx="59769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75" name="Picture 11" descr="82">
            <a:extLst>
              <a:ext uri="{FF2B5EF4-FFF2-40B4-BE49-F238E27FC236}">
                <a16:creationId xmlns:a16="http://schemas.microsoft.com/office/drawing/2014/main" id="{DA0E5D57-7141-44F8-A9E9-8ACCA85A1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4076700"/>
            <a:ext cx="38877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6876" name="Object 12">
            <a:extLst>
              <a:ext uri="{FF2B5EF4-FFF2-40B4-BE49-F238E27FC236}">
                <a16:creationId xmlns:a16="http://schemas.microsoft.com/office/drawing/2014/main" id="{0D570C59-03EA-46F4-9BE1-D72AE36104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93238" y="4195764"/>
          <a:ext cx="9715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" name="Формула" r:id="rId10" imgW="469900" imgH="228600" progId="Equation.3">
                  <p:embed/>
                </p:oleObj>
              </mc:Choice>
              <mc:Fallback>
                <p:oleObj name="Формула" r:id="rId10" imgW="469900" imgH="228600" progId="Equation.3">
                  <p:embed/>
                  <p:pic>
                    <p:nvPicPr>
                      <p:cNvPr id="36876" name="Object 12">
                        <a:extLst>
                          <a:ext uri="{FF2B5EF4-FFF2-40B4-BE49-F238E27FC236}">
                            <a16:creationId xmlns:a16="http://schemas.microsoft.com/office/drawing/2014/main" id="{0D570C59-03EA-46F4-9BE1-D72AE36104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238" y="4195764"/>
                        <a:ext cx="9715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7" name="Rectangle 13">
            <a:extLst>
              <a:ext uri="{FF2B5EF4-FFF2-40B4-BE49-F238E27FC236}">
                <a16:creationId xmlns:a16="http://schemas.microsoft.com/office/drawing/2014/main" id="{2FB4F7CD-0303-409B-AFE0-8D4C7B660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4237038"/>
            <a:ext cx="443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>
                <a:cs typeface="Times New Roman" panose="02020603050405020304" pitchFamily="18" charset="0"/>
              </a:rPr>
              <a:t>Лемма</a:t>
            </a:r>
            <a:r>
              <a:rPr lang="ru-RU" altLang="ru-RU" sz="1800" b="1">
                <a:cs typeface="Times New Roman" panose="02020603050405020304" pitchFamily="18" charset="0"/>
              </a:rPr>
              <a:t>: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 целевой функции </a:t>
            </a:r>
          </a:p>
        </p:txBody>
      </p:sp>
      <p:sp>
        <p:nvSpPr>
          <p:cNvPr id="36878" name="Rectangle 14">
            <a:extLst>
              <a:ext uri="{FF2B5EF4-FFF2-40B4-BE49-F238E27FC236}">
                <a16:creationId xmlns:a16="http://schemas.microsoft.com/office/drawing/2014/main" id="{EC40C367-C395-4E74-83A5-4D6CE2E6F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4508500"/>
            <a:ext cx="47164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равен линейной комбинации градиентов функций ограничений в точке условного экстремума </a:t>
            </a:r>
          </a:p>
        </p:txBody>
      </p:sp>
      <p:sp>
        <p:nvSpPr>
          <p:cNvPr id="36879" name="Rectangle 15">
            <a:extLst>
              <a:ext uri="{FF2B5EF4-FFF2-40B4-BE49-F238E27FC236}">
                <a16:creationId xmlns:a16="http://schemas.microsoft.com/office/drawing/2014/main" id="{37F0F2D4-2756-425C-B094-5391657EE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1" y="5567363"/>
            <a:ext cx="3108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всех векторов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80" name="Rectangle 16">
            <a:extLst>
              <a:ext uri="{FF2B5EF4-FFF2-40B4-BE49-F238E27FC236}">
                <a16:creationId xmlns:a16="http://schemas.microsoft.com/office/drawing/2014/main" id="{2F07BD53-9B90-4769-B4D8-4D756D221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81" name="Object 17">
            <a:extLst>
              <a:ext uri="{FF2B5EF4-FFF2-40B4-BE49-F238E27FC236}">
                <a16:creationId xmlns:a16="http://schemas.microsoft.com/office/drawing/2014/main" id="{554FCDD4-7BC2-40AB-9EF8-6FA7F310C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8525" y="5003800"/>
          <a:ext cx="3810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3" name="Формула" r:id="rId12" imgW="177569" imgH="202936" progId="Equation.3">
                  <p:embed/>
                </p:oleObj>
              </mc:Choice>
              <mc:Fallback>
                <p:oleObj name="Формула" r:id="rId12" imgW="177569" imgH="202936" progId="Equation.3">
                  <p:embed/>
                  <p:pic>
                    <p:nvPicPr>
                      <p:cNvPr id="36881" name="Object 17">
                        <a:extLst>
                          <a:ext uri="{FF2B5EF4-FFF2-40B4-BE49-F238E27FC236}">
                            <a16:creationId xmlns:a16="http://schemas.microsoft.com/office/drawing/2014/main" id="{554FCDD4-7BC2-40AB-9EF8-6FA7F310C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5003800"/>
                        <a:ext cx="3810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2" name="Rectangle 18">
            <a:extLst>
              <a:ext uri="{FF2B5EF4-FFF2-40B4-BE49-F238E27FC236}">
                <a16:creationId xmlns:a16="http://schemas.microsoft.com/office/drawing/2014/main" id="{C30B51FB-04B0-4C98-B832-0C7EACA7A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3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83" name="Object 19">
            <a:extLst>
              <a:ext uri="{FF2B5EF4-FFF2-40B4-BE49-F238E27FC236}">
                <a16:creationId xmlns:a16="http://schemas.microsoft.com/office/drawing/2014/main" id="{CD84844A-AC5E-4654-AA15-C29138EE1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6476" y="5445125"/>
          <a:ext cx="3311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4" name="Формула" r:id="rId14" imgW="2114858" imgH="552388" progId="Equation.3">
                  <p:embed/>
                </p:oleObj>
              </mc:Choice>
              <mc:Fallback>
                <p:oleObj name="Формула" r:id="rId14" imgW="2114858" imgH="552388" progId="Equation.3">
                  <p:embed/>
                  <p:pic>
                    <p:nvPicPr>
                      <p:cNvPr id="36883" name="Object 19">
                        <a:extLst>
                          <a:ext uri="{FF2B5EF4-FFF2-40B4-BE49-F238E27FC236}">
                            <a16:creationId xmlns:a16="http://schemas.microsoft.com/office/drawing/2014/main" id="{CD84844A-AC5E-4654-AA15-C29138EE1A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476" y="5445125"/>
                        <a:ext cx="33115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4" name="Rectangle 20">
            <a:extLst>
              <a:ext uri="{FF2B5EF4-FFF2-40B4-BE49-F238E27FC236}">
                <a16:creationId xmlns:a16="http://schemas.microsoft.com/office/drawing/2014/main" id="{0C39AF10-1D84-4230-9D0E-E37C10E88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6019800"/>
            <a:ext cx="52276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множеством 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возможных направлений</a:t>
            </a:r>
            <a:r>
              <a:rPr lang="ru-RU" altLang="ru-RU" sz="1800" b="1" i="1"/>
              <a:t>.</a:t>
            </a:r>
          </a:p>
        </p:txBody>
      </p:sp>
      <p:sp>
        <p:nvSpPr>
          <p:cNvPr id="36885" name="Rectangle 21">
            <a:extLst>
              <a:ext uri="{FF2B5EF4-FFF2-40B4-BE49-F238E27FC236}">
                <a16:creationId xmlns:a16="http://schemas.microsoft.com/office/drawing/2014/main" id="{C27408B2-BEBB-4560-8387-9C2EC602E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86" name="Object 22">
            <a:extLst>
              <a:ext uri="{FF2B5EF4-FFF2-40B4-BE49-F238E27FC236}">
                <a16:creationId xmlns:a16="http://schemas.microsoft.com/office/drawing/2014/main" id="{B608EA14-EE53-4122-BCF4-0CCDD7B9CF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1426" y="4968875"/>
          <a:ext cx="30591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5" name="Формула" r:id="rId16" imgW="2590800" imgH="444500" progId="Equation.3">
                  <p:embed/>
                </p:oleObj>
              </mc:Choice>
              <mc:Fallback>
                <p:oleObj name="Формула" r:id="rId16" imgW="2590800" imgH="444500" progId="Equation.3">
                  <p:embed/>
                  <p:pic>
                    <p:nvPicPr>
                      <p:cNvPr id="36886" name="Object 22">
                        <a:extLst>
                          <a:ext uri="{FF2B5EF4-FFF2-40B4-BE49-F238E27FC236}">
                            <a16:creationId xmlns:a16="http://schemas.microsoft.com/office/drawing/2014/main" id="{B608EA14-EE53-4122-BCF4-0CCDD7B9CF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1426" y="4968875"/>
                        <a:ext cx="30591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7" name="Rectangle 23">
            <a:extLst>
              <a:ext uri="{FF2B5EF4-FFF2-40B4-BE49-F238E27FC236}">
                <a16:creationId xmlns:a16="http://schemas.microsoft.com/office/drawing/2014/main" id="{577836F5-3504-40A5-A1F4-A0ED292D9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3" y="50847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47591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D1E50D9-D651-49C5-873A-B736FA0E7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9213"/>
            <a:ext cx="10515600" cy="1325563"/>
          </a:xfrm>
        </p:spPr>
        <p:txBody>
          <a:bodyPr/>
          <a:lstStyle/>
          <a:p>
            <a:pPr algn="ctr"/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Каруша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-Куна-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endParaRPr lang="ru-RU" alt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96D645F-7F64-41C2-9C98-8DFFCCE6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5BADCB02-E897-48D2-96DF-934167483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F0A75952-EAC5-40C6-813B-5376FD184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36F8FCDA-1658-4849-B7F8-474177D04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CD4A7C20-3A0F-4821-A2F8-1E4D0F8F6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D471B79B-F2CE-41F7-B85F-D96F7DDE0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1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7" name="Rectangle 9">
            <a:extLst>
              <a:ext uri="{FF2B5EF4-FFF2-40B4-BE49-F238E27FC236}">
                <a16:creationId xmlns:a16="http://schemas.microsoft.com/office/drawing/2014/main" id="{52468DDB-3281-45AF-B627-93BD439B8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8" name="Rectangle 10">
            <a:extLst>
              <a:ext uri="{FF2B5EF4-FFF2-40B4-BE49-F238E27FC236}">
                <a16:creationId xmlns:a16="http://schemas.microsoft.com/office/drawing/2014/main" id="{D0ADD8C7-31F0-4301-9828-F66A73604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9" name="Rectangle 11">
            <a:extLst>
              <a:ext uri="{FF2B5EF4-FFF2-40B4-BE49-F238E27FC236}">
                <a16:creationId xmlns:a16="http://schemas.microsoft.com/office/drawing/2014/main" id="{01B3725B-238D-4EC9-8388-92E15E24B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0" name="Rectangle 12">
            <a:extLst>
              <a:ext uri="{FF2B5EF4-FFF2-40B4-BE49-F238E27FC236}">
                <a16:creationId xmlns:a16="http://schemas.microsoft.com/office/drawing/2014/main" id="{D4BEA4D1-0DFC-4380-AE80-029332B23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6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1" name="Rectangle 13">
            <a:extLst>
              <a:ext uri="{FF2B5EF4-FFF2-40B4-BE49-F238E27FC236}">
                <a16:creationId xmlns:a16="http://schemas.microsoft.com/office/drawing/2014/main" id="{B49A8825-D517-49A6-903C-ECD87E969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2" name="Rectangle 14">
            <a:extLst>
              <a:ext uri="{FF2B5EF4-FFF2-40B4-BE49-F238E27FC236}">
                <a16:creationId xmlns:a16="http://schemas.microsoft.com/office/drawing/2014/main" id="{D320873E-7722-45BB-B5DB-870CFD7CE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3" name="Rectangle 15">
            <a:extLst>
              <a:ext uri="{FF2B5EF4-FFF2-40B4-BE49-F238E27FC236}">
                <a16:creationId xmlns:a16="http://schemas.microsoft.com/office/drawing/2014/main" id="{EE3B1C5A-9C06-4E74-A7E3-DCFDFD2E4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951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4" name="Rectangle 16">
            <a:extLst>
              <a:ext uri="{FF2B5EF4-FFF2-40B4-BE49-F238E27FC236}">
                <a16:creationId xmlns:a16="http://schemas.microsoft.com/office/drawing/2014/main" id="{D286718D-52E0-4C3F-B9B2-188CD03E1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8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5" name="Rectangle 17">
            <a:extLst>
              <a:ext uri="{FF2B5EF4-FFF2-40B4-BE49-F238E27FC236}">
                <a16:creationId xmlns:a16="http://schemas.microsoft.com/office/drawing/2014/main" id="{01D97DF4-B325-44D9-B2E3-69CD6B5C0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6" name="Rectangle 18">
            <a:extLst>
              <a:ext uri="{FF2B5EF4-FFF2-40B4-BE49-F238E27FC236}">
                <a16:creationId xmlns:a16="http://schemas.microsoft.com/office/drawing/2014/main" id="{C3F4ED63-47D0-46F2-9346-6A97C9795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7" name="Rectangle 19">
            <a:extLst>
              <a:ext uri="{FF2B5EF4-FFF2-40B4-BE49-F238E27FC236}">
                <a16:creationId xmlns:a16="http://schemas.microsoft.com/office/drawing/2014/main" id="{396ABDFB-182E-492B-AEF3-F9C97123A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8" name="Rectangle 20">
            <a:extLst>
              <a:ext uri="{FF2B5EF4-FFF2-40B4-BE49-F238E27FC236}">
                <a16:creationId xmlns:a16="http://schemas.microsoft.com/office/drawing/2014/main" id="{AF1FB187-01BB-4D9F-94D2-495137C3E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9" name="Rectangle 21">
            <a:extLst>
              <a:ext uri="{FF2B5EF4-FFF2-40B4-BE49-F238E27FC236}">
                <a16:creationId xmlns:a16="http://schemas.microsoft.com/office/drawing/2014/main" id="{201963E6-7C72-404D-AB0C-181A063E2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10" name="Rectangle 22">
            <a:extLst>
              <a:ext uri="{FF2B5EF4-FFF2-40B4-BE49-F238E27FC236}">
                <a16:creationId xmlns:a16="http://schemas.microsoft.com/office/drawing/2014/main" id="{F607EF9C-B120-4F9A-A20B-9456DA01C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1266825"/>
            <a:ext cx="51577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задачу выпуклого программирования </a:t>
            </a:r>
          </a:p>
        </p:txBody>
      </p:sp>
      <p:graphicFrame>
        <p:nvGraphicFramePr>
          <p:cNvPr id="37911" name="Object 23">
            <a:extLst>
              <a:ext uri="{FF2B5EF4-FFF2-40B4-BE49-F238E27FC236}">
                <a16:creationId xmlns:a16="http://schemas.microsoft.com/office/drawing/2014/main" id="{987B7E0D-C203-4DAB-9228-1B232AD79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1773239"/>
          <a:ext cx="36718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" name="Формула" r:id="rId3" imgW="2387600" imgH="228600" progId="Equation.3">
                  <p:embed/>
                </p:oleObj>
              </mc:Choice>
              <mc:Fallback>
                <p:oleObj name="Формула" r:id="rId3" imgW="2387600" imgH="228600" progId="Equation.3">
                  <p:embed/>
                  <p:pic>
                    <p:nvPicPr>
                      <p:cNvPr id="37911" name="Object 23">
                        <a:extLst>
                          <a:ext uri="{FF2B5EF4-FFF2-40B4-BE49-F238E27FC236}">
                            <a16:creationId xmlns:a16="http://schemas.microsoft.com/office/drawing/2014/main" id="{987B7E0D-C203-4DAB-9228-1B232AD79D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773239"/>
                        <a:ext cx="3671888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24">
            <a:extLst>
              <a:ext uri="{FF2B5EF4-FFF2-40B4-BE49-F238E27FC236}">
                <a16:creationId xmlns:a16="http://schemas.microsoft.com/office/drawing/2014/main" id="{8B373409-10D4-40F6-9EE2-79B996CAD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2276475"/>
          <a:ext cx="38163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" name="Формула" r:id="rId5" imgW="2438400" imgH="228600" progId="Equation.3">
                  <p:embed/>
                </p:oleObj>
              </mc:Choice>
              <mc:Fallback>
                <p:oleObj name="Формула" r:id="rId5" imgW="2438400" imgH="228600" progId="Equation.3">
                  <p:embed/>
                  <p:pic>
                    <p:nvPicPr>
                      <p:cNvPr id="37912" name="Object 24">
                        <a:extLst>
                          <a:ext uri="{FF2B5EF4-FFF2-40B4-BE49-F238E27FC236}">
                            <a16:creationId xmlns:a16="http://schemas.microsoft.com/office/drawing/2014/main" id="{8B373409-10D4-40F6-9EE2-79B996CAD7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276475"/>
                        <a:ext cx="38163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3" name="Rectangle 25">
            <a:extLst>
              <a:ext uri="{FF2B5EF4-FFF2-40B4-BE49-F238E27FC236}">
                <a16:creationId xmlns:a16="http://schemas.microsoft.com/office/drawing/2014/main" id="{AFD2F35F-C4B3-4402-8449-03BE176AC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1727201"/>
            <a:ext cx="201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37914" name="Rectangle 26">
            <a:extLst>
              <a:ext uri="{FF2B5EF4-FFF2-40B4-BE49-F238E27FC236}">
                <a16:creationId xmlns:a16="http://schemas.microsoft.com/office/drawing/2014/main" id="{62141F3B-BEE8-4F58-9AB2-F16DCA06B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2205038"/>
            <a:ext cx="546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  </a:t>
            </a:r>
            <a:r>
              <a:rPr lang="en-US" altLang="ru-RU" sz="1800">
                <a:cs typeface="Times New Roman" panose="02020603050405020304" pitchFamily="18" charset="0"/>
              </a:rPr>
              <a:t>g</a:t>
            </a:r>
            <a:r>
              <a:rPr lang="ru-RU" altLang="ru-RU" sz="1800">
                <a:cs typeface="Times New Roman" panose="02020603050405020304" pitchFamily="18" charset="0"/>
              </a:rPr>
              <a:t>: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15" name="Rectangle 27">
            <a:extLst>
              <a:ext uri="{FF2B5EF4-FFF2-40B4-BE49-F238E27FC236}">
                <a16:creationId xmlns:a16="http://schemas.microsoft.com/office/drawing/2014/main" id="{E69103B1-465D-4210-8CD2-2B85E084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2635250"/>
            <a:ext cx="19240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найти: </a:t>
            </a:r>
          </a:p>
        </p:txBody>
      </p:sp>
      <p:sp>
        <p:nvSpPr>
          <p:cNvPr id="37916" name="Rectangle 28">
            <a:extLst>
              <a:ext uri="{FF2B5EF4-FFF2-40B4-BE49-F238E27FC236}">
                <a16:creationId xmlns:a16="http://schemas.microsoft.com/office/drawing/2014/main" id="{39B4AF7D-2A1A-41ED-B273-A7964133F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7917" name="Object 29">
            <a:extLst>
              <a:ext uri="{FF2B5EF4-FFF2-40B4-BE49-F238E27FC236}">
                <a16:creationId xmlns:a16="http://schemas.microsoft.com/office/drawing/2014/main" id="{E342AE8B-725D-4816-BC60-B41AB32CEB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0238" y="2636839"/>
          <a:ext cx="20891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" name="Формула" r:id="rId7" imgW="1155700" imgH="228600" progId="Equation.3">
                  <p:embed/>
                </p:oleObj>
              </mc:Choice>
              <mc:Fallback>
                <p:oleObj name="Формула" r:id="rId7" imgW="1155700" imgH="228600" progId="Equation.3">
                  <p:embed/>
                  <p:pic>
                    <p:nvPicPr>
                      <p:cNvPr id="37917" name="Object 29">
                        <a:extLst>
                          <a:ext uri="{FF2B5EF4-FFF2-40B4-BE49-F238E27FC236}">
                            <a16:creationId xmlns:a16="http://schemas.microsoft.com/office/drawing/2014/main" id="{E342AE8B-725D-4816-BC60-B41AB32CEB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2636839"/>
                        <a:ext cx="20891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8" name="Rectangle 30">
            <a:extLst>
              <a:ext uri="{FF2B5EF4-FFF2-40B4-BE49-F238E27FC236}">
                <a16:creationId xmlns:a16="http://schemas.microsoft.com/office/drawing/2014/main" id="{41B646B3-3C8E-4524-89A6-5BDB5ED6E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2636838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graphicFrame>
        <p:nvGraphicFramePr>
          <p:cNvPr id="37919" name="Object 31">
            <a:extLst>
              <a:ext uri="{FF2B5EF4-FFF2-40B4-BE49-F238E27FC236}">
                <a16:creationId xmlns:a16="http://schemas.microsoft.com/office/drawing/2014/main" id="{F329B8DA-AD10-44C4-A3EC-8FF8A39B7F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3701" y="2708276"/>
          <a:ext cx="7207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6" name="Формула" r:id="rId9" imgW="405872" imgH="177569" progId="Equation.3">
                  <p:embed/>
                </p:oleObj>
              </mc:Choice>
              <mc:Fallback>
                <p:oleObj name="Формула" r:id="rId9" imgW="405872" imgH="177569" progId="Equation.3">
                  <p:embed/>
                  <p:pic>
                    <p:nvPicPr>
                      <p:cNvPr id="37919" name="Object 31">
                        <a:extLst>
                          <a:ext uri="{FF2B5EF4-FFF2-40B4-BE49-F238E27FC236}">
                            <a16:creationId xmlns:a16="http://schemas.microsoft.com/office/drawing/2014/main" id="{F329B8DA-AD10-44C4-A3EC-8FF8A39B7F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2708276"/>
                        <a:ext cx="7207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0" name="Rectangle 32">
            <a:extLst>
              <a:ext uri="{FF2B5EF4-FFF2-40B4-BE49-F238E27FC236}">
                <a16:creationId xmlns:a16="http://schemas.microsoft.com/office/drawing/2014/main" id="{ED9EB4E9-D856-4B9E-9CFC-A4DC91CB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6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7921" name="Object 33">
            <a:extLst>
              <a:ext uri="{FF2B5EF4-FFF2-40B4-BE49-F238E27FC236}">
                <a16:creationId xmlns:a16="http://schemas.microsoft.com/office/drawing/2014/main" id="{7C976313-C7AE-441C-ACBA-367E1BB005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2997201"/>
          <a:ext cx="252095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7" name="Формула" r:id="rId11" imgW="1333500" imgH="698500" progId="Equation.3">
                  <p:embed/>
                </p:oleObj>
              </mc:Choice>
              <mc:Fallback>
                <p:oleObj name="Формула" r:id="rId11" imgW="1333500" imgH="698500" progId="Equation.3">
                  <p:embed/>
                  <p:pic>
                    <p:nvPicPr>
                      <p:cNvPr id="37921" name="Object 33">
                        <a:extLst>
                          <a:ext uri="{FF2B5EF4-FFF2-40B4-BE49-F238E27FC236}">
                            <a16:creationId xmlns:a16="http://schemas.microsoft.com/office/drawing/2014/main" id="{7C976313-C7AE-441C-ACBA-367E1BB005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997201"/>
                        <a:ext cx="252095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2" name="Rectangle 34">
            <a:extLst>
              <a:ext uri="{FF2B5EF4-FFF2-40B4-BE49-F238E27FC236}">
                <a16:creationId xmlns:a16="http://schemas.microsoft.com/office/drawing/2014/main" id="{49F1817A-5DDA-450F-A4B2-DD335B656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789" y="3870325"/>
            <a:ext cx="53292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решение ЗВП должно удовлетворять следующим условиям:</a:t>
            </a:r>
          </a:p>
        </p:txBody>
      </p:sp>
      <p:sp>
        <p:nvSpPr>
          <p:cNvPr id="37923" name="Rectangle 35">
            <a:extLst>
              <a:ext uri="{FF2B5EF4-FFF2-40B4-BE49-F238E27FC236}">
                <a16:creationId xmlns:a16="http://schemas.microsoft.com/office/drawing/2014/main" id="{A7F00F70-52DB-4D92-B283-8AF28C2F8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4" y="2924176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24" name="Rectangle 36">
            <a:extLst>
              <a:ext uri="{FF2B5EF4-FFF2-40B4-BE49-F238E27FC236}">
                <a16:creationId xmlns:a16="http://schemas.microsoft.com/office/drawing/2014/main" id="{FF559F77-C9F5-476B-BC93-CEBB78A0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33575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25" name="Rectangle 37">
            <a:extLst>
              <a:ext uri="{FF2B5EF4-FFF2-40B4-BE49-F238E27FC236}">
                <a16:creationId xmlns:a16="http://schemas.microsoft.com/office/drawing/2014/main" id="{EF51204A-0BDD-415C-AE11-0094897C1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1" y="3932238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26" name="Rectangle 38">
            <a:extLst>
              <a:ext uri="{FF2B5EF4-FFF2-40B4-BE49-F238E27FC236}">
                <a16:creationId xmlns:a16="http://schemas.microsoft.com/office/drawing/2014/main" id="{F365CB8D-6BC2-428E-B284-29C1E9FAF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20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7927" name="Object 39">
            <a:extLst>
              <a:ext uri="{FF2B5EF4-FFF2-40B4-BE49-F238E27FC236}">
                <a16:creationId xmlns:a16="http://schemas.microsoft.com/office/drawing/2014/main" id="{AE424532-887A-4066-AA28-A6082641DC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6" y="4437063"/>
          <a:ext cx="4906963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" name="Формула" r:id="rId13" imgW="2717800" imgH="1447800" progId="Equation.3">
                  <p:embed/>
                </p:oleObj>
              </mc:Choice>
              <mc:Fallback>
                <p:oleObj name="Формула" r:id="rId13" imgW="2717800" imgH="1447800" progId="Equation.3">
                  <p:embed/>
                  <p:pic>
                    <p:nvPicPr>
                      <p:cNvPr id="37927" name="Object 39">
                        <a:extLst>
                          <a:ext uri="{FF2B5EF4-FFF2-40B4-BE49-F238E27FC236}">
                            <a16:creationId xmlns:a16="http://schemas.microsoft.com/office/drawing/2014/main" id="{AE424532-887A-4066-AA28-A6082641DC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6" y="4437063"/>
                        <a:ext cx="4906963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8" name="Rectangle 40">
            <a:extLst>
              <a:ext uri="{FF2B5EF4-FFF2-40B4-BE49-F238E27FC236}">
                <a16:creationId xmlns:a16="http://schemas.microsoft.com/office/drawing/2014/main" id="{C011ADDF-1001-4511-8525-1AF27A845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1" y="4535488"/>
            <a:ext cx="3744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 эти условия выполнены, то </a:t>
            </a:r>
          </a:p>
        </p:txBody>
      </p:sp>
      <p:graphicFrame>
        <p:nvGraphicFramePr>
          <p:cNvPr id="37929" name="Object 41">
            <a:extLst>
              <a:ext uri="{FF2B5EF4-FFF2-40B4-BE49-F238E27FC236}">
                <a16:creationId xmlns:a16="http://schemas.microsoft.com/office/drawing/2014/main" id="{460650A5-9DB9-455D-A1DC-5D95C030CC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726" y="4797425"/>
          <a:ext cx="461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37929" name="Object 41">
                        <a:extLst>
                          <a:ext uri="{FF2B5EF4-FFF2-40B4-BE49-F238E27FC236}">
                            <a16:creationId xmlns:a16="http://schemas.microsoft.com/office/drawing/2014/main" id="{460650A5-9DB9-455D-A1DC-5D95C030CC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4797425"/>
                        <a:ext cx="4619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0" name="Rectangle 42">
            <a:extLst>
              <a:ext uri="{FF2B5EF4-FFF2-40B4-BE49-F238E27FC236}">
                <a16:creationId xmlns:a16="http://schemas.microsoft.com/office/drawing/2014/main" id="{E5664EBF-1659-4CCB-A52A-7755BB9B3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4868863"/>
            <a:ext cx="2592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решение ЗВП.</a:t>
            </a:r>
          </a:p>
        </p:txBody>
      </p:sp>
      <p:sp>
        <p:nvSpPr>
          <p:cNvPr id="37931" name="Rectangle 43">
            <a:extLst>
              <a:ext uri="{FF2B5EF4-FFF2-40B4-BE49-F238E27FC236}">
                <a16:creationId xmlns:a16="http://schemas.microsoft.com/office/drawing/2014/main" id="{74676687-89BF-4CA5-9443-3BB7DEFDF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6" y="5451476"/>
            <a:ext cx="1223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Условия: </a:t>
            </a:r>
          </a:p>
        </p:txBody>
      </p:sp>
      <p:sp>
        <p:nvSpPr>
          <p:cNvPr id="37932" name="Rectangle 44">
            <a:extLst>
              <a:ext uri="{FF2B5EF4-FFF2-40B4-BE49-F238E27FC236}">
                <a16:creationId xmlns:a16="http://schemas.microsoft.com/office/drawing/2014/main" id="{B9BB52BC-2827-46BE-9884-1A92376B5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5740400"/>
            <a:ext cx="3744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называются 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условиями дополняющей нежесткости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7933" name="Rectangle 45">
            <a:extLst>
              <a:ext uri="{FF2B5EF4-FFF2-40B4-BE49-F238E27FC236}">
                <a16:creationId xmlns:a16="http://schemas.microsoft.com/office/drawing/2014/main" id="{02A4B00D-D6DA-4C55-9642-4B603174D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44370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34" name="Rectangle 46">
            <a:extLst>
              <a:ext uri="{FF2B5EF4-FFF2-40B4-BE49-F238E27FC236}">
                <a16:creationId xmlns:a16="http://schemas.microsoft.com/office/drawing/2014/main" id="{E4898BC0-5941-4E51-B35A-9F990202B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4" y="5876926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35" name="Rectangle 47">
            <a:extLst>
              <a:ext uri="{FF2B5EF4-FFF2-40B4-BE49-F238E27FC236}">
                <a16:creationId xmlns:a16="http://schemas.microsoft.com/office/drawing/2014/main" id="{1DE7D5CF-CAE0-4D15-8017-01C2D860C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23728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37936" name="Rectangle 48">
            <a:extLst>
              <a:ext uri="{FF2B5EF4-FFF2-40B4-BE49-F238E27FC236}">
                <a16:creationId xmlns:a16="http://schemas.microsoft.com/office/drawing/2014/main" id="{DC1A6022-B964-4741-A474-ABCBBCD8D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5300663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5084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FD51C3F-FB4D-456F-9EBC-D861A9585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двойственности</a:t>
            </a:r>
            <a:endParaRPr lang="ru-RU" altLang="ru-RU" sz="36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D61AA16-C9E2-4917-84B8-F807CE96D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AA3329CE-A428-4742-B886-4B91C1436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92D610A8-624B-4F1C-8B16-2DBA409C8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3646B09E-9810-4179-92CD-DBF2578AC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F2088A14-6E00-4A90-8FD1-32E25DACD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93A51D5C-93E9-4303-B4D3-E89DE83B5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1" name="Rectangle 9">
            <a:extLst>
              <a:ext uri="{FF2B5EF4-FFF2-40B4-BE49-F238E27FC236}">
                <a16:creationId xmlns:a16="http://schemas.microsoft.com/office/drawing/2014/main" id="{DAB805FE-1D7C-4E5A-B051-BD6136A4D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2" name="Rectangle 10">
            <a:extLst>
              <a:ext uri="{FF2B5EF4-FFF2-40B4-BE49-F238E27FC236}">
                <a16:creationId xmlns:a16="http://schemas.microsoft.com/office/drawing/2014/main" id="{F8F1DE2F-917A-4C85-B5FA-9513A12E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3" name="Rectangle 11">
            <a:extLst>
              <a:ext uri="{FF2B5EF4-FFF2-40B4-BE49-F238E27FC236}">
                <a16:creationId xmlns:a16="http://schemas.microsoft.com/office/drawing/2014/main" id="{584AD6E2-6DAA-4219-9AC5-737634A9A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4" name="Rectangle 12">
            <a:extLst>
              <a:ext uri="{FF2B5EF4-FFF2-40B4-BE49-F238E27FC236}">
                <a16:creationId xmlns:a16="http://schemas.microsoft.com/office/drawing/2014/main" id="{0AA5DECF-7E47-48A4-887D-89306847C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5" name="Rectangle 13">
            <a:extLst>
              <a:ext uri="{FF2B5EF4-FFF2-40B4-BE49-F238E27FC236}">
                <a16:creationId xmlns:a16="http://schemas.microsoft.com/office/drawing/2014/main" id="{800F6395-2A1B-4EAF-B75D-DF2481EF5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6" name="Rectangle 14">
            <a:extLst>
              <a:ext uri="{FF2B5EF4-FFF2-40B4-BE49-F238E27FC236}">
                <a16:creationId xmlns:a16="http://schemas.microsoft.com/office/drawing/2014/main" id="{E26356FA-710D-4BDD-9391-EFFAD4911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96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7" name="Rectangle 15">
            <a:extLst>
              <a:ext uri="{FF2B5EF4-FFF2-40B4-BE49-F238E27FC236}">
                <a16:creationId xmlns:a16="http://schemas.microsoft.com/office/drawing/2014/main" id="{10033FCC-13B9-432C-A56D-E3CFEF619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393795"/>
            <a:ext cx="822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Седловая точка функции Лагранжа. Двойственность.</a:t>
            </a:r>
          </a:p>
        </p:txBody>
      </p:sp>
      <p:sp>
        <p:nvSpPr>
          <p:cNvPr id="38928" name="Rectangle 16">
            <a:extLst>
              <a:ext uri="{FF2B5EF4-FFF2-40B4-BE49-F238E27FC236}">
                <a16:creationId xmlns:a16="http://schemas.microsoft.com/office/drawing/2014/main" id="{009D886F-E3FB-4BAB-8AC7-78096A683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9" name="Rectangle 17">
            <a:extLst>
              <a:ext uri="{FF2B5EF4-FFF2-40B4-BE49-F238E27FC236}">
                <a16:creationId xmlns:a16="http://schemas.microsoft.com/office/drawing/2014/main" id="{08115F82-5392-4F03-BBBB-CF4DF58E5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0" name="Rectangle 18">
            <a:extLst>
              <a:ext uri="{FF2B5EF4-FFF2-40B4-BE49-F238E27FC236}">
                <a16:creationId xmlns:a16="http://schemas.microsoft.com/office/drawing/2014/main" id="{5ED0330F-87CC-496C-A915-56B8D48C9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1" name="Rectangle 19">
            <a:extLst>
              <a:ext uri="{FF2B5EF4-FFF2-40B4-BE49-F238E27FC236}">
                <a16:creationId xmlns:a16="http://schemas.microsoft.com/office/drawing/2014/main" id="{182355BB-276A-4B93-8695-B2705A1F3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2977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2" name="Rectangle 20">
            <a:extLst>
              <a:ext uri="{FF2B5EF4-FFF2-40B4-BE49-F238E27FC236}">
                <a16:creationId xmlns:a16="http://schemas.microsoft.com/office/drawing/2014/main" id="{E63C102F-6E95-423C-A863-238C7F4EC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3" name="Rectangle 21">
            <a:extLst>
              <a:ext uri="{FF2B5EF4-FFF2-40B4-BE49-F238E27FC236}">
                <a16:creationId xmlns:a16="http://schemas.microsoft.com/office/drawing/2014/main" id="{FB6ADC7A-6D91-4090-851E-10563113F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427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4" name="Rectangle 22">
            <a:extLst>
              <a:ext uri="{FF2B5EF4-FFF2-40B4-BE49-F238E27FC236}">
                <a16:creationId xmlns:a16="http://schemas.microsoft.com/office/drawing/2014/main" id="{CC12E606-DEC9-423D-B91F-F7D6058EB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5" name="Rectangle 23">
            <a:extLst>
              <a:ext uri="{FF2B5EF4-FFF2-40B4-BE49-F238E27FC236}">
                <a16:creationId xmlns:a16="http://schemas.microsoft.com/office/drawing/2014/main" id="{0088EBBB-EBB8-4000-9EE5-DB3FC2DF5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458152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38936" name="Rectangle 24">
            <a:extLst>
              <a:ext uri="{FF2B5EF4-FFF2-40B4-BE49-F238E27FC236}">
                <a16:creationId xmlns:a16="http://schemas.microsoft.com/office/drawing/2014/main" id="{645A654C-1355-4BA6-9EC6-E8C45A9E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3500438"/>
            <a:ext cx="54721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функция Лагранжа может быть записана:</a:t>
            </a:r>
          </a:p>
        </p:txBody>
      </p:sp>
      <p:sp>
        <p:nvSpPr>
          <p:cNvPr id="38937" name="Rectangle 25">
            <a:extLst>
              <a:ext uri="{FF2B5EF4-FFF2-40B4-BE49-F238E27FC236}">
                <a16:creationId xmlns:a16="http://schemas.microsoft.com/office/drawing/2014/main" id="{2FD3C868-4F90-450C-B5A1-93AB08FC4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1985963"/>
            <a:ext cx="65008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упрощенную задачу выпуклого программирования.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заданы условия на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и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как и ранее.</a:t>
            </a:r>
          </a:p>
        </p:txBody>
      </p:sp>
      <p:sp>
        <p:nvSpPr>
          <p:cNvPr id="38938" name="Rectangle 26">
            <a:extLst>
              <a:ext uri="{FF2B5EF4-FFF2-40B4-BE49-F238E27FC236}">
                <a16:creationId xmlns:a16="http://schemas.microsoft.com/office/drawing/2014/main" id="{0430946C-F1DB-4F6C-9D3D-29CD7B82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8939" name="Object 27">
            <a:extLst>
              <a:ext uri="{FF2B5EF4-FFF2-40B4-BE49-F238E27FC236}">
                <a16:creationId xmlns:a16="http://schemas.microsoft.com/office/drawing/2014/main" id="{10A1047D-C789-40BD-8886-840F2F25C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9" y="2636838"/>
          <a:ext cx="2447925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" name="Формула" r:id="rId3" imgW="1270000" imgH="736600" progId="Equation.3">
                  <p:embed/>
                </p:oleObj>
              </mc:Choice>
              <mc:Fallback>
                <p:oleObj name="Формула" r:id="rId3" imgW="1270000" imgH="736600" progId="Equation.3">
                  <p:embed/>
                  <p:pic>
                    <p:nvPicPr>
                      <p:cNvPr id="38939" name="Object 27">
                        <a:extLst>
                          <a:ext uri="{FF2B5EF4-FFF2-40B4-BE49-F238E27FC236}">
                            <a16:creationId xmlns:a16="http://schemas.microsoft.com/office/drawing/2014/main" id="{10A1047D-C789-40BD-8886-840F2F25C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9" y="2636838"/>
                        <a:ext cx="2447925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0" name="Rectangle 28">
            <a:extLst>
              <a:ext uri="{FF2B5EF4-FFF2-40B4-BE49-F238E27FC236}">
                <a16:creationId xmlns:a16="http://schemas.microsoft.com/office/drawing/2014/main" id="{474D0E0E-3641-4D87-84C6-E222D26F3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8941" name="Object 29">
            <a:extLst>
              <a:ext uri="{FF2B5EF4-FFF2-40B4-BE49-F238E27FC236}">
                <a16:creationId xmlns:a16="http://schemas.microsoft.com/office/drawing/2014/main" id="{F55A9E61-0A57-4278-8379-22C103698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3860801"/>
          <a:ext cx="28813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" name="Формула" r:id="rId5" imgW="1739900" imgH="444500" progId="Equation.3">
                  <p:embed/>
                </p:oleObj>
              </mc:Choice>
              <mc:Fallback>
                <p:oleObj name="Формула" r:id="rId5" imgW="1739900" imgH="444500" progId="Equation.3">
                  <p:embed/>
                  <p:pic>
                    <p:nvPicPr>
                      <p:cNvPr id="38941" name="Object 29">
                        <a:extLst>
                          <a:ext uri="{FF2B5EF4-FFF2-40B4-BE49-F238E27FC236}">
                            <a16:creationId xmlns:a16="http://schemas.microsoft.com/office/drawing/2014/main" id="{F55A9E61-0A57-4278-8379-22C1036989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3860801"/>
                        <a:ext cx="288131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2" name="Rectangle 30">
            <a:extLst>
              <a:ext uri="{FF2B5EF4-FFF2-40B4-BE49-F238E27FC236}">
                <a16:creationId xmlns:a16="http://schemas.microsoft.com/office/drawing/2014/main" id="{F02F9DA9-3C2F-4CE2-B800-F8442D529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4076701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38943" name="Rectangle 31">
            <a:extLst>
              <a:ext uri="{FF2B5EF4-FFF2-40B4-BE49-F238E27FC236}">
                <a16:creationId xmlns:a16="http://schemas.microsoft.com/office/drawing/2014/main" id="{0C53D88A-4E98-47B3-B13E-D8CD04C7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3859214"/>
            <a:ext cx="4305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случай, когда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:</a:t>
            </a:r>
          </a:p>
        </p:txBody>
      </p:sp>
      <p:sp>
        <p:nvSpPr>
          <p:cNvPr id="38944" name="Rectangle 32">
            <a:extLst>
              <a:ext uri="{FF2B5EF4-FFF2-40B4-BE49-F238E27FC236}">
                <a16:creationId xmlns:a16="http://schemas.microsoft.com/office/drawing/2014/main" id="{BF869F53-F216-4484-AAF8-F31ECF531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8945" name="Object 33">
            <a:extLst>
              <a:ext uri="{FF2B5EF4-FFF2-40B4-BE49-F238E27FC236}">
                <a16:creationId xmlns:a16="http://schemas.microsoft.com/office/drawing/2014/main" id="{9C0C9197-30FB-4C6B-B9E5-6F0C4F9F0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4541838"/>
          <a:ext cx="3168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" name="Формула" r:id="rId7" imgW="1892300" imgH="228600" progId="Equation.3">
                  <p:embed/>
                </p:oleObj>
              </mc:Choice>
              <mc:Fallback>
                <p:oleObj name="Формула" r:id="rId7" imgW="1892300" imgH="228600" progId="Equation.3">
                  <p:embed/>
                  <p:pic>
                    <p:nvPicPr>
                      <p:cNvPr id="38945" name="Object 33">
                        <a:extLst>
                          <a:ext uri="{FF2B5EF4-FFF2-40B4-BE49-F238E27FC236}">
                            <a16:creationId xmlns:a16="http://schemas.microsoft.com/office/drawing/2014/main" id="{9C0C9197-30FB-4C6B-B9E5-6F0C4F9F0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541838"/>
                        <a:ext cx="3168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6" name="Rectangle 34">
            <a:extLst>
              <a:ext uri="{FF2B5EF4-FFF2-40B4-BE49-F238E27FC236}">
                <a16:creationId xmlns:a16="http://schemas.microsoft.com/office/drawing/2014/main" id="{C1C08DC0-9EA5-40E9-B968-A070C5787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pic>
        <p:nvPicPr>
          <p:cNvPr id="38947" name="Picture 35" descr="83">
            <a:extLst>
              <a:ext uri="{FF2B5EF4-FFF2-40B4-BE49-F238E27FC236}">
                <a16:creationId xmlns:a16="http://schemas.microsoft.com/office/drawing/2014/main" id="{AEA606F1-4D4B-4A77-ABD9-A12A282DA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4292601"/>
            <a:ext cx="4681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48" name="Rectangle 36">
            <a:extLst>
              <a:ext uri="{FF2B5EF4-FFF2-40B4-BE49-F238E27FC236}">
                <a16:creationId xmlns:a16="http://schemas.microsoft.com/office/drawing/2014/main" id="{E84E6F7F-4731-4D37-9AB7-4AEC2BE94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5013325"/>
            <a:ext cx="352901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 седловая точка функции Лагранжа (функции Куна-Таккера) является </a:t>
            </a:r>
          </a:p>
        </p:txBody>
      </p:sp>
      <p:graphicFrame>
        <p:nvGraphicFramePr>
          <p:cNvPr id="38949" name="Object 37">
            <a:extLst>
              <a:ext uri="{FF2B5EF4-FFF2-40B4-BE49-F238E27FC236}">
                <a16:creationId xmlns:a16="http://schemas.microsoft.com/office/drawing/2014/main" id="{60C0E6F6-BF16-4BF8-B666-916986765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8114" y="5518151"/>
          <a:ext cx="93503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9" name="Формула" r:id="rId10" imgW="520474" imgH="266584" progId="Equation.3">
                  <p:embed/>
                </p:oleObj>
              </mc:Choice>
              <mc:Fallback>
                <p:oleObj name="Формула" r:id="rId10" imgW="520474" imgH="266584" progId="Equation.3">
                  <p:embed/>
                  <p:pic>
                    <p:nvPicPr>
                      <p:cNvPr id="38949" name="Object 37">
                        <a:extLst>
                          <a:ext uri="{FF2B5EF4-FFF2-40B4-BE49-F238E27FC236}">
                            <a16:creationId xmlns:a16="http://schemas.microsoft.com/office/drawing/2014/main" id="{60C0E6F6-BF16-4BF8-B666-9169867652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14" y="5518151"/>
                        <a:ext cx="935037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0" name="Rectangle 38">
            <a:extLst>
              <a:ext uri="{FF2B5EF4-FFF2-40B4-BE49-F238E27FC236}">
                <a16:creationId xmlns:a16="http://schemas.microsoft.com/office/drawing/2014/main" id="{50A261BC-2907-47B9-A452-6019129A9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4" y="3562350"/>
            <a:ext cx="269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 </a:t>
            </a:r>
            <a:endParaRPr lang="ru-RU" altLang="ru-RU" sz="1800"/>
          </a:p>
        </p:txBody>
      </p:sp>
      <p:sp>
        <p:nvSpPr>
          <p:cNvPr id="38951" name="Rectangle 39">
            <a:extLst>
              <a:ext uri="{FF2B5EF4-FFF2-40B4-BE49-F238E27FC236}">
                <a16:creationId xmlns:a16="http://schemas.microsoft.com/office/drawing/2014/main" id="{96745150-1554-4C05-8676-405C19C46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52" name="Rectangle 40">
            <a:extLst>
              <a:ext uri="{FF2B5EF4-FFF2-40B4-BE49-F238E27FC236}">
                <a16:creationId xmlns:a16="http://schemas.microsoft.com/office/drawing/2014/main" id="{DE8E83B4-DA1C-4872-9275-D03C15CF8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560387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38953" name="Rectangle 41">
            <a:extLst>
              <a:ext uri="{FF2B5EF4-FFF2-40B4-BE49-F238E27FC236}">
                <a16:creationId xmlns:a16="http://schemas.microsoft.com/office/drawing/2014/main" id="{64DFBAFA-5BBD-459E-90A8-C01B686B8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5949950"/>
            <a:ext cx="35290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эта точка является решением ЗВП. </a:t>
            </a:r>
          </a:p>
        </p:txBody>
      </p:sp>
    </p:spTree>
    <p:extLst>
      <p:ext uri="{BB962C8B-B14F-4D97-AF65-F5344CB8AC3E}">
        <p14:creationId xmlns:p14="http://schemas.microsoft.com/office/powerpoint/2010/main" val="1366908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0BE3B-3A90-4133-A793-DB9A8C9A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br>
              <a:rPr lang="en-US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многомерной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ED755-A80A-478E-BABE-6BAF97F2B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525780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задачи нелинейной оптимизации в общем случае.</a:t>
                </a:r>
              </a:p>
              <a:p>
                <a:pPr marL="0" indent="0">
                  <a:buNone/>
                </a:pP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…,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некоторое множество из пространства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</m:t>
                    </m:r>
                  </m:oMath>
                </a14:m>
                <a:r>
                  <a:rPr lang="ru-RU" sz="23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ru-RU" sz="23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задачу минимизации можно рассматривать в следующем виде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≤=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(1)</a:t>
                </a:r>
                <a:endParaRPr lang="en-US" sz="23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называть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целевой функцией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≤=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как было принято нами ранее, 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Они называются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функциями ограничений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зависят от типа ограничений – равенств или неравенств. Множество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</m:oMath>
                </a14:m>
                <a:endParaRPr lang="ru-RU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базовым допустимым множеством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множество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2300" dirty="0"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0 , 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1,…,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просто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допустимым множеством.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ED755-A80A-478E-BABE-6BAF97F2B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5257800"/>
              </a:xfrm>
              <a:blipFill>
                <a:blip r:embed="rId2"/>
                <a:stretch>
                  <a:fillRect l="-1037" t="-16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29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7BD58-21FF-41FF-A04B-EFCFF68E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</p:spPr>
            <p:txBody>
              <a:bodyPr/>
              <a:lstStyle/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безусловный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∃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 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с линейными ограничениями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 функциональные ограничения являются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линейными функциями: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 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При этом</m:t>
                      </m:r>
                    </m:oMath>
                  </m:oMathPara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базовое множество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многогранником.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также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функция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исходная задача (1)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задачей линейной оптимизации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  <a:blipFill>
                <a:blip r:embed="rId2"/>
                <a:stretch>
                  <a:fillRect l="-1111" t="-16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85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A9E75-D9EB-4FF7-A41A-47E81FCF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</a:t>
                </a:r>
                <a:r>
                  <a:rPr lang="ru-RU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войства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допустимых множеств.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Q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∅.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строго 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существует такой вектор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𝑖𝑛𝑡</m:t>
                    </m:r>
                  </m:oMath>
                </a14:m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0 (или &gt; 0) для всех ограничений-неравенств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для всех ограничений-равенств (условие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Слэйтера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Типы решений задачи (1).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оптимальным глобальным решением задачи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всех x ∈ Q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В этом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оптимальным значением задачи.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локальным решением задачи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 для всех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⊂ Q выполнено неравенство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968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экстремум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одноэкстремальной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оптимизации (единственный экстремум – унимодальная функция);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383339" y="2060576"/>
          <a:ext cx="2974975" cy="309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r:id="rId3" imgW="2333732" imgH="2010096" progId="">
                  <p:embed/>
                </p:oleObj>
              </mc:Choice>
              <mc:Fallback>
                <p:oleObj r:id="rId3" imgW="2333732" imgH="2010096" progId="">
                  <p:embed/>
                  <p:pic>
                    <p:nvPicPr>
                      <p:cNvPr id="35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060576"/>
                        <a:ext cx="2974975" cy="309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 экстремумов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многоэкстремальной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оптимизации (много экстремумов – полимодальная функция);</a:t>
            </a:r>
          </a:p>
        </p:txBody>
      </p:sp>
      <p:graphicFrame>
        <p:nvGraphicFramePr>
          <p:cNvPr id="3789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240464" y="2060575"/>
          <a:ext cx="3671887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r:id="rId3" imgW="2333732" imgH="2015064" progId="">
                  <p:embed/>
                </p:oleObj>
              </mc:Choice>
              <mc:Fallback>
                <p:oleObj r:id="rId3" imgW="2333732" imgH="2015064" progId="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2060575"/>
                        <a:ext cx="3671887" cy="338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Многокритериальная оптимизация</a:t>
            </a:r>
          </a:p>
        </p:txBody>
      </p:sp>
      <p:graphicFrame>
        <p:nvGraphicFramePr>
          <p:cNvPr id="399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575051" y="1844676"/>
          <a:ext cx="4968875" cy="417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3" imgW="2333732" imgH="2010096" progId="">
                  <p:embed/>
                </p:oleObj>
              </mc:Choice>
              <mc:Fallback>
                <p:oleObj r:id="rId3" imgW="2333732" imgH="2010096" progId="">
                  <p:embed/>
                  <p:pic>
                    <p:nvPicPr>
                      <p:cNvPr id="39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1844676"/>
                        <a:ext cx="4968875" cy="417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4AC957-ED8F-47AA-A2D7-5816298D8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u="sng" dirty="0"/>
              <a:t>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покоординатного спуска (метод 0-го порядка)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4F0B5F8-A0A2-4ED4-8D65-1F3C2CBA1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altLang="ru-RU" dirty="0"/>
              <a:t> 			– 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функция</a:t>
            </a:r>
            <a:r>
              <a:rPr lang="ru-RU" altLang="ru-RU" dirty="0"/>
              <a:t>.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EBDD8FC0-5786-4189-AAF1-186228F4C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31F0BF36-D68C-4366-8A3D-C47B27D5D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82212"/>
              </p:ext>
            </p:extLst>
          </p:nvPr>
        </p:nvGraphicFramePr>
        <p:xfrm>
          <a:off x="2525196" y="1778000"/>
          <a:ext cx="1944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31F0BF36-D68C-4366-8A3D-C47B27D5D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196" y="1778000"/>
                        <a:ext cx="19446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Picture 6">
            <a:extLst>
              <a:ext uri="{FF2B5EF4-FFF2-40B4-BE49-F238E27FC236}">
                <a16:creationId xmlns:a16="http://schemas.microsoft.com/office/drawing/2014/main" id="{E7B19587-A6B2-43BC-BF2E-AB517F38E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600325"/>
            <a:ext cx="73453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046E4FD-CC34-4CDD-92A7-741E1BFA3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Алгоритм: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D45070-4D7F-4ADF-9347-498811F85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55733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/>
              <a:t>Ш1. Направление     - выбирается вдоль координаты       от точки       , т.е.   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23EAA42D-1E5C-4995-827A-7C5ED65B1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5" name="Object 4">
            <a:extLst>
              <a:ext uri="{FF2B5EF4-FFF2-40B4-BE49-F238E27FC236}">
                <a16:creationId xmlns:a16="http://schemas.microsoft.com/office/drawing/2014/main" id="{22A2616F-2DCC-422F-88D7-F093CAEAE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671338"/>
              </p:ext>
            </p:extLst>
          </p:nvPr>
        </p:nvGraphicFramePr>
        <p:xfrm>
          <a:off x="4027032" y="1455699"/>
          <a:ext cx="4159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" name="Формула" r:id="rId3" imgW="190417" imgH="203112" progId="Equation.3">
                  <p:embed/>
                </p:oleObj>
              </mc:Choice>
              <mc:Fallback>
                <p:oleObj name="Формула" r:id="rId3" imgW="190417" imgH="203112" progId="Equation.3">
                  <p:embed/>
                  <p:pic>
                    <p:nvPicPr>
                      <p:cNvPr id="10245" name="Object 4">
                        <a:extLst>
                          <a:ext uri="{FF2B5EF4-FFF2-40B4-BE49-F238E27FC236}">
                            <a16:creationId xmlns:a16="http://schemas.microsoft.com/office/drawing/2014/main" id="{22A2616F-2DCC-422F-88D7-F093CAEAE2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032" y="1455699"/>
                        <a:ext cx="4159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7">
            <a:extLst>
              <a:ext uri="{FF2B5EF4-FFF2-40B4-BE49-F238E27FC236}">
                <a16:creationId xmlns:a16="http://schemas.microsoft.com/office/drawing/2014/main" id="{17007CEB-2313-4FA5-A3B0-D3BC14445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7" name="Object 6">
            <a:extLst>
              <a:ext uri="{FF2B5EF4-FFF2-40B4-BE49-F238E27FC236}">
                <a16:creationId xmlns:a16="http://schemas.microsoft.com/office/drawing/2014/main" id="{B85B7292-CF48-4540-B08F-E1FE862F1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152563"/>
              </p:ext>
            </p:extLst>
          </p:nvPr>
        </p:nvGraphicFramePr>
        <p:xfrm>
          <a:off x="8989203" y="1433512"/>
          <a:ext cx="6477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4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10247" name="Object 6">
                        <a:extLst>
                          <a:ext uri="{FF2B5EF4-FFF2-40B4-BE49-F238E27FC236}">
                            <a16:creationId xmlns:a16="http://schemas.microsoft.com/office/drawing/2014/main" id="{B85B7292-CF48-4540-B08F-E1FE862F1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9203" y="1433512"/>
                        <a:ext cx="6477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9">
            <a:extLst>
              <a:ext uri="{FF2B5EF4-FFF2-40B4-BE49-F238E27FC236}">
                <a16:creationId xmlns:a16="http://schemas.microsoft.com/office/drawing/2014/main" id="{36664BA8-6918-4373-81A5-D2F74F68E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9" name="Object 8">
            <a:extLst>
              <a:ext uri="{FF2B5EF4-FFF2-40B4-BE49-F238E27FC236}">
                <a16:creationId xmlns:a16="http://schemas.microsoft.com/office/drawing/2014/main" id="{8927286D-94AD-40F1-9E75-6B159E045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642474"/>
              </p:ext>
            </p:extLst>
          </p:nvPr>
        </p:nvGraphicFramePr>
        <p:xfrm>
          <a:off x="7716968" y="1354137"/>
          <a:ext cx="4413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" name="Формула" r:id="rId7" imgW="177646" imgH="228402" progId="Equation.3">
                  <p:embed/>
                </p:oleObj>
              </mc:Choice>
              <mc:Fallback>
                <p:oleObj name="Формула" r:id="rId7" imgW="177646" imgH="228402" progId="Equation.3">
                  <p:embed/>
                  <p:pic>
                    <p:nvPicPr>
                      <p:cNvPr id="10249" name="Object 8">
                        <a:extLst>
                          <a:ext uri="{FF2B5EF4-FFF2-40B4-BE49-F238E27FC236}">
                            <a16:creationId xmlns:a16="http://schemas.microsoft.com/office/drawing/2014/main" id="{8927286D-94AD-40F1-9E75-6B159E045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968" y="1354137"/>
                        <a:ext cx="4413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1">
            <a:extLst>
              <a:ext uri="{FF2B5EF4-FFF2-40B4-BE49-F238E27FC236}">
                <a16:creationId xmlns:a16="http://schemas.microsoft.com/office/drawing/2014/main" id="{84BE58F7-E21D-4E86-84A7-90B6D0F78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1" name="Object 10">
            <a:extLst>
              <a:ext uri="{FF2B5EF4-FFF2-40B4-BE49-F238E27FC236}">
                <a16:creationId xmlns:a16="http://schemas.microsoft.com/office/drawing/2014/main" id="{5A5CCBDF-4DA2-4F9D-A170-91146CA0B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918198"/>
              </p:ext>
            </p:extLst>
          </p:nvPr>
        </p:nvGraphicFramePr>
        <p:xfrm>
          <a:off x="2618125" y="1771305"/>
          <a:ext cx="14398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" name="Формула" r:id="rId9" imgW="952087" imgH="444307" progId="Equation.3">
                  <p:embed/>
                </p:oleObj>
              </mc:Choice>
              <mc:Fallback>
                <p:oleObj name="Формула" r:id="rId9" imgW="952087" imgH="444307" progId="Equation.3">
                  <p:embed/>
                  <p:pic>
                    <p:nvPicPr>
                      <p:cNvPr id="10251" name="Object 10">
                        <a:extLst>
                          <a:ext uri="{FF2B5EF4-FFF2-40B4-BE49-F238E27FC236}">
                            <a16:creationId xmlns:a16="http://schemas.microsoft.com/office/drawing/2014/main" id="{5A5CCBDF-4DA2-4F9D-A170-91146CA0B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25" y="1771305"/>
                        <a:ext cx="143986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2">
            <a:extLst>
              <a:ext uri="{FF2B5EF4-FFF2-40B4-BE49-F238E27FC236}">
                <a16:creationId xmlns:a16="http://schemas.microsoft.com/office/drawing/2014/main" id="{34A07DF3-042F-4091-803A-1E5003A51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347269"/>
            <a:ext cx="4275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Ш2. Определяется величина шага</a:t>
            </a:r>
            <a:r>
              <a:rPr lang="ru-RU" altLang="ru-RU" sz="2400"/>
              <a:t>     </a:t>
            </a:r>
          </a:p>
        </p:txBody>
      </p:sp>
      <p:sp>
        <p:nvSpPr>
          <p:cNvPr id="10253" name="Rectangle 14">
            <a:extLst>
              <a:ext uri="{FF2B5EF4-FFF2-40B4-BE49-F238E27FC236}">
                <a16:creationId xmlns:a16="http://schemas.microsoft.com/office/drawing/2014/main" id="{E4D8A81C-D5BF-4CEC-A4A1-67C53648C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4" name="Object 13">
            <a:extLst>
              <a:ext uri="{FF2B5EF4-FFF2-40B4-BE49-F238E27FC236}">
                <a16:creationId xmlns:a16="http://schemas.microsoft.com/office/drawing/2014/main" id="{1664A75A-3449-4EC0-92BB-15C8769DF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349500"/>
          <a:ext cx="3455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" name="Формула" r:id="rId11" imgW="2336800" imgH="254000" progId="Equation.3">
                  <p:embed/>
                </p:oleObj>
              </mc:Choice>
              <mc:Fallback>
                <p:oleObj name="Формула" r:id="rId11" imgW="2336800" imgH="254000" progId="Equation.3">
                  <p:embed/>
                  <p:pic>
                    <p:nvPicPr>
                      <p:cNvPr id="10254" name="Object 13">
                        <a:extLst>
                          <a:ext uri="{FF2B5EF4-FFF2-40B4-BE49-F238E27FC236}">
                            <a16:creationId xmlns:a16="http://schemas.microsoft.com/office/drawing/2014/main" id="{1664A75A-3449-4EC0-92BB-15C8769DF9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49500"/>
                        <a:ext cx="34559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Rectangle 15">
            <a:extLst>
              <a:ext uri="{FF2B5EF4-FFF2-40B4-BE49-F238E27FC236}">
                <a16:creationId xmlns:a16="http://schemas.microsoft.com/office/drawing/2014/main" id="{5C80FF1E-CC38-4A54-9701-5F127B7A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851121"/>
            <a:ext cx="41549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Ш3. Формируется новое значение    </a:t>
            </a:r>
          </a:p>
        </p:txBody>
      </p:sp>
      <p:sp>
        <p:nvSpPr>
          <p:cNvPr id="10256" name="Rectangle 17">
            <a:extLst>
              <a:ext uri="{FF2B5EF4-FFF2-40B4-BE49-F238E27FC236}">
                <a16:creationId xmlns:a16="http://schemas.microsoft.com/office/drawing/2014/main" id="{3182C4E8-DF6D-4F2E-A73A-9F46EA700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7" name="Object 16">
            <a:extLst>
              <a:ext uri="{FF2B5EF4-FFF2-40B4-BE49-F238E27FC236}">
                <a16:creationId xmlns:a16="http://schemas.microsoft.com/office/drawing/2014/main" id="{1B3F7DA8-4484-4B75-AA24-73BDAE48B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852738"/>
          <a:ext cx="31686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8" name="Формула" r:id="rId13" imgW="1371600" imgH="203200" progId="Equation.3">
                  <p:embed/>
                </p:oleObj>
              </mc:Choice>
              <mc:Fallback>
                <p:oleObj name="Формула" r:id="rId13" imgW="1371600" imgH="203200" progId="Equation.3">
                  <p:embed/>
                  <p:pic>
                    <p:nvPicPr>
                      <p:cNvPr id="10257" name="Object 16">
                        <a:extLst>
                          <a:ext uri="{FF2B5EF4-FFF2-40B4-BE49-F238E27FC236}">
                            <a16:creationId xmlns:a16="http://schemas.microsoft.com/office/drawing/2014/main" id="{1B3F7DA8-4484-4B75-AA24-73BDAE48B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52738"/>
                        <a:ext cx="31686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Rectangle 18">
            <a:extLst>
              <a:ext uri="{FF2B5EF4-FFF2-40B4-BE49-F238E27FC236}">
                <a16:creationId xmlns:a16="http://schemas.microsoft.com/office/drawing/2014/main" id="{7DFE3C48-4CC9-44CA-B5A1-512F3D932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899" y="3386108"/>
            <a:ext cx="32092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Ш4. Проверка сходимости:</a:t>
            </a:r>
            <a:r>
              <a:rPr lang="ru-RU" altLang="ru-RU"/>
              <a:t> 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B8CACEDE-DBD1-4D64-B086-6070A164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3859491"/>
            <a:ext cx="724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Если </a:t>
            </a:r>
          </a:p>
        </p:txBody>
      </p:sp>
      <p:sp>
        <p:nvSpPr>
          <p:cNvPr id="10260" name="Rectangle 21">
            <a:extLst>
              <a:ext uri="{FF2B5EF4-FFF2-40B4-BE49-F238E27FC236}">
                <a16:creationId xmlns:a16="http://schemas.microsoft.com/office/drawing/2014/main" id="{92D75901-C5D5-4C85-9BD4-B4039008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61" name="Object 20">
            <a:extLst>
              <a:ext uri="{FF2B5EF4-FFF2-40B4-BE49-F238E27FC236}">
                <a16:creationId xmlns:a16="http://schemas.microsoft.com/office/drawing/2014/main" id="{684051E8-39D6-40D9-AEC4-DED244EA2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789363"/>
          <a:ext cx="42481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9" name="Формула" r:id="rId15" imgW="2552700" imgH="279400" progId="Equation.3">
                  <p:embed/>
                </p:oleObj>
              </mc:Choice>
              <mc:Fallback>
                <p:oleObj name="Формула" r:id="rId15" imgW="2552700" imgH="279400" progId="Equation.3">
                  <p:embed/>
                  <p:pic>
                    <p:nvPicPr>
                      <p:cNvPr id="10261" name="Object 20">
                        <a:extLst>
                          <a:ext uri="{FF2B5EF4-FFF2-40B4-BE49-F238E27FC236}">
                            <a16:creationId xmlns:a16="http://schemas.microsoft.com/office/drawing/2014/main" id="{684051E8-39D6-40D9-AEC4-DED244EA2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789363"/>
                        <a:ext cx="42481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2" name="Rectangle 22">
            <a:extLst>
              <a:ext uri="{FF2B5EF4-FFF2-40B4-BE49-F238E27FC236}">
                <a16:creationId xmlns:a16="http://schemas.microsoft.com/office/drawing/2014/main" id="{F1841370-C8CB-4948-8DF4-017D5F6D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378936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  <a:r>
              <a:rPr lang="ru-RU" altLang="ru-RU" i="1"/>
              <a:t>КОНЕЦ</a:t>
            </a:r>
            <a:r>
              <a:rPr lang="ru-RU" altLang="ru-RU"/>
              <a:t> </a:t>
            </a:r>
          </a:p>
        </p:txBody>
      </p:sp>
      <p:sp>
        <p:nvSpPr>
          <p:cNvPr id="10263" name="Rectangle 23">
            <a:extLst>
              <a:ext uri="{FF2B5EF4-FFF2-40B4-BE49-F238E27FC236}">
                <a16:creationId xmlns:a16="http://schemas.microsoft.com/office/drawing/2014/main" id="{CBBCD4F2-9816-44DC-8035-4CECBDA95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112" y="4219853"/>
            <a:ext cx="33180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Иначе  к=к+1 и переход на Ш 1.</a:t>
            </a:r>
          </a:p>
        </p:txBody>
      </p:sp>
      <p:sp>
        <p:nvSpPr>
          <p:cNvPr id="10264" name="Rectangle 24">
            <a:extLst>
              <a:ext uri="{FF2B5EF4-FFF2-40B4-BE49-F238E27FC236}">
                <a16:creationId xmlns:a16="http://schemas.microsoft.com/office/drawing/2014/main" id="{2BC207CA-818D-4AF6-8958-60C9692D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508500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Достоинства:</a:t>
            </a:r>
            <a:r>
              <a:rPr lang="ru-RU" altLang="ru-RU"/>
              <a:t> возможность оптимизации для задач с недифференцируемыми функциями.</a:t>
            </a:r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D6680172-C409-48B8-8E36-55B6BF43E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213" y="5018774"/>
            <a:ext cx="55130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u="sng"/>
              <a:t>Недостатки:</a:t>
            </a:r>
            <a:r>
              <a:rPr lang="ru-RU" altLang="ru-RU"/>
              <a:t> </a:t>
            </a:r>
          </a:p>
          <a:p>
            <a:pPr algn="just" eaLnBrk="1" hangingPunct="1"/>
            <a:r>
              <a:rPr lang="ru-RU" altLang="ru-RU"/>
              <a:t>1. Низкая скорость сходимости (сублинейная, т.е. </a:t>
            </a:r>
            <a:r>
              <a:rPr lang="ru-RU" altLang="ru-RU">
                <a:sym typeface="Symbol" panose="05050102010706020507" pitchFamily="18" charset="2"/>
              </a:rPr>
              <a:t></a:t>
            </a:r>
            <a:r>
              <a:rPr lang="ru-RU" altLang="ru-RU"/>
              <a:t>&lt;1)</a:t>
            </a:r>
          </a:p>
        </p:txBody>
      </p:sp>
      <p:sp>
        <p:nvSpPr>
          <p:cNvPr id="10266" name="Rectangle 26">
            <a:extLst>
              <a:ext uri="{FF2B5EF4-FFF2-40B4-BE49-F238E27FC236}">
                <a16:creationId xmlns:a16="http://schemas.microsoft.com/office/drawing/2014/main" id="{4D3B20DB-F635-4C58-A860-E7C6FCFC4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734050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2.Возможность зацикливания при плохой обусловленности задачи, т.е. когда 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имеет овражный характер.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FFACE92-94B4-4761-814C-29B8C17E0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Обусловленность задачи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EE17BC1-5B4B-481D-900C-A9CA1ABF0A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1"/>
            <a:ext cx="8291513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Определяется числом обусловленности матрицы Гессе (если она существует), т.е. отношением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50A30DE8-9F7B-4A02-8468-70193BE60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69" name="Object 4">
            <a:extLst>
              <a:ext uri="{FF2B5EF4-FFF2-40B4-BE49-F238E27FC236}">
                <a16:creationId xmlns:a16="http://schemas.microsoft.com/office/drawing/2014/main" id="{AC239070-4288-4E81-BC9C-84ED63DF8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8" y="1844676"/>
          <a:ext cx="863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2" name="Формула" r:id="rId3" imgW="431613" imgH="393529" progId="Equation.3">
                  <p:embed/>
                </p:oleObj>
              </mc:Choice>
              <mc:Fallback>
                <p:oleObj name="Формула" r:id="rId3" imgW="431613" imgH="393529" progId="Equation.3">
                  <p:embed/>
                  <p:pic>
                    <p:nvPicPr>
                      <p:cNvPr id="11269" name="Object 4">
                        <a:extLst>
                          <a:ext uri="{FF2B5EF4-FFF2-40B4-BE49-F238E27FC236}">
                            <a16:creationId xmlns:a16="http://schemas.microsoft.com/office/drawing/2014/main" id="{AC239070-4288-4E81-BC9C-84ED63DF8F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1844676"/>
                        <a:ext cx="8636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>
            <a:extLst>
              <a:ext uri="{FF2B5EF4-FFF2-40B4-BE49-F238E27FC236}">
                <a16:creationId xmlns:a16="http://schemas.microsoft.com/office/drawing/2014/main" id="{6F568B1E-7E54-4483-AA88-AE771F8FC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275" y="2476471"/>
            <a:ext cx="54830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Где </a:t>
            </a:r>
            <a:r>
              <a:rPr lang="en-US" altLang="ru-RU" sz="2000"/>
              <a:t>L</a:t>
            </a:r>
            <a:r>
              <a:rPr lang="ru-RU" altLang="ru-RU" sz="2000"/>
              <a:t> - максимальное собственное число            ,</a:t>
            </a:r>
          </a:p>
        </p:txBody>
      </p:sp>
      <p:sp>
        <p:nvSpPr>
          <p:cNvPr id="11271" name="Rectangle 8">
            <a:extLst>
              <a:ext uri="{FF2B5EF4-FFF2-40B4-BE49-F238E27FC236}">
                <a16:creationId xmlns:a16="http://schemas.microsoft.com/office/drawing/2014/main" id="{83E68620-3F36-4AE0-805E-2CD61A9C6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831457"/>
            <a:ext cx="4179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000" i="1" dirty="0"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cs typeface="Times New Roman" panose="02020603050405020304" pitchFamily="18" charset="0"/>
              </a:rPr>
              <a:t>– минимальное собственное число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272" name="Object 7">
            <a:extLst>
              <a:ext uri="{FF2B5EF4-FFF2-40B4-BE49-F238E27FC236}">
                <a16:creationId xmlns:a16="http://schemas.microsoft.com/office/drawing/2014/main" id="{63643A6F-A69F-40F2-9070-9F1DAE4EFB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2924176"/>
          <a:ext cx="7921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3" name="Формула" r:id="rId5" imgW="508000" imgH="228600" progId="Equation.3">
                  <p:embed/>
                </p:oleObj>
              </mc:Choice>
              <mc:Fallback>
                <p:oleObj name="Формула" r:id="rId5" imgW="508000" imgH="228600" progId="Equation.3">
                  <p:embed/>
                  <p:pic>
                    <p:nvPicPr>
                      <p:cNvPr id="11272" name="Object 7">
                        <a:extLst>
                          <a:ext uri="{FF2B5EF4-FFF2-40B4-BE49-F238E27FC236}">
                            <a16:creationId xmlns:a16="http://schemas.microsoft.com/office/drawing/2014/main" id="{63643A6F-A69F-40F2-9070-9F1DAE4EFB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924176"/>
                        <a:ext cx="79216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>
            <a:extLst>
              <a:ext uri="{FF2B5EF4-FFF2-40B4-BE49-F238E27FC236}">
                <a16:creationId xmlns:a16="http://schemas.microsoft.com/office/drawing/2014/main" id="{3AEE40C8-4959-4AFA-8B01-A2ECD4F1E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19891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B6CD26D1-8EEF-4D56-B177-15D7C8B6862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104063" y="2492375"/>
          <a:ext cx="7921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4" name="Формула" r:id="rId7" imgW="508000" imgH="228600" progId="Equation.3">
                  <p:embed/>
                </p:oleObj>
              </mc:Choice>
              <mc:Fallback>
                <p:oleObj name="Формула" r:id="rId7" imgW="508000" imgH="228600" progId="Equation.3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B6CD26D1-8EEF-4D56-B177-15D7C8B686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492375"/>
                        <a:ext cx="79216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2">
            <a:extLst>
              <a:ext uri="{FF2B5EF4-FFF2-40B4-BE49-F238E27FC236}">
                <a16:creationId xmlns:a16="http://schemas.microsoft.com/office/drawing/2014/main" id="{F2AFE42D-FA8D-47DF-AB9A-E0C659756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8527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6" name="Rectangle 14">
            <a:extLst>
              <a:ext uri="{FF2B5EF4-FFF2-40B4-BE49-F238E27FC236}">
                <a16:creationId xmlns:a16="http://schemas.microsoft.com/office/drawing/2014/main" id="{DAA86304-1F98-40D9-B85F-73161DAE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3573464"/>
            <a:ext cx="7991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cs typeface="Times New Roman" panose="02020603050405020304" pitchFamily="18" charset="0"/>
              </a:rPr>
              <a:t>В случае отсутствия матрицы Гессе числом обусловленности может быть отношение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5D036A9C-392B-4AF4-AC5F-41B6DED1B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9" y="3860800"/>
          <a:ext cx="2879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5" name="Формула" r:id="rId8" imgW="1651000" imgH="609600" progId="Equation.3">
                  <p:embed/>
                </p:oleObj>
              </mc:Choice>
              <mc:Fallback>
                <p:oleObj name="Формула" r:id="rId8" imgW="1651000" imgH="609600" progId="Equation.3">
                  <p:embed/>
                  <p:pic>
                    <p:nvPicPr>
                      <p:cNvPr id="11277" name="Object 13">
                        <a:extLst>
                          <a:ext uri="{FF2B5EF4-FFF2-40B4-BE49-F238E27FC236}">
                            <a16:creationId xmlns:a16="http://schemas.microsoft.com/office/drawing/2014/main" id="{5D036A9C-392B-4AF4-AC5F-41B6DED1B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3860800"/>
                        <a:ext cx="28797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15">
            <a:extLst>
              <a:ext uri="{FF2B5EF4-FFF2-40B4-BE49-F238E27FC236}">
                <a16:creationId xmlns:a16="http://schemas.microsoft.com/office/drawing/2014/main" id="{B8A56557-EA3D-4F8C-8E20-8FE608215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37338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9" name="Rectangle 16">
            <a:extLst>
              <a:ext uri="{FF2B5EF4-FFF2-40B4-BE49-F238E27FC236}">
                <a16:creationId xmlns:a16="http://schemas.microsoft.com/office/drawing/2014/main" id="{8FE5A1E5-3854-4D51-9A13-D63BED870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40767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pic>
        <p:nvPicPr>
          <p:cNvPr id="11280" name="Picture 17">
            <a:extLst>
              <a:ext uri="{FF2B5EF4-FFF2-40B4-BE49-F238E27FC236}">
                <a16:creationId xmlns:a16="http://schemas.microsoft.com/office/drawing/2014/main" id="{FAFB1D3C-E6F2-48DF-BCD0-18744E08A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4749800"/>
            <a:ext cx="381635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81" name="Object 19">
            <a:extLst>
              <a:ext uri="{FF2B5EF4-FFF2-40B4-BE49-F238E27FC236}">
                <a16:creationId xmlns:a16="http://schemas.microsoft.com/office/drawing/2014/main" id="{E8DC45ED-951C-4EA8-9B21-6F0131207A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9" y="5805488"/>
          <a:ext cx="5184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6" name="Формула" r:id="rId11" imgW="2235200" imgH="228600" progId="Equation.3">
                  <p:embed/>
                </p:oleObj>
              </mc:Choice>
              <mc:Fallback>
                <p:oleObj name="Формула" r:id="rId11" imgW="2235200" imgH="228600" progId="Equation.3">
                  <p:embed/>
                  <p:pic>
                    <p:nvPicPr>
                      <p:cNvPr id="11281" name="Object 19">
                        <a:extLst>
                          <a:ext uri="{FF2B5EF4-FFF2-40B4-BE49-F238E27FC236}">
                            <a16:creationId xmlns:a16="http://schemas.microsoft.com/office/drawing/2014/main" id="{E8DC45ED-951C-4EA8-9B21-6F0131207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9" y="5805488"/>
                        <a:ext cx="51847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18">
            <a:extLst>
              <a:ext uri="{FF2B5EF4-FFF2-40B4-BE49-F238E27FC236}">
                <a16:creationId xmlns:a16="http://schemas.microsoft.com/office/drawing/2014/main" id="{7E12E328-AC68-4463-B59D-9B26FAE3A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436939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7" name="Формула" r:id="rId13" imgW="114151" imgH="215619" progId="Equation.3">
                  <p:embed/>
                </p:oleObj>
              </mc:Choice>
              <mc:Fallback>
                <p:oleObj name="Формула" r:id="rId13" imgW="114151" imgH="215619" progId="Equation.3">
                  <p:embed/>
                  <p:pic>
                    <p:nvPicPr>
                      <p:cNvPr id="11282" name="Object 18">
                        <a:extLst>
                          <a:ext uri="{FF2B5EF4-FFF2-40B4-BE49-F238E27FC236}">
                            <a16:creationId xmlns:a16="http://schemas.microsoft.com/office/drawing/2014/main" id="{7E12E328-AC68-4463-B59D-9B26FAE3A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36939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20">
            <a:extLst>
              <a:ext uri="{FF2B5EF4-FFF2-40B4-BE49-F238E27FC236}">
                <a16:creationId xmlns:a16="http://schemas.microsoft.com/office/drawing/2014/main" id="{7E3C71FC-8119-4F19-9A14-BB1255E54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528" y="5065069"/>
            <a:ext cx="41881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u="sng" dirty="0">
                <a:cs typeface="Times New Roman" panose="02020603050405020304" pitchFamily="18" charset="0"/>
              </a:rPr>
              <a:t>Пример</a:t>
            </a:r>
            <a:r>
              <a:rPr lang="ru-RU" altLang="ru-RU" sz="2400" dirty="0">
                <a:cs typeface="Times New Roman" panose="02020603050405020304" pitchFamily="18" charset="0"/>
              </a:rPr>
              <a:t> функция </a:t>
            </a:r>
            <a:r>
              <a:rPr lang="ru-RU" altLang="ru-RU" sz="2400" dirty="0" err="1">
                <a:cs typeface="Times New Roman" panose="02020603050405020304" pitchFamily="18" charset="0"/>
              </a:rPr>
              <a:t>Розенброка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1284" name="Rectangle 21">
            <a:extLst>
              <a:ext uri="{FF2B5EF4-FFF2-40B4-BE49-F238E27FC236}">
                <a16:creationId xmlns:a16="http://schemas.microsoft.com/office/drawing/2014/main" id="{272CCF43-2689-45B6-B4C5-011542BD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52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85" name="Rectangle 22">
            <a:extLst>
              <a:ext uri="{FF2B5EF4-FFF2-40B4-BE49-F238E27FC236}">
                <a16:creationId xmlns:a16="http://schemas.microsoft.com/office/drawing/2014/main" id="{9CAD3255-37C6-466E-B29D-883C5A01B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49664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AC596FD-BE54-4534-82E1-8635809B4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(метод 1-го порядка).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2291" name="Picture 4">
            <a:extLst>
              <a:ext uri="{FF2B5EF4-FFF2-40B4-BE49-F238E27FC236}">
                <a16:creationId xmlns:a16="http://schemas.microsoft.com/office/drawing/2014/main" id="{D4FE4874-B90F-488A-A9D5-7E55E9618BD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2314" y="1844676"/>
            <a:ext cx="6624637" cy="2862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2" name="Picture 5">
            <a:extLst>
              <a:ext uri="{FF2B5EF4-FFF2-40B4-BE49-F238E27FC236}">
                <a16:creationId xmlns:a16="http://schemas.microsoft.com/office/drawing/2014/main" id="{14221315-E609-40CC-991C-C0A521510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4797426"/>
            <a:ext cx="381635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20D6F4B-993A-4541-ABEE-6584EBC0E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(метод 1-го порядка).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1F32D13-553B-4591-8683-DF1A629A4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8" y="1600200"/>
            <a:ext cx="8856662" cy="50688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b="1" i="1" dirty="0"/>
              <a:t>Функция                                - класс 1 раз дифференцируемых функций.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28FDD183-6CC4-45DB-9B77-7A800FF03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690513"/>
              </p:ext>
            </p:extLst>
          </p:nvPr>
        </p:nvGraphicFramePr>
        <p:xfrm>
          <a:off x="2928938" y="1536184"/>
          <a:ext cx="158273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1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28FDD183-6CC4-45DB-9B77-7A800FF03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1536184"/>
                        <a:ext cx="158273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8">
            <a:extLst>
              <a:ext uri="{FF2B5EF4-FFF2-40B4-BE49-F238E27FC236}">
                <a16:creationId xmlns:a16="http://schemas.microsoft.com/office/drawing/2014/main" id="{2FDF85A3-4768-4EE0-AE0A-12C03D05E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18" name="Object 7">
            <a:extLst>
              <a:ext uri="{FF2B5EF4-FFF2-40B4-BE49-F238E27FC236}">
                <a16:creationId xmlns:a16="http://schemas.microsoft.com/office/drawing/2014/main" id="{BB3F43DE-2CD5-4892-BCE7-33E6E2078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060575"/>
          <a:ext cx="41036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2" name="Формула" r:id="rId5" imgW="2209800" imgH="203200" progId="Equation.3">
                  <p:embed/>
                </p:oleObj>
              </mc:Choice>
              <mc:Fallback>
                <p:oleObj name="Формула" r:id="rId5" imgW="2209800" imgH="203200" progId="Equation.3">
                  <p:embed/>
                  <p:pic>
                    <p:nvPicPr>
                      <p:cNvPr id="13318" name="Object 7">
                        <a:extLst>
                          <a:ext uri="{FF2B5EF4-FFF2-40B4-BE49-F238E27FC236}">
                            <a16:creationId xmlns:a16="http://schemas.microsoft.com/office/drawing/2014/main" id="{BB3F43DE-2CD5-4892-BCE7-33E6E2078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060575"/>
                        <a:ext cx="41036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9">
            <a:extLst>
              <a:ext uri="{FF2B5EF4-FFF2-40B4-BE49-F238E27FC236}">
                <a16:creationId xmlns:a16="http://schemas.microsoft.com/office/drawing/2014/main" id="{044BEAF4-C644-4275-8209-5B8292734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491066"/>
            <a:ext cx="21897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Разложим функцию </a:t>
            </a:r>
          </a:p>
        </p:txBody>
      </p:sp>
      <p:sp>
        <p:nvSpPr>
          <p:cNvPr id="13320" name="Rectangle 11">
            <a:extLst>
              <a:ext uri="{FF2B5EF4-FFF2-40B4-BE49-F238E27FC236}">
                <a16:creationId xmlns:a16="http://schemas.microsoft.com/office/drawing/2014/main" id="{45F3AEBD-DF80-495D-ABE8-0619E18C5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1" name="Object 10">
            <a:extLst>
              <a:ext uri="{FF2B5EF4-FFF2-40B4-BE49-F238E27FC236}">
                <a16:creationId xmlns:a16="http://schemas.microsoft.com/office/drawing/2014/main" id="{64C84F2F-F700-4ED4-93B0-EDF2831E4C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2492376"/>
          <a:ext cx="1800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Формула" r:id="rId7" imgW="1040948" imgH="228501" progId="Equation.3">
                  <p:embed/>
                </p:oleObj>
              </mc:Choice>
              <mc:Fallback>
                <p:oleObj name="Формула" r:id="rId7" imgW="1040948" imgH="228501" progId="Equation.3">
                  <p:embed/>
                  <p:pic>
                    <p:nvPicPr>
                      <p:cNvPr id="13321" name="Object 10">
                        <a:extLst>
                          <a:ext uri="{FF2B5EF4-FFF2-40B4-BE49-F238E27FC236}">
                            <a16:creationId xmlns:a16="http://schemas.microsoft.com/office/drawing/2014/main" id="{64C84F2F-F700-4ED4-93B0-EDF2831E4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2492376"/>
                        <a:ext cx="18002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12">
            <a:extLst>
              <a:ext uri="{FF2B5EF4-FFF2-40B4-BE49-F238E27FC236}">
                <a16:creationId xmlns:a16="http://schemas.microsoft.com/office/drawing/2014/main" id="{28A859D7-D941-426E-BFAB-D3EC7F0D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2195404"/>
            <a:ext cx="4321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– в ряд Тейлора, тогда, если учитывать только 2 члена ряда, получим:</a:t>
            </a:r>
          </a:p>
        </p:txBody>
      </p:sp>
      <p:sp>
        <p:nvSpPr>
          <p:cNvPr id="13323" name="Rectangle 14">
            <a:extLst>
              <a:ext uri="{FF2B5EF4-FFF2-40B4-BE49-F238E27FC236}">
                <a16:creationId xmlns:a16="http://schemas.microsoft.com/office/drawing/2014/main" id="{668D97D1-E270-4AC1-A394-8551B1784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4" name="Object 13">
            <a:extLst>
              <a:ext uri="{FF2B5EF4-FFF2-40B4-BE49-F238E27FC236}">
                <a16:creationId xmlns:a16="http://schemas.microsoft.com/office/drawing/2014/main" id="{ABE03F5F-10D6-40F5-B51F-768F4B667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997200"/>
          <a:ext cx="61928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4" name="Формула" r:id="rId9" imgW="2908300" imgH="279400" progId="Equation.3">
                  <p:embed/>
                </p:oleObj>
              </mc:Choice>
              <mc:Fallback>
                <p:oleObj name="Формула" r:id="rId9" imgW="2908300" imgH="279400" progId="Equation.3">
                  <p:embed/>
                  <p:pic>
                    <p:nvPicPr>
                      <p:cNvPr id="13324" name="Object 13">
                        <a:extLst>
                          <a:ext uri="{FF2B5EF4-FFF2-40B4-BE49-F238E27FC236}">
                            <a16:creationId xmlns:a16="http://schemas.microsoft.com/office/drawing/2014/main" id="{ABE03F5F-10D6-40F5-B51F-768F4B667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997200"/>
                        <a:ext cx="619283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5">
            <a:extLst>
              <a:ext uri="{FF2B5EF4-FFF2-40B4-BE49-F238E27FC236}">
                <a16:creationId xmlns:a16="http://schemas.microsoft.com/office/drawing/2014/main" id="{F7EAB59F-A92D-49FB-ACA7-5839FC8DC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3643591"/>
            <a:ext cx="60732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того, чтобы функция уменьшалась, необходимо, чтобы </a:t>
            </a:r>
          </a:p>
        </p:txBody>
      </p:sp>
      <p:sp>
        <p:nvSpPr>
          <p:cNvPr id="13326" name="Rectangle 17">
            <a:extLst>
              <a:ext uri="{FF2B5EF4-FFF2-40B4-BE49-F238E27FC236}">
                <a16:creationId xmlns:a16="http://schemas.microsoft.com/office/drawing/2014/main" id="{45EB9993-0549-423F-A869-1F9E6A23D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7" name="Object 16">
            <a:extLst>
              <a:ext uri="{FF2B5EF4-FFF2-40B4-BE49-F238E27FC236}">
                <a16:creationId xmlns:a16="http://schemas.microsoft.com/office/drawing/2014/main" id="{846E551D-FA55-489E-85D5-CF33F5E8C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6950" y="3644900"/>
          <a:ext cx="17287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5" name="Формула" r:id="rId11" imgW="1066800" imgH="228600" progId="Equation.3">
                  <p:embed/>
                </p:oleObj>
              </mc:Choice>
              <mc:Fallback>
                <p:oleObj name="Формула" r:id="rId11" imgW="1066800" imgH="228600" progId="Equation.3">
                  <p:embed/>
                  <p:pic>
                    <p:nvPicPr>
                      <p:cNvPr id="13327" name="Object 16">
                        <a:extLst>
                          <a:ext uri="{FF2B5EF4-FFF2-40B4-BE49-F238E27FC236}">
                            <a16:creationId xmlns:a16="http://schemas.microsoft.com/office/drawing/2014/main" id="{846E551D-FA55-489E-85D5-CF33F5E8C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3644900"/>
                        <a:ext cx="17287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Rectangle 19">
            <a:extLst>
              <a:ext uri="{FF2B5EF4-FFF2-40B4-BE49-F238E27FC236}">
                <a16:creationId xmlns:a16="http://schemas.microsoft.com/office/drawing/2014/main" id="{7E774A5D-9FF3-4E86-BE10-A5B4B4195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9" name="Object 18">
            <a:extLst>
              <a:ext uri="{FF2B5EF4-FFF2-40B4-BE49-F238E27FC236}">
                <a16:creationId xmlns:a16="http://schemas.microsoft.com/office/drawing/2014/main" id="{179806AB-02EE-450F-A6BD-50C552126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3986213"/>
          <a:ext cx="18716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6" name="Формула" r:id="rId13" imgW="1193800" imgH="495300" progId="Equation.3">
                  <p:embed/>
                </p:oleObj>
              </mc:Choice>
              <mc:Fallback>
                <p:oleObj name="Формула" r:id="rId13" imgW="1193800" imgH="495300" progId="Equation.3">
                  <p:embed/>
                  <p:pic>
                    <p:nvPicPr>
                      <p:cNvPr id="13329" name="Object 18">
                        <a:extLst>
                          <a:ext uri="{FF2B5EF4-FFF2-40B4-BE49-F238E27FC236}">
                            <a16:creationId xmlns:a16="http://schemas.microsoft.com/office/drawing/2014/main" id="{179806AB-02EE-450F-A6BD-50C552126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986213"/>
                        <a:ext cx="18716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Rectangle 20">
            <a:extLst>
              <a:ext uri="{FF2B5EF4-FFF2-40B4-BE49-F238E27FC236}">
                <a16:creationId xmlns:a16="http://schemas.microsoft.com/office/drawing/2014/main" id="{EDF3B4F0-0030-4A8E-B8C1-D71CA14F3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4075391"/>
            <a:ext cx="10150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 Тогда  </a:t>
            </a:r>
          </a:p>
        </p:txBody>
      </p:sp>
      <p:sp>
        <p:nvSpPr>
          <p:cNvPr id="13331" name="Rectangle 22">
            <a:extLst>
              <a:ext uri="{FF2B5EF4-FFF2-40B4-BE49-F238E27FC236}">
                <a16:creationId xmlns:a16="http://schemas.microsoft.com/office/drawing/2014/main" id="{D32FA5D7-ABBF-45C4-8384-0BFDB43C3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2" name="Object 21">
            <a:extLst>
              <a:ext uri="{FF2B5EF4-FFF2-40B4-BE49-F238E27FC236}">
                <a16:creationId xmlns:a16="http://schemas.microsoft.com/office/drawing/2014/main" id="{9A582A4C-9F94-4B0E-AF08-BFBB4F431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933826"/>
          <a:ext cx="30972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7" name="Формула" r:id="rId15" imgW="1803400" imgH="495300" progId="Equation.3">
                  <p:embed/>
                </p:oleObj>
              </mc:Choice>
              <mc:Fallback>
                <p:oleObj name="Формула" r:id="rId15" imgW="1803400" imgH="495300" progId="Equation.3">
                  <p:embed/>
                  <p:pic>
                    <p:nvPicPr>
                      <p:cNvPr id="13332" name="Object 21">
                        <a:extLst>
                          <a:ext uri="{FF2B5EF4-FFF2-40B4-BE49-F238E27FC236}">
                            <a16:creationId xmlns:a16="http://schemas.microsoft.com/office/drawing/2014/main" id="{9A582A4C-9F94-4B0E-AF08-BFBB4F431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933826"/>
                        <a:ext cx="309721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3" name="Rectangle 23">
            <a:extLst>
              <a:ext uri="{FF2B5EF4-FFF2-40B4-BE49-F238E27FC236}">
                <a16:creationId xmlns:a16="http://schemas.microsoft.com/office/drawing/2014/main" id="{C0B272B7-2B4B-4BF4-A8E8-0D169B48A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723091"/>
            <a:ext cx="1217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  </a:t>
            </a:r>
          </a:p>
        </p:txBody>
      </p:sp>
      <p:sp>
        <p:nvSpPr>
          <p:cNvPr id="13334" name="Rectangle 25">
            <a:extLst>
              <a:ext uri="{FF2B5EF4-FFF2-40B4-BE49-F238E27FC236}">
                <a16:creationId xmlns:a16="http://schemas.microsoft.com/office/drawing/2014/main" id="{81451B62-2613-4BB2-BE37-78EF6885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5" name="Object 24">
            <a:extLst>
              <a:ext uri="{FF2B5EF4-FFF2-40B4-BE49-F238E27FC236}">
                <a16:creationId xmlns:a16="http://schemas.microsoft.com/office/drawing/2014/main" id="{67DB4F27-A6B3-484C-86F9-15C65D7A9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4724400"/>
          <a:ext cx="30972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8" name="Формула" r:id="rId17" imgW="2311400" imgH="254000" progId="Equation.3">
                  <p:embed/>
                </p:oleObj>
              </mc:Choice>
              <mc:Fallback>
                <p:oleObj name="Формула" r:id="rId17" imgW="2311400" imgH="254000" progId="Equation.3">
                  <p:embed/>
                  <p:pic>
                    <p:nvPicPr>
                      <p:cNvPr id="13335" name="Object 24">
                        <a:extLst>
                          <a:ext uri="{FF2B5EF4-FFF2-40B4-BE49-F238E27FC236}">
                            <a16:creationId xmlns:a16="http://schemas.microsoft.com/office/drawing/2014/main" id="{67DB4F27-A6B3-484C-86F9-15C65D7A9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724400"/>
                        <a:ext cx="30972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Rectangle 26">
            <a:extLst>
              <a:ext uri="{FF2B5EF4-FFF2-40B4-BE49-F238E27FC236}">
                <a16:creationId xmlns:a16="http://schemas.microsoft.com/office/drawing/2014/main" id="{148D2CE4-DACF-45C1-8985-D9671CAC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083453"/>
            <a:ext cx="21687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Особенность МНС:</a:t>
            </a:r>
            <a:r>
              <a:rPr lang="ru-RU" altLang="ru-RU"/>
              <a:t> </a:t>
            </a:r>
          </a:p>
        </p:txBody>
      </p:sp>
      <p:sp>
        <p:nvSpPr>
          <p:cNvPr id="13337" name="Rectangle 28">
            <a:extLst>
              <a:ext uri="{FF2B5EF4-FFF2-40B4-BE49-F238E27FC236}">
                <a16:creationId xmlns:a16="http://schemas.microsoft.com/office/drawing/2014/main" id="{CCF20329-9CAA-4B65-A378-5B26BB27D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8" name="Object 27">
            <a:extLst>
              <a:ext uri="{FF2B5EF4-FFF2-40B4-BE49-F238E27FC236}">
                <a16:creationId xmlns:a16="http://schemas.microsoft.com/office/drawing/2014/main" id="{C57AD135-7F3B-444B-ADD7-143FF1687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5084763"/>
          <a:ext cx="23764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9" name="Формула" r:id="rId19" imgW="1536700" imgH="228600" progId="Equation.3">
                  <p:embed/>
                </p:oleObj>
              </mc:Choice>
              <mc:Fallback>
                <p:oleObj name="Формула" r:id="rId19" imgW="1536700" imgH="228600" progId="Equation.3">
                  <p:embed/>
                  <p:pic>
                    <p:nvPicPr>
                      <p:cNvPr id="13338" name="Object 27">
                        <a:extLst>
                          <a:ext uri="{FF2B5EF4-FFF2-40B4-BE49-F238E27FC236}">
                            <a16:creationId xmlns:a16="http://schemas.microsoft.com/office/drawing/2014/main" id="{C57AD135-7F3B-444B-ADD7-143FF1687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084763"/>
                        <a:ext cx="23764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Rectangle 29">
            <a:extLst>
              <a:ext uri="{FF2B5EF4-FFF2-40B4-BE49-F238E27FC236}">
                <a16:creationId xmlns:a16="http://schemas.microsoft.com/office/drawing/2014/main" id="{942A656B-2016-4692-B13D-D8F8FB21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5012016"/>
            <a:ext cx="9312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 есть </a:t>
            </a:r>
          </a:p>
        </p:txBody>
      </p:sp>
      <p:sp>
        <p:nvSpPr>
          <p:cNvPr id="13340" name="Rectangle 31">
            <a:extLst>
              <a:ext uri="{FF2B5EF4-FFF2-40B4-BE49-F238E27FC236}">
                <a16:creationId xmlns:a16="http://schemas.microsoft.com/office/drawing/2014/main" id="{A9D1C46D-D5F5-4DD6-86D7-3CC779458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41" name="Object 30">
            <a:extLst>
              <a:ext uri="{FF2B5EF4-FFF2-40B4-BE49-F238E27FC236}">
                <a16:creationId xmlns:a16="http://schemas.microsoft.com/office/drawing/2014/main" id="{4A163139-B336-42F7-AE48-2377F929BC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5863" y="5013326"/>
          <a:ext cx="16557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0" name="Формула" r:id="rId21" imgW="939392" imgH="203112" progId="Equation.3">
                  <p:embed/>
                </p:oleObj>
              </mc:Choice>
              <mc:Fallback>
                <p:oleObj name="Формула" r:id="rId21" imgW="939392" imgH="203112" progId="Equation.3">
                  <p:embed/>
                  <p:pic>
                    <p:nvPicPr>
                      <p:cNvPr id="13341" name="Object 30">
                        <a:extLst>
                          <a:ext uri="{FF2B5EF4-FFF2-40B4-BE49-F238E27FC236}">
                            <a16:creationId xmlns:a16="http://schemas.microsoft.com/office/drawing/2014/main" id="{4A163139-B336-42F7-AE48-2377F929B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5013326"/>
                        <a:ext cx="16557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2" name="Rectangle 32">
            <a:extLst>
              <a:ext uri="{FF2B5EF4-FFF2-40B4-BE49-F238E27FC236}">
                <a16:creationId xmlns:a16="http://schemas.microsoft.com/office/drawing/2014/main" id="{8324EC7A-EA63-4C1B-8362-130941304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5013326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 </a:t>
            </a:r>
          </a:p>
        </p:txBody>
      </p:sp>
      <p:sp>
        <p:nvSpPr>
          <p:cNvPr id="13343" name="Rectangle 33">
            <a:extLst>
              <a:ext uri="{FF2B5EF4-FFF2-40B4-BE49-F238E27FC236}">
                <a16:creationId xmlns:a16="http://schemas.microsoft.com/office/drawing/2014/main" id="{22F1365A-2C35-4F8B-8F68-22925AFA3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494923"/>
            <a:ext cx="8351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u="sng"/>
              <a:t>Достоинства.</a:t>
            </a:r>
            <a:r>
              <a:rPr lang="ru-RU" altLang="ru-RU" sz="1600"/>
              <a:t> Линейная скорость сходимости для функций </a:t>
            </a:r>
            <a:r>
              <a:rPr lang="ru-RU" altLang="ru-RU" sz="1600">
                <a:sym typeface="Symbol" panose="05050102010706020507" pitchFamily="18" charset="2"/>
              </a:rPr>
              <a:t></a:t>
            </a:r>
            <a:r>
              <a:rPr lang="ru-RU" altLang="ru-RU" sz="1600"/>
              <a:t>(</a:t>
            </a:r>
            <a:r>
              <a:rPr lang="en-US" altLang="ru-RU" sz="1600">
                <a:sym typeface="Symbol" panose="05050102010706020507" pitchFamily="18" charset="2"/>
              </a:rPr>
              <a:t>x</a:t>
            </a:r>
            <a:r>
              <a:rPr lang="ru-RU" altLang="ru-RU" sz="1600">
                <a:sym typeface="Symbol" panose="05050102010706020507" pitchFamily="18" charset="2"/>
              </a:rPr>
              <a:t>) близких к квадратичным. </a:t>
            </a:r>
          </a:p>
        </p:txBody>
      </p:sp>
      <p:sp>
        <p:nvSpPr>
          <p:cNvPr id="13344" name="Rectangle 34">
            <a:extLst>
              <a:ext uri="{FF2B5EF4-FFF2-40B4-BE49-F238E27FC236}">
                <a16:creationId xmlns:a16="http://schemas.microsoft.com/office/drawing/2014/main" id="{30A4B667-28AE-4407-887B-9A294A37E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703" y="5963236"/>
            <a:ext cx="12598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 u="sng"/>
              <a:t>Недостатки:</a:t>
            </a:r>
          </a:p>
        </p:txBody>
      </p:sp>
      <p:sp>
        <p:nvSpPr>
          <p:cNvPr id="13345" name="Rectangle 37">
            <a:extLst>
              <a:ext uri="{FF2B5EF4-FFF2-40B4-BE49-F238E27FC236}">
                <a16:creationId xmlns:a16="http://schemas.microsoft.com/office/drawing/2014/main" id="{E62E56D1-F8BF-44B7-B22D-0A433D8B3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565" y="5845761"/>
            <a:ext cx="12618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1.Функция 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3346" name="Object 36">
            <a:extLst>
              <a:ext uri="{FF2B5EF4-FFF2-40B4-BE49-F238E27FC236}">
                <a16:creationId xmlns:a16="http://schemas.microsoft.com/office/drawing/2014/main" id="{418C9064-A52B-4609-A096-F1A81D140D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5876925"/>
          <a:ext cx="11525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1" name="Формула" r:id="rId23" imgW="876300" imgH="228600" progId="Equation.3">
                  <p:embed/>
                </p:oleObj>
              </mc:Choice>
              <mc:Fallback>
                <p:oleObj name="Формула" r:id="rId23" imgW="876300" imgH="228600" progId="Equation.3">
                  <p:embed/>
                  <p:pic>
                    <p:nvPicPr>
                      <p:cNvPr id="13346" name="Object 36">
                        <a:extLst>
                          <a:ext uri="{FF2B5EF4-FFF2-40B4-BE49-F238E27FC236}">
                            <a16:creationId xmlns:a16="http://schemas.microsoft.com/office/drawing/2014/main" id="{418C9064-A52B-4609-A096-F1A81D140D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5876925"/>
                        <a:ext cx="11525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7" name="Rectangle 38">
            <a:extLst>
              <a:ext uri="{FF2B5EF4-FFF2-40B4-BE49-F238E27FC236}">
                <a16:creationId xmlns:a16="http://schemas.microsoft.com/office/drawing/2014/main" id="{E8E4F62B-2E4E-4C24-B3DF-AADBC09C2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480" y="5845761"/>
            <a:ext cx="35947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– должна быть дифференцируема.</a:t>
            </a:r>
            <a:endParaRPr lang="ru-RU" altLang="ru-RU" sz="1600">
              <a:latin typeface="Arial" panose="020B0604020202020204" pitchFamily="34" charset="0"/>
            </a:endParaRPr>
          </a:p>
        </p:txBody>
      </p:sp>
      <p:sp>
        <p:nvSpPr>
          <p:cNvPr id="13348" name="Rectangle 39">
            <a:extLst>
              <a:ext uri="{FF2B5EF4-FFF2-40B4-BE49-F238E27FC236}">
                <a16:creationId xmlns:a16="http://schemas.microsoft.com/office/drawing/2014/main" id="{C167D4EB-0BEA-4381-B6C3-1AD512A2F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02" y="6164848"/>
            <a:ext cx="60547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/>
              <a:t>2.Возможность зацикливания при плохой обусловленности задачи.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D76865A-E892-4A08-90B0-40EC91520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(метод второго порядка)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59709F1-4E9A-4D74-B83B-76C3E153D2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Условием использования этого метода является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EB865BEF-592E-4DCC-A6A4-32E9956E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D88C8045-5454-403D-B56E-295C06495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5" y="1700214"/>
          <a:ext cx="17287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0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D88C8045-5454-403D-B56E-295C064954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1700214"/>
                        <a:ext cx="17287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>
            <a:extLst>
              <a:ext uri="{FF2B5EF4-FFF2-40B4-BE49-F238E27FC236}">
                <a16:creationId xmlns:a16="http://schemas.microsoft.com/office/drawing/2014/main" id="{533E72F5-E681-4D56-A999-770830FEE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17732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69DB55E9-80B0-44E6-99F7-F5E4722D9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203728"/>
            <a:ext cx="6441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а также условие выпуклости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 в окрестности точки поиска. </a:t>
            </a:r>
          </a:p>
        </p:txBody>
      </p:sp>
      <p:sp>
        <p:nvSpPr>
          <p:cNvPr id="14344" name="Rectangle 9">
            <a:extLst>
              <a:ext uri="{FF2B5EF4-FFF2-40B4-BE49-F238E27FC236}">
                <a16:creationId xmlns:a16="http://schemas.microsoft.com/office/drawing/2014/main" id="{2B9EC536-4301-4DAD-8159-5E3C6CA43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418707"/>
            <a:ext cx="8841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cs typeface="Times New Roman" panose="02020603050405020304" pitchFamily="18" charset="0"/>
              </a:rPr>
              <a:t>Точка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4345" name="Object 8">
            <a:extLst>
              <a:ext uri="{FF2B5EF4-FFF2-40B4-BE49-F238E27FC236}">
                <a16:creationId xmlns:a16="http://schemas.microsoft.com/office/drawing/2014/main" id="{E3787030-9232-49A8-8E62-05EC3A9F4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2492376"/>
          <a:ext cx="2905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1" name="Формула" r:id="rId5" imgW="164957" imgH="203024" progId="Equation.3">
                  <p:embed/>
                </p:oleObj>
              </mc:Choice>
              <mc:Fallback>
                <p:oleObj name="Формула" r:id="rId5" imgW="164957" imgH="203024" progId="Equation.3">
                  <p:embed/>
                  <p:pic>
                    <p:nvPicPr>
                      <p:cNvPr id="14345" name="Object 8">
                        <a:extLst>
                          <a:ext uri="{FF2B5EF4-FFF2-40B4-BE49-F238E27FC236}">
                            <a16:creationId xmlns:a16="http://schemas.microsoft.com/office/drawing/2014/main" id="{E3787030-9232-49A8-8E62-05EC3A9F4A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492376"/>
                        <a:ext cx="2905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>
            <a:extLst>
              <a:ext uri="{FF2B5EF4-FFF2-40B4-BE49-F238E27FC236}">
                <a16:creationId xmlns:a16="http://schemas.microsoft.com/office/drawing/2014/main" id="{EE11A6C5-5089-44B3-8B90-019256A79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2490758"/>
            <a:ext cx="61305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altLang="ru-RU" sz="2000" dirty="0">
                <a:cs typeface="Times New Roman" panose="02020603050405020304" pitchFamily="18" charset="0"/>
              </a:rPr>
              <a:t>стационарная точка (точка локального экстремума ) 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F0F60CDD-FE3E-471B-ADE6-7A00A9D19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249237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9BF1B3B5-00EA-4180-AEC1-20DD4B189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924176"/>
            <a:ext cx="865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Пусть:</a:t>
            </a:r>
          </a:p>
        </p:txBody>
      </p:sp>
      <p:sp>
        <p:nvSpPr>
          <p:cNvPr id="14349" name="Rectangle 14">
            <a:extLst>
              <a:ext uri="{FF2B5EF4-FFF2-40B4-BE49-F238E27FC236}">
                <a16:creationId xmlns:a16="http://schemas.microsoft.com/office/drawing/2014/main" id="{56CD8D76-8D1F-43F6-B956-35EF14B6E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3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0" name="Object 13">
            <a:extLst>
              <a:ext uri="{FF2B5EF4-FFF2-40B4-BE49-F238E27FC236}">
                <a16:creationId xmlns:a16="http://schemas.microsoft.com/office/drawing/2014/main" id="{9DE89CA7-8646-40A6-84DF-58E3C3E42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2852738"/>
          <a:ext cx="21605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2" name="Формула" r:id="rId7" imgW="1168400" imgH="698500" progId="Equation.3">
                  <p:embed/>
                </p:oleObj>
              </mc:Choice>
              <mc:Fallback>
                <p:oleObj name="Формула" r:id="rId7" imgW="1168400" imgH="698500" progId="Equation.3">
                  <p:embed/>
                  <p:pic>
                    <p:nvPicPr>
                      <p:cNvPr id="14350" name="Object 13">
                        <a:extLst>
                          <a:ext uri="{FF2B5EF4-FFF2-40B4-BE49-F238E27FC236}">
                            <a16:creationId xmlns:a16="http://schemas.microsoft.com/office/drawing/2014/main" id="{9DE89CA7-8646-40A6-84DF-58E3C3E42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852738"/>
                        <a:ext cx="21605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5">
            <a:extLst>
              <a:ext uri="{FF2B5EF4-FFF2-40B4-BE49-F238E27FC236}">
                <a16:creationId xmlns:a16="http://schemas.microsoft.com/office/drawing/2014/main" id="{813F1311-22D4-427B-A67B-3BE44820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6" y="2922866"/>
            <a:ext cx="848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Тогда :</a:t>
            </a:r>
          </a:p>
        </p:txBody>
      </p:sp>
      <p:sp>
        <p:nvSpPr>
          <p:cNvPr id="14352" name="Rectangle 17">
            <a:extLst>
              <a:ext uri="{FF2B5EF4-FFF2-40B4-BE49-F238E27FC236}">
                <a16:creationId xmlns:a16="http://schemas.microsoft.com/office/drawing/2014/main" id="{CCBD88F0-DD5F-421F-93DB-4B1934227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53" name="Rectangle 18">
            <a:extLst>
              <a:ext uri="{FF2B5EF4-FFF2-40B4-BE49-F238E27FC236}">
                <a16:creationId xmlns:a16="http://schemas.microsoft.com/office/drawing/2014/main" id="{F45964DB-1A90-444C-B200-70B6EE607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3932516"/>
            <a:ext cx="545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где </a:t>
            </a:r>
          </a:p>
        </p:txBody>
      </p:sp>
      <p:sp>
        <p:nvSpPr>
          <p:cNvPr id="14354" name="Rectangle 20">
            <a:extLst>
              <a:ext uri="{FF2B5EF4-FFF2-40B4-BE49-F238E27FC236}">
                <a16:creationId xmlns:a16="http://schemas.microsoft.com/office/drawing/2014/main" id="{CE281A9E-CF4E-4D11-B2D3-EF6A3F89A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5" name="Object 19">
            <a:extLst>
              <a:ext uri="{FF2B5EF4-FFF2-40B4-BE49-F238E27FC236}">
                <a16:creationId xmlns:a16="http://schemas.microsoft.com/office/drawing/2014/main" id="{19000D4C-B926-4F8F-BC2C-C3C8EC646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1" y="3644900"/>
          <a:ext cx="316706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3" name="Формула" r:id="rId9" imgW="1371600" imgH="571500" progId="Equation.3">
                  <p:embed/>
                </p:oleObj>
              </mc:Choice>
              <mc:Fallback>
                <p:oleObj name="Формула" r:id="rId9" imgW="1371600" imgH="571500" progId="Equation.3">
                  <p:embed/>
                  <p:pic>
                    <p:nvPicPr>
                      <p:cNvPr id="14355" name="Object 19">
                        <a:extLst>
                          <a:ext uri="{FF2B5EF4-FFF2-40B4-BE49-F238E27FC236}">
                            <a16:creationId xmlns:a16="http://schemas.microsoft.com/office/drawing/2014/main" id="{19000D4C-B926-4F8F-BC2C-C3C8EC646B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3644900"/>
                        <a:ext cx="3167063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Rectangle 21">
            <a:extLst>
              <a:ext uri="{FF2B5EF4-FFF2-40B4-BE49-F238E27FC236}">
                <a16:creationId xmlns:a16="http://schemas.microsoft.com/office/drawing/2014/main" id="{6082E652-0B7E-4614-B03D-E30D8E0DE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581525"/>
            <a:ext cx="8424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Разложение функции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(х*) в окрестности х* в ряд Тейлора до 3-го члена дает квадратичную аппроксимацию этой функции в </a:t>
            </a:r>
            <a:r>
              <a:rPr lang="en-US" altLang="ru-RU">
                <a:sym typeface="Symbol" panose="05050102010706020507" pitchFamily="18" charset="2"/>
              </a:rPr>
              <a:t>U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*):</a:t>
            </a:r>
          </a:p>
        </p:txBody>
      </p:sp>
      <p:sp>
        <p:nvSpPr>
          <p:cNvPr id="14357" name="Rectangle 23">
            <a:extLst>
              <a:ext uri="{FF2B5EF4-FFF2-40B4-BE49-F238E27FC236}">
                <a16:creationId xmlns:a16="http://schemas.microsoft.com/office/drawing/2014/main" id="{A5CE2E69-59CC-4EBC-8E95-B146FD7F0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B8D52444-434E-470A-80BE-7BDE18EA9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5300663"/>
          <a:ext cx="360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4" name="Формула" r:id="rId11" imgW="1765300" imgH="228600" progId="Equation.3">
                  <p:embed/>
                </p:oleObj>
              </mc:Choice>
              <mc:Fallback>
                <p:oleObj name="Формула" r:id="rId11" imgW="1765300" imgH="228600" progId="Equation.3">
                  <p:embed/>
                  <p:pic>
                    <p:nvPicPr>
                      <p:cNvPr id="14358" name="Object 22">
                        <a:extLst>
                          <a:ext uri="{FF2B5EF4-FFF2-40B4-BE49-F238E27FC236}">
                            <a16:creationId xmlns:a16="http://schemas.microsoft.com/office/drawing/2014/main" id="{B8D52444-434E-470A-80BE-7BDE18EA9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300663"/>
                        <a:ext cx="3600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Rectangle 25">
            <a:extLst>
              <a:ext uri="{FF2B5EF4-FFF2-40B4-BE49-F238E27FC236}">
                <a16:creationId xmlns:a16="http://schemas.microsoft.com/office/drawing/2014/main" id="{76DCDDC0-4D90-4795-BC55-17EA2007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0" name="Object 24">
            <a:extLst>
              <a:ext uri="{FF2B5EF4-FFF2-40B4-BE49-F238E27FC236}">
                <a16:creationId xmlns:a16="http://schemas.microsoft.com/office/drawing/2014/main" id="{B1A5C943-A0D3-4B6B-A767-BE7DA6B9DA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5300664"/>
          <a:ext cx="41052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5" name="Формула" r:id="rId13" imgW="2070100" imgH="228600" progId="Equation.3">
                  <p:embed/>
                </p:oleObj>
              </mc:Choice>
              <mc:Fallback>
                <p:oleObj name="Формула" r:id="rId13" imgW="2070100" imgH="228600" progId="Equation.3">
                  <p:embed/>
                  <p:pic>
                    <p:nvPicPr>
                      <p:cNvPr id="14360" name="Object 24">
                        <a:extLst>
                          <a:ext uri="{FF2B5EF4-FFF2-40B4-BE49-F238E27FC236}">
                            <a16:creationId xmlns:a16="http://schemas.microsoft.com/office/drawing/2014/main" id="{B1A5C943-A0D3-4B6B-A767-BE7DA6B9D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5300664"/>
                        <a:ext cx="41052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Rectangle 26">
            <a:extLst>
              <a:ext uri="{FF2B5EF4-FFF2-40B4-BE49-F238E27FC236}">
                <a16:creationId xmlns:a16="http://schemas.microsoft.com/office/drawing/2014/main" id="{E7761BFB-A875-4D3C-88E8-9865A0B1C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5300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62" name="Rectangle 28">
            <a:extLst>
              <a:ext uri="{FF2B5EF4-FFF2-40B4-BE49-F238E27FC236}">
                <a16:creationId xmlns:a16="http://schemas.microsoft.com/office/drawing/2014/main" id="{1742B285-A34A-43D7-8BB9-A452930D8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3" name="Object 27">
            <a:extLst>
              <a:ext uri="{FF2B5EF4-FFF2-40B4-BE49-F238E27FC236}">
                <a16:creationId xmlns:a16="http://schemas.microsoft.com/office/drawing/2014/main" id="{CF95B998-5ED1-45E4-8088-A43177E69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5805488"/>
          <a:ext cx="27368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6" name="Формула" r:id="rId15" imgW="1676400" imgH="228600" progId="Equation.3">
                  <p:embed/>
                </p:oleObj>
              </mc:Choice>
              <mc:Fallback>
                <p:oleObj name="Формула" r:id="rId15" imgW="1676400" imgH="228600" progId="Equation.3">
                  <p:embed/>
                  <p:pic>
                    <p:nvPicPr>
                      <p:cNvPr id="14363" name="Object 27">
                        <a:extLst>
                          <a:ext uri="{FF2B5EF4-FFF2-40B4-BE49-F238E27FC236}">
                            <a16:creationId xmlns:a16="http://schemas.microsoft.com/office/drawing/2014/main" id="{CF95B998-5ED1-45E4-8088-A43177E69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805488"/>
                        <a:ext cx="27368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Rectangle 30">
            <a:extLst>
              <a:ext uri="{FF2B5EF4-FFF2-40B4-BE49-F238E27FC236}">
                <a16:creationId xmlns:a16="http://schemas.microsoft.com/office/drawing/2014/main" id="{AD0ED72A-B7E7-4FC4-9D50-E53382CD7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5" name="Object 29">
            <a:extLst>
              <a:ext uri="{FF2B5EF4-FFF2-40B4-BE49-F238E27FC236}">
                <a16:creationId xmlns:a16="http://schemas.microsoft.com/office/drawing/2014/main" id="{B38285AC-5146-4A19-9B04-9E0E61C093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9" y="5805488"/>
          <a:ext cx="26638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7" name="Формула" r:id="rId17" imgW="1536700" imgH="241300" progId="Equation.3">
                  <p:embed/>
                </p:oleObj>
              </mc:Choice>
              <mc:Fallback>
                <p:oleObj name="Формула" r:id="rId17" imgW="1536700" imgH="241300" progId="Equation.3">
                  <p:embed/>
                  <p:pic>
                    <p:nvPicPr>
                      <p:cNvPr id="14365" name="Object 29">
                        <a:extLst>
                          <a:ext uri="{FF2B5EF4-FFF2-40B4-BE49-F238E27FC236}">
                            <a16:creationId xmlns:a16="http://schemas.microsoft.com/office/drawing/2014/main" id="{B38285AC-5146-4A19-9B04-9E0E61C09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9" y="5805488"/>
                        <a:ext cx="26638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Rectangle 32">
            <a:extLst>
              <a:ext uri="{FF2B5EF4-FFF2-40B4-BE49-F238E27FC236}">
                <a16:creationId xmlns:a16="http://schemas.microsoft.com/office/drawing/2014/main" id="{84FC44D8-1FA1-4D6F-B161-25E58EFF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7" name="Object 31">
            <a:extLst>
              <a:ext uri="{FF2B5EF4-FFF2-40B4-BE49-F238E27FC236}">
                <a16:creationId xmlns:a16="http://schemas.microsoft.com/office/drawing/2014/main" id="{396730EC-032D-48C9-89FE-87A20F5EB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4" y="5876925"/>
          <a:ext cx="23764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" name="Формула" r:id="rId19" imgW="1371600" imgH="203200" progId="Equation.3">
                  <p:embed/>
                </p:oleObj>
              </mc:Choice>
              <mc:Fallback>
                <p:oleObj name="Формула" r:id="rId19" imgW="1371600" imgH="203200" progId="Equation.3">
                  <p:embed/>
                  <p:pic>
                    <p:nvPicPr>
                      <p:cNvPr id="14367" name="Object 31">
                        <a:extLst>
                          <a:ext uri="{FF2B5EF4-FFF2-40B4-BE49-F238E27FC236}">
                            <a16:creationId xmlns:a16="http://schemas.microsoft.com/office/drawing/2014/main" id="{396730EC-032D-48C9-89FE-87A20F5EB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5876925"/>
                        <a:ext cx="237648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8" name="Rectangle 34">
            <a:extLst>
              <a:ext uri="{FF2B5EF4-FFF2-40B4-BE49-F238E27FC236}">
                <a16:creationId xmlns:a16="http://schemas.microsoft.com/office/drawing/2014/main" id="{EFE192E2-B9D3-418A-B630-8A879D1FB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69" name="Rectangle 35">
            <a:extLst>
              <a:ext uri="{FF2B5EF4-FFF2-40B4-BE49-F238E27FC236}">
                <a16:creationId xmlns:a16="http://schemas.microsoft.com/office/drawing/2014/main" id="{AECC8EFF-028C-46FE-A466-854CD8D5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5805488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0" name="Rectangle 36">
            <a:extLst>
              <a:ext uri="{FF2B5EF4-FFF2-40B4-BE49-F238E27FC236}">
                <a16:creationId xmlns:a16="http://schemas.microsoft.com/office/drawing/2014/main" id="{8B6CEA71-B47C-41DB-A0F7-61422A44A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876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1" name="Rectangle 37">
            <a:extLst>
              <a:ext uri="{FF2B5EF4-FFF2-40B4-BE49-F238E27FC236}">
                <a16:creationId xmlns:a16="http://schemas.microsoft.com/office/drawing/2014/main" id="{F9C59969-4DE5-43B1-B4B5-AA888CF5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3" y="587692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14372" name="Object 38">
            <a:extLst>
              <a:ext uri="{FF2B5EF4-FFF2-40B4-BE49-F238E27FC236}">
                <a16:creationId xmlns:a16="http://schemas.microsoft.com/office/drawing/2014/main" id="{EEF48CE6-8EAA-4ADC-9723-4EA79D91506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440238" y="3284538"/>
          <a:ext cx="5759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9" name="Формула" r:id="rId21" imgW="4051300" imgH="393700" progId="Equation.3">
                  <p:embed/>
                </p:oleObj>
              </mc:Choice>
              <mc:Fallback>
                <p:oleObj name="Формула" r:id="rId21" imgW="4051300" imgH="393700" progId="Equation.3">
                  <p:embed/>
                  <p:pic>
                    <p:nvPicPr>
                      <p:cNvPr id="14372" name="Object 38">
                        <a:extLst>
                          <a:ext uri="{FF2B5EF4-FFF2-40B4-BE49-F238E27FC236}">
                            <a16:creationId xmlns:a16="http://schemas.microsoft.com/office/drawing/2014/main" id="{EEF48CE6-8EAA-4ADC-9723-4EA79D915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284538"/>
                        <a:ext cx="57594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7E73DC4-DC19-4FA8-8324-26893A710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(метод второго порядка)</a:t>
            </a:r>
          </a:p>
        </p:txBody>
      </p:sp>
      <p:pic>
        <p:nvPicPr>
          <p:cNvPr id="15363" name="Picture 4">
            <a:extLst>
              <a:ext uri="{FF2B5EF4-FFF2-40B4-BE49-F238E27FC236}">
                <a16:creationId xmlns:a16="http://schemas.microsoft.com/office/drawing/2014/main" id="{1A6202BF-EA89-402A-A783-1B1F39473C68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925638"/>
            <a:ext cx="5334000" cy="3663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4" name="Picture 5">
            <a:extLst>
              <a:ext uri="{FF2B5EF4-FFF2-40B4-BE49-F238E27FC236}">
                <a16:creationId xmlns:a16="http://schemas.microsoft.com/office/drawing/2014/main" id="{ECE06511-6BE7-407F-ABE2-DA733A007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63" y="2492376"/>
            <a:ext cx="2400300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04E884A-78EA-4A8F-BAF9-973ACDB00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(метод второго порядка).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451375E-C514-4878-8D5F-7886C5E50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1031"/>
            <a:ext cx="10515600" cy="43513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Сопряженность: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210A526-E317-4577-9FD7-81E8E7214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944FAEC8-508B-4A78-901E-5F1537C4B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939819"/>
              </p:ext>
            </p:extLst>
          </p:nvPr>
        </p:nvGraphicFramePr>
        <p:xfrm>
          <a:off x="4181476" y="1869588"/>
          <a:ext cx="2808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9" name="Формула" r:id="rId3" imgW="1397000" imgH="228600" progId="Equation.3">
                  <p:embed/>
                </p:oleObj>
              </mc:Choice>
              <mc:Fallback>
                <p:oleObj name="Формула" r:id="rId3" imgW="1397000" imgH="228600" progId="Equation.3">
                  <p:embed/>
                  <p:pic>
                    <p:nvPicPr>
                      <p:cNvPr id="16389" name="Object 4">
                        <a:extLst>
                          <a:ext uri="{FF2B5EF4-FFF2-40B4-BE49-F238E27FC236}">
                            <a16:creationId xmlns:a16="http://schemas.microsoft.com/office/drawing/2014/main" id="{944FAEC8-508B-4A78-901E-5F1537C4B7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6" y="1869588"/>
                        <a:ext cx="28082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>
            <a:extLst>
              <a:ext uri="{FF2B5EF4-FFF2-40B4-BE49-F238E27FC236}">
                <a16:creationId xmlns:a16="http://schemas.microsoft.com/office/drawing/2014/main" id="{3FFEBD23-771D-442A-9FC6-DAC85E59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79DCCE1E-4321-4794-98C6-4CF8D0BC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095501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Достоинства :</a:t>
            </a:r>
            <a:r>
              <a:rPr lang="ru-RU" altLang="ru-RU" u="sng"/>
              <a:t> </a:t>
            </a:r>
            <a:r>
              <a:rPr lang="ru-RU" altLang="ru-RU"/>
              <a:t>  </a:t>
            </a:r>
          </a:p>
          <a:p>
            <a:pPr eaLnBrk="1" hangingPunct="1"/>
            <a:r>
              <a:rPr lang="ru-RU" altLang="ru-RU"/>
              <a:t>Для функций, близких к квадратичным, скорость сходимости алгоритма суперлинейная.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18E3DF10-08FE-48B1-8057-09FFEC72B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994969"/>
            <a:ext cx="18721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Недостатки:</a:t>
            </a:r>
            <a:r>
              <a:rPr lang="ru-RU" altLang="ru-RU" sz="2400"/>
              <a:t> 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773D0CE6-ED0B-4891-B44D-052E2C1D2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70541"/>
            <a:ext cx="3175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1.Необходимость вычисления </a:t>
            </a:r>
          </a:p>
        </p:txBody>
      </p:sp>
      <p:sp>
        <p:nvSpPr>
          <p:cNvPr id="16394" name="Rectangle 11">
            <a:extLst>
              <a:ext uri="{FF2B5EF4-FFF2-40B4-BE49-F238E27FC236}">
                <a16:creationId xmlns:a16="http://schemas.microsoft.com/office/drawing/2014/main" id="{59BDBA98-DF85-4407-B152-B28AC578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5" name="Object 10">
            <a:extLst>
              <a:ext uri="{FF2B5EF4-FFF2-40B4-BE49-F238E27FC236}">
                <a16:creationId xmlns:a16="http://schemas.microsoft.com/office/drawing/2014/main" id="{94781E6B-A18A-4D7D-A5AF-A4821FAE3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3357564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0" name="Формула" r:id="rId5" imgW="622030" imgH="228501" progId="Equation.3">
                  <p:embed/>
                </p:oleObj>
              </mc:Choice>
              <mc:Fallback>
                <p:oleObj name="Формула" r:id="rId5" imgW="622030" imgH="228501" progId="Equation.3">
                  <p:embed/>
                  <p:pic>
                    <p:nvPicPr>
                      <p:cNvPr id="16395" name="Object 10">
                        <a:extLst>
                          <a:ext uri="{FF2B5EF4-FFF2-40B4-BE49-F238E27FC236}">
                            <a16:creationId xmlns:a16="http://schemas.microsoft.com/office/drawing/2014/main" id="{94781E6B-A18A-4D7D-A5AF-A4821FAE3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357564"/>
                        <a:ext cx="1295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12">
            <a:extLst>
              <a:ext uri="{FF2B5EF4-FFF2-40B4-BE49-F238E27FC236}">
                <a16:creationId xmlns:a16="http://schemas.microsoft.com/office/drawing/2014/main" id="{5DA16338-C003-4265-8BD5-F809CF7A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338455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397" name="Rectangle 14">
            <a:extLst>
              <a:ext uri="{FF2B5EF4-FFF2-40B4-BE49-F238E27FC236}">
                <a16:creationId xmlns:a16="http://schemas.microsoft.com/office/drawing/2014/main" id="{1D272351-C9BB-4DE1-95B2-7B1F5AF4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40151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2.Процесс решения сильно зависит от выбора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6398" name="Object 13">
            <a:extLst>
              <a:ext uri="{FF2B5EF4-FFF2-40B4-BE49-F238E27FC236}">
                <a16:creationId xmlns:a16="http://schemas.microsoft.com/office/drawing/2014/main" id="{3FFA216E-B536-45D7-AB0E-0E5A550BA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3716339"/>
          <a:ext cx="5762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1" name="Формула" r:id="rId7" imgW="253780" imgH="203024" progId="Equation.3">
                  <p:embed/>
                </p:oleObj>
              </mc:Choice>
              <mc:Fallback>
                <p:oleObj name="Формула" r:id="rId7" imgW="253780" imgH="203024" progId="Equation.3">
                  <p:embed/>
                  <p:pic>
                    <p:nvPicPr>
                      <p:cNvPr id="16398" name="Object 13">
                        <a:extLst>
                          <a:ext uri="{FF2B5EF4-FFF2-40B4-BE49-F238E27FC236}">
                            <a16:creationId xmlns:a16="http://schemas.microsoft.com/office/drawing/2014/main" id="{3FFA216E-B536-45D7-AB0E-0E5A550BA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716339"/>
                        <a:ext cx="5762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5">
            <a:extLst>
              <a:ext uri="{FF2B5EF4-FFF2-40B4-BE49-F238E27FC236}">
                <a16:creationId xmlns:a16="http://schemas.microsoft.com/office/drawing/2014/main" id="{AE5F1ACA-7258-414F-937B-A81554F5C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802341"/>
            <a:ext cx="28119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(т.е. от начальной точки)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E46C9506-35AC-4488-BE76-6EC0926C6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350" y="3716338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2B24271C-B3CA-4B56-A712-9D1EF569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148416"/>
            <a:ext cx="55938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3.Функция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(х) должна быть выпуклой во всех точках </a:t>
            </a:r>
          </a:p>
        </p:txBody>
      </p:sp>
      <p:sp>
        <p:nvSpPr>
          <p:cNvPr id="16402" name="Rectangle 19">
            <a:extLst>
              <a:ext uri="{FF2B5EF4-FFF2-40B4-BE49-F238E27FC236}">
                <a16:creationId xmlns:a16="http://schemas.microsoft.com/office/drawing/2014/main" id="{CEFFB27D-15A7-4302-8CF8-7ECE571D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3" name="Object 18">
            <a:extLst>
              <a:ext uri="{FF2B5EF4-FFF2-40B4-BE49-F238E27FC236}">
                <a16:creationId xmlns:a16="http://schemas.microsoft.com/office/drawing/2014/main" id="{685BA3D4-9780-4523-8437-B76DABFC5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4149725"/>
          <a:ext cx="4318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2" name="Формула" r:id="rId9" imgW="253780" imgH="203024" progId="Equation.3">
                  <p:embed/>
                </p:oleObj>
              </mc:Choice>
              <mc:Fallback>
                <p:oleObj name="Формула" r:id="rId9" imgW="253780" imgH="203024" progId="Equation.3">
                  <p:embed/>
                  <p:pic>
                    <p:nvPicPr>
                      <p:cNvPr id="16403" name="Object 18">
                        <a:extLst>
                          <a:ext uri="{FF2B5EF4-FFF2-40B4-BE49-F238E27FC236}">
                            <a16:creationId xmlns:a16="http://schemas.microsoft.com/office/drawing/2014/main" id="{685BA3D4-9780-4523-8437-B76DABFC5D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4149725"/>
                        <a:ext cx="4318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22">
            <a:extLst>
              <a:ext uri="{FF2B5EF4-FFF2-40B4-BE49-F238E27FC236}">
                <a16:creationId xmlns:a16="http://schemas.microsoft.com/office/drawing/2014/main" id="{3347BC4D-4D04-4DFC-B54C-2E1F56F3F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1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405" name="Rectangle 23">
            <a:extLst>
              <a:ext uri="{FF2B5EF4-FFF2-40B4-BE49-F238E27FC236}">
                <a16:creationId xmlns:a16="http://schemas.microsoft.com/office/drawing/2014/main" id="{9F7C6488-2E27-4BA6-A75D-56723A6C1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4" y="4148416"/>
            <a:ext cx="11214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 есть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6" name="Rectangle 25">
            <a:extLst>
              <a:ext uri="{FF2B5EF4-FFF2-40B4-BE49-F238E27FC236}">
                <a16:creationId xmlns:a16="http://schemas.microsoft.com/office/drawing/2014/main" id="{CFA7F9A9-A2EA-4231-9A8B-4D4F2B20A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7" name="Object 24">
            <a:extLst>
              <a:ext uri="{FF2B5EF4-FFF2-40B4-BE49-F238E27FC236}">
                <a16:creationId xmlns:a16="http://schemas.microsoft.com/office/drawing/2014/main" id="{BE2B792D-88B9-4455-BD89-57EE9EC7A9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8" y="4149725"/>
          <a:ext cx="14414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3" name="Формула" r:id="rId11" imgW="889000" imgH="228600" progId="Equation.3">
                  <p:embed/>
                </p:oleObj>
              </mc:Choice>
              <mc:Fallback>
                <p:oleObj name="Формула" r:id="rId11" imgW="889000" imgH="228600" progId="Equation.3">
                  <p:embed/>
                  <p:pic>
                    <p:nvPicPr>
                      <p:cNvPr id="16407" name="Object 24">
                        <a:extLst>
                          <a:ext uri="{FF2B5EF4-FFF2-40B4-BE49-F238E27FC236}">
                            <a16:creationId xmlns:a16="http://schemas.microsoft.com/office/drawing/2014/main" id="{BE2B792D-88B9-4455-BD89-57EE9EC7A9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8" y="4149725"/>
                        <a:ext cx="144145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Rectangle 26">
            <a:extLst>
              <a:ext uri="{FF2B5EF4-FFF2-40B4-BE49-F238E27FC236}">
                <a16:creationId xmlns:a16="http://schemas.microsoft.com/office/drawing/2014/main" id="{9DB6E284-DC5F-4CF7-95A5-DF5E387F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0" y="407670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9A55B-327F-42B8-9615-A2D0B1E2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последние 18-20 лет произошел огромный скачок в развитии систем искусственного интеллекта на основе машинного обучения и глубоких нейронных сетей. Это было обусловлено четырьмя  основными факторами: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Значительным повышением производительности компьютерных систем.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Наличием доступных очень больших баз данных.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Созданием новых методов оптимизации на основе стохастического градиентного спуска.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Разработкой и созданием систем параллельной обработки информации на основе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CUDA, GPU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TPU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рассмотрим те методы оптимизации, которые легли в основу машинного обучения и теории глубоких нейронных сетей.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buAutoNum type="arabicPeriod"/>
            </a:pPr>
            <a:endParaRPr lang="ru-RU" sz="1800" dirty="0"/>
          </a:p>
          <a:p>
            <a:pPr marL="385763" indent="-385763">
              <a:buAutoNum type="arabicPeriod"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8262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FD1F0A6-64AD-4008-BFD3-5A83CB9F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градиентного спуска является одним из наиболее популярных алгоритмов в области оптимизации для реализации обучения в современных нейронных сетях. В настоящее время разработан целый ряд библиотек глубокого машинного обучения, реализованных в виде соответствующих фреймворков. Ядром этих фреймворков являются методы оптимизации, основанные на использовании различных вариантов стохастического градиентного спуска.</a:t>
            </a: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FFCC61-6EB3-458E-9499-B2FDE4ADED70}"/>
              </a:ext>
            </a:extLst>
          </p:cNvPr>
          <p:cNvSpPr txBox="1">
            <a:spLocks/>
          </p:cNvSpPr>
          <p:nvPr/>
        </p:nvSpPr>
        <p:spPr>
          <a:xfrm>
            <a:off x="2183841" y="234751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7C482B3-7691-4F91-8AFD-BEFCD496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47" y="99514"/>
            <a:ext cx="8507288" cy="114300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170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1605116" y="193574"/>
            <a:ext cx="9144000" cy="63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7500" tIns="35100" rIns="67500" bIns="351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 для работы с глубокими сетями</a:t>
            </a: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81116" y="830559"/>
            <a:ext cx="12029768" cy="5733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67500" tIns="35100" rIns="67500" bIns="35100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Определение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Расчет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Дифференцирование графа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altLang="ru-RU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ипы фреймворков</a:t>
            </a:r>
          </a:p>
          <a:p>
            <a:pPr marL="457200" indent="-457200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TensorFlow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комплексная платформа для машинного обучения с открытым исходным кодом. Она была разработана командой Google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Ориентирован на большие проекты.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PyTorch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среда машинного обучения на языке Python с открытым исходным кодом, обеспечивающая тензорные вычисления с GPU-ускорением. Она была разработана компанией Facebook и представлена в октябре 2016 года, а открыта для сторонних разработчиков — в январе 2017 года. Фреймворк подходит для быстрого прототипирования в исследованиях, а также для любителей и небольших проектов.</a:t>
            </a:r>
          </a:p>
          <a:p>
            <a:pPr marL="457200" indent="-457200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написанный на языке C с использованием программно-аппаратной архитектуры параллельных вычислений CUDA. Он быстрый, лёгкий и удобный в использовании. Также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вычисления на базе CPU и GPU. </a:t>
            </a:r>
          </a:p>
          <a:p>
            <a:pPr marL="457200" indent="-457200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XGBoost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который предлагает систему градиентного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C++, Java, Python, R,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Он разработан для обеспечения высокой эффективности, гибкости и портативности.</a:t>
            </a:r>
            <a:endParaRPr lang="ru-RU" alt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960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5F06B-4790-414E-99CD-56A81FF20C6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5F01B-CCB0-42A3-B6E5-53D96F5D68B6}"/>
              </a:ext>
            </a:extLst>
          </p:cNvPr>
          <p:cNvSpPr txBox="1">
            <a:spLocks/>
          </p:cNvSpPr>
          <p:nvPr/>
        </p:nvSpPr>
        <p:spPr>
          <a:xfrm>
            <a:off x="2152650" y="2226469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1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46887B-30AC-4550-A1E5-F8B18960CAA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90" y="2226470"/>
            <a:ext cx="6652259" cy="3049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947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2053118" y="692696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следующие обозначения: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переменные оптимизации (веса синапсов искусственных нейронов, т.е.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в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обозначениях на рисунке)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размерность вектора оптимизации.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целевая функция (функция ошибки или «потери»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обозначениях на рисунке).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градиент целевой функции.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коэффициент обучения, определяющий величину шага в направлении локального минимума.</a:t>
                </a: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Выделим три основных варианта градиентного спуска. 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773" t="-3364" r="-13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63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A7B5-F632-4DD4-8412-EEF352CE4626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gradient descent</a:t>
                </a:r>
                <a:r>
                  <a:rPr lang="ru-RU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925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925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9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92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2925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Градиентный метод, который рассчитан на вычисление градиента для </a:t>
                </a:r>
                <a:r>
                  <a:rPr lang="ru-RU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(выборке  - </a:t>
                </a:r>
                <a:r>
                  <a:rPr lang="en-US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обладает следующими особенностями: 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 достаточно большого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Обладает низкой скоростью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Низкой точностью.</a:t>
                </a:r>
              </a:p>
              <a:p>
                <a:pPr marL="0" indent="0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1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96" t="-48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338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104E-2898-49A7-A874-B62EFF445A3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5263E-1085-4898-85D4-DDABA6B9AC04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gradient descent</a:t>
                </a:r>
                <a:r>
                  <a:rPr lang="ru-RU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SGD)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96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9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9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9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отличии от традиционного градиентного метода, метод стохастического градиента позволяет обрабатывать за одну итерацию относительно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позволяет избежать недостатки традиционного градиентного метода: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Требуется значительно меньше необходимого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Повышается скорость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Увеличивается робастность к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невыпуклости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целевых функций.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Возможна оптимизация многоэкстремальных целевых функций.</a:t>
                </a:r>
              </a:p>
              <a:p>
                <a:pPr marL="0" indent="0">
                  <a:buNone/>
                </a:pPr>
                <a:endParaRPr lang="ru-RU" sz="7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72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18" t="-4486" b="-8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756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DFF056-614D-461F-8D5A-A4C64CB87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135" y="1975270"/>
            <a:ext cx="7240088" cy="336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E71A8-3A0D-448D-94BA-005CB3680B83}"/>
              </a:ext>
            </a:extLst>
          </p:cNvPr>
          <p:cNvSpPr txBox="1"/>
          <p:nvPr/>
        </p:nvSpPr>
        <p:spPr>
          <a:xfrm>
            <a:off x="1996554" y="5414409"/>
            <a:ext cx="81988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1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Флуктуации целевой функции в процессе работы алгоритма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64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9B666-6A30-4FAC-9702-1CF61C79CD4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Mini-batch gradient descent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: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8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За каждую эпоху отбирается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данных  (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𝟐𝟓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дает следующие преимущества: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Уменьшает дисперсию разброса параметров что ведет к более устойчивой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Позволяет использовать матричные и тензорные операции, входящие в состав современных  библиотек методов глубокого обучения (смотри слайд 12).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 это делает использование </a:t>
                </a:r>
                <a:r>
                  <a:rPr lang="en-US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 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минибатчах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очень эффективными для решения задач по глубокому обучению.</a:t>
                </a:r>
              </a:p>
              <a:p>
                <a:pPr marL="0" indent="0" algn="ctr">
                  <a:buNone/>
                </a:pPr>
                <a:r>
                  <a:rPr lang="ru-RU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Далее мы рассмотрим дальнейшее развитие методов </a:t>
                </a:r>
                <a:r>
                  <a:rPr lang="en-US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SGD.</a:t>
                </a: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l="-618" t="-4152" r="-464" b="-6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519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B5D23A-5C1D-47E2-9911-D34A98CF6747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8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Этот метод, применительно к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позволяет преодолевать овраги.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Кроме того, он позволяет увеличить скорость сходимости алгоритмов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Метод моментов был предложен в 1964 году Б.Т. Поляком.</a:t>
                </a: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Другое название этого метода - «метод тяжелого шарика». Он рассматривался нами раньше в лекции посвященной многоэкстремальной оптимизации. 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1986 году этот метод был использован  Джеффри Хинтоном и Дэвидом </a:t>
                </a:r>
                <a:r>
                  <a:rPr lang="ru-RU" sz="84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Руммельхартом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для обучения нейронных сетей методом обратного распространения ошибки.</a:t>
                </a:r>
              </a:p>
              <a:p>
                <a:pPr marL="0" indent="0">
                  <a:buNone/>
                </a:pP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  <a:blipFill>
                <a:blip r:embed="rId2"/>
                <a:stretch>
                  <a:fillRect l="-927" t="-4040" b="-8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330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A6D89-E184-49DB-BEF6-99B68BFBE3D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B7291B-D3FC-48A0-90EB-FC4FEDF357EE}"/>
              </a:ext>
            </a:extLst>
          </p:cNvPr>
          <p:cNvSpPr txBox="1">
            <a:spLocks/>
          </p:cNvSpPr>
          <p:nvPr/>
        </p:nvSpPr>
        <p:spPr>
          <a:xfrm>
            <a:off x="2152649" y="2246941"/>
            <a:ext cx="7886700" cy="352893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0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Адаптивные методы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NAG.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AdaMax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(Modification Adam)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Nadam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</a:t>
            </a: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modification Adam)</a:t>
            </a:r>
          </a:p>
          <a:p>
            <a:pPr marL="557213" indent="-557213">
              <a:buFont typeface="+mj-lt"/>
              <a:buAutoNum type="arabicPeriod"/>
            </a:pP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endParaRPr lang="ru-RU" sz="30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8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587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NAG. (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accelerated gradient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96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Adagrad. (Adapted gradient)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7262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/>
              <a:t>ГРАДИЕНТНЫЕ МЕТОДЫ В ИСКУССТВЕННЫХ НЕЙРОННЫХ СЕТЯХ</a:t>
            </a:r>
            <a:endParaRPr lang="ru-RU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Adadelta. (E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xtension of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Adagrad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𝑅𝑀𝑆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𝑅𝑀𝑆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.</a:t>
                      </a:fl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1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4826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RMSProp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 (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Adaptive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Root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Squared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0.1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873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Adam. (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 moment estimation)</a:t>
                </a: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b/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=0.98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5999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AdaMax. (Modification Adam)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 b="-1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1629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Nadam. (</a:t>
                </a:r>
                <a:r>
                  <a:rPr lang="en-US" sz="2625" b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modification Adam)</a:t>
                </a:r>
              </a:p>
              <a:p>
                <a:pPr marL="0" indent="0" algn="ctr">
                  <a:buNone/>
                </a:pP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Является комбинацией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 </a:t>
                </a: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100" i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1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  <a:blipFill>
                <a:blip r:embed="rId2"/>
                <a:stretch>
                  <a:fillRect t="-3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393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2786</Words>
  <Application>Microsoft Office PowerPoint</Application>
  <PresentationFormat>Широкоэкранный</PresentationFormat>
  <Paragraphs>372</Paragraphs>
  <Slides>43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ПЛАН ЛЕКЦИИ</vt:lpstr>
      <vt:lpstr>Необходимые и достаточные условия существования экстремума функции</vt:lpstr>
      <vt:lpstr>Необходимые и достаточные условия существования экстремума функции.</vt:lpstr>
      <vt:lpstr>Необходимые и достаточные условия существования экстремума функции.</vt:lpstr>
      <vt:lpstr>Необходимые и достаточные условия существования экстремума функции.</vt:lpstr>
      <vt:lpstr>Задачи выпуклого программирования</vt:lpstr>
      <vt:lpstr>Задачи выпуклого программирования.</vt:lpstr>
      <vt:lpstr>Функция Куна-Таккера (функция Лагранжа) для задач выпуклого программирования (1951г.)</vt:lpstr>
      <vt:lpstr>Теорема Каруша-Куна-Таккера</vt:lpstr>
      <vt:lpstr>Теория двойственности</vt:lpstr>
      <vt:lpstr>Постановка задачи многомерной оптимизации</vt:lpstr>
      <vt:lpstr>Классификация типов задач многомерной оптимизации</vt:lpstr>
      <vt:lpstr>Классификация типов задач многомерной оптимизации</vt:lpstr>
      <vt:lpstr>Один экстремум</vt:lpstr>
      <vt:lpstr>Много экстремумов</vt:lpstr>
      <vt:lpstr>Многокритериальная оптимизация</vt:lpstr>
      <vt:lpstr> Метод покоординатного спуска (метод 0-го порядка)</vt:lpstr>
      <vt:lpstr>Алгоритм:</vt:lpstr>
      <vt:lpstr>Обусловленность задачи </vt:lpstr>
      <vt:lpstr>Метод наискорейшего спуска (метод 1-го порядка).  </vt:lpstr>
      <vt:lpstr>Метод наискорейшего спуска (метод 1-го порядка).</vt:lpstr>
      <vt:lpstr>Метод Ньютона (метод второго порядка)</vt:lpstr>
      <vt:lpstr>Метод Ньютона (метод второго порядка)</vt:lpstr>
      <vt:lpstr>Метод Ньютона (метод второго порядка).</vt:lpstr>
      <vt:lpstr>ГРАДИЕНТНЫЕ МЕТОДЫ В МАШИННОМ ОБУЧЕНИИ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ИСКУССТВЕННЫХ НЕЙРОННЫХ СЕТЕЙ Каганов Ю.Т. к.т.н., доцент каф. ИУ-9 «Теоретическая информатика и компьютерные технологии»</dc:title>
  <dc:creator>Yuriy Kaganov</dc:creator>
  <cp:lastModifiedBy>Yuriy Kaganov</cp:lastModifiedBy>
  <cp:revision>19</cp:revision>
  <dcterms:created xsi:type="dcterms:W3CDTF">2022-09-19T18:39:18Z</dcterms:created>
  <dcterms:modified xsi:type="dcterms:W3CDTF">2024-10-02T20:11:25Z</dcterms:modified>
</cp:coreProperties>
</file>