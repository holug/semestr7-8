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360" r:id="rId2"/>
    <p:sldId id="311" r:id="rId3"/>
    <p:sldId id="370" r:id="rId4"/>
    <p:sldId id="312" r:id="rId5"/>
    <p:sldId id="313" r:id="rId6"/>
    <p:sldId id="314" r:id="rId7"/>
    <p:sldId id="353" r:id="rId8"/>
    <p:sldId id="316" r:id="rId9"/>
    <p:sldId id="317" r:id="rId10"/>
    <p:sldId id="407" r:id="rId11"/>
    <p:sldId id="361" r:id="rId12"/>
    <p:sldId id="303" r:id="rId13"/>
    <p:sldId id="408" r:id="rId14"/>
    <p:sldId id="304" r:id="rId15"/>
    <p:sldId id="305" r:id="rId16"/>
    <p:sldId id="362" r:id="rId17"/>
    <p:sldId id="306" r:id="rId18"/>
    <p:sldId id="354" r:id="rId19"/>
    <p:sldId id="355" r:id="rId20"/>
    <p:sldId id="315" r:id="rId21"/>
    <p:sldId id="409" r:id="rId22"/>
    <p:sldId id="264" r:id="rId23"/>
    <p:sldId id="410" r:id="rId24"/>
    <p:sldId id="411" r:id="rId25"/>
    <p:sldId id="365" r:id="rId2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46" autoAdjust="0"/>
    <p:restoredTop sz="94660"/>
  </p:normalViewPr>
  <p:slideViewPr>
    <p:cSldViewPr snapToGrid="0">
      <p:cViewPr varScale="1">
        <p:scale>
          <a:sx n="53" d="100"/>
          <a:sy n="53" d="100"/>
        </p:scale>
        <p:origin x="86" y="6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A54CB2-8701-4D3C-8BB3-1119855A8991}" type="datetimeFigureOut">
              <a:rPr lang="ru-RU" smtClean="0"/>
              <a:t>22.10.2023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1754CB-A015-4250-BD63-2B130B6668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87922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511FEA-7E81-43E4-85C2-D2FDCD6E00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DA753A5-F7BB-4C0F-B84B-1920B84179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20B964D-5495-4D6B-BEA4-CB32DD0DA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DA1F4-8CC5-44A5-99A8-04FE7923FE06}" type="datetimeFigureOut">
              <a:rPr lang="ru-RU" smtClean="0"/>
              <a:t>22.10.2023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A59861E-9C85-45E4-B550-BA395C472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543F54C-7378-4F42-9480-DAD7BA3B7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44ACA-DF96-4530-ABF5-3916533A5F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32903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3C8840-F612-4EB7-88CA-544D35B3F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654B5D6-DFCB-4C62-B04D-3A3F61D6FB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CBA18E9-8197-4A21-9922-BBE86AE67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DA1F4-8CC5-44A5-99A8-04FE7923FE06}" type="datetimeFigureOut">
              <a:rPr lang="ru-RU" smtClean="0"/>
              <a:t>22.10.2023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311F390-1968-4920-89BA-2327D3F59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385E3FD-888B-4287-BF7D-F3C34660B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44ACA-DF96-4530-ABF5-3916533A5F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6585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98681A-098B-4345-9334-0607594FB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E4F4925-B7F5-4718-B0AE-E093A8ECC0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64F0F43-D5B1-45BB-BFD8-703EB56C5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DA1F4-8CC5-44A5-99A8-04FE7923FE06}" type="datetimeFigureOut">
              <a:rPr lang="ru-RU" smtClean="0"/>
              <a:t>22.10.2023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C1122FC-B58B-49B1-AE97-8A7462B81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B927F46-952C-4180-B87D-BED6CAEA5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44ACA-DF96-4530-ABF5-3916533A5F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652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EF6116-E9EB-42B0-9F63-5127BBC40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33F378B-C08E-4952-A015-15899AEC42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B756206-8EE9-4B57-899B-8C5459D819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0ABFEDE-E66B-49AA-A20B-F7F7674EA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DA1F4-8CC5-44A5-99A8-04FE7923FE06}" type="datetimeFigureOut">
              <a:rPr lang="ru-RU" smtClean="0"/>
              <a:t>22.10.2023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DC97248-4B21-41F4-AD99-3DD7193D7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99F3F5F-0B7B-4F92-A2A0-FBDC1CD16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44ACA-DF96-4530-ABF5-3916533A5F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29763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53370F-1E35-4A32-9E3F-DDC2F1854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38A8ACF-CB9B-4C9E-94F4-831B9354B3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32F70E4-2688-4A63-AA69-002B4DC426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0B2DBAE-7428-4AEC-913E-64AD42B6BD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996C1E0-AF38-4236-BE65-F146F8B587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3E47E2B-E375-48EB-8559-6E08334F6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DA1F4-8CC5-44A5-99A8-04FE7923FE06}" type="datetimeFigureOut">
              <a:rPr lang="ru-RU" smtClean="0"/>
              <a:t>22.10.2023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59048ADD-8366-4D00-8287-796B0F311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527E22E-EFAE-4296-8B45-CB1B0C9C5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44ACA-DF96-4530-ABF5-3916533A5F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90071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70F89A-72FD-4666-B6E3-86A164C30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CA88BAA-1B0B-451A-911D-CD38060F1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DA1F4-8CC5-44A5-99A8-04FE7923FE06}" type="datetimeFigureOut">
              <a:rPr lang="ru-RU" smtClean="0"/>
              <a:t>22.10.2023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79A1AD2-1CCE-40B3-86C5-537A35C94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D68DAB5-41B1-4BDF-BE8D-778B40E40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44ACA-DF96-4530-ABF5-3916533A5F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04412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C9501077-E939-4BEA-A428-9BFEB48B5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DA1F4-8CC5-44A5-99A8-04FE7923FE06}" type="datetimeFigureOut">
              <a:rPr lang="ru-RU" smtClean="0"/>
              <a:t>22.10.2023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0A32CC4-8C8C-4F66-BEF7-5A9A29C2F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EE3951B-CE7A-4CD9-BF2A-553D5D4A1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44ACA-DF96-4530-ABF5-3916533A5F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84256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324C11-B655-4E18-B428-207F89227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D32D17F-D686-4070-9F42-241940693F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F5EF5F9-9F61-4AC8-88D9-BA88FCEC30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2B00C55-86DF-41A8-958F-D76EFB43D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DA1F4-8CC5-44A5-99A8-04FE7923FE06}" type="datetimeFigureOut">
              <a:rPr lang="ru-RU" smtClean="0"/>
              <a:t>22.10.2023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C22251E-9222-4363-BA39-B6DE7415B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38D09F5-AAEB-4F6C-8849-537DF3B0D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44ACA-DF96-4530-ABF5-3916533A5F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2901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C525FB-1F40-496C-AFCA-2C2AC69AB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8C0C17F-C251-4317-9FC3-66FE4D0AA7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B03A4AA-CCD3-45D2-B6A7-9866D261CA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48991BE-9718-4C38-AA4D-BB0AD95E3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DA1F4-8CC5-44A5-99A8-04FE7923FE06}" type="datetimeFigureOut">
              <a:rPr lang="ru-RU" smtClean="0"/>
              <a:t>22.10.2023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575C9F6-2E69-4E1D-AB2C-9240E6BB3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36FC5F9-2A86-4441-B1F5-B4B08AE5C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44ACA-DF96-4530-ABF5-3916533A5F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9629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CB1815-7C85-4B2C-B9D1-8EDC1D761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14EB82D-C2A6-4734-80AC-C8948C6C85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2A93E8D-4200-4BAD-82CA-969E9E61E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DA1F4-8CC5-44A5-99A8-04FE7923FE06}" type="datetimeFigureOut">
              <a:rPr lang="ru-RU" smtClean="0"/>
              <a:t>22.10.2023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87E4A6A-67C9-4FF9-A927-19F2CB23D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E40C526-39CF-494B-9498-4757B4436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44ACA-DF96-4530-ABF5-3916533A5F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96318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315B8CD-5670-47CB-B9E6-C4EF9078FE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213BB63-B18D-41F9-A6F0-D92892DB22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30E0AB0-FC07-4189-B125-1A09BEA72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DA1F4-8CC5-44A5-99A8-04FE7923FE06}" type="datetimeFigureOut">
              <a:rPr lang="ru-RU" smtClean="0"/>
              <a:t>22.10.2023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248D548-226B-483C-95B2-6D268CAB4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32F1105-07D2-48C7-B284-CEE9BE4C1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44ACA-DF96-4530-ABF5-3916533A5F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0698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104550-C327-4A21-91F2-CC8546FA6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6FB9F05-BAA6-4854-8EB9-8AB379606A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34B1767-2BAA-4B64-A5D9-ECC9ADA463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DDA1F4-8CC5-44A5-99A8-04FE7923FE06}" type="datetimeFigureOut">
              <a:rPr lang="ru-RU" smtClean="0"/>
              <a:t>22.10.2023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5C25FD1-625D-4C56-9884-FBC27000A5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808ED0A-3492-4418-A950-ACB3379EFA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644ACA-DF96-4530-ABF5-3916533A5F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75075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translated.turbopages.org/proxy_u/en-ru.ru.da8117c9-63258fc0-81066589-74722d776562/https/en.wikipedia.org/wiki/David_Wolpert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703389" y="333375"/>
            <a:ext cx="8785225" cy="3671888"/>
          </a:xfrm>
        </p:spPr>
        <p:txBody>
          <a:bodyPr>
            <a:normAutofit/>
          </a:bodyPr>
          <a:lstStyle/>
          <a:p>
            <a:pPr eaLnBrk="1" hangingPunct="1"/>
            <a:r>
              <a:rPr lang="ru-RU" sz="3600" b="1" dirty="0">
                <a:latin typeface="+mn-lt"/>
              </a:rPr>
              <a:t>ТЕОРИЯ ИСКУССТВЕННЫХ НЕЙРОННЫХ СЕТЕЙ</a:t>
            </a:r>
            <a:br>
              <a:rPr lang="ru-RU" sz="3600" b="1" dirty="0">
                <a:latin typeface="+mn-lt"/>
              </a:rPr>
            </a:br>
            <a:r>
              <a:rPr lang="ru-RU" sz="3200" b="1" dirty="0">
                <a:latin typeface="+mn-lt"/>
              </a:rPr>
              <a:t>Каганов Ю.Т.</a:t>
            </a:r>
            <a:br>
              <a:rPr lang="ru-RU" sz="3200" b="1" dirty="0">
                <a:latin typeface="+mn-lt"/>
              </a:rPr>
            </a:br>
            <a:r>
              <a:rPr lang="ru-RU" sz="3200" b="1" dirty="0">
                <a:latin typeface="+mn-lt"/>
              </a:rPr>
              <a:t>к.т.н., доцент каф. ИУ-9</a:t>
            </a:r>
            <a:br>
              <a:rPr lang="ru-RU" sz="3200" b="1" dirty="0">
                <a:latin typeface="+mn-lt"/>
              </a:rPr>
            </a:br>
            <a:r>
              <a:rPr lang="ru-RU" sz="3200" b="1" dirty="0">
                <a:latin typeface="+mn-lt"/>
              </a:rPr>
              <a:t>«Теоретическая информатика и компьютерные технологии»</a:t>
            </a:r>
            <a:br>
              <a:rPr lang="ru-RU" sz="3200" b="1" dirty="0">
                <a:latin typeface="+mn-lt"/>
              </a:rPr>
            </a:br>
            <a:endParaRPr lang="ru-RU" sz="3200" b="1" dirty="0">
              <a:latin typeface="+mn-lt"/>
            </a:endParaRPr>
          </a:p>
        </p:txBody>
      </p:sp>
      <p:sp>
        <p:nvSpPr>
          <p:cNvPr id="13314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895350" y="3609975"/>
            <a:ext cx="10325100" cy="3009899"/>
          </a:xfrm>
        </p:spPr>
        <p:txBody>
          <a:bodyPr>
            <a:normAutofit fontScale="92500"/>
          </a:bodyPr>
          <a:lstStyle/>
          <a:p>
            <a:pPr eaLnBrk="1" hangingPunct="1"/>
            <a:r>
              <a:rPr lang="ru-RU" sz="3200" b="1" dirty="0"/>
              <a:t>ЛЕКЦИЯ № 7</a:t>
            </a:r>
          </a:p>
          <a:p>
            <a:pPr algn="l" eaLnBrk="1" hangingPunct="1"/>
            <a:r>
              <a:rPr lang="ru-RU" sz="3200" b="1" dirty="0"/>
              <a:t>1. Эффективность численных методов оптимизации.</a:t>
            </a:r>
          </a:p>
          <a:p>
            <a:pPr algn="l" eaLnBrk="1" hangingPunct="1"/>
            <a:r>
              <a:rPr lang="ru-RU" sz="3000" b="1" dirty="0"/>
              <a:t>2. Машинное обучение и минимизация эмпирического риска.</a:t>
            </a:r>
          </a:p>
          <a:p>
            <a:pPr algn="l" eaLnBrk="1" hangingPunct="1"/>
            <a:r>
              <a:rPr lang="ru-RU" sz="3000" b="1" dirty="0"/>
              <a:t>3. Теорема Байеса.</a:t>
            </a:r>
          </a:p>
          <a:p>
            <a:pPr algn="l" eaLnBrk="1" hangingPunct="1"/>
            <a:r>
              <a:rPr lang="ru-RU" sz="3000" b="1" dirty="0"/>
              <a:t>4. Регрессионный анализ и методы построения целевых функций.</a:t>
            </a:r>
          </a:p>
          <a:p>
            <a:pPr eaLnBrk="1" hangingPunct="1"/>
            <a:endParaRPr lang="ru-RU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225272-B99D-43E3-A2A4-1FD9A410B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Эффективность численных методов оптимизации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F17A0DF-2E97-4D3B-961C-CD1920B17D6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981200" y="1411101"/>
                <a:ext cx="8229600" cy="5172261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ru-RU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 настоящее время не существует универсальных методов решения задач оптимизации.</a:t>
                </a:r>
              </a:p>
              <a:p>
                <a:pPr marL="0" indent="0" algn="just">
                  <a:buNone/>
                </a:pP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Невозможно определить наилучший метод решения некоторой задачи</a:t>
                </a:r>
                <a14:m>
                  <m:oMath xmlns:m="http://schemas.openxmlformats.org/officeDocument/2006/math">
                    <m:r>
                      <a:rPr lang="ru-RU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𝒫</m:t>
                    </m:r>
                    <m:r>
                      <a:rPr lang="ru-RU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   Однако</m:t>
                    </m:r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возможно определить класс методов для определенного класса задач. Т.е. класс задач </a:t>
                </a:r>
                <a14:m>
                  <m:oMath xmlns:m="http://schemas.openxmlformats.org/officeDocument/2006/math">
                    <m:r>
                      <a:rPr lang="ru-RU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ℱ</m:t>
                    </m:r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где </a:t>
                </a:r>
                <a14:m>
                  <m:oMath xmlns:m="http://schemas.openxmlformats.org/officeDocument/2006/math">
                    <m:r>
                      <a:rPr lang="ru-RU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𝒫</m:t>
                    </m:r>
                    <m:r>
                      <a:rPr lang="ru-RU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⊂</m:t>
                    </m:r>
                    <m:r>
                      <a:rPr lang="ru-RU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ℱ</m:t>
                    </m:r>
                    <m:r>
                      <a:rPr lang="ru-RU" sz="24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и </m:t>
                    </m:r>
                    <m:r>
                      <a:rPr lang="ru-RU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ℱ</m:t>
                    </m:r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 выделенный класс задач.</a:t>
                </a:r>
                <a:r>
                  <a:rPr lang="ru-RU" sz="2400" dirty="0"/>
                  <a:t> </a:t>
                </a:r>
                <a14:m>
                  <m:oMath xmlns:m="http://schemas.openxmlformats.org/officeDocument/2006/math">
                    <m:r>
                      <a:rPr lang="ru-RU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О</m:t>
                    </m:r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бычно численные методы разрабатываются для решения многих однотипных задач с близкими характеристиками. Поэтому эффективность метода </a:t>
                </a:r>
                <a14:m>
                  <m:oMath xmlns:m="http://schemas.openxmlformats.org/officeDocument/2006/math">
                    <m:r>
                      <a:rPr lang="ru-RU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ℳ</m:t>
                    </m:r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на всем классе задач </a:t>
                </a:r>
                <a14:m>
                  <m:oMath xmlns:m="http://schemas.openxmlformats.org/officeDocument/2006/math">
                    <m:r>
                      <a:rPr lang="ru-RU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ℱ</m:t>
                    </m:r>
                    <m:r>
                      <a:rPr lang="ru-RU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можно считать естественной характеристикой его качества.</a:t>
                </a:r>
              </a:p>
              <a:p>
                <a:pPr marL="0" indent="0" algn="just">
                  <a:buNone/>
                </a:pP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При этом следует учитывать, что метод </a:t>
                </a:r>
                <a14:m>
                  <m:oMath xmlns:m="http://schemas.openxmlformats.org/officeDocument/2006/math">
                    <m:r>
                      <a:rPr lang="ru-RU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ℳ</m:t>
                    </m:r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не имеет полной информации о решаемой задаче.</a:t>
                </a:r>
              </a:p>
              <a:p>
                <a:pPr marL="0" indent="0" algn="just">
                  <a:buNone/>
                </a:pPr>
                <a:endParaRPr lang="ru-RU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F17A0DF-2E97-4D3B-961C-CD1920B17D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81200" y="1411101"/>
                <a:ext cx="8229600" cy="5172261"/>
              </a:xfrm>
              <a:blipFill>
                <a:blip r:embed="rId2"/>
                <a:stretch>
                  <a:fillRect l="-1481" t="-2002" r="-251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89918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1FFFFC-626B-4493-90CE-725E6FA74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Теорема о «бесплатных завтраках»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85E2CBB-0E44-4571-A631-0B8E9A5066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0"/>
            <a:ext cx="10134599" cy="4983162"/>
          </a:xfrm>
        </p:spPr>
        <p:txBody>
          <a:bodyPr/>
          <a:lstStyle/>
          <a:p>
            <a:r>
              <a:rPr lang="ru-RU" b="1" dirty="0">
                <a:solidFill>
                  <a:srgbClr val="2021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Теорема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b="1" dirty="0">
                <a:solidFill>
                  <a:srgbClr val="2021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Дэвида </a:t>
            </a:r>
            <a:r>
              <a:rPr lang="ru-RU" b="1" dirty="0" err="1">
                <a:solidFill>
                  <a:srgbClr val="2021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Волперта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и </a:t>
            </a:r>
            <a:r>
              <a:rPr lang="ru-RU" b="1" dirty="0">
                <a:solidFill>
                  <a:srgbClr val="2021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Уильяма </a:t>
            </a:r>
            <a:r>
              <a:rPr lang="ru-RU" b="1" dirty="0" err="1">
                <a:solidFill>
                  <a:srgbClr val="2021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Макриди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о бесплатном обеде (иногда во множественном числе)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“No</a:t>
            </a:r>
            <a:r>
              <a:rPr lang="ru-RU" dirty="0">
                <a:solidFill>
                  <a:srgbClr val="0645AD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 tooltip="Дэвид Вольперт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Free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Lunch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(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NFL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появляется в 1997 году в "No Free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Lunch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Theorems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Optimization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». Название отсылает к поговорке «Бесплатных завтраков не бывает», то есть нет простых путей к успеху.</a:t>
            </a:r>
          </a:p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Формулировка теоремы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Если алгоритм хорошо работает над определенным классом задач, то он обязательно платит за это снижением производительности на множестве всех оставшихся задач</a:t>
            </a:r>
            <a:r>
              <a:rPr lang="ru-RU" dirty="0"/>
              <a:t>.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34502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B9E826-C0D1-4AB6-8549-6ACD5FB77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Эффективность численных методов оптимизации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735E459-13A7-47D3-A9A0-F6F2CCC0EB7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47775" y="1600200"/>
                <a:ext cx="9896475" cy="514116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Заранее известная численному методу «часть» задачи </a:t>
                </a:r>
                <a14:m>
                  <m:oMath xmlns:m="http://schemas.openxmlformats.org/officeDocument/2006/math">
                    <m:r>
                      <a:rPr lang="ru-RU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𝓟</m:t>
                    </m:r>
                    <m:r>
                      <a:rPr lang="ru-RU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называется моделью решаемой задачи.</a:t>
                </a:r>
              </a:p>
              <a:p>
                <a:pPr marL="0" indent="0">
                  <a:buNone/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Обозначим модель решаемой задачи символом </a:t>
                </a:r>
                <a14:m>
                  <m:oMath xmlns:m="http://schemas.openxmlformats.org/officeDocument/2006/math">
                    <m:r>
                      <a:rPr lang="el-GR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𝜮</m:t>
                    </m:r>
                  </m:oMath>
                </a14:m>
                <a:r>
                  <a:rPr lang="ru-RU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Обычно в модель включаются формулировка задачи, описание свойств функциональных компонент и т. д. </a:t>
                </a:r>
              </a:p>
              <a:p>
                <a:pPr marL="0" indent="0" algn="just">
                  <a:buNone/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Для того чтобы распознать задачу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𝒫</m:t>
                    </m:r>
                    <m:r>
                      <a:rPr lang="ru-RU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среди всех прочих задач из данного класса (и тем самым решить ее), численный метод должен уметь накапливать специфическую информацию о решаемой задаче. Этот процесс удобно описывать с помощью понятия оракула. Оракул </a:t>
                </a:r>
                <a14:m>
                  <m:oMath xmlns:m="http://schemas.openxmlformats.org/officeDocument/2006/math">
                    <m:r>
                      <a:rPr lang="ru-RU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𝓞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проще всего представить в виде некоторого устройства, которое отвечает на последовательные вопросы численного метода.</a:t>
                </a:r>
                <a:endParaRPr lang="ru-RU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735E459-13A7-47D3-A9A0-F6F2CCC0EB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47775" y="1600200"/>
                <a:ext cx="9896475" cy="5141168"/>
              </a:xfrm>
              <a:blipFill>
                <a:blip r:embed="rId2"/>
                <a:stretch>
                  <a:fillRect l="-1294" t="-2135" r="-123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459898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C351A1-B7B8-42F7-8F36-F91EF7661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Эффективность численных методов оптимизации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6AD02280-A102-44AF-AA7A-C46D87E77C4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Естественно определить эффективность метода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ℳ</m:t>
                    </m:r>
                    <m:r>
                      <a:rPr lang="ru-RU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на паре (</a:t>
                </a:r>
                <a14:m>
                  <m:oMath xmlns:m="http://schemas.openxmlformats.org/officeDocument/2006/math">
                    <m:r>
                      <a:rPr lang="el-GR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𝜮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ru-RU" b="1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𝓞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как его эффективность на наихудшем представителе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𝒫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из (</a:t>
                </a:r>
                <a14:m>
                  <m:oMath xmlns:m="http://schemas.openxmlformats.org/officeDocument/2006/math">
                    <m:r>
                      <a:rPr lang="el-GR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𝜮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ru-RU" b="1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𝓞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). Заметим, что задача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𝒫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может быть трудной только для этого конкретного метода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ℳ</m:t>
                    </m:r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Эффективность метода </a:t>
                </a:r>
                <a14:m>
                  <m:oMath xmlns:m="http://schemas.openxmlformats.org/officeDocument/2006/math">
                    <m:r>
                      <a:rPr lang="ru-RU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𝓜</m:t>
                    </m:r>
                    <m:r>
                      <a:rPr lang="ru-RU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на задаче </a:t>
                </a:r>
                <a14:m>
                  <m:oMath xmlns:m="http://schemas.openxmlformats.org/officeDocument/2006/math">
                    <m:r>
                      <a:rPr lang="ru-RU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𝓟</m:t>
                    </m:r>
                    <m:r>
                      <a:rPr lang="ru-RU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определяется через общие вычислительные затраты метода M, необходимые для того, чтобы решить задачу </a:t>
                </a:r>
                <a14:m>
                  <m:oMath xmlns:m="http://schemas.openxmlformats.org/officeDocument/2006/math">
                    <m:r>
                      <a:rPr lang="ru-RU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𝓟</m:t>
                    </m:r>
                  </m:oMath>
                </a14:m>
                <a:r>
                  <a:rPr lang="ru-RU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Решить задачу </a:t>
                </a:r>
                <a14:m>
                  <m:oMath xmlns:m="http://schemas.openxmlformats.org/officeDocument/2006/math">
                    <m:r>
                      <a:rPr lang="ru-RU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𝓟</m:t>
                    </m:r>
                  </m:oMath>
                </a14:m>
                <a:r>
                  <a:rPr lang="ru-RU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означает найти ее приближенное решение с заранее заданной точностью</a:t>
                </a:r>
                <a:r>
                  <a:rPr lang="en-US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𝜺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&gt;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𝟎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n-US" b="1" i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Введем обозначение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𝒯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ℰ</m:t>
                        </m:r>
                      </m:sub>
                    </m:sSub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для некоторого критерия остановки, способного оценить качество предлагаемого решения. 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6AD02280-A102-44AF-AA7A-C46D87E77C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  <a:blipFill>
                <a:blip r:embed="rId2"/>
                <a:stretch>
                  <a:fillRect l="-1217" t="-2350" b="-430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61508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63EDA9-5CCA-45D1-A33B-DCB013EF8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Эффективность численных методов оптимизации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5AE8DEB-EFF6-4F20-ADC6-4F034DC284C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504950" y="1826145"/>
                <a:ext cx="9563100" cy="4107929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ru-RU" sz="3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Формальное определение класса решаемых задач</a:t>
                </a:r>
                <a:endParaRPr lang="ru-RU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ru-RU" sz="3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𝓕</m:t>
                    </m:r>
                    <m:r>
                      <a:rPr lang="ru-RU" sz="3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=(</m:t>
                    </m:r>
                    <m:r>
                      <a:rPr lang="el-GR" sz="3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𝜮</m:t>
                    </m:r>
                    <m:r>
                      <m:rPr>
                        <m:nor/>
                      </m:rPr>
                      <a:rPr lang="ru-RU" sz="3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ru-RU" sz="3200" b="1" dirty="0"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ru-RU" sz="3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𝓞</m:t>
                    </m:r>
                    <m:r>
                      <a:rPr lang="en-US" sz="32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ru-RU" sz="3200" b="1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32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3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𝓣</m:t>
                        </m:r>
                      </m:e>
                      <m:sub>
                        <m:r>
                          <a:rPr lang="ru-RU" sz="3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𝓔</m:t>
                        </m:r>
                      </m:sub>
                    </m:sSub>
                  </m:oMath>
                </a14:m>
                <a:r>
                  <a:rPr lang="ru-RU" sz="3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).</a:t>
                </a:r>
              </a:p>
              <a:p>
                <a:pPr marL="0" indent="0" algn="just">
                  <a:buNone/>
                </a:pPr>
                <a:r>
                  <a:rPr lang="ru-RU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Для решения конкретной задачи </a:t>
                </a:r>
                <a14:m>
                  <m:oMath xmlns:m="http://schemas.openxmlformats.org/officeDocument/2006/math">
                    <m:r>
                      <a:rPr lang="ru-RU" sz="32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𝓟</m:t>
                    </m:r>
                    <m:r>
                      <a:rPr lang="ru-RU" sz="32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lang="ru-RU" sz="32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𝓕</m:t>
                    </m:r>
                    <m:r>
                      <a:rPr lang="ru-RU" sz="32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естественно применить некую </a:t>
                </a:r>
                <a:r>
                  <a:rPr lang="ru-RU" sz="3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итеративную процедуру. </a:t>
                </a:r>
                <a:r>
                  <a:rPr lang="ru-RU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Именно в таком виде удобно записывать любой метод </a:t>
                </a:r>
                <a14:m>
                  <m:oMath xmlns:m="http://schemas.openxmlformats.org/officeDocument/2006/math">
                    <m:r>
                      <a:rPr lang="ru-RU" sz="32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𝓜</m:t>
                    </m:r>
                  </m:oMath>
                </a14:m>
                <a:r>
                  <a:rPr lang="ru-RU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работающий с оракулом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sz="32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𝓞</m:t>
                    </m:r>
                  </m:oMath>
                </a14:m>
                <a:r>
                  <a:rPr lang="ru-RU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5AE8DEB-EFF6-4F20-ADC6-4F034DC284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04950" y="1826145"/>
                <a:ext cx="9563100" cy="4107929"/>
              </a:xfrm>
              <a:blipFill>
                <a:blip r:embed="rId2"/>
                <a:stretch>
                  <a:fillRect l="-1657" t="-3269" r="-159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76678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4D3F92-6DDA-4DAE-BFE4-8C562A873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Эффективность численных методов оптимизации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CB3A6643-D8F3-44D7-A278-A985ED8D799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66749" y="1600200"/>
                <a:ext cx="10258425" cy="4709120"/>
              </a:xfrm>
            </p:spPr>
            <p:txBody>
              <a:bodyPr>
                <a:normAutofit lnSpcReduction="10000"/>
              </a:bodyPr>
              <a:lstStyle/>
              <a:p>
                <a:pPr marL="0" indent="0" algn="ctr">
                  <a:buNone/>
                </a:pPr>
                <a:r>
                  <a:rPr lang="ru-RU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Общая итеративная схема </a:t>
                </a:r>
                <a:endPara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Вводные данные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начальная точка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 требуемая точность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𝜺</m:t>
                    </m:r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&gt;</m:t>
                    </m:r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𝟎</m:t>
                    </m:r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ru-RU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Настройка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Полагаем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∅. Здесь </a:t>
                </a:r>
                <a:r>
                  <a:rPr lang="ru-RU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 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–– это счетчик итераций, 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–– это накапливаемая информационная модель решаемой задачи. </a:t>
                </a: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Основной цикл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marL="0" indent="0">
                  <a:buNone/>
                </a:pPr>
                <a:r>
                  <a:rPr lang="ru-RU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Шаг 1.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Задаем вопрос оракулу </a:t>
                </a:r>
                <a14:m>
                  <m:oMath xmlns:m="http://schemas.openxmlformats.org/officeDocument/2006/math">
                    <m:r>
                      <a:rPr lang="ru-RU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𝓞</m:t>
                    </m:r>
                    <m:r>
                      <a:rPr lang="ru-RU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в точке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.</a:t>
                </a:r>
              </a:p>
              <a:p>
                <a:pPr marL="0" indent="0">
                  <a:buNone/>
                </a:pPr>
                <a:r>
                  <a:rPr lang="ru-RU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Шаг 2.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Пересчитываем информационную модель: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∪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ru-RU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𝓞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. </a:t>
                </a:r>
              </a:p>
              <a:p>
                <a:pPr marL="0" indent="0">
                  <a:buNone/>
                </a:pPr>
                <a:r>
                  <a:rPr lang="ru-RU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Шаг 3.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Применяем правила метода </a:t>
                </a:r>
                <a14:m>
                  <m:oMath xmlns:m="http://schemas.openxmlformats.org/officeDocument/2006/math">
                    <m:r>
                      <a:rPr lang="ru-RU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𝓜</m:t>
                    </m:r>
                    <m:r>
                      <a:rPr lang="ru-RU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для анализа модели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 формируем точку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marL="0" indent="0">
                  <a:buNone/>
                </a:pPr>
                <a:r>
                  <a:rPr lang="ru-RU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Шаг 4.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Проверяем критерий остановки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𝓣</m:t>
                        </m:r>
                      </m:e>
                      <m:sub>
                        <m:r>
                          <a:rPr lang="ru-RU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𝓔</m:t>
                        </m:r>
                      </m:sub>
                    </m:sSub>
                  </m:oMath>
                </a14:m>
                <a:r>
                  <a:rPr lang="ru-RU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Если ответ положительный, то генерируем ответ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ru-RU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В противном случае полагаем </a:t>
                </a:r>
                <a:r>
                  <a:rPr lang="ru-RU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 := k + 1 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 переходим на </a:t>
                </a:r>
                <a:r>
                  <a:rPr lang="ru-RU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шаг </a:t>
                </a:r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CB3A6643-D8F3-44D7-A278-A985ED8D79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66749" y="1600200"/>
                <a:ext cx="10258425" cy="4709120"/>
              </a:xfrm>
              <a:blipFill>
                <a:blip r:embed="rId2"/>
                <a:stretch>
                  <a:fillRect l="-891" t="-3238" r="-53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301140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87B7FF-6A3D-4904-ACB3-B8296C03B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Эффективность численных методов оптимизации</a:t>
            </a:r>
            <a:endParaRPr lang="ru-RU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B1121699-CE33-40FE-BA18-6CB4086F617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600201"/>
                <a:ext cx="10201275" cy="5010149"/>
              </a:xfrm>
            </p:spPr>
            <p:txBody>
              <a:bodyPr>
                <a:noAutofit/>
              </a:bodyPr>
              <a:lstStyle/>
              <a:p>
                <a:pPr marL="0" indent="0" algn="just">
                  <a:buNone/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Наиболее трудоемкими являются два шага. Первый – это обращение к оракулу </a:t>
                </a:r>
                <a14:m>
                  <m:oMath xmlns:m="http://schemas.openxmlformats.org/officeDocument/2006/math">
                    <m:r>
                      <a:rPr lang="ru-RU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𝓞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Шаг 1.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Второй </a:t>
                </a:r>
                <a:r>
                  <a:rPr lang="ru-RU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Шаг 3,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на котором анализируется накопленная модель и формируется следующая тестовая точка.</a:t>
                </a:r>
              </a:p>
              <a:p>
                <a:pPr marL="0" indent="0" algn="just">
                  <a:buNone/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Таким образом, можно ввести две меры сложности задачи </a:t>
                </a:r>
                <a14:m>
                  <m:oMath xmlns:m="http://schemas.openxmlformats.org/officeDocument/2006/math">
                    <m:r>
                      <a:rPr lang="ru-RU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𝓟</m:t>
                    </m:r>
                    <m:r>
                      <a:rPr lang="ru-RU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 для метода </a:t>
                </a:r>
                <a14:m>
                  <m:oMath xmlns:m="http://schemas.openxmlformats.org/officeDocument/2006/math">
                    <m:r>
                      <a:rPr lang="ru-RU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𝓜</m:t>
                    </m:r>
                  </m:oMath>
                </a14:m>
                <a:r>
                  <a:rPr lang="ru-RU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algn="just">
                  <a:buNone/>
                </a:pPr>
                <a:r>
                  <a:rPr lang="ru-RU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Аналитическая сложность.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Это число обращений к оракулу, необходимое для решения задачи </a:t>
                </a:r>
                <a14:m>
                  <m:oMath xmlns:m="http://schemas.openxmlformats.org/officeDocument/2006/math">
                    <m:r>
                      <a:rPr lang="ru-RU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𝓟</m:t>
                    </m:r>
                    <m:r>
                      <a:rPr lang="ru-RU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 точностью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𝜺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ru-RU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Арифметическая сложность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Это общее число всех вычислений (включая как работу оракула, так и работу метода), необходимых для решения задачи </a:t>
                </a:r>
                <a14:m>
                  <m:oMath xmlns:m="http://schemas.openxmlformats.org/officeDocument/2006/math">
                    <m:r>
                      <a:rPr lang="ru-RU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𝓟</m:t>
                    </m:r>
                    <m:r>
                      <a:rPr lang="ru-RU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 точностью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𝜺</m:t>
                    </m:r>
                  </m:oMath>
                </a14:m>
                <a:r>
                  <a:rPr lang="ru-RU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B1121699-CE33-40FE-BA18-6CB4086F61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600201"/>
                <a:ext cx="10201275" cy="5010149"/>
              </a:xfrm>
              <a:blipFill>
                <a:blip r:embed="rId2"/>
                <a:stretch>
                  <a:fillRect l="-1195" t="-2192" r="-119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27877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F07142-7254-4179-AA01-EA1B6CA3F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Эффективность численных методов оптимизации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6429A4DC-E731-46A8-9886-B80262AA040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1525" y="2057400"/>
                <a:ext cx="10191750" cy="45259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 соответствии со степенью гладкости функциональной модели можно пользоваться разными типами оракулов. </a:t>
                </a:r>
              </a:p>
              <a:p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Оракул </a:t>
                </a:r>
                <a:r>
                  <a:rPr lang="ru-RU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нулевого порядка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возвращает значение функции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Оракул </a:t>
                </a:r>
                <a:r>
                  <a:rPr lang="ru-RU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первого порядка: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возвращает значение функции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и ее градиент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′(</m:t>
                    </m:r>
                    <m:r>
                      <a:rPr 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Оракул </a:t>
                </a:r>
                <a:r>
                  <a:rPr lang="ru-RU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второго порядка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возвращает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ее градиент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′(</m:t>
                    </m:r>
                    <m:r>
                      <a:rPr 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 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 матрицу гессиана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′′(</m:t>
                    </m:r>
                    <m:r>
                      <a:rPr 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 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Мы рассмотрим применение этих оракулов в различных методах.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ru-RU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6429A4DC-E731-46A8-9886-B80262AA04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1525" y="2057400"/>
                <a:ext cx="10191750" cy="4525963"/>
              </a:xfrm>
              <a:blipFill>
                <a:blip r:embed="rId2"/>
                <a:stretch>
                  <a:fillRect l="-1257" t="-2426" r="-65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899418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C57FAFF-EDEE-46FD-89D1-110E1F185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22B02-00DE-4DB3-91B8-2824AB98EDBD}" type="slidenum">
              <a:rPr lang="ru-RU" smtClean="0"/>
              <a:t>10</a:t>
            </a:fld>
            <a:endParaRPr lang="ru-RU"/>
          </a:p>
        </p:txBody>
      </p:sp>
      <p:sp>
        <p:nvSpPr>
          <p:cNvPr id="3" name="PlaceHolder 1">
            <a:extLst>
              <a:ext uri="{FF2B5EF4-FFF2-40B4-BE49-F238E27FC236}">
                <a16:creationId xmlns:a16="http://schemas.microsoft.com/office/drawing/2014/main" id="{2FF4B538-93EF-4880-B4D0-FCBA565F6EF6}"/>
              </a:ext>
            </a:extLst>
          </p:cNvPr>
          <p:cNvSpPr txBox="1">
            <a:spLocks/>
          </p:cNvSpPr>
          <p:nvPr/>
        </p:nvSpPr>
        <p:spPr>
          <a:xfrm>
            <a:off x="1753320" y="2304971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ОБУЧЕНИЕ МОДЕЛИ,</a:t>
            </a:r>
          </a:p>
          <a:p>
            <a:pPr algn="ctr"/>
            <a:r>
              <a:rPr lang="ru-RU" sz="40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ТЕОРЕМА БАЙЕСА И</a:t>
            </a:r>
            <a:br>
              <a:rPr lang="ru-RU" sz="40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40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ТРАНСДУКЦИЯ</a:t>
            </a:r>
          </a:p>
        </p:txBody>
      </p:sp>
    </p:spTree>
    <p:extLst>
      <p:ext uri="{BB962C8B-B14F-4D97-AF65-F5344CB8AC3E}">
        <p14:creationId xmlns:p14="http://schemas.microsoft.com/office/powerpoint/2010/main" val="29267413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CB2B2B-422C-439F-8FD3-B5CB718161DE}"/>
              </a:ext>
            </a:extLst>
          </p:cNvPr>
          <p:cNvSpPr txBox="1"/>
          <p:nvPr/>
        </p:nvSpPr>
        <p:spPr>
          <a:xfrm>
            <a:off x="1462568" y="456467"/>
            <a:ext cx="8198893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ОБУЧЕНИЕ</a:t>
            </a: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Объект 2">
                <a:extLst>
                  <a:ext uri="{FF2B5EF4-FFF2-40B4-BE49-F238E27FC236}">
                    <a16:creationId xmlns:a16="http://schemas.microsoft.com/office/drawing/2014/main" id="{88CB823A-B60F-4065-BB8A-41753101885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72968" y="1274886"/>
                <a:ext cx="10814182" cy="5126647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ru-RU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Введем обозначения:</a:t>
                </a:r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r>
                      <a:rPr lang="ru-RU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𝜽</m:t>
                    </m:r>
                    <m:r>
                      <a:rPr lang="ru-RU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ru-RU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𝑾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𝒃</m:t>
                        </m:r>
                      </m:e>
                    </m:d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кортеж весов и порогов (соответствует параметрам модели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𝑫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 </m:t>
                    </m:r>
                    <m:d>
                      <m:dPr>
                        <m:begChr m:val="⟨"/>
                        <m:endChr m:val="⟩"/>
                        <m:ctrlPr>
                          <a:rPr lang="en-US" sz="24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𝑿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𝒀</m:t>
                        </m:r>
                      </m:e>
                    </m:d>
                    <m:r>
                      <a:rPr lang="en-US" sz="2400" b="1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 </m:t>
                    </m:r>
                  </m:oMath>
                </a14:m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кортеж исходных данных (соответствует входным и выходным данным).</a:t>
                </a:r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ru-RU" sz="24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ru-RU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𝜽</m:t>
                        </m:r>
                      </m:e>
                      <m:sup>
                        <m:r>
                          <a:rPr lang="ru-RU" sz="24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r>
                      <a:rPr lang="ru-RU" sz="24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ru-RU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 </m:t>
                    </m:r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параметры модели после окончания обучения (оптимальные параметры).</a:t>
                </a:r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𝑳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𝜽</m:t>
                    </m:r>
                  </m:oMath>
                </a14:m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функция потерь в процессе обучения (целевая функция в процессе оптимизации).</a:t>
                </a:r>
              </a:p>
              <a:p>
                <a:pPr marL="0" indent="0" algn="just">
                  <a:buNone/>
                </a:pP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Процесс оценивания </a:t>
                </a:r>
                <a14:m>
                  <m:oMath xmlns:m="http://schemas.openxmlformats.org/officeDocument/2006/math">
                    <m:r>
                      <a:rPr lang="ru-RU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по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𝐷</m:t>
                    </m:r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называется</a:t>
                </a:r>
                <a:r>
                  <a:rPr lang="ru-RU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обучением модели.  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Он составляет основное содержание машинного обучения. Основной способ получения оценок сводится к задаче оптимизации:</a:t>
                </a:r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ru-RU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ru-RU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𝜽</m:t>
                        </m:r>
                      </m:e>
                      <m:sup>
                        <m:r>
                          <a:rPr lang="ru-RU" sz="24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r>
                      <a:rPr lang="ru-RU" sz="24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unc>
                      <m:funcPr>
                        <m:ctrlPr>
                          <a:rPr lang="en-US" sz="24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limLowPr>
                          <m:e>
                            <m:r>
                              <a:rPr lang="en-US" sz="24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𝒂𝒓𝒈𝒎𝒊𝒏</m:t>
                            </m:r>
                          </m:e>
                          <m:lim>
                            <m:r>
                              <a:rPr lang="ru-RU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𝜽</m:t>
                            </m:r>
                          </m:lim>
                        </m:limLow>
                      </m:fName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𝑳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ru-RU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𝜽</m:t>
                        </m:r>
                        <m:r>
                          <m:rPr>
                            <m:nor/>
                          </m:rPr>
                          <a:rPr lang="en-US" sz="2400" b="1" i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</m:func>
                    <m:r>
                      <a:rPr lang="ru-RU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 </m:t>
                    </m:r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При этом процесс оптимизации состоит в подборе таких </a:t>
                </a:r>
                <a14:m>
                  <m:oMath xmlns:m="http://schemas.openxmlformats.org/officeDocument/2006/math">
                    <m:r>
                      <a:rPr lang="ru-RU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  <m:d>
                      <m:dPr>
                        <m:ctrlPr>
                          <a:rPr lang="ru-R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+1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 </m:t>
                    </m:r>
                    <m:r>
                      <a:rPr lang="ru-RU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  <m:d>
                      <m:dPr>
                        <m:ctrlPr>
                          <a:rPr lang="ru-R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∆</m:t>
                    </m:r>
                    <m:r>
                      <a:rPr lang="ru-RU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  <m:d>
                      <m:dPr>
                        <m:ctrlPr>
                          <a:rPr lang="ru-R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при которых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  <m:d>
                      <m:dPr>
                        <m:ctrlPr>
                          <a:rPr lang="ru-R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+1</m:t>
                        </m:r>
                      </m:e>
                    </m:d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</m:oMath>
                </a14:m>
                <a:r>
                  <a:rPr lang="en-US" sz="24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ru-R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ru-RU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ru-RU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Объект 2">
                <a:extLst>
                  <a:ext uri="{FF2B5EF4-FFF2-40B4-BE49-F238E27FC236}">
                    <a16:creationId xmlns:a16="http://schemas.microsoft.com/office/drawing/2014/main" id="{88CB823A-B60F-4065-BB8A-4175310188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968" y="1274886"/>
                <a:ext cx="10814182" cy="5126647"/>
              </a:xfrm>
              <a:prstGeom prst="rect">
                <a:avLst/>
              </a:prstGeom>
              <a:blipFill>
                <a:blip r:embed="rId2"/>
                <a:stretch>
                  <a:fillRect l="-1127" t="-2021" r="-902" b="-107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415703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title"/>
          </p:nvPr>
        </p:nvSpPr>
        <p:spPr>
          <a:xfrm>
            <a:off x="1656120" y="1314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ru-RU" sz="40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Обучение модели и теорема </a:t>
            </a:r>
            <a:r>
              <a:rPr lang="ru-RU" sz="4000" b="1" spc="-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Байенса</a:t>
            </a:r>
            <a:endParaRPr lang="ru-RU" sz="4000" b="1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F951A6F-19AD-493D-BD84-BD77A7793B88}"/>
                  </a:ext>
                </a:extLst>
              </p:cNvPr>
              <p:cNvSpPr txBox="1"/>
              <p:nvPr/>
            </p:nvSpPr>
            <p:spPr>
              <a:xfrm>
                <a:off x="689429" y="1544173"/>
                <a:ext cx="10813142" cy="42673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sz="3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Обучение модели: </a:t>
                </a:r>
              </a:p>
              <a:p>
                <a:r>
                  <a:rPr lang="ru-RU" sz="2400" b="1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Пусть имеется некоторая модель</a:t>
                </a:r>
                <a:r>
                  <a:rPr lang="en-US" sz="2400" b="1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400" b="1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(гипотеза, теория) -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𝑴</m:t>
                    </m:r>
                  </m:oMath>
                </a14:m>
                <a:r>
                  <a:rPr lang="ru-RU" sz="2400" b="1" dirty="0">
                    <a:solidFill>
                      <a:schemeClr val="tx1"/>
                    </a:solidFill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, которая предварительно (априорно) получена из наблюдаемых исходных данных </a:t>
                </a:r>
                <a:r>
                  <a:rPr lang="en-US" sz="2400" b="1" dirty="0">
                    <a:solidFill>
                      <a:schemeClr val="tx1"/>
                    </a:solidFill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-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𝑫</m:t>
                    </m:r>
                    <m:r>
                      <a:rPr lang="ru-RU" sz="24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r>
                  <a:rPr lang="ru-RU" sz="2400" b="1" dirty="0">
                    <a:solidFill>
                      <a:schemeClr val="tx1"/>
                    </a:solidFill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Тогда для обучения этой модели</a:t>
                </a:r>
                <a:r>
                  <a:rPr lang="en-US" sz="2400" b="1" dirty="0">
                    <a:solidFill>
                      <a:schemeClr val="tx1"/>
                    </a:solidFill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𝑴</m:t>
                    </m:r>
                  </m:oMath>
                </a14:m>
                <a:r>
                  <a:rPr lang="ru-RU" sz="2400" b="1" dirty="0">
                    <a:solidFill>
                      <a:schemeClr val="tx1"/>
                    </a:solidFill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необходимо  обеспечить соответствие этой модели новым данным</a:t>
                </a:r>
                <a:r>
                  <a:rPr lang="en-US" sz="2400" b="1" dirty="0">
                    <a:solidFill>
                      <a:schemeClr val="tx1"/>
                    </a:solidFill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𝑫</m:t>
                        </m:r>
                      </m:e>
                      <m:sup>
                        <m:r>
                          <a:rPr lang="en-US" sz="24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r>
                      <a:rPr lang="ru-RU" sz="24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ru-RU" sz="2400" b="1" dirty="0">
                  <a:solidFill>
                    <a:schemeClr val="tx1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r>
                  <a:rPr lang="ru-RU" sz="28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Теорема Байеса: 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𝑷</m:t>
                    </m:r>
                    <m:r>
                      <a:rPr lang="ru-RU" sz="2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𝑴</m:t>
                    </m:r>
                    <m:r>
                      <a:rPr lang="en-US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′</m:t>
                    </m:r>
                    <m:r>
                      <a:rPr lang="en-US" sz="2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|</m:t>
                    </m:r>
                    <m:r>
                      <a:rPr lang="en-US" sz="2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𝑫</m:t>
                    </m:r>
                    <m:r>
                      <a:rPr lang="en-US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′</m:t>
                    </m:r>
                    <m:r>
                      <a:rPr lang="en-US" sz="2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800" b="1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𝑷</m:t>
                    </m:r>
                    <m:r>
                      <a:rPr lang="en-US" sz="28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8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𝑫</m:t>
                    </m:r>
                    <m:r>
                      <a:rPr lang="en-US" sz="28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′)</m:t>
                    </m:r>
                  </m:oMath>
                </a14:m>
                <a:r>
                  <a:rPr lang="ru-RU" sz="28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sz="2800" b="1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𝑷</m:t>
                    </m:r>
                    <m:d>
                      <m:dPr>
                        <m:ctrlPr>
                          <a:rPr lang="en-US" sz="28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8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𝑴</m:t>
                        </m:r>
                      </m:e>
                    </m:d>
                    <m:r>
                      <a:rPr lang="en-US" sz="28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𝑷</m:t>
                    </m:r>
                    <m:d>
                      <m:dPr>
                        <m:ctrlPr>
                          <a:rPr lang="en-US" sz="28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8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𝑫</m:t>
                        </m:r>
                      </m:e>
                      <m:e>
                        <m:r>
                          <a:rPr lang="en-US" sz="28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𝑴</m:t>
                        </m:r>
                      </m:e>
                    </m:d>
                    <m:r>
                      <a:rPr lang="ru-RU" sz="2800" b="1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endParaRPr lang="ru-RU" sz="28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ru-RU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Откуда</a:t>
                </a:r>
                <a:r>
                  <a:rPr 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получаем формулу Байеса:</a:t>
                </a:r>
                <a:endParaRPr lang="ru-RU" sz="2800" b="1" i="1" dirty="0">
                  <a:solidFill>
                    <a:schemeClr val="tx1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𝑷</m:t>
                      </m:r>
                      <m:r>
                        <a:rPr lang="ru-RU" sz="28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sz="28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𝑴</m:t>
                      </m:r>
                      <m:r>
                        <a:rPr lang="en-U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′</m:t>
                      </m:r>
                      <m:r>
                        <a:rPr lang="en-US" sz="28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|</m:t>
                      </m:r>
                      <m:r>
                        <a:rPr lang="en-US" sz="28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𝑫</m:t>
                      </m:r>
                      <m:r>
                        <a:rPr lang="en-U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′</m:t>
                      </m:r>
                      <m:r>
                        <a:rPr lang="en-US" sz="28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)= </m:t>
                      </m:r>
                      <m:f>
                        <m:fPr>
                          <m:ctrlP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𝑷</m:t>
                          </m:r>
                          <m:d>
                            <m:dPr>
                              <m:ctrlP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𝑴</m:t>
                              </m:r>
                            </m:e>
                          </m:d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𝑷</m:t>
                          </m:r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𝑫</m:t>
                          </m:r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|</m:t>
                          </m:r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𝑴</m:t>
                          </m:r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𝑷</m:t>
                          </m:r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𝑫</m:t>
                          </m:r>
                          <m:r>
                            <a:rPr lang="en-U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′)</m:t>
                          </m:r>
                        </m:den>
                      </m:f>
                      <m:r>
                        <m:rPr>
                          <m:nor/>
                        </m:rPr>
                        <a:rPr lang="en-US" sz="2800" b="1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en-US" sz="2800" b="1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F951A6F-19AD-493D-BD84-BD77A7793B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429" y="1544173"/>
                <a:ext cx="10813142" cy="4267387"/>
              </a:xfrm>
              <a:prstGeom prst="rect">
                <a:avLst/>
              </a:prstGeom>
              <a:blipFill>
                <a:blip r:embed="rId2"/>
                <a:stretch>
                  <a:fillRect l="-1409" t="-2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BF7BB44-757E-49BD-84B3-698F4E78C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F522B02-00DE-4DB3-91B8-2824AB98EDBD}" type="slidenum">
              <a:rPr lang="ru-RU" smtClean="0"/>
              <a:t>12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66489906"/>
      </p:ext>
    </p:extLst>
  </p:cSld>
  <p:clrMapOvr>
    <a:masterClrMapping/>
  </p:clrMapOvr>
  <p:transition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title"/>
          </p:nvPr>
        </p:nvSpPr>
        <p:spPr>
          <a:xfrm>
            <a:off x="1656120" y="1314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ru-RU" sz="40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Формула Байеса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F951A6F-19AD-493D-BD84-BD77A7793B88}"/>
                  </a:ext>
                </a:extLst>
              </p:cNvPr>
              <p:cNvSpPr txBox="1"/>
              <p:nvPr/>
            </p:nvSpPr>
            <p:spPr>
              <a:xfrm>
                <a:off x="689429" y="1544173"/>
                <a:ext cx="10813142" cy="47598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sz="28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Формула Байеса служит для вычисления распределения вероятностей возможных значений модели - </a:t>
                </a:r>
                <a:r>
                  <a:rPr lang="en-US" sz="2800" b="1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 </a:t>
                </a:r>
                <a:r>
                  <a:rPr lang="ru-RU" sz="28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при наличии наблюдаемых данных</a:t>
                </a:r>
                <a14:m>
                  <m:oMath xmlns:m="http://schemas.openxmlformats.org/officeDocument/2006/math">
                    <m:r>
                      <a:rPr lang="ru-RU" sz="2800" b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−</m:t>
                    </m:r>
                    <m:r>
                      <a:rPr lang="en-US" sz="2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</m:t>
                    </m:r>
                    <m:r>
                      <a:rPr lang="en-US" sz="2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𝑫</m:t>
                    </m:r>
                    <m:r>
                      <a:rPr lang="ru-RU" sz="2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ru-RU" sz="2800" b="1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𝑷</m:t>
                      </m:r>
                      <m:r>
                        <a:rPr lang="ru-RU" sz="28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sz="28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𝑴</m:t>
                      </m:r>
                      <m:r>
                        <a:rPr lang="en-U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′</m:t>
                      </m:r>
                      <m:r>
                        <a:rPr lang="en-US" sz="28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|</m:t>
                      </m:r>
                      <m:r>
                        <a:rPr lang="en-US" sz="28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𝑫</m:t>
                      </m:r>
                      <m:r>
                        <a:rPr lang="en-U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′</m:t>
                      </m:r>
                      <m:r>
                        <a:rPr lang="en-US" sz="28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)= </m:t>
                      </m:r>
                      <m:f>
                        <m:fPr>
                          <m:ctrlP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𝑷</m:t>
                          </m:r>
                          <m:d>
                            <m:dPr>
                              <m:ctrlP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𝑴</m:t>
                              </m:r>
                            </m:e>
                          </m:d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𝑷</m:t>
                          </m:r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𝑫</m:t>
                          </m:r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|</m:t>
                          </m:r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𝑴</m:t>
                          </m:r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𝑷</m:t>
                          </m:r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𝑫</m:t>
                          </m:r>
                          <m:r>
                            <a:rPr lang="en-U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′</m:t>
                          </m:r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den>
                      </m:f>
                      <m:r>
                        <m:rPr>
                          <m:nor/>
                        </m:rPr>
                        <a:rPr lang="en-US" sz="2800" b="1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en-US" sz="2800" b="1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𝑷</m:t>
                    </m:r>
                    <m:d>
                      <m:dPr>
                        <m:ctrlP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𝑴</m:t>
                        </m:r>
                      </m:e>
                    </m:d>
                    <m:r>
                      <a:rPr lang="en-US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 </m:t>
                    </m:r>
                  </m:oMath>
                </a14:m>
                <a:r>
                  <a:rPr lang="en-US" sz="24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4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априорная вероятность, связанная  со структурой модели.</a:t>
                </a:r>
              </a:p>
              <a:p>
                <a:r>
                  <a:rPr lang="en-US" sz="2400" b="1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P(D|M)</a:t>
                </a:r>
                <a:r>
                  <a:rPr lang="en-US" sz="24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</a:t>
                </a:r>
                <a:r>
                  <a:rPr lang="ru-RU" sz="24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априорная вероятность данных при заданной модели.</a:t>
                </a:r>
              </a:p>
              <a:p>
                <a:r>
                  <a:rPr lang="ru-RU" sz="2400" b="1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b="1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P(D’) – </a:t>
                </a:r>
                <a:r>
                  <a:rPr lang="ru-RU" sz="24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апостериорная вероятность данных.</a:t>
                </a:r>
              </a:p>
              <a:p>
                <a:r>
                  <a:rPr lang="en-US" sz="2400" b="1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P(M’|D’) – </a:t>
                </a:r>
                <a:r>
                  <a:rPr lang="ru-RU" sz="24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апостериорная вероятность модели при известных данных.</a:t>
                </a:r>
              </a:p>
              <a:p>
                <a:r>
                  <a:rPr lang="ru-RU" sz="3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Задача познания состоит в том, чтобы максимизировать апостериорную вероятность </a:t>
                </a:r>
                <a:r>
                  <a:rPr lang="en-US" sz="3200" b="1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P(M’|D’)</a:t>
                </a:r>
                <a:r>
                  <a:rPr lang="ru-RU" sz="3200" b="1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ru-RU" sz="3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F951A6F-19AD-493D-BD84-BD77A7793B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429" y="1544173"/>
                <a:ext cx="10813142" cy="4759829"/>
              </a:xfrm>
              <a:prstGeom prst="rect">
                <a:avLst/>
              </a:prstGeom>
              <a:blipFill>
                <a:blip r:embed="rId2"/>
                <a:stretch>
                  <a:fillRect l="-1409" t="-1280" r="-113" b="-32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BF7BB44-757E-49BD-84B3-698F4E78C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F522B02-00DE-4DB3-91B8-2824AB98EDBD}" type="slidenum">
              <a:rPr lang="ru-RU" smtClean="0"/>
              <a:t>13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32368302"/>
      </p:ext>
    </p:extLst>
  </p:cSld>
  <p:clrMapOvr>
    <a:masterClrMapping/>
  </p:clrMapOvr>
  <p:transition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title"/>
          </p:nvPr>
        </p:nvSpPr>
        <p:spPr>
          <a:xfrm>
            <a:off x="1656120" y="1314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ru-RU" sz="40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Трансдукция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F951A6F-19AD-493D-BD84-BD77A7793B88}"/>
                  </a:ext>
                </a:extLst>
              </p:cNvPr>
              <p:cNvSpPr txBox="1"/>
              <p:nvPr/>
            </p:nvSpPr>
            <p:spPr>
              <a:xfrm>
                <a:off x="638629" y="1125309"/>
                <a:ext cx="10435771" cy="45679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𝑷</m:t>
                      </m:r>
                      <m:r>
                        <a:rPr lang="ru-RU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𝑴</m:t>
                      </m:r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′</m:t>
                      </m:r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|</m:t>
                      </m:r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𝑫</m:t>
                      </m:r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′</m:t>
                      </m:r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)= </m:t>
                      </m:r>
                      <m:f>
                        <m:fPr>
                          <m:ctrlP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𝑷</m:t>
                          </m:r>
                          <m:d>
                            <m:dPr>
                              <m:ctrlPr>
                                <a:rPr lang="en-US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𝑴</m:t>
                              </m:r>
                            </m:e>
                          </m:d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𝑷</m:t>
                          </m:r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𝑫</m:t>
                          </m:r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|</m:t>
                          </m:r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𝑴</m:t>
                          </m:r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𝑷</m:t>
                          </m:r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𝑫</m:t>
                          </m:r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′</m:t>
                          </m:r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den>
                      </m:f>
                      <m:r>
                        <m:rPr>
                          <m:nor/>
                        </m:rPr>
                        <a:rPr lang="en-US" sz="2400" b="1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en-US" sz="2400" b="1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ru-RU" sz="24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Эта формула имеет непосредственное отношение к процессу познания. Она носит итеративный характер. В этом случае соответствующие вероятности можно трактовать следующим образом:</a:t>
                </a:r>
                <a:endParaRPr 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𝑷</m:t>
                    </m:r>
                    <m:d>
                      <m:dPr>
                        <m:ctrlP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𝑴</m:t>
                        </m:r>
                      </m:e>
                    </m:d>
                    <m:r>
                      <a:rPr lang="en-US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</m:oMath>
                </a14:m>
                <a:r>
                  <a:rPr lang="ru-RU" sz="24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переход от индуктивных к дедуктивным моделям (абдукция).</a:t>
                </a:r>
              </a:p>
              <a:p>
                <a:r>
                  <a:rPr lang="en-US" sz="2400" b="1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P(D|M)</a:t>
                </a:r>
                <a:r>
                  <a:rPr lang="en-US" sz="24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</a:t>
                </a:r>
                <a:r>
                  <a:rPr lang="ru-RU" sz="24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переход от формулировки модели к соответствию с данными (дедукция).</a:t>
                </a:r>
              </a:p>
              <a:p>
                <a:r>
                  <a:rPr lang="ru-RU" sz="2400" b="1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b="1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P(D’) –</a:t>
                </a:r>
                <a:r>
                  <a:rPr lang="ru-RU" sz="2400" b="1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4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переход от гипотетических данных к экспериментальным (аддукция).</a:t>
                </a:r>
              </a:p>
              <a:p>
                <a:r>
                  <a:rPr lang="en-US" sz="2400" b="1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P(M’|D’) – </a:t>
                </a:r>
                <a:r>
                  <a:rPr lang="ru-RU" sz="24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переход от экспериментальных данных к построению новой модели (индукция).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F951A6F-19AD-493D-BD84-BD77A7793B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629" y="1125309"/>
                <a:ext cx="10435771" cy="4567917"/>
              </a:xfrm>
              <a:prstGeom prst="rect">
                <a:avLst/>
              </a:prstGeom>
              <a:blipFill>
                <a:blip r:embed="rId2"/>
                <a:stretch>
                  <a:fillRect l="-935" b="-213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80B000C-FC19-4886-A1FF-2FB1CC45A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F522B02-00DE-4DB3-91B8-2824AB98EDBD}" type="slidenum">
              <a:rPr lang="ru-RU" smtClean="0"/>
              <a:t>14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53883981"/>
      </p:ext>
    </p:extLst>
  </p:cSld>
  <p:clrMapOvr>
    <a:masterClrMapping/>
  </p:clrMapOvr>
  <p:transition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title"/>
          </p:nvPr>
        </p:nvSpPr>
        <p:spPr>
          <a:xfrm>
            <a:off x="1981920" y="491002"/>
            <a:ext cx="8228880" cy="133779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ru-RU" sz="40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Трансдукция</a:t>
            </a:r>
            <a:br>
              <a:rPr lang="ru-RU" sz="40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8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ru-RU" sz="28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Сначала восходят к аксиомам, а затем спускаются к практике</a:t>
            </a:r>
            <a:r>
              <a:rPr lang="en-US" sz="28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ru-RU" sz="28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Ф. Бэкон</a:t>
            </a:r>
            <a:r>
              <a:rPr lang="en-US" sz="28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4000" b="1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F951A6F-19AD-493D-BD84-BD77A7793B88}"/>
                  </a:ext>
                </a:extLst>
              </p:cNvPr>
              <p:cNvSpPr txBox="1"/>
              <p:nvPr/>
            </p:nvSpPr>
            <p:spPr>
              <a:xfrm>
                <a:off x="1656120" y="2425414"/>
                <a:ext cx="9011880" cy="12439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𝑷</m:t>
                      </m:r>
                      <m:r>
                        <a:rPr lang="ru-RU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𝑴</m:t>
                      </m:r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′</m:t>
                      </m:r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|</m:t>
                      </m:r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𝑫</m:t>
                      </m:r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′</m:t>
                      </m:r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)= </m:t>
                      </m:r>
                      <m:f>
                        <m:fPr>
                          <m:ctrlP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𝑷</m:t>
                          </m:r>
                          <m:d>
                            <m:dPr>
                              <m:ctrlPr>
                                <a:rPr lang="en-US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𝑴</m:t>
                              </m:r>
                            </m:e>
                          </m:d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𝑷</m:t>
                          </m:r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𝑫</m:t>
                          </m:r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|</m:t>
                          </m:r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𝑴</m:t>
                          </m:r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𝑷</m:t>
                          </m:r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𝑫</m:t>
                          </m:r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′</m:t>
                          </m:r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den>
                      </m:f>
                      <m:r>
                        <m:rPr>
                          <m:nor/>
                        </m:rPr>
                        <a:rPr lang="en-US" sz="2400" b="1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ru-RU" sz="2400" b="1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400" b="1" i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F951A6F-19AD-493D-BD84-BD77A7793B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6120" y="2425414"/>
                <a:ext cx="9011880" cy="12439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4631C47-A6C5-4FDA-916E-818DF437CC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1920" y="3669344"/>
            <a:ext cx="8229600" cy="2333277"/>
          </a:xfrm>
          <a:prstGeom prst="rect">
            <a:avLst/>
          </a:prstGeom>
        </p:spPr>
      </p:pic>
      <p:sp>
        <p:nvSpPr>
          <p:cNvPr id="5" name="Номер слайда 3">
            <a:extLst>
              <a:ext uri="{FF2B5EF4-FFF2-40B4-BE49-F238E27FC236}">
                <a16:creationId xmlns:a16="http://schemas.microsoft.com/office/drawing/2014/main" id="{FEFB01D9-7D28-440C-8368-7D4BADFB1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F522B02-00DE-4DB3-91B8-2824AB98EDBD}" type="slidenum">
              <a:rPr lang="ru-RU" smtClean="0"/>
              <a:t>15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3133342"/>
      </p:ext>
    </p:extLst>
  </p:cSld>
  <p:clrMapOvr>
    <a:masterClrMapping/>
  </p:clrMapOvr>
  <p:transition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CB2B2B-422C-439F-8FD3-B5CB718161DE}"/>
              </a:ext>
            </a:extLst>
          </p:cNvPr>
          <p:cNvSpPr txBox="1"/>
          <p:nvPr/>
        </p:nvSpPr>
        <p:spPr>
          <a:xfrm>
            <a:off x="1472093" y="237392"/>
            <a:ext cx="819889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ОБУЧЕНИЕ И ОЦЕНКА МАКСИМАЛЬНОГО ПРАВДОПОДОБИЯ (</a:t>
            </a: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MLE)</a:t>
            </a:r>
            <a:endParaRPr lang="ru-RU" sz="2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Объект 2">
                <a:extLst>
                  <a:ext uri="{FF2B5EF4-FFF2-40B4-BE49-F238E27FC236}">
                    <a16:creationId xmlns:a16="http://schemas.microsoft.com/office/drawing/2014/main" id="{88CB823A-B60F-4065-BB8A-41753101885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72968" y="1274885"/>
                <a:ext cx="9797142" cy="5345723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Введем обозначения:</a:t>
                </a:r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MLE  (Maximum Likelihood Estimation) – 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оценка максимального правдоподобия определяется следующим образом: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ru-RU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ru-RU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𝜽</m:t>
                        </m:r>
                      </m:e>
                      <m:sup>
                        <m:r>
                          <a:rPr lang="ru-RU" sz="20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r>
                      <a:rPr lang="ru-RU" sz="20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unc>
                      <m:funcPr>
                        <m:ctrlPr>
                          <a:rPr lang="en-US" sz="20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0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limLowPr>
                          <m:e>
                            <m:r>
                              <a:rPr lang="en-US" sz="20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𝒂𝒓𝒈</m:t>
                            </m:r>
                            <m:r>
                              <a:rPr lang="en-US" sz="20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𝒎𝒂𝒙</m:t>
                            </m:r>
                          </m:e>
                          <m:lim>
                            <m:r>
                              <a:rPr lang="ru-RU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𝜽</m:t>
                            </m:r>
                          </m:lim>
                        </m:limLow>
                      </m:fName>
                      <m:e>
                        <m:r>
                          <a:rPr lang="en-US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𝒑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𝑫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</m:e>
                    </m:func>
                  </m:oMath>
                </a14:m>
                <a:r>
                  <a:rPr lang="ru-RU" sz="2000" b="1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𝜽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или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ru-RU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𝜽</m:t>
                        </m:r>
                      </m:e>
                      <m:sup>
                        <m:r>
                          <a:rPr lang="ru-RU" sz="20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r>
                      <a:rPr lang="ru-RU" sz="20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unc>
                      <m:funcPr>
                        <m:ctrlPr>
                          <a:rPr lang="en-US" sz="2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0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limLowPr>
                          <m:e>
                            <m:r>
                              <a:rPr lang="en-US" sz="20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𝒂𝒓𝒈𝒎𝒊𝒏</m:t>
                            </m:r>
                            <m:r>
                              <a:rPr lang="en-US" sz="20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{−</m:t>
                            </m:r>
                          </m:e>
                          <m:lim>
                            <m:r>
                              <a:rPr lang="ru-RU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𝜽</m:t>
                            </m:r>
                          </m:lim>
                        </m:limLow>
                      </m:fName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𝒑</m:t>
                        </m:r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𝑫</m:t>
                        </m:r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</m:e>
                    </m:func>
                  </m:oMath>
                </a14:m>
                <a:r>
                  <a:rPr lang="ru-RU" sz="2000" b="1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𝜽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)}</a:t>
                </a:r>
              </a:p>
              <a:p>
                <a:pPr marL="0" indent="0" algn="just">
                  <a:buNone/>
                </a:pP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Если учесть, что обучающие примеры независимо выбраны из одного и того же распределения, то правдоподобие принимает вид</a:t>
                </a:r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𝒑</m:t>
                    </m:r>
                    <m:d>
                      <m:dPr>
                        <m:ctrlP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𝑫</m:t>
                        </m:r>
                      </m:e>
                      <m:e>
                        <m:r>
                          <a:rPr lang="ru-RU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𝜽</m:t>
                        </m:r>
                      </m:e>
                    </m:d>
                    <m:r>
                      <a:rPr lang="en-U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nary>
                      <m:naryPr>
                        <m:chr m:val="∏"/>
                        <m:ctrlP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𝒏</m:t>
                        </m:r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𝑵</m:t>
                        </m:r>
                      </m:sup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𝒑</m:t>
                        </m:r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en-US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𝒏</m:t>
                            </m:r>
                          </m:sub>
                        </m:sSub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𝒏</m:t>
                            </m:r>
                          </m:sub>
                        </m:sSub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𝜽</m:t>
                        </m:r>
                        <m:r>
                          <a:rPr lang="ru-RU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</m:nary>
                    <m:r>
                      <a:rPr lang="ru-RU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это дает возможность при логарифмировании перейти от оператора произведения к оператору суммирования. Таким образом получаем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0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000" i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l</m:t>
                          </m:r>
                          <m:r>
                            <a:rPr lang="en-US" sz="2000" b="1" i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𝐨𝐠</m:t>
                          </m:r>
                        </m:fName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𝒑</m:t>
                          </m:r>
                          <m:d>
                            <m:dPr>
                              <m:ctrlPr>
                                <a:rPr lang="en-US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𝑫</m:t>
                              </m:r>
                            </m:e>
                            <m:e>
                              <m:r>
                                <a:rPr lang="ru-RU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𝜽</m:t>
                              </m:r>
                            </m:e>
                          </m:d>
                          <m:r>
                            <a:rPr lang="en-U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</m:t>
                          </m:r>
                        </m:e>
                      </m:func>
                      <m:nary>
                        <m:naryPr>
                          <m:chr m:val="∑"/>
                          <m:ctrlPr>
                            <a:rPr lang="en-US" sz="20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𝑁</m:t>
                          </m:r>
                        </m:sup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𝒍𝒐𝒈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[</m:t>
                          </m:r>
                          <m:r>
                            <a:rPr lang="en-U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𝒑</m:t>
                          </m:r>
                          <m:d>
                            <m:dPr>
                              <m:ctrlPr>
                                <a:rPr lang="en-US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𝒚</m:t>
                                  </m:r>
                                </m:e>
                                <m:sub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𝒏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𝒏</m:t>
                                  </m:r>
                                </m:sub>
                              </m:sSub>
                              <m:r>
                                <a:rPr lang="en-US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US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𝜽</m:t>
                              </m:r>
                            </m:e>
                          </m:d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]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</m:e>
                      </m:nary>
                    </m:oMath>
                  </m:oMathPara>
                </a14:m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Тогда задача состоит в максимизации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ru-RU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𝜽</m:t>
                        </m:r>
                      </m:e>
                      <m:sup>
                        <m:r>
                          <a:rPr lang="ru-RU" sz="20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r>
                      <a:rPr lang="ru-RU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𝒂𝒓𝒈𝒎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𝒂𝒙</m:t>
                    </m:r>
                    <m:nary>
                      <m:naryPr>
                        <m:chr m:val="∑"/>
                        <m:ctrlPr>
                          <a:rPr lang="en-US" sz="2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sup>
                      <m:e>
                        <m:func>
                          <m:func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𝒑</m:t>
                            </m:r>
                            <m:d>
                              <m:dPr>
                                <m:ctrlPr>
                                  <a:rPr lang="en-US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0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𝒚</m:t>
                                    </m:r>
                                  </m:e>
                                  <m:sub>
                                    <m:r>
                                      <a:rPr lang="en-US" sz="20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𝒏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0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0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𝒏</m:t>
                                    </m:r>
                                  </m:sub>
                                </m:sSub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𝜽</m:t>
                                </m:r>
                              </m:e>
                            </m:d>
                          </m:e>
                        </m:func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.</m:t>
                        </m:r>
                      </m:e>
                    </m:nary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Или, учитывая удобство минимизации запишем функцию с отрицательным знаком 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ru-RU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𝜽</m:t>
                          </m:r>
                        </m:e>
                        <m:sup>
                          <m:r>
                            <a:rPr lang="ru-RU" sz="2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∗</m:t>
                          </m:r>
                        </m:sup>
                      </m:sSup>
                      <m:r>
                        <a:rPr lang="ru-RU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2000" b="1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𝒂𝒓𝒈𝒎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𝒊𝒏</m:t>
                      </m:r>
                      <m:d>
                        <m:dPr>
                          <m:ctrlPr>
                            <a:rPr lang="en-US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nary>
                            <m:naryPr>
                              <m:chr m:val="∑"/>
                              <m:ctrlPr>
                                <a:rPr lang="en-US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𝑁</m:t>
                              </m:r>
                            </m:sup>
                            <m:e>
                              <m:r>
                                <a:rPr lang="en-US" sz="2000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𝒍𝒐𝒈</m:t>
                              </m:r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[</m:t>
                              </m:r>
                              <m:r>
                                <a:rPr lang="en-US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𝒑</m:t>
                              </m:r>
                              <m:d>
                                <m:dPr>
                                  <m:ctrlPr>
                                    <a:rPr lang="en-US" sz="2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𝒚</m:t>
                                      </m:r>
                                    </m:e>
                                    <m:sub>
                                      <m:r>
                                        <a:rPr lang="en-US" sz="2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𝒏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sz="2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sz="2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𝒏</m:t>
                                      </m:r>
                                    </m:sub>
                                  </m:sSub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,</m:t>
                                  </m:r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𝜽</m:t>
                                  </m:r>
                                </m:e>
                              </m:d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]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.</m:t>
                              </m:r>
                            </m:e>
                          </m:nary>
                        </m:e>
                      </m:d>
                    </m:oMath>
                  </m:oMathPara>
                </a14:m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ru-RU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ru-RU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Объект 2">
                <a:extLst>
                  <a:ext uri="{FF2B5EF4-FFF2-40B4-BE49-F238E27FC236}">
                    <a16:creationId xmlns:a16="http://schemas.microsoft.com/office/drawing/2014/main" id="{88CB823A-B60F-4065-BB8A-4175310188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968" y="1274885"/>
                <a:ext cx="9797142" cy="5345723"/>
              </a:xfrm>
              <a:prstGeom prst="rect">
                <a:avLst/>
              </a:prstGeom>
              <a:blipFill>
                <a:blip r:embed="rId2"/>
                <a:stretch>
                  <a:fillRect l="-622" t="-1140" r="-6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98344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CB2B2B-422C-439F-8FD3-B5CB718161DE}"/>
              </a:ext>
            </a:extLst>
          </p:cNvPr>
          <p:cNvSpPr txBox="1"/>
          <p:nvPr/>
        </p:nvSpPr>
        <p:spPr>
          <a:xfrm>
            <a:off x="2053118" y="692696"/>
            <a:ext cx="8198893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ФУНКЦИЯ ПРАВДОПОДОБИЯ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Объект 2">
                <a:extLst>
                  <a:ext uri="{FF2B5EF4-FFF2-40B4-BE49-F238E27FC236}">
                    <a16:creationId xmlns:a16="http://schemas.microsoft.com/office/drawing/2014/main" id="{88CB823A-B60F-4065-BB8A-41753101885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77078" y="1274885"/>
                <a:ext cx="9797142" cy="5345723"/>
              </a:xfrm>
              <a:prstGeom prst="rect">
                <a:avLst/>
              </a:prstGeom>
            </p:spPr>
            <p:txBody>
              <a:bodyPr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ru-RU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Правдоподобие 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– это вероятность получения имеющихся наблюдений для заданных параметров модели. Пусть имеется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en-US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наблюдений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,…,</a:t>
                </a:r>
                <a:r>
                  <a:rPr lang="en-US" sz="24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ru-RU" sz="24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 </m:t>
                    </m:r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Будем предполагать, что все наблюдения независимы и подчиняются одному и тому же нормальному распределению со средним </a:t>
                </a:r>
                <a14:m>
                  <m:oMath xmlns:m="http://schemas.openxmlformats.org/officeDocument/2006/math">
                    <m:r>
                      <a:rPr lang="ru-RU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𝜇</m:t>
                    </m:r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и дисперсией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ru-RU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p>
                        <m:r>
                          <a:rPr lang="ru-RU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buNone/>
                </a:pP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Тогда функция правдоподобия может быть выражена: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данные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/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параметры модели) =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,…,</a:t>
                </a:r>
                <a:r>
                  <a:rPr lang="en-US" sz="24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/</a:t>
                </a:r>
                <a:r>
                  <a:rPr lang="ru-RU" sz="24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𝜇</m:t>
                    </m:r>
                    <m:r>
                      <a:rPr lang="ru-RU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ru-RU" sz="24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ru-R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p>
                        <m:r>
                          <a:rPr lang="ru-RU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).</a:t>
                </a:r>
              </a:p>
              <a:p>
                <a:pPr marL="0" indent="0">
                  <a:buNone/>
                </a:pP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Поскольку все наблюдения независимы, то можно представить как факторизованную модель: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данные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/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параметры модели)=</a:t>
                </a:r>
                <a14:m>
                  <m:oMath xmlns:m="http://schemas.openxmlformats.org/officeDocument/2006/math">
                    <m:nary>
                      <m:naryPr>
                        <m:chr m:val="∏"/>
                        <m:ctrlPr>
                          <a:rPr lang="ru-RU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/</m:t>
                        </m:r>
                        <m:r>
                          <m:rPr>
                            <m:nor/>
                          </m:rPr>
                          <a:rPr lang="ru-RU" sz="2400" dirty="0"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ru-R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𝜇</m:t>
                        </m:r>
                        <m:r>
                          <a:rPr lang="ru-RU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ru-RU" sz="2400" dirty="0">
                            <a:cs typeface="Times New Roman" panose="020206030504050203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ru-RU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ru-RU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ru-RU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ru-RU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).</m:t>
                        </m:r>
                      </m:e>
                    </m:nary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Учитывая нормальность распределения запишем функцию правдоподобия: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данные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/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параметры модели) =</a:t>
                </a:r>
                <a:r>
                  <a:rPr lang="ru-RU" sz="24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∏"/>
                        <m:ctrlPr>
                          <a:rPr lang="ru-RU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  <m:e>
                        <m:f>
                          <m:fPr>
                            <m:ctrlPr>
                              <a:rPr lang="en-US" sz="24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ru-RU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ru-RU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𝜎</m:t>
                            </m:r>
                            <m:rad>
                              <m:radPr>
                                <m:degHide m:val="on"/>
                                <m:ctrlPr>
                                  <a:rPr lang="ru-RU" sz="2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ru-RU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  <m:r>
                                  <a:rPr lang="ru-RU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𝜋</m:t>
                                </m:r>
                              </m:e>
                            </m:rad>
                          </m:den>
                        </m:f>
                      </m:e>
                    </m:nary>
                    <m:sSup>
                      <m:sSupPr>
                        <m:ctrlPr>
                          <a:rPr lang="ru-RU" sz="24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f>
                          <m:fPr>
                            <m:ctrlPr>
                              <a:rPr lang="ru-RU" sz="240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−(</m:t>
                            </m:r>
                            <m:sSup>
                              <m:sSupPr>
                                <m:ctrlPr>
                                  <a:rPr lang="en-US" sz="2400" b="0" i="1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ru-RU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𝜇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  <m:sSup>
                              <m:sSupPr>
                                <m:ctrlPr>
                                  <a:rPr lang="ru-RU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ru-RU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ru-RU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sup>
                    </m:sSup>
                    <m:r>
                      <a:rPr lang="en-US" sz="2400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endParaRPr lang="ru-RU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Объект 2">
                <a:extLst>
                  <a:ext uri="{FF2B5EF4-FFF2-40B4-BE49-F238E27FC236}">
                    <a16:creationId xmlns:a16="http://schemas.microsoft.com/office/drawing/2014/main" id="{88CB823A-B60F-4065-BB8A-4175310188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078" y="1274885"/>
                <a:ext cx="9797142" cy="5345723"/>
              </a:xfrm>
              <a:prstGeom prst="rect">
                <a:avLst/>
              </a:prstGeom>
              <a:blipFill>
                <a:blip r:embed="rId2"/>
                <a:stretch>
                  <a:fillRect l="-996" t="-2281" r="-49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11632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7F6A7B5-F632-4DD4-8412-EEF352CE4626}"/>
              </a:ext>
            </a:extLst>
          </p:cNvPr>
          <p:cNvSpPr txBox="1"/>
          <p:nvPr/>
        </p:nvSpPr>
        <p:spPr>
          <a:xfrm>
            <a:off x="1640037" y="773724"/>
            <a:ext cx="819889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 МАКСИМАЛЬНОГО ПРАВДОПОДОБИЯ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2A8A58A-D964-4F72-BEE9-002A70D7204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50259" y="1644161"/>
                <a:ext cx="10112188" cy="487093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ru-RU" sz="20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Метод максимального правдоподобия – 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maximum likelihood estimation, MLE) – 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это метод оценивания неизвестных параметров распределения или модели путем максимизации функции правдоподобия. Т.е. максимизации вероятности распределения данных при заданных параметрах модели.</a:t>
                </a:r>
              </a:p>
              <a:p>
                <a:pPr marL="0" indent="0">
                  <a:buNone/>
                </a:pPr>
                <a:r>
                  <a:rPr lang="ru-RU" sz="20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Функцию правдоподобия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можно представить в виде: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данные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/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параметры)=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  <m:r>
                      <a:rPr lang="en-US" sz="20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nary>
                      <m:naryPr>
                        <m:chr m:val="∏"/>
                        <m:ctrlPr>
                          <a:rPr lang="ru-RU" sz="2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/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  <m:r>
                          <m:rPr>
                            <m:nor/>
                          </m:rPr>
                          <a:rPr lang="ru-RU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).</m:t>
                        </m:r>
                      </m:e>
                    </m:nary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Чтобы максимизировать функцию вероятности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  <m:d>
                      <m:dPr>
                        <m:ctrlPr>
                          <a:rPr lang="en-US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</m:d>
                    <m:r>
                      <a:rPr lang="ru-RU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необходимо продифференцировать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по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и приравнять 0. Более удобно максимизировать не саму функцию правдоподобия, а ее логарифм. Т.е.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𝑙𝑜𝑔</m:t>
                    </m:r>
                    <m:r>
                      <a:rPr lang="en-US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Поскольку логарифм -  монотонно возрастающая функция, то с ростом параметра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будет </a:t>
                </a:r>
                <a:r>
                  <a:rPr lang="ru-RU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максимизироваться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и логарифм. С точки зрения математики производная от логарифма находится проще.</a:t>
                </a:r>
              </a:p>
              <a:p>
                <a:pPr marL="0" indent="0">
                  <a:buNone/>
                </a:pP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Поэтому можно записать: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𝑙𝑜𝑔</m:t>
                    </m:r>
                    <m:r>
                      <a:rPr lang="en-US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</m:d>
                    <m:r>
                      <a:rPr lang="ru-RU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ru-RU" sz="20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US" sz="2000" b="0" i="0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log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⁡(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sz="2000" dirty="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/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𝜃</m:t>
                            </m:r>
                          </m:e>
                        </m:d>
                        <m:r>
                          <a:rPr lang="en-US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</m:nary>
                    <m:r>
                      <a:rPr lang="ru-RU" sz="2000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 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Для того, чтобы найти максимум следует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𝑙𝑜𝑔</m:t>
                    </m:r>
                    <m:r>
                      <a:rPr lang="en-US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</m:d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продифференцировать и приравнять нулю. Учитывая, что максимизация соответствует минимизации функции взятой с отрицательным знаком, получим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p>
                        <m:r>
                          <a:rPr lang="ru-RU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𝐴𝑟𝑔𝑚𝑖𝑛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(−</m:t>
                    </m:r>
                  </m:oMath>
                </a14:m>
                <a:r>
                  <a:rPr lang="en-US" sz="20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𝑙𝑜𝑔</m:t>
                    </m:r>
                    <m:r>
                      <a:rPr lang="en-US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ru-RU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2A8A58A-D964-4F72-BEE9-002A70D720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259" y="1644161"/>
                <a:ext cx="10112188" cy="4870939"/>
              </a:xfrm>
              <a:prstGeom prst="rect">
                <a:avLst/>
              </a:prstGeom>
              <a:blipFill>
                <a:blip r:embed="rId2"/>
                <a:stretch>
                  <a:fillRect l="-663" t="-1377" r="-904" b="-162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33388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AC104E-2898-49A7-A874-B62EFF445A3F}"/>
              </a:ext>
            </a:extLst>
          </p:cNvPr>
          <p:cNvSpPr txBox="1">
            <a:spLocks/>
          </p:cNvSpPr>
          <p:nvPr/>
        </p:nvSpPr>
        <p:spPr>
          <a:xfrm>
            <a:off x="2152650" y="1091906"/>
            <a:ext cx="7886700" cy="994172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 МАКСИМАЛЬНОГО ПРАВДОПОДОБИЯ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Объект 2">
                <a:extLst>
                  <a:ext uri="{FF2B5EF4-FFF2-40B4-BE49-F238E27FC236}">
                    <a16:creationId xmlns:a16="http://schemas.microsoft.com/office/drawing/2014/main" id="{9D6DCD5D-F9F0-410E-B26A-14A21DDF754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19175" y="2246940"/>
                <a:ext cx="9639300" cy="3936146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just">
                  <a:buNone/>
                </a:pP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 случае классификации можно использовать </a:t>
                </a:r>
                <a:r>
                  <a:rPr lang="ru-RU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схему Бернулли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которая предполагает взаимоисключающие и исчерпывающие исходы экспериментов. При этом возможными исходами эксперимента по схеме Бернулли может быть «успех» или «неудача».  Пусть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вероятность успеха. Тогда, в силу того, что этими двумя событиями исчерпывается все выборочное пространство, вероятность неудачи равна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ru-RU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−1</m:t>
                    </m:r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Будем считать, что успешному исходу соответствует значение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</m:t>
                    </m:r>
                    <m:r>
                      <a:rPr lang="ru-RU" sz="24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а неудачному -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0, Тогда вероятность успеха или неудачи можно выразить формулой 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p>
                      </m:sSup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(1−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(1−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ru-RU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Объект 2">
                <a:extLst>
                  <a:ext uri="{FF2B5EF4-FFF2-40B4-BE49-F238E27FC236}">
                    <a16:creationId xmlns:a16="http://schemas.microsoft.com/office/drawing/2014/main" id="{9D6DCD5D-F9F0-410E-B26A-14A21DDF75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175" y="2246940"/>
                <a:ext cx="9639300" cy="3936146"/>
              </a:xfrm>
              <a:prstGeom prst="rect">
                <a:avLst/>
              </a:prstGeom>
              <a:blipFill>
                <a:blip r:embed="rId2"/>
                <a:stretch>
                  <a:fillRect l="-949" t="-2171" r="-101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667564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7AB21A6-2507-4951-8F98-98429DF5F4FC}"/>
              </a:ext>
            </a:extLst>
          </p:cNvPr>
          <p:cNvSpPr txBox="1"/>
          <p:nvPr/>
        </p:nvSpPr>
        <p:spPr>
          <a:xfrm>
            <a:off x="1996555" y="1082121"/>
            <a:ext cx="819889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 МАКСИМАЛЬНОГО ПРАВДОПОДОБИЯ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Объект 2">
                <a:extLst>
                  <a:ext uri="{FF2B5EF4-FFF2-40B4-BE49-F238E27FC236}">
                    <a16:creationId xmlns:a16="http://schemas.microsoft.com/office/drawing/2014/main" id="{D3FCA053-9D37-47EE-A5FE-59027C3C801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6478" y="1793630"/>
                <a:ext cx="10339753" cy="4721469"/>
              </a:xfrm>
              <a:prstGeom prst="rect">
                <a:avLst/>
              </a:prstGeom>
            </p:spPr>
            <p:txBody>
              <a:bodyPr>
                <a:normAutofit fontScale="92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ru-RU" sz="20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Для каждой точки данных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p>
                      <m:sSupPr>
                        <m:ctrlP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p>
                    </m:sSup>
                    <m:r>
                      <a:rPr lang="en-US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/</m:t>
                    </m:r>
                  </m:oMath>
                </a14:m>
                <a:r>
                  <a:rPr lang="en-US" sz="20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p>
                    </m:sSup>
                    <m:r>
                      <a:rPr lang="en-US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 −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𝐵𝑒𝑟𝑛𝑢𝑙𝑙𝑖</m:t>
                    </m:r>
                    <m:d>
                      <m:dPr>
                        <m:ctrlPr>
                          <a:rPr lang="en-US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1,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</m:d>
                    <m:r>
                      <a:rPr lang="ru-RU" sz="20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</m:oMath>
                </a14:m>
                <a:r>
                  <a:rPr lang="ru-RU" sz="20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тогда для функции вероятности можно записать: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20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p>
                        </m:sSup>
                        <m: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/</m:t>
                        </m:r>
                        <m:r>
                          <m:rPr>
                            <m:nor/>
                          </m:rPr>
                          <a:rPr lang="en-US" sz="2000" dirty="0">
                            <a:cs typeface="Times New Roman" panose="020206030504050203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sz="20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0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p>
                        </m:sSup>
                        <m: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(1−</m:t>
                        </m:r>
                        <m:sSub>
                          <m:sSubPr>
                            <m:ctrlPr>
                              <a:rPr lang="en-US" sz="20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(1−</m:t>
                        </m:r>
                        <m:sSup>
                          <m:sSupPr>
                            <m:ctrlPr>
                              <a:rPr lang="en-US" sz="20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20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p>
                        </m:sSup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</a:p>
              <a:p>
                <a:pPr marL="0" indent="0">
                  <a:buNone/>
                </a:pP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ru-RU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ru-RU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ru-RU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d>
                          <m:dPr>
                            <m:ctrlPr>
                              <a:rPr lang="ru-RU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ru-RU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1+</m:t>
                            </m:r>
                            <m:sSup>
                              <m:sSupPr>
                                <m:ctrlPr>
                                  <a:rPr lang="ru-RU" sz="200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𝑒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ru-RU" sz="200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sSup>
                                      <m:sSupPr>
                                        <m:ctrlP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𝜃</m:t>
                                        </m:r>
                                      </m:e>
                                      <m:sup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p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</m:den>
                    </m:f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buNone/>
                </a:pP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Перепишем функцию правдоподобия в виде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данные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/ 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модель)=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𝐷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𝐷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0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,…,</m:t>
                        </m:r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𝐷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sup>
                        </m:sSup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/ 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</m:d>
                    <m:r>
                      <a:rPr lang="en-US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где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𝐷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представляет собой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i</m:t>
                    </m:r>
                    <m:r>
                      <a:rPr lang="en-US" sz="20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ru-RU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й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обучающий пример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b="0" i="0" dirty="0">
                    <a:latin typeface="+mj-lt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p>
                    </m:sSup>
                    <m:r>
                      <a:rPr lang="en-US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/</m:t>
                    </m:r>
                    <m:r>
                      <m:rPr>
                        <m:nor/>
                      </m:rPr>
                      <a:rPr lang="en-US" sz="2000" dirty="0">
                        <a:cs typeface="Times New Roman" panose="02020603050405020304" pitchFamily="18" charset="0"/>
                      </a:rPr>
                      <m:t> </m:t>
                    </m:r>
                    <m:sSup>
                      <m:sSupPr>
                        <m:ctrlP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en-US" sz="2000" b="0" i="0" dirty="0">
                    <a:latin typeface="+mj-lt"/>
                    <a:cs typeface="Times New Roman" panose="02020603050405020304" pitchFamily="18" charset="0"/>
                  </a:rPr>
                  <a:t>)</a:t>
                </a:r>
                <a14:m>
                  <m:oMath xmlns:m="http://schemas.openxmlformats.org/officeDocument/2006/math">
                    <m:r>
                      <a:rPr lang="ru-RU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>
                  <a:buNone/>
                </a:pP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Исходя из допущения о независимости обучающих примеров, можно представить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в следующем факторизованном виде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  <m:r>
                      <a:rPr lang="en-US" sz="20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𝐷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𝐷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0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,…,</m:t>
                        </m:r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𝐷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sup>
                        </m:sSup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/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ru-RU" sz="20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∏"/>
                        <m:ctrlPr>
                          <a:rPr lang="ru-RU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sup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𝐷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/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  <m:r>
                          <m:rPr>
                            <m:nor/>
                          </m:rPr>
                          <a:rPr lang="ru-RU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).</m:t>
                        </m:r>
                      </m:e>
                    </m:nary>
                  </m:oMath>
                </a14:m>
                <a:endParaRPr lang="ru-RU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Логарифмируя обе части этого равенства, преобразуем произведение вероятностей в сумму их логарифмов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log</m:t>
                    </m:r>
                    <m:r>
                      <a:rPr lang="ru-RU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⁡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  <m:d>
                      <m:dPr>
                        <m:ctrlPr>
                          <a:rPr lang="en-US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</m:d>
                    <m:r>
                      <a:rPr lang="en-US" sz="20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sup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𝑙𝑜𝑔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𝐷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/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  <m:r>
                          <m:rPr>
                            <m:nor/>
                          </m:rPr>
                          <a:rPr lang="ru-RU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</m:nary>
                    <m:r>
                      <a:rPr lang="ru-RU" sz="20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Так как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US" sz="200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p>
                      <m:sSupPr>
                        <m:ctrlPr>
                          <a:rPr lang="en-US" sz="2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𝐷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p>
                    </m:sSup>
                    <m:r>
                      <m:rPr>
                        <m:nor/>
                      </m:rPr>
                      <a:rPr lang="en-US" sz="20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/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  <m:r>
                      <m:rPr>
                        <m:nor/>
                      </m:rPr>
                      <a:rPr lang="ru-RU" sz="20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  <m:r>
                      <m:rPr>
                        <m:nor/>
                      </m:rPr>
                      <a:rPr lang="ru-RU" sz="2000" b="0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sz="2000" b="0" i="1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k</m:t>
                    </m:r>
                  </m:oMath>
                </a14:m>
                <a:r>
                  <a:rPr lang="en-US" sz="20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20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p>
                        </m:sSup>
                        <m: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/</m:t>
                        </m:r>
                        <m:r>
                          <m:rPr>
                            <m:nor/>
                          </m:rPr>
                          <a:rPr lang="en-US" sz="2000" dirty="0">
                            <a:cs typeface="Times New Roman" panose="020206030504050203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sz="20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0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p>
                        </m:sSup>
                        <m: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</m:d>
                    <m:r>
                      <a:rPr lang="ru-RU" sz="20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В результате получаем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log</m:t>
                    </m:r>
                    <m:r>
                      <a:rPr lang="ru-RU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⁡</m:t>
                    </m:r>
                    <m:r>
                      <a:rPr lang="en-US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</m:d>
                    <m:r>
                      <a:rPr lang="en-US" sz="20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sup>
                      <m:e>
                        <m:r>
                          <a:rPr lang="ru-RU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𝑙𝑜𝑔𝑘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20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20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p>
                        </m:sSup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𝑙𝑜𝑔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+(1−</m:t>
                        </m:r>
                      </m:e>
                    </m:nary>
                  </m:oMath>
                </a14:m>
                <a:r>
                  <a:rPr lang="en-US" sz="20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sz="20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𝑙𝑜𝑔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(1−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Учитывая эквивалентность максимизации и минимизации функций получим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p>
                        <m:r>
                          <a:rPr lang="ru-RU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𝐴𝑟𝑔𝑚𝑖𝑛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(−</m:t>
                    </m:r>
                  </m:oMath>
                </a14:m>
                <a:r>
                  <a:rPr lang="en-US" sz="20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𝑙𝑜𝑔</m:t>
                    </m:r>
                    <m:r>
                      <a:rPr lang="en-US" sz="18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  <m:d>
                      <m:dPr>
                        <m:ctrlPr>
                          <a:rPr lang="en-US" sz="18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ru-RU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ru-RU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ru-RU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d>
                          <m:dPr>
                            <m:ctrlPr>
                              <a:rPr lang="ru-RU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ru-RU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1+</m:t>
                            </m:r>
                            <m:sSup>
                              <m:sSupPr>
                                <m:ctrlPr>
                                  <a:rPr lang="ru-RU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𝑒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ru-RU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sSup>
                                      <m:sSup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𝜃</m:t>
                                        </m:r>
                                      </m:e>
                                      <m:sup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p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</m:den>
                    </m:f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algn="ctr">
                  <a:buNone/>
                </a:pPr>
                <a:endParaRPr lang="ru-RU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Объект 2">
                <a:extLst>
                  <a:ext uri="{FF2B5EF4-FFF2-40B4-BE49-F238E27FC236}">
                    <a16:creationId xmlns:a16="http://schemas.microsoft.com/office/drawing/2014/main" id="{D3FCA053-9D37-47EE-A5FE-59027C3C80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478" y="1793630"/>
                <a:ext cx="10339753" cy="4721469"/>
              </a:xfrm>
              <a:prstGeom prst="rect">
                <a:avLst/>
              </a:prstGeom>
              <a:blipFill>
                <a:blip r:embed="rId2"/>
                <a:stretch>
                  <a:fillRect l="-590" t="-2194" r="-23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760646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18F7EF-7813-485D-9A32-65C71A41E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ЛИНЕЙНАЯ РЕГРЕССИЯ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6119A55B-327F-42B8-9615-A2D0B1E244B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0075" y="1277258"/>
                <a:ext cx="10753725" cy="5457372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Рассмотрим нормальное (гауссово) распределение: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𝑁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e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;</m:t>
                        </m:r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ru-RU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ru-R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ru-R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ru-RU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ru-RU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  <m:r>
                              <a:rPr lang="ru-RU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𝜋</m:t>
                            </m:r>
                            <m:sSup>
                              <m:sSupPr>
                                <m:ctrlPr>
                                  <a:rPr lang="ru-RU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ru-RU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ru-RU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exp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⁡(−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𝑊</m:t>
                                </m:r>
                              </m:e>
                              <m:sup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𝑏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marL="0" indent="0">
                  <a:buNone/>
                </a:pP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 многомерном случае мы получим: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𝑁</m:t>
                    </m:r>
                  </m:oMath>
                </a14:m>
                <a:r>
                  <a:rPr lang="en-US" sz="20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𝒚</m:t>
                        </m:r>
                      </m:e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𝝁</m:t>
                        </m:r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l-GR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𝜮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ru-RU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ru-RU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ru-RU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(2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𝜋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/2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US" sz="20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exp</m:t>
                    </m:r>
                    <m:d>
                      <m:dPr>
                        <m:begChr m:val="["/>
                        <m:endChr m:val="]"/>
                        <m:ctrlP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den>
                        </m:f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en-US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𝒚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𝝁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sup>
                        </m:sSup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l-GR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𝜮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𝒚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𝝁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endParaRPr lang="en-US" sz="2000" b="0" dirty="0"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где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𝝁</m:t>
                    </m:r>
                    <m:r>
                      <a:rPr lang="ru-RU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𝑬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[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𝒚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]∈</m:t>
                    </m:r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𝑹</m:t>
                        </m:r>
                      </m:e>
                      <m:sup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𝒏</m:t>
                        </m:r>
                      </m:sup>
                    </m:sSup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 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вектор средних, а </a:t>
                </a:r>
                <a14:m>
                  <m:oMath xmlns:m="http://schemas.openxmlformats.org/officeDocument/2006/math">
                    <m:r>
                      <a:rPr lang="el-GR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𝜮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C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𝑜𝑣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[</m:t>
                    </m:r>
                    <m:r>
                      <a:rPr lang="en-US" sz="20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𝒚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– ковариационная матрица размера </a:t>
                </a:r>
                <a:endParaRPr lang="ru-RU" sz="2000" b="0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ru-RU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определятся следующим образом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C</m:t>
                    </m:r>
                    <m:r>
                      <a:rPr lang="en-US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𝑜𝑣</m:t>
                    </m:r>
                    <m:d>
                      <m:dPr>
                        <m:begChr m:val="["/>
                        <m:endChr m:val="]"/>
                        <m:ctrlPr>
                          <a:rPr lang="en-US" sz="2000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𝒚</m:t>
                        </m:r>
                      </m:e>
                    </m:d>
                    <m:r>
                      <a:rPr lang="ru-RU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𝑬</m:t>
                    </m:r>
                    <m:d>
                      <m:dPr>
                        <m:begChr m:val="["/>
                        <m:endChr m:val="]"/>
                        <m:ctrlP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ru-RU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𝒚</m:t>
                            </m:r>
                            <m:r>
                              <a:rPr lang="ru-RU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𝑬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𝒚</m:t>
                                </m:r>
                              </m:e>
                            </m:d>
                          </m:e>
                        </m:d>
                        <m:sSup>
                          <m:sSupPr>
                            <m:ctrlPr>
                              <a:rPr lang="en-US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ru-RU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𝒚</m:t>
                                </m:r>
                                <m:r>
                                  <a:rPr lang="ru-RU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𝑬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20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𝒚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𝑻</m:t>
                            </m:r>
                          </m:sup>
                        </m:sSup>
                      </m:e>
                    </m:d>
                    <m:r>
                      <a:rPr lang="ru-RU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 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Что равно:</a:t>
                </a:r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C</m:t>
                    </m:r>
                    <m:r>
                      <a:rPr lang="en-US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𝑜𝑣</m:t>
                    </m:r>
                    <m:d>
                      <m:dPr>
                        <m:begChr m:val="["/>
                        <m:endChr m:val="]"/>
                        <m:ctrlPr>
                          <a:rPr lang="en-US" sz="2000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𝒚</m:t>
                        </m:r>
                      </m:e>
                    </m:d>
                    <m:r>
                      <a:rPr lang="ru-RU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ru-RU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ru-RU" sz="20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000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[</m:t>
                              </m:r>
                              <m:sSub>
                                <m:sSubPr>
                                  <m:ctrlPr>
                                    <a:rPr lang="en-US" sz="2000" b="0" i="1" dirty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dirty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sz="2000" b="0" i="1" dirty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en-US" sz="2000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]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𝑜𝑣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sSub>
                                <m:sSubPr>
                                  <m:ctrlPr>
                                    <a:rPr lang="en-US" sz="20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sz="2000" b="0" i="1" dirty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0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0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]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𝑜𝑣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sSub>
                                <m:sSubPr>
                                  <m:ctrlPr>
                                    <a:rPr lang="en-US" sz="20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sz="2000" b="0" i="1" dirty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0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sz="2000" b="0" i="1" dirty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0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]</m:t>
                              </m:r>
                            </m:e>
                          </m:mr>
                        </m:m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ru-RU" sz="20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𝑜𝑣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sSub>
                                <m:sSubPr>
                                  <m:ctrlPr>
                                    <a:rPr lang="en-US" sz="20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0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sz="2000" b="0" i="1" dirty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]</m:t>
                              </m:r>
                            </m:e>
                            <m:e>
                              <m:r>
                                <m:rPr>
                                  <m:brk m:alnAt="7"/>
                                </m:rP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𝑜𝑣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sSub>
                                <m:sSubPr>
                                  <m:ctrlPr>
                                    <a:rPr lang="en-US" sz="20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0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sz="2000" b="0" i="1" dirty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20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]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0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  <m:r>
                                <a:rPr lang="en-US" sz="20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[</m:t>
                              </m:r>
                              <m:sSub>
                                <m:sSubPr>
                                  <m:ctrlPr>
                                    <a:rPr lang="en-US" sz="20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sz="2000" b="0" i="1" dirty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en-US" sz="20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]</m:t>
                              </m:r>
                            </m:e>
                            <m:e>
                              <m:r>
                                <m:rPr>
                                  <m:brk m:alnAt="7"/>
                                </m:rP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𝑜𝑣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sSub>
                                <m:sSubPr>
                                  <m:ctrlPr>
                                    <a:rPr lang="en-US" sz="20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sz="2000" b="0" i="1" dirty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0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20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]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𝑜𝑣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sSub>
                                <m:sSubPr>
                                  <m:ctrlPr>
                                    <a:rPr lang="en-US" sz="20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0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sz="2000" b="0" i="1" dirty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]</m:t>
                              </m:r>
                            </m:e>
                            <m:e>
                              <m:r>
                                <m:rPr>
                                  <m:brk m:alnAt="7"/>
                                </m:rPr>
                                <a:rPr lang="en-US" sz="20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  <m:r>
                                <a:rPr lang="en-US" sz="20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[</m:t>
                              </m:r>
                              <m:sSub>
                                <m:sSubPr>
                                  <m:ctrlPr>
                                    <a:rPr lang="en-US" sz="20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sz="2000" b="0" i="1" dirty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en-US" sz="20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]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ru-RU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 где </a:t>
                </a:r>
                <a14:m>
                  <m:oMath xmlns:m="http://schemas.openxmlformats.org/officeDocument/2006/math">
                    <m:r>
                      <m:rPr>
                        <m:brk m:alnAt="7"/>
                      </m:rPr>
                      <a:rPr lang="en-US" sz="1800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𝑜𝑣</m:t>
                    </m:r>
                    <m:d>
                      <m:dPr>
                        <m:begChr m:val="["/>
                        <m:endChr m:val="]"/>
                        <m:ctrlPr>
                          <a:rPr lang="en-US" sz="18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sz="18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sz="18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18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𝑬</m:t>
                    </m:r>
                  </m:oMath>
                </a14:m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18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sz="18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18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US" sz="18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]−</m:t>
                    </m:r>
                  </m:oMath>
                </a14:m>
                <a:r>
                  <a:rPr lang="en-US" sz="1800" b="1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𝑬</m:t>
                    </m:r>
                  </m:oMath>
                </a14:m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18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</a:t>
                </a:r>
                <a:r>
                  <a:rPr lang="en-US" sz="1800" b="1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𝑬</m:t>
                    </m:r>
                  </m:oMath>
                </a14:m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18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US" sz="18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]</m:t>
                    </m:r>
                    <m:r>
                      <a:rPr lang="ru-RU" sz="18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ru-RU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а </a:t>
                </a:r>
                <a14:m>
                  <m:oMath xmlns:m="http://schemas.openxmlformats.org/officeDocument/2006/math">
                    <m:r>
                      <m:rPr>
                        <m:brk m:alnAt="7"/>
                      </m:rPr>
                      <a:rPr lang="en-US" sz="18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𝑉</m:t>
                    </m:r>
                    <m:d>
                      <m:dPr>
                        <m:begChr m:val="["/>
                        <m:endChr m:val="]"/>
                        <m:ctrlPr>
                          <a:rPr lang="en-US" sz="18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sz="18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brk m:alnAt="7"/>
                      </m:rPr>
                      <a:rPr lang="en-US" sz="1800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𝑜𝑣</m:t>
                    </m:r>
                    <m:d>
                      <m:dPr>
                        <m:begChr m:val="["/>
                        <m:endChr m:val="]"/>
                        <m:ctrlPr>
                          <a:rPr lang="en-US" sz="18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sz="18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sz="18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endParaRPr 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Расстояние </a:t>
                </a:r>
                <a:r>
                  <a:rPr lang="ru-RU" sz="1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Махаланобиса</a:t>
                </a:r>
                <a:r>
                  <a:rPr lang="ru-RU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>
                  <a:buNone/>
                </a:pPr>
                <a:r>
                  <a:rPr lang="ru-RU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Если рассматривать логарифмическую вероятность в точке 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𝒚</m:t>
                    </m:r>
                  </m:oMath>
                </a14:m>
                <a:r>
                  <a:rPr lang="ru-RU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то мы получим </a:t>
                </a:r>
                <a:endParaRPr lang="ru-RU" sz="1800" b="1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8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𝒍𝒐𝒈</m:t>
                    </m:r>
                    <m:r>
                      <a:rPr lang="ru-RU" sz="18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⁡</m:t>
                    </m:r>
                    <m:r>
                      <a:rPr lang="en-US" sz="1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𝒑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𝒚</m:t>
                        </m:r>
                      </m:e>
                      <m:e>
                        <m:r>
                          <a:rPr lang="en-US" sz="1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𝝁</m:t>
                        </m:r>
                        <m:r>
                          <a:rPr lang="en-US" sz="1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l-GR" sz="1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𝜮</m:t>
                        </m:r>
                      </m:e>
                    </m:d>
                  </m:oMath>
                </a14:m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sz="18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den>
                        </m:f>
                        <m:sSup>
                          <m:sSupPr>
                            <m:ctrlP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en-US" sz="18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𝒚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sz="18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𝝁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sup>
                        </m:sSup>
                        <m:sSup>
                          <m:sSupPr>
                            <m:ctrlP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l-GR" sz="18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𝜮</m:t>
                            </m:r>
                          </m:e>
                          <m:sup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1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𝒚</m:t>
                        </m:r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sz="1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𝝁</m:t>
                        </m:r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</a:t>
                </a:r>
                <a:r>
                  <a:rPr lang="en-US" sz="18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const</a:t>
                </a:r>
                <a:r>
                  <a:rPr lang="ru-RU" sz="18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r>
                  <a:rPr lang="ru-RU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Тогда расстояние </a:t>
                </a:r>
                <a:r>
                  <a:rPr lang="ru-RU" sz="1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Махаланобиса</a:t>
                </a:r>
                <a:r>
                  <a:rPr lang="ru-RU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∆</m:t>
                    </m:r>
                  </m:oMath>
                </a14:m>
                <a:r>
                  <a:rPr lang="ru-RU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между </a:t>
                </a:r>
                <a14:m>
                  <m:oMath xmlns:m="http://schemas.openxmlformats.org/officeDocument/2006/math">
                    <m:r>
                      <a:rPr lang="en-US" sz="18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𝒚</m:t>
                    </m:r>
                    <m:r>
                      <a:rPr lang="ru-RU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и </m:t>
                    </m:r>
                    <m:r>
                      <a:rPr lang="en-US" sz="18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𝝁</m:t>
                    </m:r>
                  </m:oMath>
                </a14:m>
                <a:r>
                  <a:rPr lang="ru-RU" sz="18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выразим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ru-RU" sz="18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ru-RU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∆</m:t>
                        </m:r>
                      </m:e>
                      <m:sup>
                        <m:r>
                          <a:rPr lang="ru-RU" sz="1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ru-RU" sz="1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1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𝒚</m:t>
                        </m:r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sz="1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𝝁</m:t>
                        </m:r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  <m:sup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sup>
                    </m:sSup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l-GR" sz="1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𝜮</m:t>
                        </m:r>
                      </m:e>
                      <m:sup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p>
                    </m:sSup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18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𝒚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sz="18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𝝁</m:t>
                    </m:r>
                  </m:oMath>
                </a14:m>
                <a:r>
                  <a:rPr lang="ru-RU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).</a:t>
                </a:r>
              </a:p>
              <a:p>
                <a:pPr marL="385763" indent="-385763">
                  <a:buAutoNum type="arabicPeriod"/>
                </a:pPr>
                <a:endParaRPr lang="ru-RU" sz="1800" dirty="0"/>
              </a:p>
              <a:p>
                <a:pPr marL="385763" indent="-385763">
                  <a:buAutoNum type="arabicPeriod"/>
                </a:pPr>
                <a:endParaRPr lang="ru-RU" sz="1800" dirty="0"/>
              </a:p>
              <a:p>
                <a:pPr marL="0" indent="0">
                  <a:buNone/>
                </a:pPr>
                <a:r>
                  <a:rPr lang="ru-RU" sz="1800" dirty="0"/>
                  <a:t> 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6119A55B-327F-42B8-9615-A2D0B1E244B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0075" y="1277258"/>
                <a:ext cx="10753725" cy="5457372"/>
              </a:xfrm>
              <a:blipFill>
                <a:blip r:embed="rId2"/>
                <a:stretch>
                  <a:fillRect l="-567" t="-122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90732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18F7EF-7813-485D-9A32-65C71A41E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ЛИНЕЙНАЯ РЕГРЕССИЯ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6119A55B-327F-42B8-9615-A2D0B1E244B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49374"/>
                <a:ext cx="10515600" cy="5143501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Предположим, что имеется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выборок </a:t>
                </a:r>
                <a14:m>
                  <m:oMath xmlns:m="http://schemas.openxmlformats.org/officeDocument/2006/math">
                    <m:r>
                      <a:rPr lang="ru-RU" sz="2000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p>
                      <m:sSupPr>
                        <m:ctrlP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p>
                        <m:r>
                          <a:rPr lang="ru-RU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p>
                    </m:sSup>
                    <m:r>
                      <a:rPr lang="en-US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/</m:t>
                    </m:r>
                  </m:oMath>
                </a14:m>
                <a:r>
                  <a:rPr lang="en-US" sz="20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ru-RU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p>
                    </m:sSup>
                    <m:r>
                      <a:rPr lang="en-US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p>
                      <m:sSupPr>
                        <m:ctrlP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/</m:t>
                    </m:r>
                    <m:r>
                      <m:rPr>
                        <m:nor/>
                      </m:rPr>
                      <a:rPr lang="en-US" sz="2000" dirty="0">
                        <a:cs typeface="Times New Roman" panose="02020603050405020304" pitchFamily="18" charset="0"/>
                      </a:rPr>
                      <m:t> </m:t>
                    </m:r>
                    <m:sSup>
                      <m:sSupPr>
                        <m:ctrlP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…,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sup>
                    </m:sSup>
                    <m:r>
                      <a:rPr lang="en-US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/</m:t>
                    </m:r>
                  </m:oMath>
                </a14:m>
                <a:r>
                  <a:rPr lang="en-US" sz="20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sup>
                    </m:sSup>
                    <m:r>
                      <a:rPr lang="en-US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Можно вычислить функцию стоимости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𝐽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sup>
                      <m:e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𝜃</m:t>
                                </m:r>
                              </m:e>
                              <m:sup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𝑇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p>
                            </m:sSup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p>
                            </m:sSup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ru-RU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 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Можно минимизировать эту функцию относительно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p/>
                    </m:sSup>
                    <m:r>
                      <a:rPr lang="ru-RU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чтобы определить параметры модели. Таким образом можно записать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p>
                        <m:r>
                          <a:rPr lang="ru-RU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r>
                      <a:rPr lang="ru-RU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𝐴𝑟𝑔𝑚𝑖𝑛</m:t>
                    </m:r>
                    <m:nary>
                      <m:naryPr>
                        <m:chr m:val="∑"/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sup>
                      <m:e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𝜃</m:t>
                                </m:r>
                              </m:e>
                              <m:sup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𝑇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p>
                            </m:sSup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p>
                            </m:sSup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buNone/>
                </a:pP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Выразим вектор прогноза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sup>
                    </m:sSup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как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sup>
                    </m:sSup>
                    <m:r>
                      <a:rPr lang="ru-RU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а погрешность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𝑒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en-US" sz="20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𝑌</m:t>
                    </m:r>
                    <m:r>
                      <a:rPr lang="ru-RU" sz="20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Тогда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𝐽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можно выразить в виде квадрата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2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𝑙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нормы вектора невязки 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ru-RU" sz="2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ru-RU" sz="20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𝑒</m:t>
                            </m:r>
                          </m:e>
                        </m:d>
                      </m:e>
                      <m:sub>
                        <m:r>
                          <a:rPr lang="ru-RU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  <m:sup>
                        <m:r>
                          <a:rPr lang="ru-RU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bSup>
                    <m:r>
                      <a:rPr lang="ru-RU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ru-RU" sz="20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ru-RU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𝑋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𝜃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𝑌</m:t>
                            </m:r>
                          </m:e>
                        </m:d>
                      </m:e>
                      <m:sub>
                        <m:r>
                          <a:rPr lang="ru-RU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  <m:sup>
                        <m:r>
                          <a:rPr lang="ru-RU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bSup>
                    <m:r>
                      <a:rPr lang="ru-RU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en-US" sz="20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2000" i="1" dirty="0" err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  <m:r>
                          <a:rPr lang="en-US" sz="2000" i="1" dirty="0" err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𝑌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  <m:sup>
                        <m:r>
                          <a:rPr lang="en-US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sup>
                    </m:sSup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</m:d>
                    <m:r>
                      <a:rPr lang="ru-RU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Можно записать вероятность для линейной регрессии следующим образом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;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𝑁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e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;</m:t>
                        </m:r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ru-RU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где 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  <m:r>
                      <a:rPr lang="ru-RU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=(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𝑊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Если дисперсия фиксирована и не зависит от исходных данных, то такая модель называется 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ru-RU" sz="2000" b="1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гомоскедастической</a:t>
                </a:r>
                <a:r>
                  <a:rPr lang="ru-RU" sz="20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регрессией.</a:t>
                </a:r>
              </a:p>
              <a:p>
                <a:pPr marL="0" indent="0">
                  <a:buNone/>
                </a:pP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Если дисперсия  зависит от входных данных, то такая модель называется </a:t>
                </a:r>
                <a:r>
                  <a:rPr lang="ru-RU" sz="2000" b="1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гетероскедастической</a:t>
                </a:r>
                <a:r>
                  <a:rPr lang="ru-RU" sz="20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регрессией. 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 линейной постановке получаем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;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𝑁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e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;</m:t>
                        </m:r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ru-R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sSubSup>
                          <m:sSubSupPr>
                            <m:ctrlPr>
                              <a:rPr lang="ru-RU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sup>
                        </m:sSub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ru-RU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ru-RU" sz="20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endParaRPr lang="ru-RU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ru-RU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buNone/>
                </a:pPr>
                <a:endParaRPr lang="ru-RU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85763" indent="-385763">
                  <a:buAutoNum type="arabicPeriod"/>
                </a:pPr>
                <a:endParaRPr lang="ru-RU" sz="1800" dirty="0"/>
              </a:p>
              <a:p>
                <a:pPr marL="385763" indent="-385763">
                  <a:buAutoNum type="arabicPeriod"/>
                </a:pPr>
                <a:endParaRPr lang="ru-RU" sz="1800" dirty="0"/>
              </a:p>
              <a:p>
                <a:pPr marL="0" indent="0">
                  <a:buNone/>
                </a:pPr>
                <a:r>
                  <a:rPr lang="ru-RU" sz="1800" dirty="0"/>
                  <a:t> 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6119A55B-327F-42B8-9615-A2D0B1E244B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49374"/>
                <a:ext cx="10515600" cy="5143501"/>
              </a:xfrm>
              <a:blipFill>
                <a:blip r:embed="rId2"/>
                <a:stretch>
                  <a:fillRect l="-638" t="-4502" b="-6386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482628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18F7EF-7813-485D-9A32-65C71A41E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ЛИНЕЙНАЯ РЕГРЕССИЯ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6119A55B-327F-42B8-9615-A2D0B1E244B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49374"/>
                <a:ext cx="10515600" cy="5289551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ru-RU" sz="20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Линейная регрессия соответствует модели</a:t>
                </a:r>
                <a:endParaRPr lang="ru-RU" sz="2000" b="0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;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e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𝑊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;</m:t>
                          </m:r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ru-RU" sz="20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где </a:t>
                </a:r>
                <a14:m>
                  <m:oMath xmlns:m="http://schemas.openxmlformats.org/officeDocument/2006/math">
                    <m:r>
                      <a:rPr lang="ru-RU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ru-RU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  <m:r>
                      <a:rPr lang="ru-RU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ru-R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𝑊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ru-RU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 Будем считать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что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фиксировано. Задача состоит в определении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𝑊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buNone/>
                </a:pP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1) Определим </a:t>
                </a:r>
                <a:r>
                  <a:rPr lang="ru-RU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отрицательный логарифм правдоподобия</a:t>
                </a: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NLL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𝑵𝑳𝑳</m:t>
                      </m:r>
                      <m:d>
                        <m:dPr>
                          <m:ctrlPr>
                            <a:rPr lang="en-US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𝑾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=−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𝑁</m:t>
                          </m:r>
                        </m:sup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𝑙𝑜𝑔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1</m:t>
                                          </m:r>
                                        </m:num>
                                        <m:den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𝜋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𝜎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p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f>
                                    <m:f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sup>
                              </m:s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𝑒𝑥𝑝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  <m:sSup>
                                        <m:sSupPr>
                                          <m:ctrlPr>
                                            <a:rPr lang="en-US" sz="200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𝜎</m:t>
                                          </m:r>
                                        </m:e>
                                        <m:sup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den>
                                  </m:f>
                                  <m:sSup>
                                    <m:sSupPr>
                                      <m:ctrlPr>
                                        <a:rPr lang="en-US" sz="20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000" b="1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000" b="1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𝒚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000" b="1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𝒏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−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en-US" sz="2000" b="1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sz="2000" b="1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𝑾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2000" b="1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𝑻</m:t>
                                              </m:r>
                                            </m:sup>
                                          </m:sSup>
                                          <m:sSub>
                                            <m:sSubPr>
                                              <m:ctrlPr>
                                                <a:rPr lang="en-US" sz="2000" b="1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000" b="1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𝒙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000" b="1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𝒏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d>
                        </m:e>
                      </m:nary>
                      <m:r>
                        <a:rPr lang="en-US" sz="2000" b="0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2) 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Отбросив несущественную постоянные слагаемые, получим сумму квадратов невязок </a:t>
                </a: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RSS.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18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𝑹𝑺𝑺</m:t>
                    </m:r>
                    <m:r>
                      <a:rPr lang="en-US" sz="18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18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𝑾</m:t>
                    </m:r>
                    <m:r>
                      <a:rPr lang="en-US" sz="18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sz="1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sup>
                      <m:e>
                        <m:sSup>
                          <m:sSupPr>
                            <m:ctrlP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8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𝒚</m:t>
                                    </m:r>
                                  </m:e>
                                  <m:sub>
                                    <m:r>
                                      <a:rPr lang="en-US" sz="18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𝒏</m:t>
                                    </m:r>
                                  </m:sub>
                                </m:sSub>
                                <m:r>
                                  <a:rPr lang="en-US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sz="18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8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𝑾</m:t>
                                    </m:r>
                                  </m:e>
                                  <m:sup>
                                    <m:r>
                                      <a:rPr lang="en-US" sz="18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𝑻</m:t>
                                    </m:r>
                                  </m:sup>
                                </m:sSup>
                                <m:sSub>
                                  <m:sSubPr>
                                    <m:ctrlPr>
                                      <a:rPr lang="en-US" sz="18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8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𝒏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</m:e>
                    </m:nary>
                  </m:oMath>
                </a14:m>
                <a:r>
                  <a:rPr lang="en-US" sz="18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en-US" sz="1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sz="1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sz="1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1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sup>
                      <m:e>
                        <m:sSup>
                          <m:sSupPr>
                            <m:ctrlP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𝒓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𝒏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ru-RU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𝒓</m:t>
                        </m:r>
                      </m:e>
                      <m:sub>
                        <m:r>
                          <a:rPr lang="en-US" sz="1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ru-RU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</a:t>
                </a:r>
                <a:r>
                  <a:rPr lang="ru-RU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невязка.</a:t>
                </a:r>
              </a:p>
              <a:p>
                <a:pPr marL="0" indent="0">
                  <a:buNone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3)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Поделив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𝒓</m:t>
                                </m:r>
                              </m:e>
                              <m:sub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𝒏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на число примеров получим </a:t>
                </a:r>
                <a:r>
                  <a:rPr lang="ru-RU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среднеквадратическую ошибку </a:t>
                </a: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MSE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𝑴𝑺𝑬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𝑊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𝑁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𝑅𝑆𝑆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0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𝑁</m:t>
                          </m:r>
                        </m:sup>
                        <m:e>
                          <m:eqArr>
                            <m:eqArr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eqArrPr>
                            <m:e>
                              <m:sSup>
                                <m:sSup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0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𝒚</m:t>
                                          </m:r>
                                        </m:e>
                                        <m:sub>
                                          <m:r>
                                            <a:rPr lang="en-US" sz="20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𝒏</m:t>
                                          </m:r>
                                        </m:sub>
                                      </m:s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</m:t>
                                      </m:r>
                                      <m:sSup>
                                        <m:sSupPr>
                                          <m:ctrlPr>
                                            <a:rPr lang="en-US" sz="20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0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𝑾</m:t>
                                          </m:r>
                                        </m:e>
                                        <m:sup>
                                          <m:r>
                                            <a:rPr lang="en-US" sz="20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𝑻</m:t>
                                          </m:r>
                                        </m:sup>
                                      </m:sSup>
                                      <m:sSub>
                                        <m:sSubPr>
                                          <m:ctrlPr>
                                            <a:rPr lang="en-US" sz="20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b>
                                          <m:r>
                                            <a:rPr lang="en-US" sz="20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𝒏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.</m:t>
                              </m:r>
                            </m:e>
                            <m:e/>
                          </m:eqArr>
                        </m:e>
                      </m:nary>
                    </m:oMath>
                  </m:oMathPara>
                </a14:m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4) 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Извлекая квадратный корень получим  </a:t>
                </a:r>
                <a:r>
                  <a:rPr lang="ru-RU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корень из среднеквадратичной ошибки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𝑹𝑴𝑺𝑬</m:t>
                    </m:r>
                  </m:oMath>
                </a14:m>
                <a:endParaRPr lang="ru-RU" sz="1800" b="1" dirty="0"/>
              </a:p>
              <a:p>
                <a:pPr marL="0" indent="0">
                  <a:buNone/>
                </a:pPr>
                <a:r>
                  <a:rPr lang="ru-RU" sz="1800" dirty="0"/>
                  <a:t> 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𝑹𝑴𝑺𝑬</m:t>
                    </m:r>
                    <m:d>
                      <m:dPr>
                        <m:ctrlPr>
                          <a:rPr lang="en-US" sz="18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8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𝑾</m:t>
                        </m:r>
                      </m:e>
                    </m:d>
                    <m:r>
                      <a:rPr lang="en-US" sz="18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18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en-US" sz="1800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𝑴𝑺𝑬</m:t>
                        </m:r>
                        <m:d>
                          <m:dPr>
                            <m:ctrlPr>
                              <a:rPr lang="en-US" sz="18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18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</m:d>
                      </m:e>
                    </m:rad>
                    <m:r>
                      <a:rPr lang="en-US" sz="18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18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sz="18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sz="18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18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𝑁</m:t>
                            </m:r>
                          </m:den>
                        </m:f>
                        <m:nary>
                          <m:naryPr>
                            <m:chr m:val="∑"/>
                            <m:limLoc m:val="subSup"/>
                            <m:ctrlPr>
                              <a:rPr lang="en-US" sz="1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en-US" sz="1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1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𝑁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800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800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𝒚</m:t>
                                        </m:r>
                                      </m:e>
                                      <m:sub>
                                        <m:r>
                                          <a:rPr lang="en-US" sz="1800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𝒏</m:t>
                                        </m:r>
                                      </m:sub>
                                    </m:sSub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sSup>
                                      <m:sSupPr>
                                        <m:ctrlPr>
                                          <a:rPr lang="en-US" sz="1800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800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𝑾</m:t>
                                        </m:r>
                                      </m:e>
                                      <m:sup>
                                        <m:r>
                                          <a:rPr lang="en-US" sz="1800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𝑻</m:t>
                                        </m:r>
                                      </m:sup>
                                    </m:sSup>
                                    <m:sSub>
                                      <m:sSubPr>
                                        <m:ctrlPr>
                                          <a:rPr lang="en-US" sz="1800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800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𝒙</m:t>
                                        </m:r>
                                      </m:e>
                                      <m:sub>
                                        <m:r>
                                          <a:rPr lang="en-US" sz="1800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𝒏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e>
                    </m:rad>
                  </m:oMath>
                </a14:m>
                <a:endParaRPr lang="en-US" sz="1800" dirty="0"/>
              </a:p>
              <a:p>
                <a:pPr marL="0" indent="0">
                  <a:buNone/>
                </a:pPr>
                <a:endParaRPr lang="ru-RU" sz="18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6119A55B-327F-42B8-9615-A2D0B1E244B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49374"/>
                <a:ext cx="10515600" cy="5289551"/>
              </a:xfrm>
              <a:blipFill>
                <a:blip r:embed="rId2"/>
                <a:stretch>
                  <a:fillRect l="-638" t="-115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8786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18F7EF-7813-485D-9A32-65C71A41E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ЛИНЕЙНАЯ РЕГРЕССИЯ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6119A55B-327F-42B8-9615-A2D0B1E244B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49374"/>
                <a:ext cx="10515600" cy="5289551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ru-RU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Для вычисления </a:t>
                </a:r>
                <a:r>
                  <a:rPr lang="en-US" b="1" i="1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MLE – </a:t>
                </a:r>
                <a:r>
                  <a:rPr lang="ru-RU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оценки максимального правдоподобия можно минимизировать любую из предложенных оценок –</a:t>
                </a:r>
                <a:r>
                  <a:rPr lang="en-US" b="1" i="1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NLL,  RSS. MSE, RMSE. </a:t>
                </a:r>
                <a:r>
                  <a:rPr lang="ru-RU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Во всех случаях результат будет один и тот же, поскольку целевая функция будет одной и той же .</a:t>
                </a:r>
              </a:p>
              <a:p>
                <a:pPr marL="0" indent="0">
                  <a:buNone/>
                </a:pPr>
                <a:r>
                  <a:rPr lang="ru-RU" b="1" i="1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Рассмотрим </a:t>
                </a:r>
                <a:r>
                  <a:rPr lang="en-US" b="1" i="1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RSS(W)=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sup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𝒚</m:t>
                                    </m:r>
                                  </m:e>
                                  <m:sub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𝒏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𝑾</m:t>
                                    </m:r>
                                  </m:e>
                                  <m:sup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𝑻</m:t>
                                    </m:r>
                                  </m:sup>
                                </m:sSup>
                                <m:sSub>
                                  <m:sSubPr>
                                    <m:ctrlPr>
                                      <a:rPr lang="en-US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𝒏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𝒙𝑾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𝒚</m:t>
                            </m:r>
                          </m:e>
                        </m:d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𝒙𝑾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𝒚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𝒙𝑾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𝒚</m:t>
                        </m:r>
                      </m:e>
                    </m:d>
                  </m:oMath>
                </a14:m>
                <a:r>
                  <a:rPr lang="ru-RU" b="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buNone/>
                </a:pPr>
                <a:r>
                  <a:rPr lang="ru-RU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Для того, чтобы получить оптимальные значения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𝑾</m:t>
                        </m:r>
                      </m:e>
                      <m:sub>
                        <m:r>
                          <a:rPr lang="en-US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𝑴𝑳𝑬</m:t>
                        </m:r>
                      </m:sub>
                    </m:sSub>
                  </m:oMath>
                </a14:m>
                <a:r>
                  <a:rPr lang="en-US" b="1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𝑨𝒓𝒈𝒎𝒊𝒏𝑹𝑺𝑺</m:t>
                    </m:r>
                    <m:d>
                      <m:dPr>
                        <m:ctrlPr>
                          <a:rPr lang="en-US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𝑾</m:t>
                        </m:r>
                      </m:e>
                    </m:d>
                    <m:r>
                      <a:rPr lang="en-US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1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𝑿</m:t>
                                </m:r>
                              </m:e>
                              <m:sup>
                                <m:r>
                                  <a:rPr lang="en-US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𝑻</m:t>
                                </m:r>
                              </m:sup>
                            </m:sSup>
                            <m:r>
                              <a:rPr lang="en-US" b="1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𝑿</m:t>
                            </m:r>
                          </m:e>
                        </m:d>
                      </m:e>
                      <m:sup>
                        <m:r>
                          <a:rPr lang="en-US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𝟏</m:t>
                        </m:r>
                      </m:sup>
                    </m:sSup>
                    <m:sSup>
                      <m:sSupPr>
                        <m:ctrlPr>
                          <a:rPr lang="en-US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𝑿</m:t>
                        </m:r>
                      </m:e>
                      <m:sup>
                        <m:r>
                          <a:rPr lang="en-US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𝑻</m:t>
                        </m:r>
                      </m:sup>
                    </m:sSup>
                    <m:r>
                      <a:rPr lang="en-US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𝒚</m:t>
                    </m:r>
                  </m:oMath>
                </a14:m>
                <a:endParaRPr lang="en-US" b="1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Эта оценка обыкновенных наименьших квадратов (</a:t>
                </a:r>
                <a:r>
                  <a:rPr lang="en-US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OLS)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эквивалентна </a:t>
                </a:r>
                <a:r>
                  <a:rPr lang="en-US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MLE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ru-RU" sz="1800" dirty="0"/>
              </a:p>
            </p:txBody>
          </p:sp>
        </mc:Choice>
        <mc:Fallback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6119A55B-327F-42B8-9615-A2D0B1E244B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49374"/>
                <a:ext cx="10515600" cy="5289551"/>
              </a:xfrm>
              <a:blipFill>
                <a:blip r:embed="rId2"/>
                <a:stretch>
                  <a:fillRect l="-1217" t="-1959" r="-185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31360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7AB21A6-2507-4951-8F98-98429DF5F4FC}"/>
              </a:ext>
            </a:extLst>
          </p:cNvPr>
          <p:cNvSpPr txBox="1"/>
          <p:nvPr/>
        </p:nvSpPr>
        <p:spPr>
          <a:xfrm>
            <a:off x="1867878" y="346917"/>
            <a:ext cx="819889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ДИВЕРГЕНЦИЯ КУЛЬБАКА-ЛЕЙБЛЕРА И ПЕРЕКРЕСТНАЯ ЭНТРОПИЯ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Объект 2">
                <a:extLst>
                  <a:ext uri="{FF2B5EF4-FFF2-40B4-BE49-F238E27FC236}">
                    <a16:creationId xmlns:a16="http://schemas.microsoft.com/office/drawing/2014/main" id="{D3FCA053-9D37-47EE-A5FE-59027C3C801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62858" y="1381115"/>
                <a:ext cx="11829142" cy="5476885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ru-R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Понятие </a:t>
                </a:r>
                <a:r>
                  <a:rPr lang="ru-RU" sz="21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расстояние (дивергенция) </a:t>
                </a:r>
                <a:r>
                  <a:rPr lang="ru-RU" sz="2100" b="1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Кульбака-Лейблера</a:t>
                </a:r>
                <a:r>
                  <a:rPr lang="ru-RU" sz="21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пришло из теории информации. Оно является мерой разницы между двумя вероятностями распределения </a:t>
                </a:r>
                <a14:m>
                  <m:oMath xmlns:m="http://schemas.openxmlformats.org/officeDocument/2006/math">
                    <m:r>
                      <a:rPr lang="en-US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𝑄</m:t>
                    </m:r>
                    <m:r>
                      <a:rPr lang="en-US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и </m:t>
                    </m:r>
                    <m:r>
                      <a:rPr lang="en-US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US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 </m:t>
                    </m:r>
                  </m:oMath>
                </a14:m>
                <a:r>
                  <a:rPr lang="ru-R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Будем считать распределение </a:t>
                </a:r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</m:oMath>
                </a14:m>
                <a:r>
                  <a:rPr lang="ru-R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истинное распределение, </a:t>
                </a:r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𝑄</m:t>
                    </m:r>
                  </m:oMath>
                </a14:m>
                <a:r>
                  <a:rPr lang="ru-R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его приближение. Дивергенция </a:t>
                </a:r>
                <a:r>
                  <a:rPr lang="ru-RU" sz="21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Кульбака</a:t>
                </a:r>
                <a:r>
                  <a:rPr lang="ru-R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</a:t>
                </a:r>
                <a:r>
                  <a:rPr lang="ru-RU" sz="21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Лейблера</a:t>
                </a:r>
                <a:r>
                  <a:rPr lang="ru-R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от распределения </a:t>
                </a:r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</m:oMath>
                </a14:m>
                <a:r>
                  <a:rPr lang="ru-R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до распределения </a:t>
                </a:r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𝑄</m:t>
                    </m:r>
                  </m:oMath>
                </a14:m>
                <a:r>
                  <a:rPr lang="ru-R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обозначается </a:t>
                </a:r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KL(</a:t>
                </a:r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US" sz="21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||</m:t>
                    </m:r>
                  </m:oMath>
                </a14:m>
                <a:r>
                  <a:rPr lang="en-US" sz="21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𝑄</m:t>
                    </m:r>
                  </m:oMath>
                </a14:m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ru-R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и определяется следующим образом</a:t>
                </a:r>
              </a:p>
              <a:p>
                <a:pPr marL="0" indent="0" algn="ctr">
                  <a:buNone/>
                </a:pPr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KL(</a:t>
                </a:r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US" sz="21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||</m:t>
                    </m:r>
                  </m:oMath>
                </a14:m>
                <a:r>
                  <a:rPr lang="en-US" sz="21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𝑄</m:t>
                    </m:r>
                  </m:oMath>
                </a14:m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ru-R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ru-RU" sz="21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𝑙𝑜𝑔</m:t>
                        </m:r>
                        <m:f>
                          <m:fPr>
                            <m:ctrlPr>
                              <a:rPr lang="en-US" sz="21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sz="21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𝑑𝑃</m:t>
                            </m:r>
                          </m:num>
                          <m:den>
                            <m:r>
                              <a:rPr lang="en-US" sz="21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𝑑𝑄</m:t>
                            </m:r>
                          </m:den>
                        </m:f>
                        <m:r>
                          <a:rPr lang="en-US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𝑑𝑃</m:t>
                        </m:r>
                        <m:r>
                          <a:rPr lang="ru-RU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</m:e>
                    </m:nary>
                    <m:r>
                      <a:rPr lang="ru-R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где интеграл берется по все</m:t>
                    </m:r>
                  </m:oMath>
                </a14:m>
                <a:r>
                  <a:rPr lang="ru-R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му пространству исходов, общих для </a:t>
                </a:r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</m:oMath>
                </a14:m>
                <a:r>
                  <a:rPr lang="ru-R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и </a:t>
                </a:r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𝑄</m:t>
                    </m:r>
                  </m:oMath>
                </a14:m>
                <a:r>
                  <a:rPr lang="ru-R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buNone/>
                </a:pPr>
                <a:r>
                  <a:rPr lang="ru-R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Рассмотрим следующие случаи:</a:t>
                </a:r>
              </a:p>
              <a:p>
                <a14:m>
                  <m:oMath xmlns:m="http://schemas.openxmlformats.org/officeDocument/2006/math">
                    <m:r>
                      <a:rPr lang="en-US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𝑄</m:t>
                    </m:r>
                    <m:r>
                      <a:rPr lang="en-US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и </m:t>
                    </m:r>
                    <m:r>
                      <a:rPr lang="en-US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</m:oMath>
                </a14:m>
                <a:r>
                  <a:rPr lang="ru-R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дискретные случайные величины, заданные на дискретном множестве </a:t>
                </a:r>
                <a:endParaRPr lang="en-US" sz="2100" b="0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1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1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1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,…</m:t>
                        </m:r>
                        <m:sSub>
                          <m:sSubPr>
                            <m:ctrlPr>
                              <a:rPr lang="en-US" sz="21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1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ru-RU" sz="21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 Расстояние Кульбака−Лейблера </m:t>
                    </m:r>
                    <m:r>
                      <m:rPr>
                        <m:nor/>
                      </m:rPr>
                      <a:rPr lang="en-US" sz="2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KL</m:t>
                    </m:r>
                    <m:r>
                      <m:rPr>
                        <m:nor/>
                      </m:rPr>
                      <a:rPr lang="en-US" sz="2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US" sz="2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||</m:t>
                    </m:r>
                    <m:r>
                      <m:rPr>
                        <m:nor/>
                      </m:rPr>
                      <a:rPr lang="en-US" sz="2100" dirty="0"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𝑄</m:t>
                    </m:r>
                    <m:r>
                      <m:rPr>
                        <m:nor/>
                      </m:rPr>
                      <a:rPr lang="en-US" sz="2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  <m:r>
                      <a:rPr lang="en-US" sz="21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sz="21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1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𝒊</m:t>
                        </m:r>
                      </m:sub>
                      <m:sup/>
                      <m:e>
                        <m:r>
                          <a:rPr lang="en-US" sz="2100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𝒑</m:t>
                        </m:r>
                        <m:d>
                          <m:dPr>
                            <m:ctrlPr>
                              <a:rPr lang="en-US" sz="21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100" b="1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100" b="1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sz="2100" b="1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𝒊</m:t>
                                </m:r>
                              </m:sub>
                            </m:sSub>
                          </m:e>
                        </m:d>
                        <m:r>
                          <a:rPr lang="en-US" sz="21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𝒍𝒐𝒈</m:t>
                        </m:r>
                        <m:f>
                          <m:fPr>
                            <m:ctrlPr>
                              <a:rPr lang="en-US" sz="21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sz="21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𝒑</m:t>
                            </m:r>
                            <m:r>
                              <a:rPr lang="en-US" sz="21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sz="2100" b="1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100" b="1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sz="2100" b="1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𝒊</m:t>
                                </m:r>
                              </m:sub>
                            </m:sSub>
                            <m:r>
                              <a:rPr lang="en-US" sz="21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US" sz="21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𝒒</m:t>
                            </m:r>
                            <m:r>
                              <a:rPr lang="en-US" sz="21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sz="2100" b="1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100" b="1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sz="2100" b="1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𝒊</m:t>
                                </m:r>
                              </m:sub>
                            </m:sSub>
                            <m:r>
                              <a:rPr lang="en-US" sz="21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</m:den>
                        </m:f>
                      </m:e>
                    </m:nary>
                  </m:oMath>
                </a14:m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14:m>
                  <m:oMath xmlns:m="http://schemas.openxmlformats.org/officeDocument/2006/math">
                    <m:r>
                      <a:rPr lang="en-US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𝑄</m:t>
                    </m:r>
                    <m:r>
                      <a:rPr lang="en-US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и </m:t>
                    </m:r>
                    <m:r>
                      <a:rPr lang="en-US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</m:oMath>
                </a14:m>
                <a:r>
                  <a:rPr lang="ru-R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</a:t>
                </a:r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непрерывные случайные величины в пространстве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21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sup>
                    </m:sSup>
                    <m:r>
                      <a:rPr lang="ru-RU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r>
                  <a:rPr lang="ru-R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Расстояние </a:t>
                </a:r>
                <a:endParaRPr lang="en-US" sz="2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KL</m:t>
                      </m:r>
                      <m:r>
                        <m:rPr>
                          <m:nor/>
                        </m:rPr>
                        <a:rPr lang="en-US" sz="2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sz="21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𝑃</m:t>
                      </m:r>
                      <m:r>
                        <a:rPr lang="en-US" sz="21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||</m:t>
                      </m:r>
                      <m:r>
                        <m:rPr>
                          <m:nor/>
                        </m:rPr>
                        <a:rPr lang="en-US" sz="2100" dirty="0"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sz="21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𝑄</m:t>
                      </m:r>
                      <m:r>
                        <m:rPr>
                          <m:nor/>
                        </m:rPr>
                        <a:rPr lang="en-US" sz="2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lang="en-US" sz="21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sz="210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ru-RU" sz="21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1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sz="21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</m:sup>
                          </m:sSup>
                        </m:sub>
                        <m:sup/>
                        <m:e>
                          <m:r>
                            <a:rPr lang="en-US" sz="2100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𝒑</m:t>
                          </m:r>
                          <m:d>
                            <m:dPr>
                              <m:ctrlPr>
                                <a:rPr lang="en-US" sz="2100" b="1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100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100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𝒙</m:t>
                                  </m:r>
                                </m:e>
                                <m:sub/>
                              </m:sSub>
                            </m:e>
                          </m:d>
                          <m:r>
                            <a:rPr lang="en-US" sz="21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𝒍𝒐𝒈</m:t>
                          </m:r>
                          <m:f>
                            <m:fPr>
                              <m:ctrlPr>
                                <a:rPr lang="en-US" sz="2100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100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𝒑</m:t>
                              </m:r>
                              <m:d>
                                <m:dPr>
                                  <m:ctrlPr>
                                    <a:rPr lang="en-US" sz="2100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100" b="1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100" b="1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𝒙</m:t>
                                      </m:r>
                                    </m:e>
                                    <m:sub/>
                                  </m:sSub>
                                </m:e>
                              </m:d>
                            </m:num>
                            <m:den>
                              <m:r>
                                <a:rPr lang="en-US" sz="2100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𝒒</m:t>
                              </m:r>
                              <m:d>
                                <m:dPr>
                                  <m:ctrlPr>
                                    <a:rPr lang="en-US" sz="2100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100" b="1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100" b="1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𝒙</m:t>
                                      </m:r>
                                    </m:e>
                                    <m:sub/>
                                  </m:sSub>
                                </m:e>
                              </m:d>
                            </m:den>
                          </m:f>
                        </m:e>
                      </m:nary>
                      <m:r>
                        <a:rPr lang="en-US" sz="21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ru-RU" sz="2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Дивергенция </a:t>
                </a:r>
                <a:r>
                  <a:rPr lang="ru-RU" sz="21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Кульбака-Лейблера</a:t>
                </a:r>
                <a:r>
                  <a:rPr lang="ru-R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дает возможность перейти к перекрестной энтропии (</a:t>
                </a:r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cross-entropy)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  <m:r>
                            <a:rPr lang="en-US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sz="2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sz="2100" b="0" i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log</m:t>
                          </m:r>
                          <m:r>
                            <a:rPr lang="en-US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⁡(</m:t>
                          </m:r>
                          <m:r>
                            <a:rPr lang="en-US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𝑞</m:t>
                          </m:r>
                          <m:r>
                            <a:rPr lang="en-US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</m:d>
                      <m:r>
                        <a:rPr lang="en-US" sz="2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=−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b>
                        <m:sup/>
                        <m:e>
                          <m:r>
                            <a:rPr lang="en-US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  <m:func>
                            <m:funcPr>
                              <m:ctrlPr>
                                <a:rPr lang="en-US" sz="21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100" b="0" i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1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1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𝑞</m:t>
                                  </m:r>
                                  <m:d>
                                    <m:dPr>
                                      <m:ctrlPr>
                                        <a:rPr lang="en-US" sz="21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1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</m:d>
                            </m:e>
                          </m:func>
                        </m:e>
                      </m:nary>
                      <m:r>
                        <a:rPr lang="ru-RU" sz="2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en-US" sz="21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endParaRPr lang="ru-RU" sz="2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ru-RU" sz="2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ru-RU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Объект 2">
                <a:extLst>
                  <a:ext uri="{FF2B5EF4-FFF2-40B4-BE49-F238E27FC236}">
                    <a16:creationId xmlns:a16="http://schemas.microsoft.com/office/drawing/2014/main" id="{D3FCA053-9D37-47EE-A5FE-59027C3C80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858" y="1381115"/>
                <a:ext cx="11829142" cy="5476885"/>
              </a:xfrm>
              <a:prstGeom prst="rect">
                <a:avLst/>
              </a:prstGeom>
              <a:blipFill>
                <a:blip r:embed="rId2"/>
                <a:stretch>
                  <a:fillRect l="-619" t="-1336" r="-61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966503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795</TotalTime>
  <Words>2509</Words>
  <Application>Microsoft Office PowerPoint</Application>
  <PresentationFormat>Широкоэкранный</PresentationFormat>
  <Paragraphs>183</Paragraphs>
  <Slides>25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25</vt:i4>
      </vt:variant>
    </vt:vector>
  </HeadingPairs>
  <TitlesOfParts>
    <vt:vector size="31" baseType="lpstr">
      <vt:lpstr>Arial</vt:lpstr>
      <vt:lpstr>Calibri</vt:lpstr>
      <vt:lpstr>Calibri Light</vt:lpstr>
      <vt:lpstr>Cambria Math</vt:lpstr>
      <vt:lpstr>Times New Roman</vt:lpstr>
      <vt:lpstr>Тема Office</vt:lpstr>
      <vt:lpstr>ТЕОРИЯ ИСКУССТВЕННЫХ НЕЙРОННЫХ СЕТЕЙ Каганов Ю.Т. к.т.н., доцент каф. ИУ-9 «Теоретическая информатика и компьютерные технологии» </vt:lpstr>
      <vt:lpstr>Эффективность численных методов оптимизации</vt:lpstr>
      <vt:lpstr>Теорема о «бесплатных завтраках»</vt:lpstr>
      <vt:lpstr>Эффективность численных методов оптимизации</vt:lpstr>
      <vt:lpstr>Эффективность численных методов оптимизации</vt:lpstr>
      <vt:lpstr>Эффективность численных методов оптимизации</vt:lpstr>
      <vt:lpstr>Эффективность численных методов оптимизации</vt:lpstr>
      <vt:lpstr>Эффективность численных методов оптимизации</vt:lpstr>
      <vt:lpstr>Эффективность численных методов оптимизации</vt:lpstr>
      <vt:lpstr>Презентация PowerPoint</vt:lpstr>
      <vt:lpstr>Презентация PowerPoint</vt:lpstr>
      <vt:lpstr>Обучение модели и теорема Байенса</vt:lpstr>
      <vt:lpstr>Формула Байеса</vt:lpstr>
      <vt:lpstr>Трансдукция</vt:lpstr>
      <vt:lpstr>Трансдукция (“Сначала восходят к аксиомам, а затем спускаются к практике” Ф. Бэкон)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ЛИНЕЙНАЯ РЕГРЕССИЯ</vt:lpstr>
      <vt:lpstr>ЛИНЕЙНАЯ РЕГРЕССИЯ</vt:lpstr>
      <vt:lpstr>ЛИНЕЙНАЯ РЕГРЕССИЯ</vt:lpstr>
      <vt:lpstr>ЛИНЕЙНАЯ РЕГРЕССИЯ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Yuriy Kaganov</dc:creator>
  <cp:lastModifiedBy>Yuriy Kaganov</cp:lastModifiedBy>
  <cp:revision>55</cp:revision>
  <dcterms:created xsi:type="dcterms:W3CDTF">2022-09-17T09:37:33Z</dcterms:created>
  <dcterms:modified xsi:type="dcterms:W3CDTF">2023-10-22T19:43:57Z</dcterms:modified>
</cp:coreProperties>
</file>