
<file path=[Content_Types].xml><?xml version="1.0" encoding="utf-8"?>
<Types xmlns="http://schemas.openxmlformats.org/package/2006/content-types">
  <Default Extension="bin" ContentType="application/vnd.openxmlformats-officedocument.oleObject"/>
  <Default Extension="jpeg" ContentType="image/jpeg"/>
  <Default Extension="png" ContentType="image/png"/>
  <Default Extension="rels" ContentType="application/vnd.openxmlformats-package.relationships+xml"/>
  <Default Extension="vml" ContentType="application/vnd.openxmlformats-officedocument.vmlDrawing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0"/>
  </p:notesMasterIdLst>
  <p:sldIdLst>
    <p:sldId id="256" r:id="rId2"/>
    <p:sldId id="320" r:id="rId3"/>
    <p:sldId id="321" r:id="rId4"/>
    <p:sldId id="389" r:id="rId5"/>
    <p:sldId id="376" r:id="rId6"/>
    <p:sldId id="377" r:id="rId7"/>
    <p:sldId id="378" r:id="rId8"/>
    <p:sldId id="374" r:id="rId9"/>
    <p:sldId id="385" r:id="rId10"/>
    <p:sldId id="386" r:id="rId11"/>
    <p:sldId id="393" r:id="rId12"/>
    <p:sldId id="375" r:id="rId13"/>
    <p:sldId id="379" r:id="rId14"/>
    <p:sldId id="380" r:id="rId15"/>
    <p:sldId id="381" r:id="rId16"/>
    <p:sldId id="382" r:id="rId17"/>
    <p:sldId id="383" r:id="rId18"/>
    <p:sldId id="384" r:id="rId19"/>
    <p:sldId id="387" r:id="rId20"/>
    <p:sldId id="388" r:id="rId21"/>
    <p:sldId id="390" r:id="rId22"/>
    <p:sldId id="391" r:id="rId23"/>
    <p:sldId id="392" r:id="rId24"/>
    <p:sldId id="297" r:id="rId25"/>
    <p:sldId id="298" r:id="rId26"/>
    <p:sldId id="299" r:id="rId27"/>
    <p:sldId id="304" r:id="rId28"/>
    <p:sldId id="301" r:id="rId29"/>
  </p:sldIdLst>
  <p:sldSz cx="9144000" cy="6858000" type="screen4x3"/>
  <p:notesSz cx="6858000" cy="9144000"/>
  <p:defaultTextStyle>
    <a:defPPr>
      <a:defRPr lang="ru-RU"/>
    </a:defPPr>
    <a:lvl1pPr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1pPr>
    <a:lvl2pPr marL="4572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2pPr>
    <a:lvl3pPr marL="9144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3pPr>
    <a:lvl4pPr marL="13716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4pPr>
    <a:lvl5pPr marL="18288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73" d="100"/>
          <a:sy n="73" d="100"/>
        </p:scale>
        <p:origin x="72" y="125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notesMaster" Target="notesMasters/notesMaster1.xml"/></Relationships>
</file>

<file path=ppt/drawings/_rels/vmlDrawing1.vml.rels><?xml version="1.0" encoding="UTF-8" standalone="yes"?>
<Relationships xmlns="http://schemas.openxmlformats.org/package/2006/relationships"><Relationship Id="rId8" Type="http://schemas.openxmlformats.org/officeDocument/2006/relationships/image" Target="../media/image12.wmf"/><Relationship Id="rId3" Type="http://schemas.openxmlformats.org/officeDocument/2006/relationships/image" Target="../media/image7.wmf"/><Relationship Id="rId7" Type="http://schemas.openxmlformats.org/officeDocument/2006/relationships/image" Target="../media/image11.wmf"/><Relationship Id="rId2" Type="http://schemas.openxmlformats.org/officeDocument/2006/relationships/image" Target="../media/image6.wmf"/><Relationship Id="rId1" Type="http://schemas.openxmlformats.org/officeDocument/2006/relationships/image" Target="../media/image5.wmf"/><Relationship Id="rId6" Type="http://schemas.openxmlformats.org/officeDocument/2006/relationships/image" Target="../media/image10.wmf"/><Relationship Id="rId11" Type="http://schemas.openxmlformats.org/officeDocument/2006/relationships/image" Target="../media/image15.wmf"/><Relationship Id="rId5" Type="http://schemas.openxmlformats.org/officeDocument/2006/relationships/image" Target="../media/image9.wmf"/><Relationship Id="rId10" Type="http://schemas.openxmlformats.org/officeDocument/2006/relationships/image" Target="../media/image14.wmf"/><Relationship Id="rId4" Type="http://schemas.openxmlformats.org/officeDocument/2006/relationships/image" Target="../media/image8.wmf"/><Relationship Id="rId9" Type="http://schemas.openxmlformats.org/officeDocument/2006/relationships/image" Target="../media/image13.wmf"/></Relationships>
</file>

<file path=ppt/drawings/_rels/vmlDrawing2.vml.rels><?xml version="1.0" encoding="UTF-8" standalone="yes"?>
<Relationships xmlns="http://schemas.openxmlformats.org/package/2006/relationships"><Relationship Id="rId1" Type="http://schemas.openxmlformats.org/officeDocument/2006/relationships/image" Target="../media/image18.wmf"/></Relationships>
</file>

<file path=ppt/drawings/_rels/vmlDrawing3.vml.rels><?xml version="1.0" encoding="UTF-8" standalone="yes"?>
<Relationships xmlns="http://schemas.openxmlformats.org/package/2006/relationships"><Relationship Id="rId3" Type="http://schemas.openxmlformats.org/officeDocument/2006/relationships/image" Target="../media/image24.wmf"/><Relationship Id="rId2" Type="http://schemas.openxmlformats.org/officeDocument/2006/relationships/image" Target="../media/image23.wmf"/><Relationship Id="rId1" Type="http://schemas.openxmlformats.org/officeDocument/2006/relationships/image" Target="../media/image22.wmf"/></Relationships>
</file>

<file path=ppt/drawings/_rels/vmlDrawing4.vml.rels><?xml version="1.0" encoding="UTF-8" standalone="yes"?>
<Relationships xmlns="http://schemas.openxmlformats.org/package/2006/relationships"><Relationship Id="rId1" Type="http://schemas.openxmlformats.org/officeDocument/2006/relationships/image" Target="../media/image26.wmf"/></Relationships>
</file>

<file path=ppt/drawings/_rels/vmlDrawing5.vml.rels><?xml version="1.0" encoding="UTF-8" standalone="yes"?>
<Relationships xmlns="http://schemas.openxmlformats.org/package/2006/relationships"><Relationship Id="rId2" Type="http://schemas.openxmlformats.org/officeDocument/2006/relationships/image" Target="../media/image29.wmf"/><Relationship Id="rId1" Type="http://schemas.openxmlformats.org/officeDocument/2006/relationships/image" Target="../media/image28.wmf"/></Relationships>
</file>

<file path=ppt/drawings/_rels/vmlDrawing6.vml.rels><?xml version="1.0" encoding="UTF-8" standalone="yes"?>
<Relationships xmlns="http://schemas.openxmlformats.org/package/2006/relationships"><Relationship Id="rId3" Type="http://schemas.openxmlformats.org/officeDocument/2006/relationships/image" Target="../media/image35.wmf"/><Relationship Id="rId2" Type="http://schemas.openxmlformats.org/officeDocument/2006/relationships/image" Target="../media/image34.wmf"/><Relationship Id="rId1" Type="http://schemas.openxmlformats.org/officeDocument/2006/relationships/image" Target="../media/image33.wmf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defRPr sz="1200"/>
            </a:lvl1pPr>
          </a:lstStyle>
          <a:p>
            <a:pPr>
              <a:defRPr/>
            </a:pPr>
            <a:endParaRPr lang="ru-RU" altLang="ru-RU"/>
          </a:p>
        </p:txBody>
      </p:sp>
      <p:sp>
        <p:nvSpPr>
          <p:cNvPr id="4099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84613" y="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1200"/>
            </a:lvl1pPr>
          </a:lstStyle>
          <a:p>
            <a:pPr>
              <a:defRPr/>
            </a:pPr>
            <a:endParaRPr lang="ru-RU" altLang="ru-RU"/>
          </a:p>
        </p:txBody>
      </p:sp>
      <p:sp>
        <p:nvSpPr>
          <p:cNvPr id="2052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val="1"/>
            </a:ext>
          </a:extLst>
        </p:spPr>
      </p:sp>
      <p:sp>
        <p:nvSpPr>
          <p:cNvPr id="4101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ru-RU" altLang="ru-RU" noProof="0"/>
              <a:t>Образец текста</a:t>
            </a:r>
          </a:p>
          <a:p>
            <a:pPr lvl="1"/>
            <a:r>
              <a:rPr lang="ru-RU" altLang="ru-RU" noProof="0"/>
              <a:t>Второй уровень</a:t>
            </a:r>
          </a:p>
          <a:p>
            <a:pPr lvl="2"/>
            <a:r>
              <a:rPr lang="ru-RU" altLang="ru-RU" noProof="0"/>
              <a:t>Третий уровень</a:t>
            </a:r>
          </a:p>
          <a:p>
            <a:pPr lvl="3"/>
            <a:r>
              <a:rPr lang="ru-RU" altLang="ru-RU" noProof="0"/>
              <a:t>Четвертый уровень</a:t>
            </a:r>
          </a:p>
          <a:p>
            <a:pPr lvl="4"/>
            <a:r>
              <a:rPr lang="ru-RU" altLang="ru-RU" noProof="0"/>
              <a:t>Пятый уровень</a:t>
            </a:r>
          </a:p>
        </p:txBody>
      </p:sp>
      <p:sp>
        <p:nvSpPr>
          <p:cNvPr id="4102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5213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eaLnBrk="1" hangingPunct="1">
              <a:defRPr sz="1200"/>
            </a:lvl1pPr>
          </a:lstStyle>
          <a:p>
            <a:pPr>
              <a:defRPr/>
            </a:pPr>
            <a:endParaRPr lang="ru-RU" altLang="ru-RU"/>
          </a:p>
        </p:txBody>
      </p:sp>
      <p:sp>
        <p:nvSpPr>
          <p:cNvPr id="4103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sz="1200"/>
            </a:lvl1pPr>
          </a:lstStyle>
          <a:p>
            <a:pPr>
              <a:defRPr/>
            </a:pPr>
            <a:fld id="{4D42E7E2-38B4-42A2-AF53-F512D7378AC7}" type="slidenum">
              <a:rPr lang="ru-RU" altLang="ru-RU"/>
              <a:pPr>
                <a:defRPr/>
              </a:pPr>
              <a:t>‹#›</a:t>
            </a:fld>
            <a:endParaRPr lang="ru-RU" altLang="ru-RU"/>
          </a:p>
        </p:txBody>
      </p:sp>
    </p:spTree>
    <p:extLst>
      <p:ext uri="{BB962C8B-B14F-4D97-AF65-F5344CB8AC3E}">
        <p14:creationId xmlns:p14="http://schemas.microsoft.com/office/powerpoint/2010/main" val="3484825817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0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fld id="{6F8A4ECF-E9BE-490F-9F87-BFC63A03AC70}" type="slidenum">
              <a:rPr lang="ru-RU" altLang="ru-RU" smtClean="0"/>
              <a:pPr/>
              <a:t>24</a:t>
            </a:fld>
            <a:endParaRPr lang="ru-RU" altLang="ru-RU"/>
          </a:p>
        </p:txBody>
      </p:sp>
      <p:sp>
        <p:nvSpPr>
          <p:cNvPr id="10240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02404" name="Text Box 3"/>
          <p:cNvSpPr txBox="1">
            <a:spLocks noChangeArrowheads="1"/>
          </p:cNvSpPr>
          <p:nvPr/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>
            <a:lvl1pPr defTabSz="449263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defTabSz="449263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defTabSz="449263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defTabSz="449263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defTabSz="449263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defTabSz="449263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defTabSz="449263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defTabSz="449263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defTabSz="449263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buSzPct val="100000"/>
            </a:pPr>
            <a:r>
              <a:rPr lang="ru-RU" altLang="ru-RU" sz="1200">
                <a:solidFill>
                  <a:srgbClr val="000000"/>
                </a:solidFill>
                <a:latin typeface="Calibri" panose="020F0502020204030204" pitchFamily="34" charset="0"/>
              </a:rPr>
              <a:t>Здравствуйте, уважаемые члены государственной аттестационной комиссии. Тема моей магистерской диссертации ()</a:t>
            </a:r>
          </a:p>
        </p:txBody>
      </p:sp>
      <p:sp>
        <p:nvSpPr>
          <p:cNvPr id="102405" name="Text Box 4"/>
          <p:cNvSpPr txBox="1">
            <a:spLocks noChangeArrowheads="1"/>
          </p:cNvSpPr>
          <p:nvPr/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0" tIns="46800" rIns="90000" bIns="46800" anchor="b"/>
          <a:lstStyle>
            <a:lvl1pPr defTabSz="449263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defTabSz="449263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defTabSz="449263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defTabSz="449263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defTabSz="449263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defTabSz="449263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defTabSz="449263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defTabSz="449263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defTabSz="449263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r" eaLnBrk="1" hangingPunct="1">
              <a:buSzPct val="100000"/>
            </a:pPr>
            <a:fld id="{C8545881-05A8-44F9-8A0E-0C9B85D5369E}" type="slidenum">
              <a:rPr lang="ru-RU" altLang="ru-RU" sz="1200">
                <a:solidFill>
                  <a:srgbClr val="000000"/>
                </a:solidFill>
                <a:latin typeface="Calibri" panose="020F0502020204030204" pitchFamily="34" charset="0"/>
              </a:rPr>
              <a:pPr algn="r" eaLnBrk="1" hangingPunct="1">
                <a:buSzPct val="100000"/>
              </a:pPr>
              <a:t>24</a:t>
            </a:fld>
            <a:endParaRPr lang="ru-RU" altLang="ru-RU" sz="1200">
              <a:solidFill>
                <a:srgbClr val="000000"/>
              </a:solidFill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7188531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45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fld id="{07C8BD30-50E9-4C80-B81F-FDF480DBCAB9}" type="slidenum">
              <a:rPr lang="ru-RU" altLang="ru-RU" smtClean="0"/>
              <a:pPr/>
              <a:t>25</a:t>
            </a:fld>
            <a:endParaRPr lang="ru-RU" altLang="ru-RU"/>
          </a:p>
        </p:txBody>
      </p:sp>
      <p:sp>
        <p:nvSpPr>
          <p:cNvPr id="10445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04452" name="Text Box 3"/>
          <p:cNvSpPr txBox="1">
            <a:spLocks noChangeArrowheads="1"/>
          </p:cNvSpPr>
          <p:nvPr/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>
            <a:lvl1pPr defTabSz="449263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defTabSz="449263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defTabSz="449263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defTabSz="449263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defTabSz="449263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defTabSz="449263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defTabSz="449263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defTabSz="449263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defTabSz="449263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buSzPct val="100000"/>
            </a:pPr>
            <a:r>
              <a:rPr lang="ru-RU" altLang="ru-RU" sz="1200">
                <a:solidFill>
                  <a:srgbClr val="000000"/>
                </a:solidFill>
                <a:latin typeface="Calibri" panose="020F0502020204030204" pitchFamily="34" charset="0"/>
              </a:rPr>
              <a:t>Здравствуйте, уважаемые члены государственной аттестационной комиссии. Тема моей магистерской диссертации ()</a:t>
            </a:r>
          </a:p>
        </p:txBody>
      </p:sp>
      <p:sp>
        <p:nvSpPr>
          <p:cNvPr id="104453" name="Text Box 4"/>
          <p:cNvSpPr txBox="1">
            <a:spLocks noChangeArrowheads="1"/>
          </p:cNvSpPr>
          <p:nvPr/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0" tIns="46800" rIns="90000" bIns="46800" anchor="b"/>
          <a:lstStyle>
            <a:lvl1pPr defTabSz="449263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defTabSz="449263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defTabSz="449263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defTabSz="449263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defTabSz="449263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defTabSz="449263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defTabSz="449263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defTabSz="449263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defTabSz="449263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r" eaLnBrk="1" hangingPunct="1">
              <a:buSzPct val="100000"/>
            </a:pPr>
            <a:fld id="{1CE2F4D5-AE01-4FA1-A776-0D03288A002C}" type="slidenum">
              <a:rPr lang="ru-RU" altLang="ru-RU" sz="1200">
                <a:solidFill>
                  <a:srgbClr val="000000"/>
                </a:solidFill>
                <a:latin typeface="Calibri" panose="020F0502020204030204" pitchFamily="34" charset="0"/>
              </a:rPr>
              <a:pPr algn="r" eaLnBrk="1" hangingPunct="1">
                <a:buSzPct val="100000"/>
              </a:pPr>
              <a:t>25</a:t>
            </a:fld>
            <a:endParaRPr lang="ru-RU" altLang="ru-RU" sz="1200">
              <a:solidFill>
                <a:srgbClr val="000000"/>
              </a:solidFill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2224830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49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fld id="{D44730DC-811B-447B-A806-823DB67F9616}" type="slidenum">
              <a:rPr lang="ru-RU" altLang="ru-RU" smtClean="0"/>
              <a:pPr/>
              <a:t>26</a:t>
            </a:fld>
            <a:endParaRPr lang="ru-RU" altLang="ru-RU"/>
          </a:p>
        </p:txBody>
      </p:sp>
      <p:sp>
        <p:nvSpPr>
          <p:cNvPr id="10649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06500" name="Text Box 3"/>
          <p:cNvSpPr txBox="1">
            <a:spLocks noChangeArrowheads="1"/>
          </p:cNvSpPr>
          <p:nvPr/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>
            <a:lvl1pPr defTabSz="449263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defTabSz="449263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defTabSz="449263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defTabSz="449263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defTabSz="449263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defTabSz="449263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defTabSz="449263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defTabSz="449263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defTabSz="449263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buSzPct val="100000"/>
            </a:pPr>
            <a:r>
              <a:rPr lang="ru-RU" altLang="ru-RU" sz="1200">
                <a:solidFill>
                  <a:srgbClr val="000000"/>
                </a:solidFill>
                <a:latin typeface="Calibri" panose="020F0502020204030204" pitchFamily="34" charset="0"/>
              </a:rPr>
              <a:t>Здравствуйте, уважаемые члены государственной аттестационной комиссии. Тема моей магистерской диссертации ()</a:t>
            </a:r>
          </a:p>
        </p:txBody>
      </p:sp>
      <p:sp>
        <p:nvSpPr>
          <p:cNvPr id="106501" name="Text Box 4"/>
          <p:cNvSpPr txBox="1">
            <a:spLocks noChangeArrowheads="1"/>
          </p:cNvSpPr>
          <p:nvPr/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0" tIns="46800" rIns="90000" bIns="46800" anchor="b"/>
          <a:lstStyle>
            <a:lvl1pPr defTabSz="449263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defTabSz="449263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defTabSz="449263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defTabSz="449263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defTabSz="449263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defTabSz="449263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defTabSz="449263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defTabSz="449263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defTabSz="449263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r" eaLnBrk="1" hangingPunct="1">
              <a:buSzPct val="100000"/>
            </a:pPr>
            <a:fld id="{E5D15821-CB58-49DD-8ED6-FBA1141925A8}" type="slidenum">
              <a:rPr lang="ru-RU" altLang="ru-RU" sz="1200">
                <a:solidFill>
                  <a:srgbClr val="000000"/>
                </a:solidFill>
                <a:latin typeface="Calibri" panose="020F0502020204030204" pitchFamily="34" charset="0"/>
              </a:rPr>
              <a:pPr algn="r" eaLnBrk="1" hangingPunct="1">
                <a:buSzPct val="100000"/>
              </a:pPr>
              <a:t>26</a:t>
            </a:fld>
            <a:endParaRPr lang="ru-RU" altLang="ru-RU" sz="1200">
              <a:solidFill>
                <a:srgbClr val="000000"/>
              </a:solidFill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9808124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 altLang="ru-RU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 altLang="ru-RU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B70E760-F6DF-4666-A865-785779F2CF43}" type="slidenum">
              <a:rPr lang="ru-RU" altLang="ru-RU"/>
              <a:pPr>
                <a:defRPr/>
              </a:pPr>
              <a:t>‹#›</a:t>
            </a:fld>
            <a:endParaRPr lang="ru-RU" altLang="ru-RU"/>
          </a:p>
        </p:txBody>
      </p:sp>
    </p:spTree>
    <p:extLst>
      <p:ext uri="{BB962C8B-B14F-4D97-AF65-F5344CB8AC3E}">
        <p14:creationId xmlns:p14="http://schemas.microsoft.com/office/powerpoint/2010/main" val="325654781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 altLang="ru-RU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 altLang="ru-RU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4837E6D-4911-435B-9C44-76CA853C9D09}" type="slidenum">
              <a:rPr lang="ru-RU" altLang="ru-RU"/>
              <a:pPr>
                <a:defRPr/>
              </a:pPr>
              <a:t>‹#›</a:t>
            </a:fld>
            <a:endParaRPr lang="ru-RU" altLang="ru-RU"/>
          </a:p>
        </p:txBody>
      </p:sp>
    </p:spTree>
    <p:extLst>
      <p:ext uri="{BB962C8B-B14F-4D97-AF65-F5344CB8AC3E}">
        <p14:creationId xmlns:p14="http://schemas.microsoft.com/office/powerpoint/2010/main" val="25459373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623888" y="1709738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623888" y="4589463"/>
            <a:ext cx="7886700" cy="1500187"/>
          </a:xfrm>
        </p:spPr>
        <p:txBody>
          <a:bodyPr/>
          <a:lstStyle>
            <a:lvl1pPr marL="0" indent="0">
              <a:buNone/>
              <a:defRPr sz="2400"/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 altLang="ru-RU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 altLang="ru-RU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6B759FE-5EB2-47CF-8BD3-379054ADA7C2}" type="slidenum">
              <a:rPr lang="ru-RU" altLang="ru-RU"/>
              <a:pPr>
                <a:defRPr/>
              </a:pPr>
              <a:t>‹#›</a:t>
            </a:fld>
            <a:endParaRPr lang="ru-RU" altLang="ru-RU"/>
          </a:p>
        </p:txBody>
      </p:sp>
    </p:spTree>
    <p:extLst>
      <p:ext uri="{BB962C8B-B14F-4D97-AF65-F5344CB8AC3E}">
        <p14:creationId xmlns:p14="http://schemas.microsoft.com/office/powerpoint/2010/main" val="130406795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 altLang="ru-RU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 altLang="ru-RU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4CA0477-363E-41D5-A422-170F19BE2163}" type="slidenum">
              <a:rPr lang="ru-RU" altLang="ru-RU"/>
              <a:pPr>
                <a:defRPr/>
              </a:pPr>
              <a:t>‹#›</a:t>
            </a:fld>
            <a:endParaRPr lang="ru-RU" altLang="ru-RU"/>
          </a:p>
        </p:txBody>
      </p:sp>
    </p:spTree>
    <p:extLst>
      <p:ext uri="{BB962C8B-B14F-4D97-AF65-F5344CB8AC3E}">
        <p14:creationId xmlns:p14="http://schemas.microsoft.com/office/powerpoint/2010/main" val="62990362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630238" y="365125"/>
            <a:ext cx="7886700" cy="1325563"/>
          </a:xfr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630238" y="1681163"/>
            <a:ext cx="386873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630238" y="2505075"/>
            <a:ext cx="3868737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Текст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7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Объект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788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 altLang="ru-RU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 altLang="ru-RU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72DC25F-364A-45B2-BB6B-C4BFC51D3FC5}" type="slidenum">
              <a:rPr lang="ru-RU" altLang="ru-RU"/>
              <a:pPr>
                <a:defRPr/>
              </a:pPr>
              <a:t>‹#›</a:t>
            </a:fld>
            <a:endParaRPr lang="ru-RU" altLang="ru-RU"/>
          </a:p>
        </p:txBody>
      </p:sp>
    </p:spTree>
    <p:extLst>
      <p:ext uri="{BB962C8B-B14F-4D97-AF65-F5344CB8AC3E}">
        <p14:creationId xmlns:p14="http://schemas.microsoft.com/office/powerpoint/2010/main" val="357047694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 altLang="ru-RU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 altLang="ru-RU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D407286-7C0D-4762-AE0F-FC3900FAA1D5}" type="slidenum">
              <a:rPr lang="ru-RU" altLang="ru-RU"/>
              <a:pPr>
                <a:defRPr/>
              </a:pPr>
              <a:t>‹#›</a:t>
            </a:fld>
            <a:endParaRPr lang="ru-RU" altLang="ru-RU"/>
          </a:p>
        </p:txBody>
      </p:sp>
    </p:spTree>
    <p:extLst>
      <p:ext uri="{BB962C8B-B14F-4D97-AF65-F5344CB8AC3E}">
        <p14:creationId xmlns:p14="http://schemas.microsoft.com/office/powerpoint/2010/main" val="306874799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 altLang="ru-RU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 altLang="ru-RU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1986117-B104-4ED1-9021-017A12A39092}" type="slidenum">
              <a:rPr lang="ru-RU" altLang="ru-RU"/>
              <a:pPr>
                <a:defRPr/>
              </a:pPr>
              <a:t>‹#›</a:t>
            </a:fld>
            <a:endParaRPr lang="ru-RU" altLang="ru-RU"/>
          </a:p>
        </p:txBody>
      </p:sp>
    </p:spTree>
    <p:extLst>
      <p:ext uri="{BB962C8B-B14F-4D97-AF65-F5344CB8AC3E}">
        <p14:creationId xmlns:p14="http://schemas.microsoft.com/office/powerpoint/2010/main" val="264578900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 altLang="ru-RU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 altLang="ru-RU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085D04C-7FBE-4E65-80CC-3BA9600CBFC6}" type="slidenum">
              <a:rPr lang="ru-RU" altLang="ru-RU"/>
              <a:pPr>
                <a:defRPr/>
              </a:pPr>
              <a:t>‹#›</a:t>
            </a:fld>
            <a:endParaRPr lang="ru-RU" altLang="ru-RU"/>
          </a:p>
        </p:txBody>
      </p:sp>
    </p:spTree>
    <p:extLst>
      <p:ext uri="{BB962C8B-B14F-4D97-AF65-F5344CB8AC3E}">
        <p14:creationId xmlns:p14="http://schemas.microsoft.com/office/powerpoint/2010/main" val="16832794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Рисунок 2"/>
          <p:cNvSpPr>
            <a:spLocks noGrp="1"/>
          </p:cNvSpPr>
          <p:nvPr>
            <p:ph type="pic"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ru-RU" noProof="0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 altLang="ru-RU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 altLang="ru-RU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7952389-260E-44B9-BBC8-748DD557854B}" type="slidenum">
              <a:rPr lang="ru-RU" altLang="ru-RU"/>
              <a:pPr>
                <a:defRPr/>
              </a:pPr>
              <a:t>‹#›</a:t>
            </a:fld>
            <a:endParaRPr lang="ru-RU" altLang="ru-RU"/>
          </a:p>
        </p:txBody>
      </p:sp>
    </p:spTree>
    <p:extLst>
      <p:ext uri="{BB962C8B-B14F-4D97-AF65-F5344CB8AC3E}">
        <p14:creationId xmlns:p14="http://schemas.microsoft.com/office/powerpoint/2010/main" val="6167221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 altLang="ru-RU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 altLang="ru-RU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CF441BA-AE07-4EE9-AEE1-0BBAD2B1480D}" type="slidenum">
              <a:rPr lang="ru-RU" altLang="ru-RU"/>
              <a:pPr>
                <a:defRPr/>
              </a:pPr>
              <a:t>‹#›</a:t>
            </a:fld>
            <a:endParaRPr lang="ru-RU" altLang="ru-RU"/>
          </a:p>
        </p:txBody>
      </p:sp>
    </p:spTree>
    <p:extLst>
      <p:ext uri="{BB962C8B-B14F-4D97-AF65-F5344CB8AC3E}">
        <p14:creationId xmlns:p14="http://schemas.microsoft.com/office/powerpoint/2010/main" val="51293995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 altLang="ru-RU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 altLang="ru-RU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455A80E-D46C-4D93-8391-78F3F861525D}" type="slidenum">
              <a:rPr lang="ru-RU" altLang="ru-RU"/>
              <a:pPr>
                <a:defRPr/>
              </a:pPr>
              <a:t>‹#›</a:t>
            </a:fld>
            <a:endParaRPr lang="ru-RU" altLang="ru-RU"/>
          </a:p>
        </p:txBody>
      </p:sp>
    </p:spTree>
    <p:extLst>
      <p:ext uri="{BB962C8B-B14F-4D97-AF65-F5344CB8AC3E}">
        <p14:creationId xmlns:p14="http://schemas.microsoft.com/office/powerpoint/2010/main" val="339278479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ru-RU" altLang="ru-RU"/>
              <a:t>Образец заголовка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ru-RU" altLang="ru-RU"/>
              <a:t>Образец текста</a:t>
            </a:r>
          </a:p>
          <a:p>
            <a:pPr lvl="1"/>
            <a:r>
              <a:rPr lang="ru-RU" altLang="ru-RU"/>
              <a:t>Второй уровень</a:t>
            </a:r>
          </a:p>
          <a:p>
            <a:pPr lvl="2"/>
            <a:r>
              <a:rPr lang="ru-RU" altLang="ru-RU"/>
              <a:t>Третий уровень</a:t>
            </a:r>
          </a:p>
          <a:p>
            <a:pPr lvl="3"/>
            <a:r>
              <a:rPr lang="ru-RU" altLang="ru-RU"/>
              <a:t>Четвертый уровень</a:t>
            </a:r>
          </a:p>
          <a:p>
            <a:pPr lvl="4"/>
            <a:r>
              <a:rPr lang="ru-RU" altLang="ru-RU"/>
              <a:t>Пятый уровень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245225"/>
            <a:ext cx="2133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defRPr sz="1400"/>
            </a:lvl1pPr>
          </a:lstStyle>
          <a:p>
            <a:pPr>
              <a:defRPr/>
            </a:pPr>
            <a:endParaRPr lang="ru-RU" altLang="ru-RU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5225"/>
            <a:ext cx="2895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 eaLnBrk="1" hangingPunct="1">
              <a:defRPr sz="1400"/>
            </a:lvl1pPr>
          </a:lstStyle>
          <a:p>
            <a:pPr>
              <a:defRPr/>
            </a:pPr>
            <a:endParaRPr lang="ru-RU" altLang="ru-RU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5225"/>
            <a:ext cx="2133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1400"/>
            </a:lvl1pPr>
          </a:lstStyle>
          <a:p>
            <a:pPr>
              <a:defRPr/>
            </a:pPr>
            <a:fld id="{B6B97E72-34A0-47CB-A640-64E308499A37}" type="slidenum">
              <a:rPr lang="ru-RU" altLang="ru-RU"/>
              <a:pPr>
                <a:defRPr/>
              </a:pPr>
              <a:t>‹#›</a:t>
            </a:fld>
            <a:endParaRPr lang="ru-RU" altLang="ru-RU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cs typeface="Arial" panose="020B0604020202020204" pitchFamily="34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cs typeface="Arial" panose="020B0604020202020204" pitchFamily="34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cs typeface="Arial" panose="020B0604020202020204" pitchFamily="34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cs typeface="Arial" panose="020B0604020202020204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cs typeface="Arial" panose="020B0604020202020204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cs typeface="Arial" panose="020B0604020202020204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cs typeface="Arial" panose="020B0604020202020204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cs typeface="Arial" panose="020B0604020202020204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wmf"/><Relationship Id="rId13" Type="http://schemas.openxmlformats.org/officeDocument/2006/relationships/oleObject" Target="../embeddings/oleObject6.bin"/><Relationship Id="rId18" Type="http://schemas.openxmlformats.org/officeDocument/2006/relationships/image" Target="../media/image12.wmf"/><Relationship Id="rId26" Type="http://schemas.openxmlformats.org/officeDocument/2006/relationships/image" Target="../media/image15.wmf"/><Relationship Id="rId3" Type="http://schemas.openxmlformats.org/officeDocument/2006/relationships/oleObject" Target="../embeddings/oleObject1.bin"/><Relationship Id="rId21" Type="http://schemas.openxmlformats.org/officeDocument/2006/relationships/oleObject" Target="../embeddings/oleObject9.bin"/><Relationship Id="rId7" Type="http://schemas.openxmlformats.org/officeDocument/2006/relationships/oleObject" Target="../embeddings/oleObject3.bin"/><Relationship Id="rId12" Type="http://schemas.openxmlformats.org/officeDocument/2006/relationships/image" Target="../media/image9.wmf"/><Relationship Id="rId17" Type="http://schemas.openxmlformats.org/officeDocument/2006/relationships/oleObject" Target="../embeddings/oleObject8.bin"/><Relationship Id="rId25" Type="http://schemas.openxmlformats.org/officeDocument/2006/relationships/oleObject" Target="../embeddings/oleObject11.bin"/><Relationship Id="rId2" Type="http://schemas.openxmlformats.org/officeDocument/2006/relationships/slideLayout" Target="../slideLayouts/slideLayout7.xml"/><Relationship Id="rId16" Type="http://schemas.openxmlformats.org/officeDocument/2006/relationships/image" Target="../media/image11.wmf"/><Relationship Id="rId20" Type="http://schemas.openxmlformats.org/officeDocument/2006/relationships/image" Target="../media/image17.png"/><Relationship Id="rId1" Type="http://schemas.openxmlformats.org/officeDocument/2006/relationships/vmlDrawing" Target="../drawings/vmlDrawing1.vml"/><Relationship Id="rId6" Type="http://schemas.openxmlformats.org/officeDocument/2006/relationships/image" Target="../media/image6.wmf"/><Relationship Id="rId11" Type="http://schemas.openxmlformats.org/officeDocument/2006/relationships/oleObject" Target="../embeddings/oleObject5.bin"/><Relationship Id="rId24" Type="http://schemas.openxmlformats.org/officeDocument/2006/relationships/image" Target="../media/image14.wmf"/><Relationship Id="rId5" Type="http://schemas.openxmlformats.org/officeDocument/2006/relationships/oleObject" Target="../embeddings/oleObject2.bin"/><Relationship Id="rId15" Type="http://schemas.openxmlformats.org/officeDocument/2006/relationships/oleObject" Target="../embeddings/oleObject7.bin"/><Relationship Id="rId23" Type="http://schemas.openxmlformats.org/officeDocument/2006/relationships/oleObject" Target="../embeddings/oleObject10.bin"/><Relationship Id="rId10" Type="http://schemas.openxmlformats.org/officeDocument/2006/relationships/image" Target="../media/image8.wmf"/><Relationship Id="rId19" Type="http://schemas.openxmlformats.org/officeDocument/2006/relationships/image" Target="../media/image16.png"/><Relationship Id="rId4" Type="http://schemas.openxmlformats.org/officeDocument/2006/relationships/image" Target="../media/image5.wmf"/><Relationship Id="rId9" Type="http://schemas.openxmlformats.org/officeDocument/2006/relationships/oleObject" Target="../embeddings/oleObject4.bin"/><Relationship Id="rId14" Type="http://schemas.openxmlformats.org/officeDocument/2006/relationships/image" Target="../media/image10.wmf"/><Relationship Id="rId22" Type="http://schemas.openxmlformats.org/officeDocument/2006/relationships/image" Target="../media/image13.wmf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2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2.vml"/><Relationship Id="rId4" Type="http://schemas.openxmlformats.org/officeDocument/2006/relationships/image" Target="../media/image18.wmf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image" Target="../media/image24.wmf"/><Relationship Id="rId3" Type="http://schemas.openxmlformats.org/officeDocument/2006/relationships/oleObject" Target="../embeddings/oleObject13.bin"/><Relationship Id="rId7" Type="http://schemas.openxmlformats.org/officeDocument/2006/relationships/oleObject" Target="../embeddings/oleObject15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3.vml"/><Relationship Id="rId6" Type="http://schemas.openxmlformats.org/officeDocument/2006/relationships/image" Target="../media/image23.wmf"/><Relationship Id="rId5" Type="http://schemas.openxmlformats.org/officeDocument/2006/relationships/oleObject" Target="../embeddings/oleObject14.bin"/><Relationship Id="rId4" Type="http://schemas.openxmlformats.org/officeDocument/2006/relationships/image" Target="../media/image22.wmf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4.vml"/><Relationship Id="rId5" Type="http://schemas.openxmlformats.org/officeDocument/2006/relationships/image" Target="../media/image26.wmf"/><Relationship Id="rId4" Type="http://schemas.openxmlformats.org/officeDocument/2006/relationships/oleObject" Target="../embeddings/oleObject16.bin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7.bin"/><Relationship Id="rId7" Type="http://schemas.openxmlformats.org/officeDocument/2006/relationships/image" Target="../media/image30.png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5.vml"/><Relationship Id="rId6" Type="http://schemas.openxmlformats.org/officeDocument/2006/relationships/image" Target="../media/image29.wmf"/><Relationship Id="rId5" Type="http://schemas.openxmlformats.org/officeDocument/2006/relationships/oleObject" Target="../embeddings/oleObject18.bin"/><Relationship Id="rId4" Type="http://schemas.openxmlformats.org/officeDocument/2006/relationships/image" Target="../media/image28.wmf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8" Type="http://schemas.openxmlformats.org/officeDocument/2006/relationships/image" Target="../media/image35.wmf"/><Relationship Id="rId3" Type="http://schemas.openxmlformats.org/officeDocument/2006/relationships/oleObject" Target="../embeddings/oleObject19.bin"/><Relationship Id="rId7" Type="http://schemas.openxmlformats.org/officeDocument/2006/relationships/oleObject" Target="../embeddings/oleObject21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6.vml"/><Relationship Id="rId6" Type="http://schemas.openxmlformats.org/officeDocument/2006/relationships/image" Target="../media/image34.wmf"/><Relationship Id="rId5" Type="http://schemas.openxmlformats.org/officeDocument/2006/relationships/oleObject" Target="../embeddings/oleObject20.bin"/><Relationship Id="rId4" Type="http://schemas.openxmlformats.org/officeDocument/2006/relationships/image" Target="../media/image33.wmf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/>
          <p:cNvSpPr>
            <a:spLocks noGrp="1" noChangeArrowheads="1"/>
          </p:cNvSpPr>
          <p:nvPr>
            <p:ph type="ctrTitle"/>
          </p:nvPr>
        </p:nvSpPr>
        <p:spPr>
          <a:xfrm>
            <a:off x="107504" y="1196752"/>
            <a:ext cx="8928992" cy="1512167"/>
          </a:xfrm>
        </p:spPr>
        <p:txBody>
          <a:bodyPr anchor="ctr"/>
          <a:lstStyle/>
          <a:p>
            <a:pPr eaLnBrk="1" hangingPunct="1"/>
            <a:r>
              <a:rPr lang="ru-RU" altLang="ru-RU" sz="4000" b="1" dirty="0"/>
              <a:t>Теория искусственных нейронных сетей</a:t>
            </a:r>
            <a:br>
              <a:rPr lang="ru-RU" altLang="ru-RU" sz="4000" b="1" dirty="0"/>
            </a:br>
            <a:r>
              <a:rPr lang="ru-RU" altLang="ru-RU" sz="4000" b="1" dirty="0"/>
              <a:t>Каганов Ю.Т.</a:t>
            </a:r>
            <a:br>
              <a:rPr lang="ru-RU" altLang="ru-RU" sz="4000" b="1" dirty="0"/>
            </a:br>
            <a:r>
              <a:rPr lang="ru-RU" altLang="ru-RU" sz="3200" b="1" dirty="0"/>
              <a:t>к.т.н., доцент каф. ИУ-9</a:t>
            </a:r>
            <a:br>
              <a:rPr lang="ru-RU" altLang="ru-RU" sz="3200" b="1" dirty="0"/>
            </a:br>
            <a:r>
              <a:rPr lang="ru-RU" altLang="ru-RU" sz="2400" b="1" dirty="0"/>
              <a:t>«Теоретическая информатика и компьютерные технологии»</a:t>
            </a:r>
            <a:br>
              <a:rPr lang="ru-RU" altLang="ru-RU" sz="4000" b="1" dirty="0"/>
            </a:br>
            <a:endParaRPr lang="ru-RU" altLang="ru-RU" sz="4000" b="1" dirty="0"/>
          </a:p>
        </p:txBody>
      </p:sp>
      <p:sp>
        <p:nvSpPr>
          <p:cNvPr id="3075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1223168" y="3618211"/>
            <a:ext cx="6697663" cy="3239789"/>
          </a:xfrm>
        </p:spPr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ru-RU" altLang="ru-RU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ЛЕКЦИЯ № 11</a:t>
            </a:r>
            <a:endParaRPr lang="en-US" altLang="ru-RU" sz="3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eaLnBrk="1" hangingPunct="1">
              <a:lnSpc>
                <a:spcPct val="90000"/>
              </a:lnSpc>
            </a:pPr>
            <a:r>
              <a:rPr lang="ru-RU" altLang="ru-RU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Нейронные сети</a:t>
            </a:r>
          </a:p>
          <a:p>
            <a:pPr eaLnBrk="1" hangingPunct="1">
              <a:lnSpc>
                <a:spcPct val="90000"/>
              </a:lnSpc>
            </a:pPr>
            <a:r>
              <a:rPr lang="ru-RU" altLang="ru-RU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глубокого обучения</a:t>
            </a:r>
            <a:endParaRPr lang="en-US" altLang="ru-RU" sz="4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eaLnBrk="1" hangingPunct="1">
              <a:lnSpc>
                <a:spcPct val="90000"/>
              </a:lnSpc>
            </a:pPr>
            <a:r>
              <a:rPr lang="ru-RU" altLang="ru-RU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Рекуррентные нейронные сети</a:t>
            </a:r>
          </a:p>
          <a:p>
            <a:pPr marL="514350" indent="-514350" eaLnBrk="1" hangingPunct="1">
              <a:lnSpc>
                <a:spcPct val="90000"/>
              </a:lnSpc>
              <a:buAutoNum type="arabicPeriod"/>
            </a:pPr>
            <a:endParaRPr lang="ru-RU" altLang="ru-RU" sz="3000" b="1" dirty="0"/>
          </a:p>
          <a:p>
            <a:pPr eaLnBrk="1" hangingPunct="1">
              <a:lnSpc>
                <a:spcPct val="90000"/>
              </a:lnSpc>
            </a:pPr>
            <a:endParaRPr lang="ru-RU" altLang="ru-RU" sz="3000" b="1" dirty="0"/>
          </a:p>
          <a:p>
            <a:pPr eaLnBrk="1" hangingPunct="1">
              <a:lnSpc>
                <a:spcPct val="90000"/>
              </a:lnSpc>
            </a:pPr>
            <a:endParaRPr lang="ru-RU" altLang="ru-RU" sz="2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7" name="Rectangle 2"/>
          <p:cNvSpPr>
            <a:spLocks noGrp="1" noChangeArrowheads="1"/>
          </p:cNvSpPr>
          <p:nvPr>
            <p:ph type="title"/>
          </p:nvPr>
        </p:nvSpPr>
        <p:spPr>
          <a:xfrm>
            <a:off x="539750" y="260350"/>
            <a:ext cx="8229600" cy="993775"/>
          </a:xfrm>
        </p:spPr>
        <p:txBody>
          <a:bodyPr/>
          <a:lstStyle/>
          <a:p>
            <a:pPr eaLnBrk="1" hangingPunct="1"/>
            <a:r>
              <a:rPr lang="ru-RU" sz="3200" b="1" dirty="0"/>
              <a:t>Рекуррентные нейронные сети</a:t>
            </a:r>
          </a:p>
        </p:txBody>
      </p:sp>
      <p:sp>
        <p:nvSpPr>
          <p:cNvPr id="14338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23850" y="1341438"/>
            <a:ext cx="8362950" cy="5183187"/>
          </a:xfrm>
        </p:spPr>
        <p:txBody>
          <a:bodyPr/>
          <a:lstStyle/>
          <a:p>
            <a:pPr marL="0" indent="0" algn="ctr" eaLnBrk="1" hangingPunct="1">
              <a:lnSpc>
                <a:spcPct val="80000"/>
              </a:lnSpc>
              <a:buNone/>
            </a:pPr>
            <a:r>
              <a:rPr lang="ru-RU" sz="40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Рекуррентные сети</a:t>
            </a:r>
          </a:p>
          <a:p>
            <a:pPr marL="609600" indent="-609600" eaLnBrk="1" hangingPunct="1">
              <a:lnSpc>
                <a:spcPct val="80000"/>
              </a:lnSpc>
              <a:buFontTx/>
              <a:buNone/>
            </a:pPr>
            <a:r>
              <a:rPr lang="ru-RU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1.1. Что такое рекуррентная сеть (</a:t>
            </a:r>
            <a:r>
              <a:rPr lang="en-US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RNN).</a:t>
            </a:r>
            <a:endParaRPr lang="ru-RU" sz="4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609600" indent="-609600" eaLnBrk="1" hangingPunct="1">
              <a:lnSpc>
                <a:spcPct val="80000"/>
              </a:lnSpc>
              <a:buFontTx/>
              <a:buNone/>
            </a:pPr>
            <a:r>
              <a:rPr lang="ru-RU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1.2..Области применения рекуррентных сетей.</a:t>
            </a:r>
          </a:p>
          <a:p>
            <a:pPr marL="609600" indent="-609600" eaLnBrk="1" hangingPunct="1">
              <a:lnSpc>
                <a:spcPct val="80000"/>
              </a:lnSpc>
              <a:buFontTx/>
              <a:buNone/>
            </a:pPr>
            <a:r>
              <a:rPr lang="ru-RU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1.3. Простейшие </a:t>
            </a:r>
            <a:r>
              <a:rPr lang="en-US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RNN.</a:t>
            </a:r>
            <a:endParaRPr lang="ru-RU" sz="4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609600" indent="-609600" eaLnBrk="1" hangingPunct="1">
              <a:lnSpc>
                <a:spcPct val="80000"/>
              </a:lnSpc>
              <a:buFontTx/>
              <a:buNone/>
            </a:pPr>
            <a:r>
              <a:rPr lang="ru-RU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1.4. Модель </a:t>
            </a:r>
            <a:r>
              <a:rPr lang="en-US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LSTM.</a:t>
            </a:r>
          </a:p>
          <a:p>
            <a:pPr marL="609600" indent="-609600" eaLnBrk="1" hangingPunct="1">
              <a:lnSpc>
                <a:spcPct val="80000"/>
              </a:lnSpc>
              <a:buFontTx/>
              <a:buNone/>
            </a:pPr>
            <a:r>
              <a:rPr lang="en-US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1.5. </a:t>
            </a:r>
            <a:r>
              <a:rPr lang="ru-RU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Модель </a:t>
            </a:r>
            <a:r>
              <a:rPr lang="en-US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GRU.</a:t>
            </a:r>
            <a:endParaRPr lang="ru-RU" sz="4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609600" indent="-609600" eaLnBrk="1" hangingPunct="1">
              <a:lnSpc>
                <a:spcPct val="80000"/>
              </a:lnSpc>
              <a:buFontTx/>
              <a:buNone/>
            </a:pPr>
            <a:endParaRPr lang="ru-RU" sz="2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1" name="Rectangle 2"/>
          <p:cNvSpPr>
            <a:spLocks noGrp="1" noChangeArrowheads="1"/>
          </p:cNvSpPr>
          <p:nvPr>
            <p:ph type="title"/>
          </p:nvPr>
        </p:nvSpPr>
        <p:spPr>
          <a:xfrm>
            <a:off x="0" y="260350"/>
            <a:ext cx="8362950" cy="1008063"/>
          </a:xfrm>
        </p:spPr>
        <p:txBody>
          <a:bodyPr/>
          <a:lstStyle/>
          <a:p>
            <a:pPr marL="838200" indent="-838200" eaLnBrk="1" hangingPunct="1"/>
            <a:r>
              <a:rPr lang="ru-RU" sz="4000" b="1"/>
              <a:t>Что такое рекуррентные сети</a:t>
            </a:r>
          </a:p>
        </p:txBody>
      </p:sp>
      <p:sp>
        <p:nvSpPr>
          <p:cNvPr id="15362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95288" y="1773238"/>
            <a:ext cx="8229600" cy="4381500"/>
          </a:xfrm>
        </p:spPr>
        <p:txBody>
          <a:bodyPr/>
          <a:lstStyle/>
          <a:p>
            <a:pPr marL="609600" indent="-609600" algn="just" eaLnBrk="1" hangingPunct="1">
              <a:lnSpc>
                <a:spcPct val="80000"/>
              </a:lnSpc>
              <a:buFontTx/>
              <a:buNone/>
            </a:pPr>
            <a:r>
              <a:rPr lang="ru-RU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Рекуррентные нейронные сети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 </a:t>
            </a:r>
            <a:r>
              <a:rPr lang="ru-RU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РНС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 </a:t>
            </a:r>
            <a:r>
              <a:rPr lang="ru-RU" sz="24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Recurrent</a:t>
            </a:r>
            <a:r>
              <a:rPr lang="ru-RU" sz="2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neural</a:t>
            </a:r>
            <a:r>
              <a:rPr lang="ru-RU" sz="2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network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; </a:t>
            </a:r>
            <a:r>
              <a:rPr lang="ru-RU" sz="2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RNN,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 — вид нейронных сетей, в которых имеется обратная связь. При этом под обратной связью подразумевается связь от логически более удалённого элемента к менее удалённому. Наличие обратных связей позволяет запоминать и воспроизводить целые последовательности реакций на один стимул. С точки зрения программирования в таких сетях появляется аналог циклического выполнения, а с точки зрения систем — такая сеть эквивалентна конечному автомату. Такие особенности потенциально предоставляют множество возможностей для моделирования биологических нейронных сетей. </a:t>
            </a:r>
          </a:p>
        </p:txBody>
      </p:sp>
      <p:sp>
        <p:nvSpPr>
          <p:cNvPr id="15363" name="Rectangle 6"/>
          <p:cNvSpPr>
            <a:spLocks noChangeArrowheads="1"/>
          </p:cNvSpPr>
          <p:nvPr/>
        </p:nvSpPr>
        <p:spPr bwMode="auto">
          <a:xfrm>
            <a:off x="0" y="331470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ru-RU" b="0"/>
          </a:p>
        </p:txBody>
      </p:sp>
      <p:sp>
        <p:nvSpPr>
          <p:cNvPr id="15364" name="Rectangle 8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ru-RU" b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5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ru-RU" b="1"/>
              <a:t>Область применения РНС</a:t>
            </a:r>
            <a:r>
              <a:rPr lang="ru-RU"/>
              <a:t> </a:t>
            </a:r>
          </a:p>
        </p:txBody>
      </p:sp>
      <p:sp>
        <p:nvSpPr>
          <p:cNvPr id="16386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>
              <a:lnSpc>
                <a:spcPct val="80000"/>
              </a:lnSpc>
            </a:pPr>
            <a:r>
              <a:rPr lang="ru-RU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РНС – это класс нейронных сетей, в которых учитывается последовательный характер входных данных. На вход такой сети может подаваться текст, речь, временной ряд и т.п., в котором появление элемента в последовательности зависит от предшествующих элементов. РНС применяются для таких задач, как распознавание речи, языковое моделирование, машинный перевод, анализ эмоциональной окраски, </a:t>
            </a:r>
            <a:r>
              <a:rPr lang="ru-RU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подписывание</a:t>
            </a:r>
            <a:r>
              <a:rPr lang="ru-RU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изображений и многое другое.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09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ru-RU" sz="4000" b="1"/>
              <a:t>Рекуррентные нейронные сети</a:t>
            </a:r>
          </a:p>
        </p:txBody>
      </p:sp>
      <p:sp>
        <p:nvSpPr>
          <p:cNvPr id="17410" name="Rectangle 5"/>
          <p:cNvSpPr>
            <a:spLocks noGrp="1" noChangeArrowheads="1"/>
          </p:cNvSpPr>
          <p:nvPr>
            <p:ph type="body" idx="1"/>
          </p:nvPr>
        </p:nvSpPr>
        <p:spPr>
          <a:xfrm>
            <a:off x="395288" y="1628775"/>
            <a:ext cx="5483225" cy="4824413"/>
          </a:xfrm>
        </p:spPr>
        <p:txBody>
          <a:bodyPr/>
          <a:lstStyle/>
          <a:p>
            <a:pPr algn="just">
              <a:lnSpc>
                <a:spcPct val="90000"/>
              </a:lnSpc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RNN</a:t>
            </a:r>
            <a:r>
              <a:rPr lang="ru-RU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(РНС)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</a:t>
            </a:r>
            <a:r>
              <a:rPr lang="ru-RU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это сети, содержащие обратные связи и позволяющие сохранять информацию. </a:t>
            </a:r>
          </a:p>
          <a:p>
            <a:pPr algn="just">
              <a:lnSpc>
                <a:spcPct val="90000"/>
              </a:lnSpc>
            </a:pPr>
            <a:r>
              <a:rPr lang="ru-RU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Фрагмент нейронной сети A принимает входное значение </a:t>
            </a:r>
            <a:r>
              <a:rPr lang="ru-RU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xt</a:t>
            </a:r>
            <a:r>
              <a:rPr lang="ru-RU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и возвращает значение </a:t>
            </a:r>
            <a:r>
              <a:rPr lang="ru-RU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ht</a:t>
            </a:r>
            <a:r>
              <a:rPr lang="ru-RU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Наличие обратной связи позволяет передавать информацию от одного шага сети к другому. </a:t>
            </a:r>
            <a:endParaRPr lang="ru-RU" sz="3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90000"/>
              </a:lnSpc>
            </a:pPr>
            <a:endParaRPr lang="ru-RU" sz="3600" dirty="0"/>
          </a:p>
        </p:txBody>
      </p:sp>
      <p:pic>
        <p:nvPicPr>
          <p:cNvPr id="17411" name="Picture 6" descr="a9b1e640f6264b0a902e851eb5f29e08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5867400" y="2060575"/>
            <a:ext cx="2735263" cy="38084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ru-RU" sz="4000" b="1"/>
              <a:t>Рекуррентные нейронные сети</a:t>
            </a:r>
          </a:p>
        </p:txBody>
      </p:sp>
      <p:sp>
        <p:nvSpPr>
          <p:cNvPr id="18434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>
              <a:lnSpc>
                <a:spcPct val="90000"/>
              </a:lnSpc>
            </a:pPr>
            <a:r>
              <a:rPr lang="ru-RU" sz="2800" b="1" dirty="0"/>
              <a:t>Рекуррентная нейронная сеть в развертке</a:t>
            </a:r>
          </a:p>
          <a:p>
            <a:pPr>
              <a:lnSpc>
                <a:spcPct val="90000"/>
              </a:lnSpc>
            </a:pPr>
            <a:endParaRPr lang="ru-RU" sz="2800" b="1" dirty="0"/>
          </a:p>
          <a:p>
            <a:pPr>
              <a:lnSpc>
                <a:spcPct val="90000"/>
              </a:lnSpc>
            </a:pPr>
            <a:endParaRPr lang="ru-RU" sz="2800" b="1" dirty="0"/>
          </a:p>
          <a:p>
            <a:pPr>
              <a:lnSpc>
                <a:spcPct val="90000"/>
              </a:lnSpc>
            </a:pPr>
            <a:endParaRPr lang="ru-RU" sz="2800" b="1" dirty="0"/>
          </a:p>
          <a:p>
            <a:pPr>
              <a:lnSpc>
                <a:spcPct val="90000"/>
              </a:lnSpc>
            </a:pPr>
            <a:endParaRPr lang="ru-RU" sz="2800" dirty="0"/>
          </a:p>
          <a:p>
            <a:pPr>
              <a:lnSpc>
                <a:spcPct val="90000"/>
              </a:lnSpc>
            </a:pPr>
            <a:endParaRPr lang="ru-RU" sz="2800" dirty="0"/>
          </a:p>
          <a:p>
            <a:pPr>
              <a:lnSpc>
                <a:spcPct val="90000"/>
              </a:lnSpc>
            </a:pPr>
            <a:r>
              <a:rPr lang="ru-RU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Рекуррентную сеть можно рассматривать, как несколько копий одной и той же сети, каждая из которых передает информацию последующей копии.  </a:t>
            </a:r>
          </a:p>
        </p:txBody>
      </p:sp>
      <p:pic>
        <p:nvPicPr>
          <p:cNvPr id="18435" name="Picture 4" descr="5c80fac224d449209d888d18ea1111a8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900113" y="2276475"/>
            <a:ext cx="7056437" cy="19446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7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ru-RU" sz="4000" b="1"/>
              <a:t>Рекуррентные нейронные сети</a:t>
            </a:r>
          </a:p>
        </p:txBody>
      </p:sp>
      <p:sp>
        <p:nvSpPr>
          <p:cNvPr id="19458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57200" y="1600200"/>
            <a:ext cx="8229600" cy="2405063"/>
          </a:xfrm>
        </p:spPr>
        <p:txBody>
          <a:bodyPr/>
          <a:lstStyle/>
          <a:p>
            <a:pPr>
              <a:lnSpc>
                <a:spcPct val="90000"/>
              </a:lnSpc>
            </a:pP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Любая рекуррентная нейронная сеть имеет форму цепочки повторяющихся модулей нейронной сети. В обычной RNN структура одного такого модуля очень проста, например, он может представлять собой один слой с функцией активации </a:t>
            </a:r>
            <a:r>
              <a:rPr lang="ru-RU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tanh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(гиперболический тангенс). </a:t>
            </a:r>
          </a:p>
          <a:p>
            <a:pPr>
              <a:lnSpc>
                <a:spcPct val="90000"/>
              </a:lnSpc>
            </a:pPr>
            <a:endParaRPr lang="ru-RU" sz="2400" dirty="0"/>
          </a:p>
        </p:txBody>
      </p:sp>
      <p:pic>
        <p:nvPicPr>
          <p:cNvPr id="19459" name="Picture 4" descr="47dee62c3af8498c946befa1f3330d90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971550" y="3860800"/>
            <a:ext cx="7056438" cy="25923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1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ru-RU" sz="4000" b="1"/>
              <a:t>Сети LSTM</a:t>
            </a:r>
            <a:br>
              <a:rPr lang="ru-RU" sz="4000" b="1"/>
            </a:br>
            <a:endParaRPr lang="ru-RU" sz="4000" b="1"/>
          </a:p>
        </p:txBody>
      </p:sp>
      <p:sp>
        <p:nvSpPr>
          <p:cNvPr id="20482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algn="just">
              <a:lnSpc>
                <a:spcPct val="90000"/>
              </a:lnSpc>
            </a:pP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Долгая краткосрочная память (Long </a:t>
            </a:r>
            <a:r>
              <a:rPr lang="ru-RU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short-term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memory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; LSTM) – особая разновидность архитектуры рекуррентных нейронных сетей, способная к обучению долговременным зависимостям. Они были представлены Зеппом </a:t>
            </a:r>
            <a:r>
              <a:rPr lang="ru-RU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Хохрайтером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и Юргеном </a:t>
            </a:r>
            <a:r>
              <a:rPr lang="ru-RU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Шмидхубером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в 1997 году, а затем усовершенствованы и популярно изложены в работах многих других исследователей. Они прекрасно решают целый ряд разнообразных задач и в настоящее время широко используются.</a:t>
            </a:r>
            <a:b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ru-RU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5" name="Rectangle 2"/>
          <p:cNvSpPr>
            <a:spLocks noGrp="1" noChangeArrowheads="1"/>
          </p:cNvSpPr>
          <p:nvPr>
            <p:ph type="title" idx="4294967295"/>
          </p:nvPr>
        </p:nvSpPr>
        <p:spPr/>
        <p:txBody>
          <a:bodyPr/>
          <a:lstStyle/>
          <a:p>
            <a:r>
              <a:rPr lang="ru-RU" sz="4000" b="1" dirty="0"/>
              <a:t>Модель </a:t>
            </a:r>
            <a:r>
              <a:rPr lang="en-US" sz="4000" b="1" dirty="0"/>
              <a:t>LSTM</a:t>
            </a:r>
            <a:endParaRPr lang="ru-RU" sz="4000" b="1" dirty="0"/>
          </a:p>
        </p:txBody>
      </p:sp>
      <p:sp>
        <p:nvSpPr>
          <p:cNvPr id="21506" name="Rectangle 3"/>
          <p:cNvSpPr>
            <a:spLocks noGrp="1" noChangeArrowheads="1"/>
          </p:cNvSpPr>
          <p:nvPr>
            <p:ph type="body" idx="4294967295"/>
          </p:nvPr>
        </p:nvSpPr>
        <p:spPr>
          <a:xfrm>
            <a:off x="4716016" y="1628775"/>
            <a:ext cx="4320480" cy="4497388"/>
          </a:xfrm>
        </p:spPr>
        <p:txBody>
          <a:bodyPr/>
          <a:lstStyle/>
          <a:p>
            <a:pPr algn="just">
              <a:lnSpc>
                <a:spcPct val="80000"/>
              </a:lnSpc>
            </a:pPr>
            <a:r>
              <a:rPr lang="ru-RU" sz="16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Long</a:t>
            </a:r>
            <a:r>
              <a:rPr lang="ru-RU" sz="16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16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short-term</a:t>
            </a:r>
            <a:r>
              <a:rPr lang="ru-RU" sz="16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16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memory</a:t>
            </a:r>
            <a:r>
              <a:rPr lang="ru-RU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; </a:t>
            </a:r>
            <a:r>
              <a:rPr lang="ru-RU" sz="16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LSTM</a:t>
            </a:r>
            <a:r>
              <a:rPr lang="ru-RU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— разновидность архитектуры рекуррентных нейронных сетей (RNN).  Как и большинство рекуррентных нейронных сетей, LSTM-сеть является универсальной в том смысле, что при достаточном числе элементов сети она может выполнить любое вычисление, на которое способен обычный компьютер, для чего необходима соответствующая матрица  весов, которая может рассматриваться как программа. В отличие от традиционных рекуррентных нейронных сетей, LSTM-сеть хорошо приспособлена к обучению на задачах классификации, обработки и прогнозирования временных рядов в случаях, когда важные события разделены временными лагами с неопределённой продолжительностью и границами</a:t>
            </a:r>
            <a:r>
              <a:rPr lang="ru-RU" sz="1600" dirty="0"/>
              <a:t>.  </a:t>
            </a:r>
          </a:p>
        </p:txBody>
      </p:sp>
      <p:pic>
        <p:nvPicPr>
          <p:cNvPr id="21507" name="Picture 5" descr="300px-Peephole_Long_Short-Term_Memory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1628775"/>
            <a:ext cx="5003800" cy="30241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549" name="Rectangle 2"/>
          <p:cNvSpPr>
            <a:spLocks noGrp="1" noChangeArrowheads="1"/>
          </p:cNvSpPr>
          <p:nvPr>
            <p:ph type="title" idx="4294967295"/>
          </p:nvPr>
        </p:nvSpPr>
        <p:spPr/>
        <p:txBody>
          <a:bodyPr/>
          <a:lstStyle/>
          <a:p>
            <a:r>
              <a:rPr lang="ru-RU" b="1" dirty="0"/>
              <a:t>Модель </a:t>
            </a:r>
            <a:r>
              <a:rPr lang="en-US" b="1" dirty="0"/>
              <a:t>LSTM          </a:t>
            </a:r>
            <a:endParaRPr lang="ru-RU" b="1" dirty="0"/>
          </a:p>
        </p:txBody>
      </p:sp>
      <p:sp>
        <p:nvSpPr>
          <p:cNvPr id="149550" name="Rectangle 3"/>
          <p:cNvSpPr>
            <a:spLocks noGrp="1" noChangeArrowheads="1"/>
          </p:cNvSpPr>
          <p:nvPr>
            <p:ph type="body" idx="4294967295"/>
          </p:nvPr>
        </p:nvSpPr>
        <p:spPr>
          <a:xfrm>
            <a:off x="5795963" y="1700213"/>
            <a:ext cx="3024187" cy="4425950"/>
          </a:xfrm>
        </p:spPr>
        <p:txBody>
          <a:bodyPr/>
          <a:lstStyle/>
          <a:p>
            <a:pPr>
              <a:lnSpc>
                <a:spcPct val="80000"/>
              </a:lnSpc>
            </a:pPr>
            <a:r>
              <a:rPr lang="ru-RU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Переменные</a:t>
            </a:r>
          </a:p>
          <a:p>
            <a:pPr>
              <a:lnSpc>
                <a:spcPct val="80000"/>
              </a:lnSpc>
            </a:pPr>
            <a:r>
              <a:rPr lang="ru-RU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- входной вектор,</a:t>
            </a:r>
          </a:p>
          <a:p>
            <a:pPr>
              <a:lnSpc>
                <a:spcPct val="80000"/>
              </a:lnSpc>
            </a:pPr>
            <a:r>
              <a:rPr lang="ru-RU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- выходной вектор,</a:t>
            </a:r>
          </a:p>
          <a:p>
            <a:pPr>
              <a:lnSpc>
                <a:spcPct val="80000"/>
              </a:lnSpc>
            </a:pPr>
            <a:r>
              <a:rPr lang="ru-RU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- вектор состояния,</a:t>
            </a:r>
          </a:p>
          <a:p>
            <a:pPr>
              <a:lnSpc>
                <a:spcPct val="80000"/>
              </a:lnSpc>
            </a:pPr>
            <a:r>
              <a:rPr lang="ru-RU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</a:t>
            </a:r>
            <a:r>
              <a:rPr lang="ru-RU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- матрицы параметров и вектор порогов,</a:t>
            </a:r>
          </a:p>
          <a:p>
            <a:pPr>
              <a:lnSpc>
                <a:spcPct val="80000"/>
              </a:lnSpc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</a:t>
            </a:r>
            <a:r>
              <a:rPr lang="ru-RU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- векторы вентилей.</a:t>
            </a:r>
          </a:p>
          <a:p>
            <a:pPr>
              <a:lnSpc>
                <a:spcPct val="80000"/>
              </a:lnSpc>
            </a:pPr>
            <a:r>
              <a:rPr lang="ru-RU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Функции активации</a:t>
            </a:r>
          </a:p>
          <a:p>
            <a:pPr>
              <a:lnSpc>
                <a:spcPct val="80000"/>
              </a:lnSpc>
            </a:pPr>
            <a:r>
              <a:rPr lang="ru-RU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- на основе </a:t>
            </a:r>
            <a:r>
              <a:rPr lang="ru-RU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сигмоиды</a:t>
            </a:r>
            <a:r>
              <a:rPr lang="ru-RU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</a:p>
          <a:p>
            <a:pPr>
              <a:lnSpc>
                <a:spcPct val="80000"/>
              </a:lnSpc>
            </a:pPr>
            <a:r>
              <a:rPr lang="ru-RU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- на основе гиперболического тангенса,</a:t>
            </a:r>
          </a:p>
          <a:p>
            <a:pPr>
              <a:lnSpc>
                <a:spcPct val="80000"/>
              </a:lnSpc>
            </a:pPr>
            <a:r>
              <a:rPr lang="ru-RU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- на основе гиперболического тангенса.</a:t>
            </a:r>
          </a:p>
        </p:txBody>
      </p:sp>
      <p:sp>
        <p:nvSpPr>
          <p:cNvPr id="149551" name="Rectangle 5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ru-RU" b="0"/>
          </a:p>
        </p:txBody>
      </p:sp>
      <p:sp>
        <p:nvSpPr>
          <p:cNvPr id="149552" name="Rectangle 7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ru-RU" b="0"/>
          </a:p>
        </p:txBody>
      </p:sp>
      <p:graphicFrame>
        <p:nvGraphicFramePr>
          <p:cNvPr id="149511" name="Object 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821191359"/>
              </p:ext>
            </p:extLst>
          </p:nvPr>
        </p:nvGraphicFramePr>
        <p:xfrm>
          <a:off x="6053041" y="1921953"/>
          <a:ext cx="244572" cy="33224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9614" name="Формула" r:id="rId3" imgW="165028" imgH="228501" progId="Equation.3">
                  <p:embed/>
                </p:oleObj>
              </mc:Choice>
              <mc:Fallback>
                <p:oleObj name="Формула" r:id="rId3" imgW="165028" imgH="228501" progId="Equation.3">
                  <p:embed/>
                  <p:pic>
                    <p:nvPicPr>
                      <p:cNvPr id="149511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053041" y="1921953"/>
                        <a:ext cx="244572" cy="332249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sp>
        <p:nvSpPr>
          <p:cNvPr id="149553" name="Rectangle 9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ru-RU" b="0"/>
          </a:p>
        </p:txBody>
      </p:sp>
      <p:graphicFrame>
        <p:nvGraphicFramePr>
          <p:cNvPr id="149513" name="Object 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205294415"/>
              </p:ext>
            </p:extLst>
          </p:nvPr>
        </p:nvGraphicFramePr>
        <p:xfrm>
          <a:off x="6084887" y="2276474"/>
          <a:ext cx="244571" cy="36685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9615" name="Формула" r:id="rId5" imgW="152334" imgH="228501" progId="Equation.3">
                  <p:embed/>
                </p:oleObj>
              </mc:Choice>
              <mc:Fallback>
                <p:oleObj name="Формула" r:id="rId5" imgW="152334" imgH="228501" progId="Equation.3">
                  <p:embed/>
                  <p:pic>
                    <p:nvPicPr>
                      <p:cNvPr id="149513" name="Object 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084887" y="2276474"/>
                        <a:ext cx="244571" cy="366857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sp>
        <p:nvSpPr>
          <p:cNvPr id="149554" name="Rectangle 11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ru-RU" b="0"/>
          </a:p>
        </p:txBody>
      </p:sp>
      <p:graphicFrame>
        <p:nvGraphicFramePr>
          <p:cNvPr id="149515" name="Object 1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87841119"/>
              </p:ext>
            </p:extLst>
          </p:nvPr>
        </p:nvGraphicFramePr>
        <p:xfrm>
          <a:off x="6084887" y="2565400"/>
          <a:ext cx="212725" cy="3190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9616" name="Формула" r:id="rId7" imgW="152334" imgH="228501" progId="Equation.3">
                  <p:embed/>
                </p:oleObj>
              </mc:Choice>
              <mc:Fallback>
                <p:oleObj name="Формула" r:id="rId7" imgW="152334" imgH="228501" progId="Equation.3">
                  <p:embed/>
                  <p:pic>
                    <p:nvPicPr>
                      <p:cNvPr id="149515" name="Object 1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084887" y="2565400"/>
                        <a:ext cx="212725" cy="319088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sp>
        <p:nvSpPr>
          <p:cNvPr id="149555" name="Rectangle 13"/>
          <p:cNvSpPr>
            <a:spLocks noChangeArrowheads="1"/>
          </p:cNvSpPr>
          <p:nvPr/>
        </p:nvSpPr>
        <p:spPr bwMode="auto">
          <a:xfrm>
            <a:off x="0" y="3325813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ru-RU" b="0"/>
          </a:p>
        </p:txBody>
      </p:sp>
      <p:graphicFrame>
        <p:nvGraphicFramePr>
          <p:cNvPr id="149517" name="Object 1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836044254"/>
              </p:ext>
            </p:extLst>
          </p:nvPr>
        </p:nvGraphicFramePr>
        <p:xfrm>
          <a:off x="6586536" y="2816228"/>
          <a:ext cx="555625" cy="29209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9617" name="Формула" r:id="rId9" imgW="558558" imgH="203112" progId="Equation.3">
                  <p:embed/>
                </p:oleObj>
              </mc:Choice>
              <mc:Fallback>
                <p:oleObj name="Формула" r:id="rId9" imgW="558558" imgH="203112" progId="Equation.3">
                  <p:embed/>
                  <p:pic>
                    <p:nvPicPr>
                      <p:cNvPr id="149517" name="Object 1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586536" y="2816228"/>
                        <a:ext cx="555625" cy="292099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sp>
        <p:nvSpPr>
          <p:cNvPr id="149556" name="Rectangle 15"/>
          <p:cNvSpPr>
            <a:spLocks noChangeArrowheads="1"/>
          </p:cNvSpPr>
          <p:nvPr/>
        </p:nvSpPr>
        <p:spPr bwMode="auto">
          <a:xfrm>
            <a:off x="0" y="331470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ru-RU" b="0"/>
          </a:p>
        </p:txBody>
      </p:sp>
      <p:graphicFrame>
        <p:nvGraphicFramePr>
          <p:cNvPr id="149519" name="Object 1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415943298"/>
              </p:ext>
            </p:extLst>
          </p:nvPr>
        </p:nvGraphicFramePr>
        <p:xfrm>
          <a:off x="6207172" y="3492081"/>
          <a:ext cx="621427" cy="32189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9618" name="Формула" r:id="rId11" imgW="444307" imgH="228501" progId="Equation.3">
                  <p:embed/>
                </p:oleObj>
              </mc:Choice>
              <mc:Fallback>
                <p:oleObj name="Формула" r:id="rId11" imgW="444307" imgH="228501" progId="Equation.3">
                  <p:embed/>
                  <p:pic>
                    <p:nvPicPr>
                      <p:cNvPr id="149519" name="Object 1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207172" y="3492081"/>
                        <a:ext cx="621427" cy="321890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sp>
        <p:nvSpPr>
          <p:cNvPr id="149557" name="Rectangle 17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ru-RU" b="0"/>
          </a:p>
        </p:txBody>
      </p:sp>
      <p:graphicFrame>
        <p:nvGraphicFramePr>
          <p:cNvPr id="149521" name="Object 1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002676002"/>
              </p:ext>
            </p:extLst>
          </p:nvPr>
        </p:nvGraphicFramePr>
        <p:xfrm>
          <a:off x="5992812" y="4186782"/>
          <a:ext cx="304801" cy="35029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9619" name="Формула" r:id="rId13" imgW="215713" imgH="241091" progId="Equation.3">
                  <p:embed/>
                </p:oleObj>
              </mc:Choice>
              <mc:Fallback>
                <p:oleObj name="Формула" r:id="rId13" imgW="215713" imgH="241091" progId="Equation.3">
                  <p:embed/>
                  <p:pic>
                    <p:nvPicPr>
                      <p:cNvPr id="149521" name="Object 1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992812" y="4186782"/>
                        <a:ext cx="304801" cy="350294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sp>
        <p:nvSpPr>
          <p:cNvPr id="149558" name="Rectangle 19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ru-RU" b="0"/>
          </a:p>
        </p:txBody>
      </p:sp>
      <p:graphicFrame>
        <p:nvGraphicFramePr>
          <p:cNvPr id="149523" name="Object 1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127020346"/>
              </p:ext>
            </p:extLst>
          </p:nvPr>
        </p:nvGraphicFramePr>
        <p:xfrm>
          <a:off x="5992812" y="4592088"/>
          <a:ext cx="272979" cy="3275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9620" name="Формула" r:id="rId15" imgW="190500" imgH="228600" progId="Equation.3">
                  <p:embed/>
                </p:oleObj>
              </mc:Choice>
              <mc:Fallback>
                <p:oleObj name="Формула" r:id="rId15" imgW="190500" imgH="228600" progId="Equation.3">
                  <p:embed/>
                  <p:pic>
                    <p:nvPicPr>
                      <p:cNvPr id="149523" name="Object 1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992812" y="4592088"/>
                        <a:ext cx="272979" cy="327575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sp>
        <p:nvSpPr>
          <p:cNvPr id="149559" name="Rectangle 21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ru-RU" b="0"/>
          </a:p>
        </p:txBody>
      </p:sp>
      <p:graphicFrame>
        <p:nvGraphicFramePr>
          <p:cNvPr id="149525" name="Object 2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864817445"/>
              </p:ext>
            </p:extLst>
          </p:nvPr>
        </p:nvGraphicFramePr>
        <p:xfrm>
          <a:off x="5992812" y="5242719"/>
          <a:ext cx="295727" cy="32757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9621" name="Формула" r:id="rId17" imgW="203112" imgH="228501" progId="Equation.3">
                  <p:embed/>
                </p:oleObj>
              </mc:Choice>
              <mc:Fallback>
                <p:oleObj name="Формула" r:id="rId17" imgW="203112" imgH="228501" progId="Equation.3">
                  <p:embed/>
                  <p:pic>
                    <p:nvPicPr>
                      <p:cNvPr id="149525" name="Object 2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992812" y="5242719"/>
                        <a:ext cx="295727" cy="327574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149560" name="Picture 22" descr="img-inkmSN"/>
          <p:cNvPicPr>
            <a:picLocks noChangeAspect="1" noChangeArrowheads="1"/>
          </p:cNvPicPr>
          <p:nvPr/>
        </p:nvPicPr>
        <p:blipFill>
          <a:blip r:embed="rId19"/>
          <a:srcRect/>
          <a:stretch>
            <a:fillRect/>
          </a:stretch>
        </p:blipFill>
        <p:spPr bwMode="auto">
          <a:xfrm>
            <a:off x="323850" y="3789363"/>
            <a:ext cx="2532063" cy="19446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49561" name="Picture 23" descr="img-cOOKg0"/>
          <p:cNvPicPr>
            <a:picLocks noChangeAspect="1" noChangeArrowheads="1"/>
          </p:cNvPicPr>
          <p:nvPr/>
        </p:nvPicPr>
        <p:blipFill>
          <a:blip r:embed="rId20"/>
          <a:srcRect/>
          <a:stretch>
            <a:fillRect/>
          </a:stretch>
        </p:blipFill>
        <p:spPr bwMode="auto">
          <a:xfrm>
            <a:off x="3059113" y="3789363"/>
            <a:ext cx="2819400" cy="18716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49562" name="Rectangle 24"/>
          <p:cNvSpPr>
            <a:spLocks noChangeArrowheads="1"/>
          </p:cNvSpPr>
          <p:nvPr/>
        </p:nvSpPr>
        <p:spPr bwMode="auto">
          <a:xfrm>
            <a:off x="0" y="321945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ru-RU" b="0"/>
          </a:p>
        </p:txBody>
      </p:sp>
      <p:graphicFrame>
        <p:nvGraphicFramePr>
          <p:cNvPr id="149529" name="Object 25"/>
          <p:cNvGraphicFramePr>
            <a:graphicFrameLocks noChangeAspect="1"/>
          </p:cNvGraphicFramePr>
          <p:nvPr/>
        </p:nvGraphicFramePr>
        <p:xfrm>
          <a:off x="3419475" y="5805488"/>
          <a:ext cx="1584325" cy="6969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9622" name="Формула" r:id="rId21" imgW="952087" imgH="418918" progId="Equation.3">
                  <p:embed/>
                </p:oleObj>
              </mc:Choice>
              <mc:Fallback>
                <p:oleObj name="Формула" r:id="rId21" imgW="952087" imgH="418918" progId="Equation.3">
                  <p:embed/>
                  <p:pic>
                    <p:nvPicPr>
                      <p:cNvPr id="149529" name="Object 2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419475" y="5805488"/>
                        <a:ext cx="1584325" cy="696912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49563" name="Rectangle 26"/>
          <p:cNvSpPr>
            <a:spLocks noChangeArrowheads="1"/>
          </p:cNvSpPr>
          <p:nvPr/>
        </p:nvSpPr>
        <p:spPr bwMode="auto">
          <a:xfrm>
            <a:off x="0" y="3230563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ru-RU" b="0"/>
          </a:p>
        </p:txBody>
      </p:sp>
      <p:graphicFrame>
        <p:nvGraphicFramePr>
          <p:cNvPr id="149531" name="Object 27"/>
          <p:cNvGraphicFramePr>
            <a:graphicFrameLocks noChangeAspect="1"/>
          </p:cNvGraphicFramePr>
          <p:nvPr/>
        </p:nvGraphicFramePr>
        <p:xfrm>
          <a:off x="684213" y="5805488"/>
          <a:ext cx="1511300" cy="6302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9623" name="Формула" r:id="rId23" imgW="952087" imgH="393529" progId="Equation.3">
                  <p:embed/>
                </p:oleObj>
              </mc:Choice>
              <mc:Fallback>
                <p:oleObj name="Формула" r:id="rId23" imgW="952087" imgH="393529" progId="Equation.3">
                  <p:embed/>
                  <p:pic>
                    <p:nvPicPr>
                      <p:cNvPr id="149531" name="Object 2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84213" y="5805488"/>
                        <a:ext cx="1511300" cy="630237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49548" name="Object 44"/>
          <p:cNvGraphicFramePr>
            <a:graphicFrameLocks noChangeAspect="1"/>
          </p:cNvGraphicFramePr>
          <p:nvPr/>
        </p:nvGraphicFramePr>
        <p:xfrm>
          <a:off x="468313" y="1628775"/>
          <a:ext cx="4824412" cy="19145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9624" name="Формула" r:id="rId25" imgW="2374560" imgH="1193760" progId="Equation.3">
                  <p:embed/>
                </p:oleObj>
              </mc:Choice>
              <mc:Fallback>
                <p:oleObj name="Формула" r:id="rId25" imgW="2374560" imgH="1193760" progId="Equation.3">
                  <p:embed/>
                  <p:pic>
                    <p:nvPicPr>
                      <p:cNvPr id="149548" name="Object 4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68313" y="1628775"/>
                        <a:ext cx="4824412" cy="191452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25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ru-RU" b="1"/>
              <a:t>Модель </a:t>
            </a:r>
            <a:r>
              <a:rPr lang="en-US" b="1"/>
              <a:t>LSTM</a:t>
            </a:r>
            <a:endParaRPr lang="ru-RU" b="1"/>
          </a:p>
        </p:txBody>
      </p:sp>
      <p:sp>
        <p:nvSpPr>
          <p:cNvPr id="184326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184327" name="Rectangle 5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ru-RU" b="0"/>
          </a:p>
        </p:txBody>
      </p:sp>
      <p:graphicFrame>
        <p:nvGraphicFramePr>
          <p:cNvPr id="184324" name="Object 4"/>
          <p:cNvGraphicFramePr>
            <a:graphicFrameLocks noChangeAspect="1"/>
          </p:cNvGraphicFramePr>
          <p:nvPr/>
        </p:nvGraphicFramePr>
        <p:xfrm>
          <a:off x="395288" y="1844675"/>
          <a:ext cx="8497887" cy="41767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0438" name="Формула" r:id="rId3" imgW="4597400" imgH="1854200" progId="Equation.3">
                  <p:embed/>
                </p:oleObj>
              </mc:Choice>
              <mc:Fallback>
                <p:oleObj name="Формула" r:id="rId3" imgW="4597400" imgH="1854200" progId="Equation.3">
                  <p:embed/>
                  <p:pic>
                    <p:nvPicPr>
                      <p:cNvPr id="184324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95288" y="1844675"/>
                        <a:ext cx="8497887" cy="4176713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345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ru-RU" sz="4000" b="1"/>
              <a:t>Структура</a:t>
            </a:r>
            <a:r>
              <a:rPr lang="en-US" sz="4000" b="1"/>
              <a:t> </a:t>
            </a:r>
            <a:r>
              <a:rPr lang="ru-RU" sz="4000" b="1"/>
              <a:t>LSTM</a:t>
            </a:r>
            <a:br>
              <a:rPr lang="ru-RU" sz="4000" b="1"/>
            </a:br>
            <a:endParaRPr lang="ru-RU" sz="4000" b="1"/>
          </a:p>
        </p:txBody>
      </p:sp>
      <p:sp>
        <p:nvSpPr>
          <p:cNvPr id="185346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57200" y="1600200"/>
            <a:ext cx="8229600" cy="1973263"/>
          </a:xfrm>
        </p:spPr>
        <p:txBody>
          <a:bodyPr/>
          <a:lstStyle/>
          <a:p>
            <a:pPr>
              <a:lnSpc>
                <a:spcPct val="80000"/>
              </a:lnSpc>
            </a:pPr>
            <a:r>
              <a:rPr lang="ru-RU" sz="2800"/>
              <a:t>Структура LSTM также напоминает цепочку, но модули выглядят иначе. Вместо одного слоя нейронной сети они содержат целых четыре, и эти слои взаимодействуют особенным образом. </a:t>
            </a:r>
          </a:p>
        </p:txBody>
      </p:sp>
      <p:pic>
        <p:nvPicPr>
          <p:cNvPr id="185347" name="Picture 4" descr="67b04f73b4c34ba38edfa207e09de07c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755650" y="3429000"/>
            <a:ext cx="7488238" cy="28797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369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274638"/>
            <a:ext cx="8229600" cy="1066800"/>
          </a:xfrm>
        </p:spPr>
        <p:txBody>
          <a:bodyPr/>
          <a:lstStyle/>
          <a:p>
            <a:r>
              <a:rPr lang="ru-RU" sz="4000" b="1"/>
              <a:t>Структура LSTM</a:t>
            </a:r>
            <a:br>
              <a:rPr lang="ru-RU" sz="4000" b="1"/>
            </a:br>
            <a:endParaRPr lang="ru-RU" sz="4000" b="1"/>
          </a:p>
        </p:txBody>
      </p:sp>
      <p:sp>
        <p:nvSpPr>
          <p:cNvPr id="186370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algn="just">
              <a:lnSpc>
                <a:spcPct val="80000"/>
              </a:lnSpc>
            </a:pPr>
            <a:r>
              <a:rPr lang="ru-RU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На схеме каждая линия переносит целый вектор от выхода одного узла ко входу другого.  </a:t>
            </a:r>
          </a:p>
          <a:p>
            <a:pPr algn="just">
              <a:lnSpc>
                <a:spcPct val="80000"/>
              </a:lnSpc>
            </a:pPr>
            <a:r>
              <a:rPr lang="ru-RU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Ключевой компонент LSTM – это состояние ячейки (</a:t>
            </a:r>
            <a:r>
              <a:rPr lang="ru-RU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cell</a:t>
            </a:r>
            <a:r>
              <a:rPr lang="ru-RU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state</a:t>
            </a:r>
            <a:r>
              <a:rPr lang="ru-RU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 – горизонтальная линия, проходящая по верхней части схемы. </a:t>
            </a:r>
          </a:p>
          <a:p>
            <a:pPr algn="just">
              <a:lnSpc>
                <a:spcPct val="80000"/>
              </a:lnSpc>
            </a:pPr>
            <a:r>
              <a:rPr lang="ru-RU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Состояние ячейки напоминает конвейерную ленту. Она проходит напрямую через всю цепочку, участвуя лишь в нескольких линейных преобразованиях. Информация может легко течь по ней, не подвергаясь изменениям. 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393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ru-RU" b="1"/>
              <a:t>Структура LSTM</a:t>
            </a:r>
          </a:p>
        </p:txBody>
      </p:sp>
      <p:pic>
        <p:nvPicPr>
          <p:cNvPr id="187394" name="Picture 4" descr="db4e236e1d834c96949f17e94e8900c7"/>
          <p:cNvPicPr>
            <a:picLocks noGrp="1" noChangeAspect="1" noChangeArrowheads="1"/>
          </p:cNvPicPr>
          <p:nvPr>
            <p:ph type="body" idx="1"/>
          </p:nvPr>
        </p:nvPicPr>
        <p:blipFill>
          <a:blip r:embed="rId2"/>
          <a:srcRect/>
          <a:stretch>
            <a:fillRect/>
          </a:stretch>
        </p:blipFill>
        <p:spPr>
          <a:xfrm>
            <a:off x="755650" y="1628775"/>
            <a:ext cx="7632700" cy="2541588"/>
          </a:xfrm>
        </p:spPr>
      </p:pic>
      <p:sp>
        <p:nvSpPr>
          <p:cNvPr id="187395" name="Rectangle 5"/>
          <p:cNvSpPr>
            <a:spLocks noChangeArrowheads="1"/>
          </p:cNvSpPr>
          <p:nvPr/>
        </p:nvSpPr>
        <p:spPr bwMode="auto">
          <a:xfrm>
            <a:off x="323850" y="4314825"/>
            <a:ext cx="8064500" cy="15525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>
            <a:spAutoFit/>
          </a:bodyPr>
          <a:lstStyle/>
          <a:p>
            <a:r>
              <a:rPr lang="ru-RU" sz="2400" b="0">
                <a:latin typeface="Times New Roman" pitchFamily="18" charset="0"/>
              </a:rPr>
              <a:t>LSTM может удалять информацию из состояния ячейки; этот процесс регулируется структурами, называемыми фильтрами (gates).</a:t>
            </a:r>
            <a:br>
              <a:rPr lang="ru-RU" sz="2400" b="0">
                <a:latin typeface="Times New Roman" pitchFamily="18" charset="0"/>
              </a:rPr>
            </a:br>
            <a:endParaRPr lang="ru-RU" sz="2400" b="0">
              <a:latin typeface="Times New Roman" pitchFamily="18" charset="0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417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ru-RU" b="1"/>
              <a:t>Структура LSTM</a:t>
            </a:r>
          </a:p>
        </p:txBody>
      </p:sp>
      <p:sp>
        <p:nvSpPr>
          <p:cNvPr id="188418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57200" y="1600200"/>
            <a:ext cx="5483225" cy="5257800"/>
          </a:xfrm>
        </p:spPr>
        <p:txBody>
          <a:bodyPr/>
          <a:lstStyle/>
          <a:p>
            <a:pPr algn="just" eaLnBrk="1" hangingPunct="1">
              <a:lnSpc>
                <a:spcPct val="80000"/>
              </a:lnSpc>
              <a:spcBef>
                <a:spcPct val="0"/>
              </a:spcBef>
            </a:pP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Фильтры позволяют пропускать информацию на основании некоторых условий. Они состоят из слоя сигмоидальной нейронной сети и операции поточечного умножения.</a:t>
            </a:r>
          </a:p>
          <a:p>
            <a:pPr algn="just" eaLnBrk="1" hangingPunct="1">
              <a:lnSpc>
                <a:spcPct val="80000"/>
              </a:lnSpc>
              <a:spcBef>
                <a:spcPct val="0"/>
              </a:spcBef>
            </a:pP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Сигмоидальный слой возвращает числа от нуля до единицы, которые обозначают, какую долю каждого блока информации следует пропустить дальше по сети. Ноль в данном случае означает “не пропускать ничего”, единица – “пропустить все”. </a:t>
            </a:r>
          </a:p>
          <a:p>
            <a:pPr algn="just" eaLnBrk="1" hangingPunct="1">
              <a:lnSpc>
                <a:spcPct val="80000"/>
              </a:lnSpc>
              <a:spcBef>
                <a:spcPct val="0"/>
              </a:spcBef>
            </a:pP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В LSTM три таких фильтра, позволяющих защищать и контролировать состояние ячейки.</a:t>
            </a:r>
            <a:b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ru-RU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80000"/>
              </a:lnSpc>
            </a:pPr>
            <a:endParaRPr lang="ru-RU" sz="2000" dirty="0"/>
          </a:p>
        </p:txBody>
      </p:sp>
      <p:pic>
        <p:nvPicPr>
          <p:cNvPr id="188419" name="Picture 4" descr="c792d4f1bc1e4bb9829b6cbb41cdec59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6227763" y="1916113"/>
            <a:ext cx="2520950" cy="30972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633" name="Rectangle 2"/>
          <p:cNvSpPr>
            <a:spLocks noGrp="1" noChangeArrowheads="1"/>
          </p:cNvSpPr>
          <p:nvPr>
            <p:ph type="title"/>
          </p:nvPr>
        </p:nvSpPr>
        <p:spPr>
          <a:xfrm>
            <a:off x="468313" y="260350"/>
            <a:ext cx="8229600" cy="1143000"/>
          </a:xfrm>
        </p:spPr>
        <p:txBody>
          <a:bodyPr/>
          <a:lstStyle/>
          <a:p>
            <a:r>
              <a:rPr lang="ru-RU" b="1" dirty="0"/>
              <a:t>Структура </a:t>
            </a:r>
            <a:r>
              <a:rPr lang="en-US" b="1" dirty="0"/>
              <a:t>LSTM</a:t>
            </a:r>
            <a:endParaRPr lang="ru-RU" b="1" dirty="0"/>
          </a:p>
        </p:txBody>
      </p:sp>
      <p:sp>
        <p:nvSpPr>
          <p:cNvPr id="154634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95288" y="1700213"/>
            <a:ext cx="8374062" cy="4525962"/>
          </a:xfrm>
        </p:spPr>
        <p:txBody>
          <a:bodyPr/>
          <a:lstStyle/>
          <a:p>
            <a:pPr algn="just">
              <a:lnSpc>
                <a:spcPct val="80000"/>
              </a:lnSpc>
            </a:pP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Первый шаг в LSTM – определить, какую информацию можно выбросить из состояния ячейки. Это решение принимает сигмоидальный слой, называемый “слоем фильтра забывания” (</a:t>
            </a:r>
            <a:r>
              <a:rPr lang="ru-RU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forget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gate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layer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). Он смотрит на      и     </a:t>
            </a:r>
            <a:r>
              <a:rPr lang="ru-RU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и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возвращает число от 0 до 1 для каждого числа из состояния ячейки       . 1 означает “полностью сохранить”, а 0 – “полностью выбросить”.</a:t>
            </a:r>
            <a:b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Рассмотрим пример – языковую модель, предсказывающую следующее слово на основании всех предыдущих. В этом случае состояние ячейки должно сохранить существительное, чтобы затем использовать местоимения соответствующего рода. Когда мы видим новое существительное, мы можем забыть род старого. </a:t>
            </a:r>
          </a:p>
        </p:txBody>
      </p:sp>
      <p:sp>
        <p:nvSpPr>
          <p:cNvPr id="154635" name="Rectangle 5"/>
          <p:cNvSpPr>
            <a:spLocks noChangeArrowheads="1"/>
          </p:cNvSpPr>
          <p:nvPr/>
        </p:nvSpPr>
        <p:spPr bwMode="auto">
          <a:xfrm>
            <a:off x="0" y="331470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ru-RU" b="0"/>
          </a:p>
        </p:txBody>
      </p:sp>
      <p:graphicFrame>
        <p:nvGraphicFramePr>
          <p:cNvPr id="154628" name="Object 4"/>
          <p:cNvGraphicFramePr>
            <a:graphicFrameLocks noChangeAspect="1"/>
          </p:cNvGraphicFramePr>
          <p:nvPr/>
        </p:nvGraphicFramePr>
        <p:xfrm>
          <a:off x="1258888" y="2924175"/>
          <a:ext cx="360362" cy="3365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1502" name="Формула" r:id="rId3" imgW="241300" imgH="228600" progId="Equation.3">
                  <p:embed/>
                </p:oleObj>
              </mc:Choice>
              <mc:Fallback>
                <p:oleObj name="Формула" r:id="rId3" imgW="241300" imgH="228600" progId="Equation.3">
                  <p:embed/>
                  <p:pic>
                    <p:nvPicPr>
                      <p:cNvPr id="154628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258888" y="2924175"/>
                        <a:ext cx="360362" cy="33655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54636" name="Rectangle 7"/>
          <p:cNvSpPr>
            <a:spLocks noChangeArrowheads="1"/>
          </p:cNvSpPr>
          <p:nvPr/>
        </p:nvSpPr>
        <p:spPr bwMode="auto">
          <a:xfrm>
            <a:off x="0" y="331470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ru-RU" b="0"/>
          </a:p>
        </p:txBody>
      </p:sp>
      <p:graphicFrame>
        <p:nvGraphicFramePr>
          <p:cNvPr id="154630" name="Object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494358746"/>
              </p:ext>
            </p:extLst>
          </p:nvPr>
        </p:nvGraphicFramePr>
        <p:xfrm>
          <a:off x="1851025" y="2870200"/>
          <a:ext cx="327025" cy="444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1503" name="Формула" r:id="rId5" imgW="165028" imgH="228501" progId="Equation.3">
                  <p:embed/>
                </p:oleObj>
              </mc:Choice>
              <mc:Fallback>
                <p:oleObj name="Формула" r:id="rId5" imgW="165028" imgH="228501" progId="Equation.3">
                  <p:embed/>
                  <p:pic>
                    <p:nvPicPr>
                      <p:cNvPr id="154630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851025" y="2870200"/>
                        <a:ext cx="327025" cy="444500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54632" name="Object 8"/>
          <p:cNvGraphicFramePr>
            <a:graphicFrameLocks noChangeAspect="1"/>
          </p:cNvGraphicFramePr>
          <p:nvPr/>
        </p:nvGraphicFramePr>
        <p:xfrm>
          <a:off x="4716463" y="3141663"/>
          <a:ext cx="431800" cy="3698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1504" name="Формула" r:id="rId7" imgW="266584" imgH="228501" progId="Equation.3">
                  <p:embed/>
                </p:oleObj>
              </mc:Choice>
              <mc:Fallback>
                <p:oleObj name="Формула" r:id="rId7" imgW="266584" imgH="228501" progId="Equation.3">
                  <p:embed/>
                  <p:pic>
                    <p:nvPicPr>
                      <p:cNvPr id="154632" name="Object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716463" y="3141663"/>
                        <a:ext cx="431800" cy="369887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465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ru-RU" b="1"/>
              <a:t>Структура </a:t>
            </a:r>
            <a:r>
              <a:rPr lang="en-US" b="1"/>
              <a:t>LSTM</a:t>
            </a:r>
            <a:endParaRPr lang="ru-RU" b="1"/>
          </a:p>
        </p:txBody>
      </p:sp>
      <p:pic>
        <p:nvPicPr>
          <p:cNvPr id="190466" name="Picture 4" descr="a5f31a104b184217aca105de9ab6d320"/>
          <p:cNvPicPr>
            <a:picLocks noGrp="1" noChangeAspect="1" noChangeArrowheads="1"/>
          </p:cNvPicPr>
          <p:nvPr>
            <p:ph type="body" idx="1"/>
          </p:nvPr>
        </p:nvPicPr>
        <p:blipFill>
          <a:blip r:embed="rId2"/>
          <a:srcRect/>
          <a:stretch>
            <a:fillRect/>
          </a:stretch>
        </p:blipFill>
        <p:spPr>
          <a:xfrm>
            <a:off x="395288" y="1773238"/>
            <a:ext cx="8229600" cy="2541587"/>
          </a:xfr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46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ru-RU" b="1"/>
              <a:t>Структура </a:t>
            </a:r>
            <a:r>
              <a:rPr lang="en-US" b="1"/>
              <a:t>LSTM</a:t>
            </a:r>
            <a:endParaRPr lang="ru-RU" b="1"/>
          </a:p>
        </p:txBody>
      </p:sp>
      <p:sp>
        <p:nvSpPr>
          <p:cNvPr id="14746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57200" y="1600200"/>
            <a:ext cx="8362950" cy="3052763"/>
          </a:xfrm>
        </p:spPr>
        <p:txBody>
          <a:bodyPr/>
          <a:lstStyle/>
          <a:p>
            <a:pPr>
              <a:lnSpc>
                <a:spcPct val="80000"/>
              </a:lnSpc>
            </a:pP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Следующий шаг – решить, какая новая информация будет храниться в состоянии ячейки. Этот этап состоит из двух частей. Сначала сигмоидальный слой под названием “слой входного фильтра” (</a:t>
            </a:r>
            <a:r>
              <a:rPr lang="ru-RU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input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layer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gate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 определяет, какие значения следует обновить. Затем </a:t>
            </a:r>
            <a:r>
              <a:rPr lang="ru-RU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tanh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-слой строит вектор новых значений-кандидатов     , которые можно добавить в состояние ячейки.</a:t>
            </a:r>
            <a:b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В нашем примере с языковой моделью на этом шаге мы хотим добавить род нового существительного, заменив при этом старый. </a:t>
            </a:r>
          </a:p>
        </p:txBody>
      </p:sp>
      <p:pic>
        <p:nvPicPr>
          <p:cNvPr id="147466" name="Picture 4" descr="248bf4a75ab74bf180b9c0e2e2cc5a58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755650" y="3667432"/>
            <a:ext cx="7632700" cy="24479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47467" name="Rectangle 6"/>
          <p:cNvSpPr>
            <a:spLocks noChangeArrowheads="1"/>
          </p:cNvSpPr>
          <p:nvPr/>
        </p:nvSpPr>
        <p:spPr bwMode="auto">
          <a:xfrm>
            <a:off x="0" y="3303588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ru-RU" b="0"/>
          </a:p>
        </p:txBody>
      </p:sp>
      <p:sp>
        <p:nvSpPr>
          <p:cNvPr id="147468" name="Rectangle 8"/>
          <p:cNvSpPr>
            <a:spLocks noChangeArrowheads="1"/>
          </p:cNvSpPr>
          <p:nvPr/>
        </p:nvSpPr>
        <p:spPr bwMode="auto">
          <a:xfrm>
            <a:off x="0" y="320040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ru-RU" b="0"/>
          </a:p>
        </p:txBody>
      </p:sp>
      <p:graphicFrame>
        <p:nvGraphicFramePr>
          <p:cNvPr id="147463" name="Object 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801682161"/>
              </p:ext>
            </p:extLst>
          </p:nvPr>
        </p:nvGraphicFramePr>
        <p:xfrm>
          <a:off x="6084168" y="2484711"/>
          <a:ext cx="320675" cy="457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2486" name="Формула" r:id="rId4" imgW="177569" imgH="253670" progId="Equation.3">
                  <p:embed/>
                </p:oleObj>
              </mc:Choice>
              <mc:Fallback>
                <p:oleObj name="Формула" r:id="rId4" imgW="177569" imgH="253670" progId="Equation.3">
                  <p:embed/>
                  <p:pic>
                    <p:nvPicPr>
                      <p:cNvPr id="147463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084168" y="2484711"/>
                        <a:ext cx="320675" cy="4572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183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ru-RU" b="1"/>
              <a:t>Структура </a:t>
            </a:r>
            <a:r>
              <a:rPr lang="en-US" b="1"/>
              <a:t>LSTM</a:t>
            </a:r>
            <a:endParaRPr lang="ru-RU" b="1"/>
          </a:p>
        </p:txBody>
      </p:sp>
      <p:sp>
        <p:nvSpPr>
          <p:cNvPr id="178184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57200" y="1600200"/>
            <a:ext cx="8229600" cy="2549525"/>
          </a:xfrm>
        </p:spPr>
        <p:txBody>
          <a:bodyPr/>
          <a:lstStyle/>
          <a:p>
            <a:pPr>
              <a:lnSpc>
                <a:spcPct val="80000"/>
              </a:lnSpc>
            </a:pP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Умножаем старое состояние на       , забывая то, что мы решили забыть. Затем прибавляем            . Это новые значения-кандидаты, умноженные на </a:t>
            </a:r>
            <a:r>
              <a:rPr lang="en-US" sz="2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sz="16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– на сколько мы хотим обновить каждое из значений состояния.  Для языковой модели это тот момент, когда мы выбрасываем информацию о роде старого существительного и добавляем новую информацию.</a:t>
            </a:r>
            <a:b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ru-RU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78185" name="Rectangle 5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ru-RU" b="0"/>
          </a:p>
        </p:txBody>
      </p:sp>
      <p:graphicFrame>
        <p:nvGraphicFramePr>
          <p:cNvPr id="178180" name="Objec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810910438"/>
              </p:ext>
            </p:extLst>
          </p:nvPr>
        </p:nvGraphicFramePr>
        <p:xfrm>
          <a:off x="5004048" y="1516063"/>
          <a:ext cx="379412" cy="5159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3530" name="Формула" r:id="rId3" imgW="165028" imgH="228501" progId="Equation.3">
                  <p:embed/>
                </p:oleObj>
              </mc:Choice>
              <mc:Fallback>
                <p:oleObj name="Формула" r:id="rId3" imgW="165028" imgH="228501" progId="Equation.3">
                  <p:embed/>
                  <p:pic>
                    <p:nvPicPr>
                      <p:cNvPr id="17818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004048" y="1516063"/>
                        <a:ext cx="379412" cy="515937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78186" name="Rectangle 7"/>
          <p:cNvSpPr>
            <a:spLocks noChangeArrowheads="1"/>
          </p:cNvSpPr>
          <p:nvPr/>
        </p:nvSpPr>
        <p:spPr bwMode="auto">
          <a:xfrm>
            <a:off x="0" y="331470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ru-RU" b="0"/>
          </a:p>
        </p:txBody>
      </p:sp>
      <p:graphicFrame>
        <p:nvGraphicFramePr>
          <p:cNvPr id="178182" name="Object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091557801"/>
              </p:ext>
            </p:extLst>
          </p:nvPr>
        </p:nvGraphicFramePr>
        <p:xfrm>
          <a:off x="5373141" y="1833497"/>
          <a:ext cx="935037" cy="5175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3531" name="Формула" r:id="rId5" imgW="381000" imgH="228600" progId="Equation.3">
                  <p:embed/>
                </p:oleObj>
              </mc:Choice>
              <mc:Fallback>
                <p:oleObj name="Формула" r:id="rId5" imgW="381000" imgH="228600" progId="Equation.3">
                  <p:embed/>
                  <p:pic>
                    <p:nvPicPr>
                      <p:cNvPr id="178182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373141" y="1833497"/>
                        <a:ext cx="935037" cy="51752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178187" name="Picture 8" descr="30effa7f98274deaa65cf2e293f18365"/>
          <p:cNvPicPr>
            <a:picLocks noChangeAspect="1" noChangeArrowheads="1"/>
          </p:cNvPicPr>
          <p:nvPr/>
        </p:nvPicPr>
        <p:blipFill>
          <a:blip r:embed="rId7"/>
          <a:srcRect/>
          <a:stretch>
            <a:fillRect/>
          </a:stretch>
        </p:blipFill>
        <p:spPr bwMode="auto">
          <a:xfrm>
            <a:off x="1331913" y="3933825"/>
            <a:ext cx="6696075" cy="21383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537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ru-RU" b="1"/>
              <a:t>Структура </a:t>
            </a:r>
            <a:r>
              <a:rPr lang="en-US" b="1"/>
              <a:t>LSTM</a:t>
            </a:r>
            <a:endParaRPr lang="ru-RU" b="1"/>
          </a:p>
        </p:txBody>
      </p:sp>
      <p:sp>
        <p:nvSpPr>
          <p:cNvPr id="193538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57200" y="1600200"/>
            <a:ext cx="8229600" cy="2333625"/>
          </a:xfrm>
        </p:spPr>
        <p:txBody>
          <a:bodyPr/>
          <a:lstStyle/>
          <a:p>
            <a:pPr algn="just">
              <a:lnSpc>
                <a:spcPct val="80000"/>
              </a:lnSpc>
            </a:pP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Далее нужно решить, какую информацию мы хотим получать на выходе. Выходные данные будут основаны на нашем состоянии ячейки, к ним будут применены некоторые фильтры. Сначала мы применяем сигмоидальный слой, который решает, какую информацию из состояния ячейки мы будем выводить. Затем значения состояния ячейки проходят через </a:t>
            </a:r>
            <a:r>
              <a:rPr lang="ru-RU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tanh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-слой, чтобы получить на выходе значения из диапазона от -1 до 1, и перемножаются с выходными значениями сигмоидального слоя, что позволяет выводить только требуемую информацию. </a:t>
            </a:r>
          </a:p>
        </p:txBody>
      </p:sp>
      <p:pic>
        <p:nvPicPr>
          <p:cNvPr id="193539" name="Picture 4" descr="16d5b5783ba34244afcf0f240133fb28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900113" y="3933825"/>
            <a:ext cx="6985000" cy="23034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61" name="Rectangle 2"/>
          <p:cNvSpPr>
            <a:spLocks noGrp="1" noChangeArrowheads="1"/>
          </p:cNvSpPr>
          <p:nvPr>
            <p:ph type="title"/>
          </p:nvPr>
        </p:nvSpPr>
        <p:spPr>
          <a:xfrm>
            <a:off x="250825" y="260350"/>
            <a:ext cx="8642350" cy="1368425"/>
          </a:xfrm>
        </p:spPr>
        <p:txBody>
          <a:bodyPr/>
          <a:lstStyle/>
          <a:p>
            <a:r>
              <a:rPr lang="ru-RU" sz="3600" b="1"/>
              <a:t>GRU — управляемый рекуррентный блок</a:t>
            </a:r>
            <a:br>
              <a:rPr lang="ru-RU" sz="3600" b="1"/>
            </a:br>
            <a:r>
              <a:rPr lang="en-US" sz="3600" b="1"/>
              <a:t>Gated Recurrent Unit</a:t>
            </a:r>
            <a:endParaRPr lang="ru-RU" sz="4000" b="1"/>
          </a:p>
        </p:txBody>
      </p:sp>
      <p:sp>
        <p:nvSpPr>
          <p:cNvPr id="194562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57200" y="1916113"/>
            <a:ext cx="8229600" cy="4210050"/>
          </a:xfrm>
        </p:spPr>
        <p:txBody>
          <a:bodyPr/>
          <a:lstStyle/>
          <a:p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В отличии от LSTM у GRU нет состояния ячейки и есть только два фильтра. </a:t>
            </a:r>
          </a:p>
          <a:p>
            <a:endParaRPr lang="ru-RU" dirty="0"/>
          </a:p>
        </p:txBody>
      </p:sp>
      <p:pic>
        <p:nvPicPr>
          <p:cNvPr id="194563" name="Picture 4" descr="0_lvq42HQWgrLV77Qy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900113" y="3429000"/>
            <a:ext cx="7056437" cy="23764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281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ru-RU" sz="3600" b="1"/>
              <a:t>GRU — управляемый рекуррентный блок</a:t>
            </a:r>
            <a:br>
              <a:rPr lang="ru-RU" sz="3600" b="1"/>
            </a:br>
            <a:endParaRPr lang="ru-RU" sz="3600" b="1"/>
          </a:p>
        </p:txBody>
      </p:sp>
      <p:sp>
        <p:nvSpPr>
          <p:cNvPr id="182282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>
              <a:lnSpc>
                <a:spcPct val="90000"/>
              </a:lnSpc>
            </a:pP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В управляемом рекуррентном блоке используются только фильтр обновления и фильтр сброса. Фильтр обновления отбирает информацию из предыдущих шагов, которая должна пойти дальше, а фильтр сброса решает, какую информацию из предыдущих шагов нужно отбросить. На рисунке 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— это фильтр обновления, он находит значения, которые должны пойти на следующие шаги с помощью </a:t>
            </a:r>
            <a:r>
              <a:rPr lang="ru-RU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сигмоидной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функции. 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— это фильтр сброса, который перемножает сцепленные входные данные этого шага и представления предыдущего с 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и выдает значения из предыдущего шага, которые мы бы хотели бы убрать. </a:t>
            </a:r>
          </a:p>
        </p:txBody>
      </p:sp>
      <p:sp>
        <p:nvSpPr>
          <p:cNvPr id="182283" name="Rectangle 5"/>
          <p:cNvSpPr>
            <a:spLocks noChangeArrowheads="1"/>
          </p:cNvSpPr>
          <p:nvPr/>
        </p:nvSpPr>
        <p:spPr bwMode="auto">
          <a:xfrm>
            <a:off x="0" y="331470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ru-RU" b="0"/>
          </a:p>
        </p:txBody>
      </p:sp>
      <p:graphicFrame>
        <p:nvGraphicFramePr>
          <p:cNvPr id="182276" name="Objec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774067207"/>
              </p:ext>
            </p:extLst>
          </p:nvPr>
        </p:nvGraphicFramePr>
        <p:xfrm>
          <a:off x="2006759" y="3007001"/>
          <a:ext cx="536575" cy="8048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4574" name="Формула" r:id="rId3" imgW="152334" imgH="228501" progId="Equation.3">
                  <p:embed/>
                </p:oleObj>
              </mc:Choice>
              <mc:Fallback>
                <p:oleObj name="Формула" r:id="rId3" imgW="152334" imgH="228501" progId="Equation.3">
                  <p:embed/>
                  <p:pic>
                    <p:nvPicPr>
                      <p:cNvPr id="182276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006759" y="3007001"/>
                        <a:ext cx="536575" cy="804862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82284" name="Rectangle 7"/>
          <p:cNvSpPr>
            <a:spLocks noChangeArrowheads="1"/>
          </p:cNvSpPr>
          <p:nvPr/>
        </p:nvSpPr>
        <p:spPr bwMode="auto">
          <a:xfrm>
            <a:off x="0" y="331470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ru-RU" b="0"/>
          </a:p>
        </p:txBody>
      </p:sp>
      <p:graphicFrame>
        <p:nvGraphicFramePr>
          <p:cNvPr id="182278" name="Object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918605133"/>
              </p:ext>
            </p:extLst>
          </p:nvPr>
        </p:nvGraphicFramePr>
        <p:xfrm>
          <a:off x="5222953" y="3807604"/>
          <a:ext cx="392113" cy="5889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4575" name="Формула" r:id="rId5" imgW="152334" imgH="228501" progId="Equation.3">
                  <p:embed/>
                </p:oleObj>
              </mc:Choice>
              <mc:Fallback>
                <p:oleObj name="Формула" r:id="rId5" imgW="152334" imgH="228501" progId="Equation.3">
                  <p:embed/>
                  <p:pic>
                    <p:nvPicPr>
                      <p:cNvPr id="182278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222953" y="3807604"/>
                        <a:ext cx="392113" cy="588963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82285" name="Rectangle 9"/>
          <p:cNvSpPr>
            <a:spLocks noChangeArrowheads="1"/>
          </p:cNvSpPr>
          <p:nvPr/>
        </p:nvSpPr>
        <p:spPr bwMode="auto">
          <a:xfrm>
            <a:off x="0" y="331470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ru-RU" b="0"/>
          </a:p>
        </p:txBody>
      </p:sp>
      <p:graphicFrame>
        <p:nvGraphicFramePr>
          <p:cNvPr id="182280" name="Object 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725738945"/>
              </p:ext>
            </p:extLst>
          </p:nvPr>
        </p:nvGraphicFramePr>
        <p:xfrm>
          <a:off x="5796136" y="4318001"/>
          <a:ext cx="458787" cy="8048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4576" name="Формула" r:id="rId7" imgW="126890" imgH="228402" progId="Equation.3">
                  <p:embed/>
                </p:oleObj>
              </mc:Choice>
              <mc:Fallback>
                <p:oleObj name="Формула" r:id="rId7" imgW="126890" imgH="228402" progId="Equation.3">
                  <p:embed/>
                  <p:pic>
                    <p:nvPicPr>
                      <p:cNvPr id="182280" name="Object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796136" y="4318001"/>
                        <a:ext cx="458787" cy="804862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609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ru-RU" sz="3600" b="1" dirty="0"/>
              <a:t>GRU — управляемый рекуррентный блок</a:t>
            </a:r>
            <a:br>
              <a:rPr lang="ru-RU" sz="3600" b="1" dirty="0"/>
            </a:br>
            <a:endParaRPr lang="ru-RU" sz="3600" b="1" dirty="0"/>
          </a:p>
        </p:txBody>
      </p:sp>
      <p:sp>
        <p:nvSpPr>
          <p:cNvPr id="196610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algn="just"/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Не смотря на то, что GRU эффективнее в вычислительном плане из-за меньшего количества фильтров, он все равно стоит на втором месте после LSTM в плане исполнения. Поэтому GRU можно использовать тогда, когда нам нужно быстро обучить модель, а вычислительных мощностей не хватает. 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378" name="Text Box 2"/>
          <p:cNvSpPr txBox="1">
            <a:spLocks noChangeArrowheads="1"/>
          </p:cNvSpPr>
          <p:nvPr/>
        </p:nvSpPr>
        <p:spPr bwMode="auto">
          <a:xfrm>
            <a:off x="250825" y="0"/>
            <a:ext cx="8893175" cy="8493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0" tIns="46800" rIns="90000" bIns="46800"/>
          <a:lstStyle>
            <a:lvl1pPr defTabSz="449263">
              <a:spcBef>
                <a:spcPct val="20000"/>
              </a:spcBef>
              <a:buChar char="•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defTabSz="449263">
              <a:spcBef>
                <a:spcPct val="20000"/>
              </a:spcBef>
              <a:buChar char="–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defTabSz="449263">
              <a:spcBef>
                <a:spcPct val="20000"/>
              </a:spcBef>
              <a:buChar char="•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defTabSz="449263">
              <a:spcBef>
                <a:spcPct val="20000"/>
              </a:spcBef>
              <a:buChar char="–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defTabSz="449263">
              <a:spcBef>
                <a:spcPct val="20000"/>
              </a:spcBef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defTabSz="449263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defTabSz="449263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defTabSz="449263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defTabSz="449263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lnSpc>
                <a:spcPct val="90000"/>
              </a:lnSpc>
              <a:spcBef>
                <a:spcPct val="0"/>
              </a:spcBef>
              <a:buFontTx/>
              <a:buNone/>
            </a:pPr>
            <a:r>
              <a:rPr lang="ru-RU" altLang="ru-RU" sz="3400" b="1">
                <a:latin typeface="Calibri" panose="020F0502020204030204" pitchFamily="34" charset="0"/>
              </a:rPr>
              <a:t>Фреймворки для работы с глубокими сетями</a:t>
            </a:r>
          </a:p>
        </p:txBody>
      </p:sp>
      <p:pic>
        <p:nvPicPr>
          <p:cNvPr id="101379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9750" y="4100513"/>
            <a:ext cx="7800975" cy="1955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blipFill dpi="0" rotWithShape="0">
                  <a:blip/>
                  <a:srcRect/>
                  <a:stretch>
                    <a:fillRect/>
                  </a:stretch>
                </a:blip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pic>
      <p:sp>
        <p:nvSpPr>
          <p:cNvPr id="101380" name="Text Box 4"/>
          <p:cNvSpPr txBox="1">
            <a:spLocks noChangeArrowheads="1"/>
          </p:cNvSpPr>
          <p:nvPr/>
        </p:nvSpPr>
        <p:spPr bwMode="auto">
          <a:xfrm>
            <a:off x="323850" y="1701800"/>
            <a:ext cx="8424863" cy="111017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0" tIns="46800" rIns="90000" bIns="46800">
            <a:spAutoFit/>
          </a:bodyPr>
          <a:lstStyle>
            <a:lvl1pPr defTabSz="449263">
              <a:spcBef>
                <a:spcPct val="20000"/>
              </a:spcBef>
              <a:buChar char="•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defTabSz="449263">
              <a:spcBef>
                <a:spcPct val="20000"/>
              </a:spcBef>
              <a:buChar char="–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defTabSz="449263">
              <a:spcBef>
                <a:spcPct val="20000"/>
              </a:spcBef>
              <a:buChar char="•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defTabSz="449263">
              <a:spcBef>
                <a:spcPct val="20000"/>
              </a:spcBef>
              <a:buChar char="–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defTabSz="449263">
              <a:spcBef>
                <a:spcPct val="20000"/>
              </a:spcBef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defTabSz="449263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defTabSz="449263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defTabSz="449263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defTabSz="449263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>
                <a:srgbClr val="000000"/>
              </a:buClr>
              <a:buFont typeface="Wingdings" panose="05000000000000000000" pitchFamily="2" charset="2"/>
              <a:buChar char=""/>
            </a:pPr>
            <a:r>
              <a:rPr lang="ru-RU" altLang="ru-RU" sz="2200" dirty="0">
                <a:solidFill>
                  <a:srgbClr val="000000"/>
                </a:solidFill>
                <a:latin typeface="Calibri" panose="020F0502020204030204" pitchFamily="34" charset="0"/>
              </a:rPr>
              <a:t> </a:t>
            </a:r>
            <a:r>
              <a:rPr lang="ru-RU" altLang="ru-RU" sz="22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Определение графа вычислений</a:t>
            </a:r>
          </a:p>
          <a:p>
            <a:pPr eaLnBrk="1" hangingPunct="1">
              <a:spcBef>
                <a:spcPct val="0"/>
              </a:spcBef>
              <a:buClr>
                <a:srgbClr val="000000"/>
              </a:buClr>
              <a:buFont typeface="Wingdings" panose="05000000000000000000" pitchFamily="2" charset="2"/>
              <a:buChar char=""/>
            </a:pPr>
            <a:r>
              <a:rPr lang="ru-RU" altLang="ru-RU" sz="22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Расчет графа вычислений</a:t>
            </a:r>
          </a:p>
          <a:p>
            <a:pPr eaLnBrk="1" hangingPunct="1">
              <a:spcBef>
                <a:spcPct val="0"/>
              </a:spcBef>
              <a:buClr>
                <a:srgbClr val="000000"/>
              </a:buClr>
              <a:buFont typeface="Wingdings" panose="05000000000000000000" pitchFamily="2" charset="2"/>
              <a:buChar char=""/>
            </a:pPr>
            <a:r>
              <a:rPr lang="ru-RU" altLang="ru-RU" sz="22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Дифференцирование графа</a:t>
            </a:r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0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426" name="Text Box 2"/>
          <p:cNvSpPr txBox="1">
            <a:spLocks noChangeArrowheads="1"/>
          </p:cNvSpPr>
          <p:nvPr/>
        </p:nvSpPr>
        <p:spPr bwMode="auto">
          <a:xfrm>
            <a:off x="250825" y="0"/>
            <a:ext cx="8893175" cy="8493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0" tIns="46800" rIns="90000" bIns="46800"/>
          <a:lstStyle>
            <a:lvl1pPr defTabSz="449263">
              <a:spcBef>
                <a:spcPct val="20000"/>
              </a:spcBef>
              <a:buChar char="•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defTabSz="449263">
              <a:spcBef>
                <a:spcPct val="20000"/>
              </a:spcBef>
              <a:buChar char="–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defTabSz="449263">
              <a:spcBef>
                <a:spcPct val="20000"/>
              </a:spcBef>
              <a:buChar char="•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defTabSz="449263">
              <a:spcBef>
                <a:spcPct val="20000"/>
              </a:spcBef>
              <a:buChar char="–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defTabSz="449263">
              <a:spcBef>
                <a:spcPct val="20000"/>
              </a:spcBef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defTabSz="449263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defTabSz="449263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defTabSz="449263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defTabSz="449263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lnSpc>
                <a:spcPct val="90000"/>
              </a:lnSpc>
              <a:spcBef>
                <a:spcPct val="0"/>
              </a:spcBef>
              <a:buFontTx/>
              <a:buNone/>
            </a:pPr>
            <a:r>
              <a:rPr lang="ru-RU" altLang="ru-RU" sz="3700" b="1">
                <a:latin typeface="Calibri" panose="020F0502020204030204" pitchFamily="34" charset="0"/>
              </a:rPr>
              <a:t>Типы фреймворков</a:t>
            </a:r>
          </a:p>
        </p:txBody>
      </p:sp>
      <p:sp>
        <p:nvSpPr>
          <p:cNvPr id="103427" name="Text Box 3"/>
          <p:cNvSpPr txBox="1">
            <a:spLocks noChangeArrowheads="1"/>
          </p:cNvSpPr>
          <p:nvPr/>
        </p:nvSpPr>
        <p:spPr bwMode="auto">
          <a:xfrm>
            <a:off x="323850" y="836613"/>
            <a:ext cx="8424863" cy="53276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0" tIns="46800" rIns="90000" bIns="46800">
            <a:spAutoFit/>
          </a:bodyPr>
          <a:lstStyle>
            <a:lvl1pPr defTabSz="449263">
              <a:spcBef>
                <a:spcPct val="20000"/>
              </a:spcBef>
              <a:buChar char="•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defTabSz="449263">
              <a:spcBef>
                <a:spcPct val="20000"/>
              </a:spcBef>
              <a:buChar char="–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defTabSz="449263">
              <a:spcBef>
                <a:spcPct val="20000"/>
              </a:spcBef>
              <a:buChar char="•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defTabSz="449263">
              <a:spcBef>
                <a:spcPct val="20000"/>
              </a:spcBef>
              <a:buChar char="–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defTabSz="449263">
              <a:spcBef>
                <a:spcPct val="20000"/>
              </a:spcBef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defTabSz="449263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defTabSz="449263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defTabSz="449263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defTabSz="449263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>
                <a:srgbClr val="000000"/>
              </a:buClr>
              <a:buFont typeface="Wingdings" panose="05000000000000000000" pitchFamily="2" charset="2"/>
              <a:buChar char=""/>
            </a:pPr>
            <a:r>
              <a:rPr lang="ru-RU" altLang="ru-RU" sz="2200" dirty="0">
                <a:solidFill>
                  <a:srgbClr val="000000"/>
                </a:solidFill>
                <a:latin typeface="Calibri" panose="020F0502020204030204" pitchFamily="34" charset="0"/>
              </a:rPr>
              <a:t> </a:t>
            </a:r>
            <a:r>
              <a:rPr lang="ru-RU" altLang="ru-RU" sz="21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Фиксированные модули. Заранее определенные блоки комбинируются в граф вычислений и запускается. Максимальная скорость разработки, минимальная расширяемость.</a:t>
            </a:r>
            <a:r>
              <a:rPr lang="en-US" altLang="ru-RU" sz="21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ru-RU" sz="21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Caffe, Caffe2, DL4J, </a:t>
            </a:r>
            <a:r>
              <a:rPr lang="en-US" altLang="ru-RU" sz="2100" b="1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Keras</a:t>
            </a:r>
            <a:r>
              <a:rPr lang="en-US" altLang="ru-RU" sz="21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).</a:t>
            </a:r>
          </a:p>
          <a:p>
            <a:pPr eaLnBrk="1" hangingPunct="1">
              <a:spcBef>
                <a:spcPct val="0"/>
              </a:spcBef>
              <a:buClr>
                <a:srgbClr val="000000"/>
              </a:buClr>
              <a:buFont typeface="Wingdings" panose="05000000000000000000" pitchFamily="2" charset="2"/>
              <a:buChar char=""/>
            </a:pPr>
            <a:r>
              <a:rPr lang="en-US" altLang="ru-RU" sz="21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altLang="ru-RU" sz="21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Статический граф вычислений. Описывается сколь угодно сложный граф вычислений, потом он компилируется. После этого доступно прямое и обратное распространение. Появляется гибкость, но очень сложная отладка. </a:t>
            </a:r>
            <a:r>
              <a:rPr lang="en-US" altLang="ru-RU" sz="21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ru-RU" sz="21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Theano, TensorFlow, </a:t>
            </a:r>
            <a:r>
              <a:rPr lang="en-US" altLang="ru-RU" sz="2100" b="1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MXNet</a:t>
            </a:r>
            <a:r>
              <a:rPr lang="en-US" altLang="ru-RU" sz="21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en-US" altLang="ru-RU" sz="21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eaLnBrk="1" hangingPunct="1">
              <a:spcBef>
                <a:spcPct val="0"/>
              </a:spcBef>
              <a:buClr>
                <a:srgbClr val="000000"/>
              </a:buClr>
              <a:buFont typeface="Wingdings" panose="05000000000000000000" pitchFamily="2" charset="2"/>
              <a:buChar char=""/>
            </a:pPr>
            <a:r>
              <a:rPr lang="en-US" altLang="ru-RU" sz="21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altLang="ru-RU" sz="21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Динамический граф вычислений. Граф строится каждый раз при прямом проходе, чтобы потом иметь возможность сделать проход обратный. Максимальная гибкость, расширяемость, но проигрывает в скорости. </a:t>
            </a:r>
            <a:r>
              <a:rPr lang="en-US" altLang="ru-RU" sz="21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ru-RU" sz="21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Torch, </a:t>
            </a:r>
            <a:r>
              <a:rPr lang="en-US" altLang="ru-RU" sz="2100" b="1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PyTorch</a:t>
            </a:r>
            <a:r>
              <a:rPr lang="en-US" altLang="ru-RU" sz="21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).</a:t>
            </a:r>
          </a:p>
          <a:p>
            <a:pPr eaLnBrk="1" hangingPunct="1">
              <a:spcBef>
                <a:spcPct val="0"/>
              </a:spcBef>
              <a:buClr>
                <a:srgbClr val="000000"/>
              </a:buClr>
              <a:buFont typeface="Wingdings" panose="05000000000000000000" pitchFamily="2" charset="2"/>
              <a:buChar char=""/>
            </a:pPr>
            <a:r>
              <a:rPr lang="ru-RU" altLang="ru-RU" sz="18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Torch</a:t>
            </a:r>
            <a:r>
              <a:rPr lang="ru-RU" altLang="ru-RU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— </a:t>
            </a:r>
            <a:r>
              <a:rPr lang="en-US" altLang="ru-RU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MATLAB</a:t>
            </a:r>
            <a:r>
              <a:rPr lang="ru-RU" altLang="ru-RU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-подобная библиотека для языка программирования </a:t>
            </a:r>
            <a:r>
              <a:rPr lang="en-US" altLang="ru-RU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Lua </a:t>
            </a:r>
            <a:r>
              <a:rPr lang="ru-RU" altLang="ru-RU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с открытым исходным кодом, предоставляет большое количество алгоритмов для глубинного </a:t>
            </a:r>
            <a:r>
              <a:rPr lang="ru-RU" altLang="ru-RU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обчения</a:t>
            </a:r>
            <a:r>
              <a:rPr lang="ru-RU" altLang="ru-RU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и научных расчётов. Ядро написано на Си, прикладная часть выполняется на </a:t>
            </a:r>
            <a:r>
              <a:rPr lang="en-US" altLang="ru-RU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LuaJIT</a:t>
            </a:r>
            <a:r>
              <a:rPr lang="ru-RU" altLang="ru-RU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поддерживается распараллеливание вычислений средствами </a:t>
            </a:r>
            <a:r>
              <a:rPr lang="en-US" altLang="ru-RU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CUDA</a:t>
            </a:r>
            <a:r>
              <a:rPr lang="ru-RU" altLang="ru-RU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и </a:t>
            </a:r>
            <a:r>
              <a:rPr lang="en-US" altLang="ru-RU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OpenMP.</a:t>
            </a:r>
            <a:r>
              <a:rPr lang="ru-RU" altLang="ru-RU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0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474" name="Text Box 2"/>
          <p:cNvSpPr txBox="1">
            <a:spLocks noChangeArrowheads="1"/>
          </p:cNvSpPr>
          <p:nvPr/>
        </p:nvSpPr>
        <p:spPr bwMode="auto">
          <a:xfrm>
            <a:off x="250825" y="0"/>
            <a:ext cx="8893175" cy="8493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0" tIns="46800" rIns="90000" bIns="46800"/>
          <a:lstStyle>
            <a:lvl1pPr defTabSz="449263">
              <a:spcBef>
                <a:spcPct val="20000"/>
              </a:spcBef>
              <a:buChar char="•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defTabSz="449263">
              <a:spcBef>
                <a:spcPct val="20000"/>
              </a:spcBef>
              <a:buChar char="–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defTabSz="449263">
              <a:spcBef>
                <a:spcPct val="20000"/>
              </a:spcBef>
              <a:buChar char="•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defTabSz="449263">
              <a:spcBef>
                <a:spcPct val="20000"/>
              </a:spcBef>
              <a:buChar char="–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defTabSz="449263">
              <a:spcBef>
                <a:spcPct val="20000"/>
              </a:spcBef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defTabSz="449263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defTabSz="449263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defTabSz="449263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defTabSz="449263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lnSpc>
                <a:spcPct val="90000"/>
              </a:lnSpc>
              <a:spcBef>
                <a:spcPct val="0"/>
              </a:spcBef>
              <a:buFontTx/>
              <a:buNone/>
            </a:pPr>
            <a:r>
              <a:rPr lang="ru-RU" altLang="ru-RU" sz="3700" b="1">
                <a:latin typeface="Calibri" panose="020F0502020204030204" pitchFamily="34" charset="0"/>
              </a:rPr>
              <a:t>Типы фреймворков (2)</a:t>
            </a:r>
          </a:p>
        </p:txBody>
      </p:sp>
      <p:pic>
        <p:nvPicPr>
          <p:cNvPr id="105475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8313" y="1001713"/>
            <a:ext cx="8135937" cy="58562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blipFill dpi="0" rotWithShape="0">
                  <a:blip/>
                  <a:srcRect/>
                  <a:stretch>
                    <a:fillRect/>
                  </a:stretch>
                </a:blip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pic>
    </p:spTree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0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522" name="Rectangle 2"/>
          <p:cNvSpPr>
            <a:spLocks noGrp="1"/>
          </p:cNvSpPr>
          <p:nvPr>
            <p:ph type="title" idx="4294967295"/>
          </p:nvPr>
        </p:nvSpPr>
        <p:spPr/>
        <p:txBody>
          <a:bodyPr/>
          <a:lstStyle/>
          <a:p>
            <a:pPr eaLnBrk="1" hangingPunct="1"/>
            <a:r>
              <a:rPr lang="ru-RU" altLang="ru-RU" sz="4000" b="1">
                <a:latin typeface="Bookman Old Style" panose="02050604050505020204" pitchFamily="18" charset="0"/>
              </a:rPr>
              <a:t>Недостатки коннекционистского подхода</a:t>
            </a:r>
          </a:p>
        </p:txBody>
      </p:sp>
      <p:sp>
        <p:nvSpPr>
          <p:cNvPr id="107523" name="Rectangle 3"/>
          <p:cNvSpPr>
            <a:spLocks noGrp="1"/>
          </p:cNvSpPr>
          <p:nvPr>
            <p:ph type="body" idx="4294967295"/>
          </p:nvPr>
        </p:nvSpPr>
        <p:spPr/>
        <p:txBody>
          <a:bodyPr/>
          <a:lstStyle/>
          <a:p>
            <a:pPr marL="533400" indent="-533400" eaLnBrk="1" hangingPunct="1">
              <a:buFontTx/>
              <a:buAutoNum type="arabicPeriod"/>
            </a:pPr>
            <a:r>
              <a:rPr lang="ru-RU" alt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Отсутствие глубокого понимания устного и письменного текста.</a:t>
            </a:r>
          </a:p>
          <a:p>
            <a:pPr marL="533400" indent="-533400" eaLnBrk="1" hangingPunct="1">
              <a:buFontTx/>
              <a:buAutoNum type="arabicPeriod"/>
            </a:pPr>
            <a:r>
              <a:rPr lang="ru-RU" alt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Невозможность для современных искусственных нейронных сетей к внутренне мотивированным решениям.</a:t>
            </a:r>
          </a:p>
          <a:p>
            <a:pPr marL="533400" indent="-533400" eaLnBrk="1" hangingPunct="1">
              <a:buFontTx/>
              <a:buAutoNum type="arabicPeriod"/>
            </a:pPr>
            <a:r>
              <a:rPr lang="ru-RU" alt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Отсутствие способности к интуитивным решениям и сложным обобщениям (инсайт, сложные ассоциативные процессы запоминания и воспроизведения информации - поэзия).</a:t>
            </a:r>
          </a:p>
          <a:p>
            <a:pPr marL="533400" indent="-533400" eaLnBrk="1" hangingPunct="1">
              <a:buFontTx/>
              <a:buAutoNum type="arabicPeriod"/>
            </a:pPr>
            <a:r>
              <a:rPr lang="ru-RU" alt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Отсутствие способности распознавать и выделять глубокие причинно-следственные связи.</a:t>
            </a:r>
          </a:p>
          <a:p>
            <a:pPr marL="533400" indent="-533400" eaLnBrk="1" hangingPunct="1">
              <a:buFontTx/>
              <a:buAutoNum type="arabicPeriod"/>
            </a:pPr>
            <a:endParaRPr lang="ru-RU" altLang="ru-RU" sz="24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54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ru-RU" altLang="ru-RU" b="1" dirty="0"/>
              <a:t>ЛИТЕРАТУРА</a:t>
            </a:r>
          </a:p>
        </p:txBody>
      </p:sp>
      <p:sp>
        <p:nvSpPr>
          <p:cNvPr id="10854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marL="609600" indent="-609600" eaLnBrk="1" hangingPunct="1">
              <a:lnSpc>
                <a:spcPct val="90000"/>
              </a:lnSpc>
              <a:buFontTx/>
              <a:buAutoNum type="arabicPeriod"/>
              <a:defRPr/>
            </a:pPr>
            <a:r>
              <a:rPr lang="ru-RU" alt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Хайкин С. Нейронные сети: полный курс. – М.: «Вильямс», 2006. – 1104 с.</a:t>
            </a:r>
          </a:p>
          <a:p>
            <a:pPr marL="609600" indent="-609600" eaLnBrk="1" hangingPunct="1">
              <a:lnSpc>
                <a:spcPct val="90000"/>
              </a:lnSpc>
              <a:buFontTx/>
              <a:buAutoNum type="arabicPeriod"/>
              <a:defRPr/>
            </a:pPr>
            <a:r>
              <a:rPr lang="ru-RU" alt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Гудфеллоу </a:t>
            </a:r>
            <a:r>
              <a:rPr lang="ru-RU" altLang="ru-RU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Я.Бенджио</a:t>
            </a:r>
            <a:r>
              <a:rPr lang="ru-RU" alt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И., </a:t>
            </a:r>
            <a:r>
              <a:rPr lang="ru-RU" altLang="ru-RU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Курвиль</a:t>
            </a:r>
            <a:r>
              <a:rPr lang="ru-RU" alt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А. Глубокое обучение </a:t>
            </a:r>
            <a:r>
              <a:rPr lang="en-US" alt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/</a:t>
            </a:r>
            <a:r>
              <a:rPr lang="ru-RU" alt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пер с англ. А.А. </a:t>
            </a:r>
            <a:r>
              <a:rPr lang="ru-RU" altLang="ru-RU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Слинкин</a:t>
            </a:r>
            <a:r>
              <a:rPr lang="ru-RU" alt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– 2-е изд.  – М.: ДМК Пресс, 2018. - 652 с.</a:t>
            </a:r>
          </a:p>
          <a:p>
            <a:pPr marL="609600" indent="-609600" eaLnBrk="1" hangingPunct="1">
              <a:lnSpc>
                <a:spcPct val="90000"/>
              </a:lnSpc>
              <a:buFontTx/>
              <a:buNone/>
              <a:defRPr/>
            </a:pPr>
            <a:r>
              <a:rPr lang="ru-RU" alt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3.      Николенко С., </a:t>
            </a:r>
            <a:r>
              <a:rPr lang="ru-RU" altLang="ru-RU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Кадурин</a:t>
            </a:r>
            <a:r>
              <a:rPr lang="ru-RU" alt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А., Архангельская Е. Глубокое обучение. – СПб.: Питер. 2018. – 480 с.  </a:t>
            </a:r>
          </a:p>
          <a:p>
            <a:pPr marL="609600" indent="-609600" eaLnBrk="1" hangingPunct="1">
              <a:lnSpc>
                <a:spcPct val="90000"/>
              </a:lnSpc>
              <a:buFontTx/>
              <a:buAutoNum type="arabicPeriod" startAt="4"/>
              <a:defRPr/>
            </a:pPr>
            <a:r>
              <a:rPr lang="ru-RU" alt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Чару </a:t>
            </a:r>
            <a:r>
              <a:rPr lang="ru-RU" altLang="ru-RU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Аггарвал</a:t>
            </a:r>
            <a:r>
              <a:rPr lang="ru-RU" alt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Нейронные сети и глубокое обучение: учебный курс. Пер. с англ. – СПб.: ООО «Диалектика», 2020. – 752 с. </a:t>
            </a:r>
          </a:p>
          <a:p>
            <a:pPr marL="609600" indent="-609600" eaLnBrk="1" hangingPunct="1">
              <a:lnSpc>
                <a:spcPct val="90000"/>
              </a:lnSpc>
              <a:buFontTx/>
              <a:buAutoNum type="arabicPeriod" startAt="4"/>
              <a:defRPr/>
            </a:pPr>
            <a:r>
              <a:rPr lang="ru-RU" altLang="ru-RU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Лапань</a:t>
            </a:r>
            <a:r>
              <a:rPr lang="ru-RU" alt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Максим Глубокое обучение с подкреплением.</a:t>
            </a:r>
            <a:r>
              <a:rPr lang="en-US" alt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AlphaGo </a:t>
            </a:r>
            <a:r>
              <a:rPr lang="ru-RU" alt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и другие технологии. – СПб.: Питер, 2020. – 496 с.</a:t>
            </a:r>
          </a:p>
          <a:p>
            <a:pPr marL="609600" indent="-609600" eaLnBrk="1" hangingPunct="1">
              <a:lnSpc>
                <a:spcPct val="90000"/>
              </a:lnSpc>
              <a:buFontTx/>
              <a:buAutoNum type="arabicPeriod" startAt="4"/>
              <a:defRPr/>
            </a:pPr>
            <a:r>
              <a:rPr lang="ru-RU" altLang="ru-RU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Рамсундар</a:t>
            </a:r>
            <a:r>
              <a:rPr lang="ru-RU" alt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Б. </a:t>
            </a:r>
            <a:r>
              <a:rPr lang="en-US" altLang="ru-RU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TensorFlow</a:t>
            </a:r>
            <a:r>
              <a:rPr lang="en-US" alt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alt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для глубокого обучения: Пер. с англ.</a:t>
            </a:r>
            <a:r>
              <a:rPr lang="en-US" alt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/</a:t>
            </a:r>
            <a:r>
              <a:rPr lang="ru-RU" alt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Б. </a:t>
            </a:r>
            <a:r>
              <a:rPr lang="ru-RU" altLang="ru-RU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Рамсундар</a:t>
            </a:r>
            <a:r>
              <a:rPr lang="ru-RU" alt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Р.Б. Заде. – СПб.: БХВ-Петербург, 2020. – 256 с.</a:t>
            </a:r>
          </a:p>
          <a:p>
            <a:pPr marL="609600" indent="-609600" eaLnBrk="1" hangingPunct="1">
              <a:lnSpc>
                <a:spcPct val="90000"/>
              </a:lnSpc>
              <a:buFontTx/>
              <a:buAutoNum type="arabicPeriod" startAt="4"/>
              <a:defRPr/>
            </a:pPr>
            <a:r>
              <a:rPr lang="ru-RU" alt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Эли </a:t>
            </a:r>
            <a:r>
              <a:rPr lang="ru-RU" altLang="ru-RU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Стивенс</a:t>
            </a:r>
            <a:r>
              <a:rPr lang="ru-RU" alt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Лука </a:t>
            </a:r>
            <a:r>
              <a:rPr lang="ru-RU" altLang="ru-RU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Антига,Томас</a:t>
            </a:r>
            <a:r>
              <a:rPr lang="ru-RU" alt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Виман </a:t>
            </a:r>
            <a:r>
              <a:rPr lang="en-US" altLang="ru-RU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PyTorch</a:t>
            </a:r>
            <a:r>
              <a:rPr lang="en-US" alt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  <a:r>
              <a:rPr lang="ru-RU" alt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Освещая глубокое обучение. – СПб.: Питер. 2022. – 576 с. </a:t>
            </a:r>
          </a:p>
          <a:p>
            <a:pPr marL="0" indent="0" eaLnBrk="1" hangingPunct="1">
              <a:lnSpc>
                <a:spcPct val="90000"/>
              </a:lnSpc>
              <a:buFontTx/>
              <a:buNone/>
              <a:defRPr/>
            </a:pPr>
            <a:endParaRPr lang="ru-RU" altLang="ru-RU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609600" indent="-609600" eaLnBrk="1" hangingPunct="1">
              <a:lnSpc>
                <a:spcPct val="90000"/>
              </a:lnSpc>
              <a:buFontTx/>
              <a:buAutoNum type="arabicPeriod" startAt="4"/>
              <a:defRPr/>
            </a:pPr>
            <a:endParaRPr lang="ru-RU" altLang="ru-RU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609600" indent="-609600" eaLnBrk="1" hangingPunct="1">
              <a:lnSpc>
                <a:spcPct val="90000"/>
              </a:lnSpc>
              <a:buFontTx/>
              <a:buAutoNum type="arabicPeriod" startAt="4"/>
              <a:defRPr/>
            </a:pPr>
            <a:endParaRPr lang="ru-RU" altLang="ru-RU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609600" indent="-609600" eaLnBrk="1" hangingPunct="1">
              <a:lnSpc>
                <a:spcPct val="90000"/>
              </a:lnSpc>
              <a:buFontTx/>
              <a:buAutoNum type="arabicPeriod" startAt="4"/>
              <a:defRPr/>
            </a:pPr>
            <a:endParaRPr lang="ru-RU" altLang="ru-RU" sz="2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Оформление по умолчанию">
  <a:themeElements>
    <a:clrScheme name="Оформление по умолчанию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Оформление по умолчанию">
      <a:majorFont>
        <a:latin typeface="Arial"/>
        <a:ea typeface=""/>
        <a:cs typeface="Arial"/>
      </a:majorFont>
      <a:minorFont>
        <a:latin typeface="Arial"/>
        <a:ea typeface=""/>
        <a:cs typeface="Arial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>
    <a:extraClrScheme>
      <a:clrScheme name="Оформление по умолчанию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Оформление по умолчанию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Оформление по умолчанию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Оформление по умолчанию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Оформление по умолчанию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Оформление по умолчанию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Оформление по умолчанию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Оформление по умолчанию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Оформление по умолчанию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Оформление по умолчанию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Оформление по умолчанию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Оформление по умолчанию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Тема Offic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1326</TotalTime>
  <Words>1747</Words>
  <Application>Microsoft Office PowerPoint</Application>
  <PresentationFormat>Экран (4:3)</PresentationFormat>
  <Paragraphs>107</Paragraphs>
  <Slides>28</Slides>
  <Notes>3</Notes>
  <HiddenSlides>0</HiddenSlides>
  <MMClips>0</MMClips>
  <ScaleCrop>false</ScaleCrop>
  <HeadingPairs>
    <vt:vector size="8" baseType="variant">
      <vt:variant>
        <vt:lpstr>Использованные шрифты</vt:lpstr>
      </vt:variant>
      <vt:variant>
        <vt:i4>5</vt:i4>
      </vt:variant>
      <vt:variant>
        <vt:lpstr>Тема</vt:lpstr>
      </vt:variant>
      <vt:variant>
        <vt:i4>1</vt:i4>
      </vt:variant>
      <vt:variant>
        <vt:lpstr>Внедренные серверы OLE</vt:lpstr>
      </vt:variant>
      <vt:variant>
        <vt:i4>1</vt:i4>
      </vt:variant>
      <vt:variant>
        <vt:lpstr>Заголовки слайдов</vt:lpstr>
      </vt:variant>
      <vt:variant>
        <vt:i4>28</vt:i4>
      </vt:variant>
    </vt:vector>
  </HeadingPairs>
  <TitlesOfParts>
    <vt:vector size="35" baseType="lpstr">
      <vt:lpstr>Arial</vt:lpstr>
      <vt:lpstr>Bookman Old Style</vt:lpstr>
      <vt:lpstr>Calibri</vt:lpstr>
      <vt:lpstr>Times New Roman</vt:lpstr>
      <vt:lpstr>Wingdings</vt:lpstr>
      <vt:lpstr>Оформление по умолчанию</vt:lpstr>
      <vt:lpstr>Формула</vt:lpstr>
      <vt:lpstr>Теория искусственных нейронных сетей Каганов Ю.Т. к.т.н., доцент каф. ИУ-9 «Теоретическая информатика и компьютерные технологии» </vt:lpstr>
      <vt:lpstr>Рекуррентные нейронные сети</vt:lpstr>
      <vt:lpstr>Что такое рекуррентные сети</vt:lpstr>
      <vt:lpstr>Область применения РНС </vt:lpstr>
      <vt:lpstr>Рекуррентные нейронные сети</vt:lpstr>
      <vt:lpstr>Рекуррентные нейронные сети</vt:lpstr>
      <vt:lpstr>Рекуррентные нейронные сети</vt:lpstr>
      <vt:lpstr>Сети LSTM </vt:lpstr>
      <vt:lpstr>Модель LSTM</vt:lpstr>
      <vt:lpstr>Модель LSTM          </vt:lpstr>
      <vt:lpstr>Модель LSTM</vt:lpstr>
      <vt:lpstr>Структура LSTM </vt:lpstr>
      <vt:lpstr>Структура LSTM </vt:lpstr>
      <vt:lpstr>Структура LSTM</vt:lpstr>
      <vt:lpstr>Структура LSTM</vt:lpstr>
      <vt:lpstr>Структура LSTM</vt:lpstr>
      <vt:lpstr>Структура LSTM</vt:lpstr>
      <vt:lpstr>Структура LSTM</vt:lpstr>
      <vt:lpstr>Структура LSTM</vt:lpstr>
      <vt:lpstr>Структура LSTM</vt:lpstr>
      <vt:lpstr>GRU — управляемый рекуррентный блок Gated Recurrent Unit</vt:lpstr>
      <vt:lpstr>GRU — управляемый рекуррентный блок </vt:lpstr>
      <vt:lpstr>GRU — управляемый рекуррентный блок </vt:lpstr>
      <vt:lpstr>Презентация PowerPoint</vt:lpstr>
      <vt:lpstr>Презентация PowerPoint</vt:lpstr>
      <vt:lpstr>Презентация PowerPoint</vt:lpstr>
      <vt:lpstr>Недостатки коннекционистского подхода</vt:lpstr>
      <vt:lpstr>ЛИТЕРАТУРА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Теория искусственных нейронных сетей</dc:title>
  <dc:creator>Yura</dc:creator>
  <cp:lastModifiedBy>Yuriy Kaganov</cp:lastModifiedBy>
  <cp:revision>105</cp:revision>
  <dcterms:created xsi:type="dcterms:W3CDTF">2018-11-04T14:23:43Z</dcterms:created>
  <dcterms:modified xsi:type="dcterms:W3CDTF">2024-11-13T18:59:06Z</dcterms:modified>
</cp:coreProperties>
</file>