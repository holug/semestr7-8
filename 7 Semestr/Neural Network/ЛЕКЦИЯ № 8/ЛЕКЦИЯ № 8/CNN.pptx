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0b49383482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0b4938348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0b4938348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0b4938348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0bef4d71ea_35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0bef4d71ea_35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0b4938348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0b4938348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b4938348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0b4938348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0b49383482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0b4938348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0b49383482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0b49383482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0b49383482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0b49383482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0b49383482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0b49383482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b49383482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0b49383482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b49383482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0b4938348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0b49383482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0b49383482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0b49383482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0b4938348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0bef4d71ea_3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0bef4d71ea_3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0b6f933ca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0b6f933ca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0b49383482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0b49383482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0bef4d71ea_35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0bef4d71ea_35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0bef4d71ea_35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0bef4d71ea_35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0b49383482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0b49383482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0b6f933ca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0b6f933ca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0b6f933ca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0b6f933ca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0b6f933ca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0b6f933ca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0bef4d71e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0bef4d71e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0bef4d71ea_35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0bef4d71ea_35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0bef4d71ea_35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0bef4d71ea_35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0bef4d71ea_35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0bef4d71ea_35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0bef4d71ea_35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0bef4d71ea_35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0bef4d71ea_35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0bef4d71ea_35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0bef4d71ea_35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0bef4d71ea_35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0bef4d71ea_35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0bef4d71ea_35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0bef4d71ea_35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0bef4d71ea_35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0bef4d71ea_35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0bef4d71ea_35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0bef4d71ea_35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0bef4d71ea_35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hyperlink" Target="http://vision.stanford.edu/cs598_spring07/papers/Lecun98.pdf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Relationship Id="rId4" Type="http://schemas.openxmlformats.org/officeDocument/2006/relationships/hyperlink" Target="https://proceedings.neurips.cc/paper_files/paper/2012/file/c399862d3b9d6b76c8436e924a68c45b-Paper.pdf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hyperlink" Target="https://arxiv.org/pdf/1409.1556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hyperlink" Target="https://arxiv.org/pdf/1409.4842.pdf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Relationship Id="rId4" Type="http://schemas.openxmlformats.org/officeDocument/2006/relationships/hyperlink" Target="https://arxiv.org/pdf/1512.03385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arxiv.org/pdf/1505.00387" TargetMode="External"/><Relationship Id="rId4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arxiv.org/pdf/1712.09913" TargetMode="External"/><Relationship Id="rId4" Type="http://schemas.openxmlformats.org/officeDocument/2006/relationships/image" Target="../media/image15.png"/><Relationship Id="rId5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7.png"/><Relationship Id="rId4" Type="http://schemas.openxmlformats.org/officeDocument/2006/relationships/hyperlink" Target="https://arxiv.org/pdf/2110.00476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arxiv.org/pdf/2201.03545" TargetMode="External"/><Relationship Id="rId4" Type="http://schemas.openxmlformats.org/officeDocument/2006/relationships/hyperlink" Target="https://openaccess.thecvf.com/content/CVPR2024/papers/Yu_InceptionNeXt_When_Inception_Meets_ConvNeXt_CVPR_2024_paper.pdf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290800"/>
            <a:ext cx="8520600" cy="189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730"/>
              <a:t>Операция свёртки.</a:t>
            </a:r>
            <a:endParaRPr b="1" sz="373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730"/>
              <a:t>Архитектуры свёрточных нейронных сетей (CNN)</a:t>
            </a:r>
            <a:endParaRPr b="1" sz="373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805450"/>
            <a:ext cx="8520600" cy="4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Петряев Юрий, 24.10.24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104375"/>
            <a:ext cx="8520600" cy="47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829"/>
              <a:t>“Теория искусственных нейронных сетей”</a:t>
            </a:r>
            <a:endParaRPr b="1" sz="1829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208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/>
              <a:t>Линейный подход для изображений</a:t>
            </a:r>
            <a:endParaRPr b="1" sz="3020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Вытягиваем изображение в вектор признаков и применяем к нему линейный слой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9925" y="1773825"/>
            <a:ext cx="5824151" cy="31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313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/>
              <a:t>Линейный подход для изображений</a:t>
            </a:r>
            <a:endParaRPr b="1" sz="3020"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Слишком большое количество параметров: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224 × 224 × 3 ≈ </a:t>
            </a:r>
            <a:r>
              <a:rPr lang="en" sz="1800">
                <a:solidFill>
                  <a:schemeClr val="dk1"/>
                </a:solidFill>
              </a:rPr>
              <a:t>200</a:t>
            </a:r>
            <a:r>
              <a:rPr lang="en" sz="1800">
                <a:solidFill>
                  <a:schemeClr val="dk1"/>
                </a:solidFill>
              </a:rPr>
              <a:t>k =&gt; для простой бинарной классификации необходимо </a:t>
            </a:r>
            <a:r>
              <a:rPr lang="en" sz="1800">
                <a:solidFill>
                  <a:schemeClr val="dk1"/>
                </a:solidFill>
              </a:rPr>
              <a:t>200k × 2 =</a:t>
            </a:r>
            <a:r>
              <a:rPr lang="en" sz="1800">
                <a:solidFill>
                  <a:schemeClr val="dk1"/>
                </a:solidFill>
              </a:rPr>
              <a:t> 400k параметров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Анализируем изображение только в фиксированных местах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Может решаться аугментациями, но архитектурно никаких допущений про инвариантность к сдвигам не дает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1949050"/>
            <a:ext cx="8520600" cy="9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1" lang="en" sz="4800"/>
              <a:t>Операция свёртки</a:t>
            </a:r>
            <a:endParaRPr b="1"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142225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520"/>
              <a:t>Операция свёртки</a:t>
            </a:r>
            <a:endParaRPr b="1" sz="3520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-225575" y="4301400"/>
            <a:ext cx="5384100" cy="5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25">
                <a:solidFill>
                  <a:schemeClr val="dk1"/>
                </a:solidFill>
              </a:rPr>
              <a:t>Устранение шума (Sharpen)</a:t>
            </a:r>
            <a:endParaRPr sz="212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625">
              <a:solidFill>
                <a:schemeClr val="dk1"/>
              </a:solidFill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37" y="2408909"/>
            <a:ext cx="4169775" cy="196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6875" y="1549463"/>
            <a:ext cx="4383750" cy="216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 rotWithShape="1">
          <a:blip r:embed="rId5">
            <a:alphaModFix/>
          </a:blip>
          <a:srcRect b="0" l="1770" r="-1770" t="0"/>
          <a:stretch/>
        </p:blipFill>
        <p:spPr>
          <a:xfrm>
            <a:off x="156725" y="1052788"/>
            <a:ext cx="4266898" cy="104708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4326525" y="3661988"/>
            <a:ext cx="4697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chemeClr val="dk1"/>
                </a:solidFill>
              </a:rPr>
              <a:t>Поиск границ (Edge detection)</a:t>
            </a:r>
            <a:endParaRPr sz="2300"/>
          </a:p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1796476" y="4138000"/>
            <a:ext cx="6942600" cy="6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Д</a:t>
            </a:r>
            <a:r>
              <a:rPr lang="en" sz="2500">
                <a:solidFill>
                  <a:schemeClr val="dk1"/>
                </a:solidFill>
              </a:rPr>
              <a:t>етекция паттернов (текстур)</a:t>
            </a:r>
            <a:endParaRPr sz="2500">
              <a:solidFill>
                <a:schemeClr val="dk1"/>
              </a:solidFill>
            </a:endParaRPr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963" y="1121503"/>
            <a:ext cx="7126075" cy="3016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>
            <p:ph type="title"/>
          </p:nvPr>
        </p:nvSpPr>
        <p:spPr>
          <a:xfrm>
            <a:off x="142225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520"/>
              <a:t>Операция свёртки</a:t>
            </a:r>
            <a:endParaRPr b="1" sz="3520"/>
          </a:p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127500" y="1246825"/>
            <a:ext cx="8889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 sz="2400">
                <a:solidFill>
                  <a:schemeClr val="dk1"/>
                </a:solidFill>
              </a:rPr>
              <a:t>Раньше:</a:t>
            </a:r>
            <a:r>
              <a:rPr lang="en" sz="2400">
                <a:solidFill>
                  <a:schemeClr val="dk1"/>
                </a:solidFill>
              </a:rPr>
              <a:t> обрабатываем изображения </a:t>
            </a:r>
            <a:r>
              <a:rPr lang="en" sz="2400">
                <a:solidFill>
                  <a:schemeClr val="dk1"/>
                </a:solidFill>
              </a:rPr>
              <a:t>специально</a:t>
            </a:r>
            <a:r>
              <a:rPr lang="en" sz="2400">
                <a:solidFill>
                  <a:schemeClr val="dk1"/>
                </a:solidFill>
              </a:rPr>
              <a:t> построенными свертками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 sz="2400">
                <a:solidFill>
                  <a:schemeClr val="dk1"/>
                </a:solidFill>
              </a:rPr>
              <a:t>Сейчас:</a:t>
            </a:r>
            <a:r>
              <a:rPr lang="en" sz="2400">
                <a:solidFill>
                  <a:schemeClr val="dk1"/>
                </a:solidFill>
              </a:rPr>
              <a:t> обучаем ядра сверток как параметры нейросети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02" name="Google Shape;10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9"/>
          <p:cNvSpPr txBox="1"/>
          <p:nvPr>
            <p:ph type="title"/>
          </p:nvPr>
        </p:nvSpPr>
        <p:spPr>
          <a:xfrm>
            <a:off x="142225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520"/>
              <a:t>Операция свёртки</a:t>
            </a:r>
            <a:endParaRPr b="1" sz="35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1825" y="804875"/>
            <a:ext cx="4920350" cy="4124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0"/>
          <p:cNvSpPr txBox="1"/>
          <p:nvPr>
            <p:ph type="title"/>
          </p:nvPr>
        </p:nvSpPr>
        <p:spPr>
          <a:xfrm>
            <a:off x="101675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/>
              <a:t>1</a:t>
            </a:r>
            <a:r>
              <a:rPr b="1" lang="en" sz="3020"/>
              <a:t>D Свёртка</a:t>
            </a:r>
            <a:endParaRPr b="1" sz="302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2938" y="832000"/>
            <a:ext cx="6058124" cy="407084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1"/>
          <p:cNvSpPr txBox="1"/>
          <p:nvPr>
            <p:ph type="title"/>
          </p:nvPr>
        </p:nvSpPr>
        <p:spPr>
          <a:xfrm>
            <a:off x="101675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/>
              <a:t>2</a:t>
            </a:r>
            <a:r>
              <a:rPr b="1" lang="en" sz="3020"/>
              <a:t>D Свёртка</a:t>
            </a:r>
            <a:endParaRPr b="1" sz="302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101675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/>
              <a:t>3D Свёртка</a:t>
            </a:r>
            <a:endParaRPr b="1" sz="3020"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2250" y="965400"/>
            <a:ext cx="5659492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6100" y="890925"/>
            <a:ext cx="5596349" cy="393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186750" y="1512025"/>
            <a:ext cx="2841900" cy="26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" sz="2500">
                <a:solidFill>
                  <a:schemeClr val="dk1"/>
                </a:solidFill>
              </a:rPr>
              <a:t>Kernel size</a:t>
            </a:r>
            <a:endParaRPr b="1"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" sz="2500">
                <a:solidFill>
                  <a:schemeClr val="dk1"/>
                </a:solidFill>
              </a:rPr>
              <a:t>Stride</a:t>
            </a:r>
            <a:endParaRPr b="1"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" sz="2500">
                <a:solidFill>
                  <a:schemeClr val="dk1"/>
                </a:solidFill>
              </a:rPr>
              <a:t>P</a:t>
            </a:r>
            <a:r>
              <a:rPr b="1" lang="en" sz="2500">
                <a:solidFill>
                  <a:schemeClr val="dk1"/>
                </a:solidFill>
              </a:rPr>
              <a:t>adding</a:t>
            </a:r>
            <a:endParaRPr b="1"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" sz="2500">
                <a:solidFill>
                  <a:schemeClr val="dk1"/>
                </a:solidFill>
              </a:rPr>
              <a:t>Dilation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3"/>
          <p:cNvSpPr txBox="1"/>
          <p:nvPr>
            <p:ph type="title"/>
          </p:nvPr>
        </p:nvSpPr>
        <p:spPr>
          <a:xfrm>
            <a:off x="150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18"/>
              <a:t>Гиперпараметры свёрток</a:t>
            </a:r>
            <a:endParaRPr b="1" sz="301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193075" y="763975"/>
            <a:ext cx="5646600" cy="41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Регулирует снижение пространственного разрешения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Признаки получаются менее коррелированными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По-умолчанию </a:t>
            </a:r>
            <a:r>
              <a:rPr b="1" lang="en" sz="2300">
                <a:solidFill>
                  <a:schemeClr val="dk1"/>
                </a:solidFill>
              </a:rPr>
              <a:t>stride</a:t>
            </a:r>
            <a:r>
              <a:rPr lang="en" sz="2300">
                <a:solidFill>
                  <a:schemeClr val="dk1"/>
                </a:solidFill>
              </a:rPr>
              <a:t> </a:t>
            </a:r>
            <a:r>
              <a:rPr b="1" lang="en" sz="2300">
                <a:solidFill>
                  <a:schemeClr val="dk1"/>
                </a:solidFill>
              </a:rPr>
              <a:t>=</a:t>
            </a:r>
            <a:r>
              <a:rPr lang="en" sz="2300">
                <a:solidFill>
                  <a:schemeClr val="dk1"/>
                </a:solidFill>
              </a:rPr>
              <a:t> </a:t>
            </a:r>
            <a:r>
              <a:rPr b="1" lang="en" sz="2300">
                <a:solidFill>
                  <a:schemeClr val="dk1"/>
                </a:solidFill>
              </a:rPr>
              <a:t>1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Также р</a:t>
            </a:r>
            <a:r>
              <a:rPr lang="en" sz="2300">
                <a:solidFill>
                  <a:schemeClr val="dk1"/>
                </a:solidFill>
              </a:rPr>
              <a:t>аспространенный вариант: </a:t>
            </a:r>
            <a:r>
              <a:rPr b="1" lang="en" sz="2300">
                <a:solidFill>
                  <a:schemeClr val="dk1"/>
                </a:solidFill>
              </a:rPr>
              <a:t>stride</a:t>
            </a:r>
            <a:r>
              <a:rPr lang="en" sz="2300">
                <a:solidFill>
                  <a:schemeClr val="dk1"/>
                </a:solidFill>
              </a:rPr>
              <a:t> </a:t>
            </a:r>
            <a:r>
              <a:rPr b="1" lang="en" sz="2300">
                <a:solidFill>
                  <a:schemeClr val="dk1"/>
                </a:solidFill>
              </a:rPr>
              <a:t>=</a:t>
            </a:r>
            <a:r>
              <a:rPr lang="en" sz="2300">
                <a:solidFill>
                  <a:schemeClr val="dk1"/>
                </a:solidFill>
              </a:rPr>
              <a:t> </a:t>
            </a:r>
            <a:r>
              <a:rPr b="1" lang="en" sz="2300">
                <a:solidFill>
                  <a:schemeClr val="dk1"/>
                </a:solidFill>
              </a:rPr>
              <a:t>kernel size</a:t>
            </a:r>
            <a:endParaRPr b="1" sz="2300">
              <a:solidFill>
                <a:schemeClr val="dk1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n" sz="2300">
                <a:solidFill>
                  <a:schemeClr val="dk1"/>
                </a:solidFill>
              </a:rPr>
              <a:t>Такой</a:t>
            </a:r>
            <a:r>
              <a:rPr lang="en" sz="2300">
                <a:solidFill>
                  <a:schemeClr val="dk1"/>
                </a:solidFill>
              </a:rPr>
              <a:t> </a:t>
            </a:r>
            <a:r>
              <a:rPr b="1" lang="en" sz="2300">
                <a:solidFill>
                  <a:schemeClr val="dk1"/>
                </a:solidFill>
              </a:rPr>
              <a:t>stride</a:t>
            </a:r>
            <a:r>
              <a:rPr lang="en" sz="2300">
                <a:solidFill>
                  <a:schemeClr val="dk1"/>
                </a:solidFill>
              </a:rPr>
              <a:t> использует </a:t>
            </a:r>
            <a:r>
              <a:rPr b="1" lang="en" sz="2300">
                <a:solidFill>
                  <a:schemeClr val="dk1"/>
                </a:solidFill>
              </a:rPr>
              <a:t>pooling</a:t>
            </a:r>
            <a:endParaRPr b="1" sz="2300">
              <a:solidFill>
                <a:schemeClr val="dk1"/>
              </a:solidFill>
            </a:endParaRPr>
          </a:p>
        </p:txBody>
      </p:sp>
      <p:pic>
        <p:nvPicPr>
          <p:cNvPr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9740" y="763975"/>
            <a:ext cx="3128723" cy="389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4"/>
          <p:cNvSpPr txBox="1"/>
          <p:nvPr>
            <p:ph type="title"/>
          </p:nvPr>
        </p:nvSpPr>
        <p:spPr>
          <a:xfrm>
            <a:off x="150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18"/>
              <a:t>Гиперпараметры свёрток: stride</a:t>
            </a:r>
            <a:endParaRPr b="1" sz="301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150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18"/>
              <a:t>Гиперпараметры свёрток: padding</a:t>
            </a:r>
            <a:endParaRPr b="1" sz="301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638" y="2190526"/>
            <a:ext cx="8320724" cy="2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193075" y="733438"/>
            <a:ext cx="5485800" cy="13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Обычно используется </a:t>
            </a:r>
            <a:r>
              <a:rPr b="1" lang="en" sz="2200">
                <a:solidFill>
                  <a:schemeClr val="dk1"/>
                </a:solidFill>
              </a:rPr>
              <a:t>zeros padding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Другие опции (PyTorch):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b="1" lang="en" sz="2200">
                <a:solidFill>
                  <a:schemeClr val="dk1"/>
                </a:solidFill>
              </a:rPr>
              <a:t>replicate</a:t>
            </a:r>
            <a:r>
              <a:rPr lang="en" sz="2200">
                <a:solidFill>
                  <a:schemeClr val="dk1"/>
                </a:solidFill>
              </a:rPr>
              <a:t>, </a:t>
            </a:r>
            <a:r>
              <a:rPr b="1" lang="en" sz="2200">
                <a:solidFill>
                  <a:schemeClr val="dk1"/>
                </a:solidFill>
              </a:rPr>
              <a:t>r</a:t>
            </a:r>
            <a:r>
              <a:rPr b="1" lang="en" sz="2200">
                <a:solidFill>
                  <a:schemeClr val="dk1"/>
                </a:solidFill>
              </a:rPr>
              <a:t>eflect</a:t>
            </a:r>
            <a:r>
              <a:rPr lang="en" sz="2200">
                <a:solidFill>
                  <a:schemeClr val="dk1"/>
                </a:solidFill>
              </a:rPr>
              <a:t>, </a:t>
            </a:r>
            <a:r>
              <a:rPr b="1" lang="en" sz="2200">
                <a:solidFill>
                  <a:schemeClr val="dk1"/>
                </a:solidFill>
              </a:rPr>
              <a:t>circular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148" name="Google Shape;14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0915" y="2312750"/>
            <a:ext cx="5900184" cy="248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201550" y="720325"/>
            <a:ext cx="8520600" cy="13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Используем ядра “с дырками”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В отличие от </a:t>
            </a:r>
            <a:r>
              <a:rPr b="1" lang="en" sz="2200">
                <a:solidFill>
                  <a:schemeClr val="dk1"/>
                </a:solidFill>
              </a:rPr>
              <a:t>stride</a:t>
            </a:r>
            <a:r>
              <a:rPr lang="en" sz="2200">
                <a:solidFill>
                  <a:schemeClr val="dk1"/>
                </a:solidFill>
              </a:rPr>
              <a:t>, покрывает большее </a:t>
            </a:r>
            <a:r>
              <a:rPr b="1" lang="en" sz="2200">
                <a:solidFill>
                  <a:schemeClr val="dk1"/>
                </a:solidFill>
              </a:rPr>
              <a:t>receptive field</a:t>
            </a:r>
            <a:r>
              <a:rPr lang="en" sz="2200">
                <a:solidFill>
                  <a:schemeClr val="dk1"/>
                </a:solidFill>
              </a:rPr>
              <a:t> с небольшим уменьшением пространственного разрешения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55" name="Google Shape;15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" name="Google Shape;156;p26"/>
          <p:cNvSpPr txBox="1"/>
          <p:nvPr>
            <p:ph type="title"/>
          </p:nvPr>
        </p:nvSpPr>
        <p:spPr>
          <a:xfrm>
            <a:off x="150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18"/>
              <a:t>Гиперпараметры свёрток: dilation</a:t>
            </a:r>
            <a:endParaRPr b="1" sz="301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311700" y="199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520"/>
              <a:t>Реализация операции свёртки</a:t>
            </a:r>
            <a:endParaRPr b="1" sz="3520"/>
          </a:p>
        </p:txBody>
      </p:sp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4" name="Google Shape;16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2037" y="1312175"/>
            <a:ext cx="5139925" cy="357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67800" y="-33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Pooling (Downsampling / Subsampling)</a:t>
            </a:r>
            <a:endParaRPr b="1"/>
          </a:p>
        </p:txBody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254975" y="483850"/>
            <a:ext cx="8956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Гиперпараметры как у свёртки: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b="1" lang="en" sz="1900">
                <a:solidFill>
                  <a:schemeClr val="dk1"/>
                </a:solidFill>
              </a:rPr>
              <a:t>kernel size</a:t>
            </a:r>
            <a:r>
              <a:rPr lang="en" sz="1900">
                <a:solidFill>
                  <a:schemeClr val="dk1"/>
                </a:solidFill>
              </a:rPr>
              <a:t>, </a:t>
            </a:r>
            <a:r>
              <a:rPr b="1" lang="en" sz="1900">
                <a:solidFill>
                  <a:schemeClr val="dk1"/>
                </a:solidFill>
              </a:rPr>
              <a:t>stride</a:t>
            </a:r>
            <a:r>
              <a:rPr lang="en" sz="1900">
                <a:solidFill>
                  <a:schemeClr val="dk1"/>
                </a:solidFill>
              </a:rPr>
              <a:t>, </a:t>
            </a:r>
            <a:r>
              <a:rPr b="1" lang="en" sz="1900">
                <a:solidFill>
                  <a:schemeClr val="dk1"/>
                </a:solidFill>
              </a:rPr>
              <a:t>padding</a:t>
            </a:r>
            <a:r>
              <a:rPr lang="en" sz="1900">
                <a:solidFill>
                  <a:schemeClr val="dk1"/>
                </a:solidFill>
              </a:rPr>
              <a:t>, </a:t>
            </a:r>
            <a:r>
              <a:rPr b="1" lang="en" sz="1900">
                <a:solidFill>
                  <a:schemeClr val="dk1"/>
                </a:solidFill>
              </a:rPr>
              <a:t>dilation</a:t>
            </a:r>
            <a:endParaRPr b="1"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>
                <a:solidFill>
                  <a:schemeClr val="dk1"/>
                </a:solidFill>
              </a:rPr>
              <a:t>П</a:t>
            </a:r>
            <a:r>
              <a:rPr lang="en" sz="1900">
                <a:solidFill>
                  <a:schemeClr val="dk1"/>
                </a:solidFill>
              </a:rPr>
              <a:t>о-умолчанию </a:t>
            </a:r>
            <a:r>
              <a:rPr b="1" lang="en" sz="1900">
                <a:solidFill>
                  <a:schemeClr val="dk1"/>
                </a:solidFill>
              </a:rPr>
              <a:t>stride =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b="1" lang="en" sz="1900">
                <a:solidFill>
                  <a:schemeClr val="dk1"/>
                </a:solidFill>
              </a:rPr>
              <a:t>kernel size</a:t>
            </a:r>
            <a:endParaRPr b="1"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>
                <a:solidFill>
                  <a:schemeClr val="dk1"/>
                </a:solidFill>
              </a:rPr>
              <a:t>Не имеет обучаемых параметров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Использовался в старых архитектурах CNN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Современные архитектуры часто заменяют его на </a:t>
            </a:r>
            <a:r>
              <a:rPr b="1" lang="en" sz="1900">
                <a:solidFill>
                  <a:schemeClr val="dk1"/>
                </a:solidFill>
              </a:rPr>
              <a:t>strided </a:t>
            </a:r>
            <a:r>
              <a:rPr lang="en" sz="1900">
                <a:solidFill>
                  <a:schemeClr val="dk1"/>
                </a:solidFill>
              </a:rPr>
              <a:t>свёртки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71" name="Google Shape;1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8950" y="2364500"/>
            <a:ext cx="3018300" cy="263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277800" y="148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520"/>
              <a:t>Receptive field</a:t>
            </a:r>
            <a:endParaRPr b="1" sz="3520"/>
          </a:p>
        </p:txBody>
      </p:sp>
      <p:pic>
        <p:nvPicPr>
          <p:cNvPr id="178" name="Google Shape;17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7300" y="1293063"/>
            <a:ext cx="4700324" cy="2942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-162825" y="1577025"/>
            <a:ext cx="4095900" cy="26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Способы расширения:</a:t>
            </a:r>
            <a:endParaRPr sz="21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>
                <a:solidFill>
                  <a:schemeClr val="dk1"/>
                </a:solidFill>
              </a:rPr>
              <a:t>Больше сверточных слоев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>
                <a:solidFill>
                  <a:schemeClr val="dk1"/>
                </a:solidFill>
              </a:rPr>
              <a:t>Увеличение </a:t>
            </a:r>
            <a:r>
              <a:rPr b="1" lang="en" sz="1900">
                <a:solidFill>
                  <a:schemeClr val="dk1"/>
                </a:solidFill>
              </a:rPr>
              <a:t>stride</a:t>
            </a:r>
            <a:endParaRPr b="1"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>
                <a:solidFill>
                  <a:schemeClr val="dk1"/>
                </a:solidFill>
              </a:rPr>
              <a:t>Увеличение </a:t>
            </a:r>
            <a:r>
              <a:rPr b="1" lang="en" sz="1900">
                <a:solidFill>
                  <a:schemeClr val="dk1"/>
                </a:solidFill>
              </a:rPr>
              <a:t>dilation</a:t>
            </a:r>
            <a:endParaRPr b="1"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>
                <a:solidFill>
                  <a:schemeClr val="dk1"/>
                </a:solidFill>
              </a:rPr>
              <a:t>Использование </a:t>
            </a:r>
            <a:r>
              <a:rPr b="1" lang="en" sz="1900">
                <a:solidFill>
                  <a:schemeClr val="dk1"/>
                </a:solidFill>
              </a:rPr>
              <a:t>pooling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80" name="Google Shape;18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118625" y="101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520"/>
              <a:t>Spatially Separable Convolution</a:t>
            </a:r>
            <a:endParaRPr b="1" sz="3520"/>
          </a:p>
        </p:txBody>
      </p:sp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311700" y="918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 sz="2400">
                <a:solidFill>
                  <a:schemeClr val="dk1"/>
                </a:solidFill>
              </a:rPr>
              <a:t>Факторизуем</a:t>
            </a:r>
            <a:r>
              <a:rPr lang="en" sz="2400">
                <a:solidFill>
                  <a:schemeClr val="dk1"/>
                </a:solidFill>
              </a:rPr>
              <a:t> свёртку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>
                <a:solidFill>
                  <a:schemeClr val="dk1"/>
                </a:solidFill>
              </a:rPr>
              <a:t>Делим ядро 3×3 на ядра 1×3 и 3×1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Требует меньше параметров и умножений матриц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87" name="Google Shape;18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8" name="Google Shape;18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7075" y="2690776"/>
            <a:ext cx="6449849" cy="197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31"/>
          <p:cNvSpPr txBox="1"/>
          <p:nvPr>
            <p:ph type="title"/>
          </p:nvPr>
        </p:nvSpPr>
        <p:spPr>
          <a:xfrm>
            <a:off x="311700" y="1949050"/>
            <a:ext cx="8520600" cy="9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/>
              <a:t>Архитектуры CNN</a:t>
            </a:r>
            <a:endParaRPr b="1"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429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LeNet (1998)</a:t>
            </a:r>
            <a:endParaRPr b="1"/>
          </a:p>
        </p:txBody>
      </p:sp>
      <p:sp>
        <p:nvSpPr>
          <p:cNvPr id="200" name="Google Shape;200;p32"/>
          <p:cNvSpPr txBox="1"/>
          <p:nvPr>
            <p:ph idx="1" type="body"/>
          </p:nvPr>
        </p:nvSpPr>
        <p:spPr>
          <a:xfrm>
            <a:off x="42900" y="538788"/>
            <a:ext cx="9058200" cy="37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Два</a:t>
            </a:r>
            <a:r>
              <a:rPr lang="en">
                <a:solidFill>
                  <a:schemeClr val="dk1"/>
                </a:solidFill>
              </a:rPr>
              <a:t> свёрточных слоя: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" sz="1800">
                <a:solidFill>
                  <a:schemeClr val="dk1"/>
                </a:solidFill>
              </a:rPr>
              <a:t>Conv</a:t>
            </a:r>
            <a:r>
              <a:rPr b="1" lang="en" sz="1800">
                <a:solidFill>
                  <a:schemeClr val="dk1"/>
                </a:solidFill>
              </a:rPr>
              <a:t>olution </a:t>
            </a:r>
            <a:r>
              <a:rPr lang="en" sz="1800">
                <a:solidFill>
                  <a:schemeClr val="dk1"/>
                </a:solidFill>
              </a:rPr>
              <a:t>(5x5)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b="1" lang="en" sz="1800">
                <a:solidFill>
                  <a:schemeClr val="dk1"/>
                </a:solidFill>
              </a:rPr>
              <a:t>-&gt; S</a:t>
            </a:r>
            <a:r>
              <a:rPr b="1" lang="en" sz="1800">
                <a:solidFill>
                  <a:schemeClr val="dk1"/>
                </a:solidFill>
              </a:rPr>
              <a:t>ubsampling</a:t>
            </a:r>
            <a:r>
              <a:rPr lang="en" sz="1800">
                <a:solidFill>
                  <a:schemeClr val="dk1"/>
                </a:solidFill>
              </a:rPr>
              <a:t> (</a:t>
            </a:r>
            <a:r>
              <a:rPr b="1" lang="en" sz="1800">
                <a:solidFill>
                  <a:schemeClr val="dk1"/>
                </a:solidFill>
              </a:rPr>
              <a:t>Avg pooling</a:t>
            </a:r>
            <a:r>
              <a:rPr lang="en" sz="1800">
                <a:solidFill>
                  <a:schemeClr val="dk1"/>
                </a:solidFill>
              </a:rPr>
              <a:t>)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b="1" lang="en" sz="1800">
                <a:solidFill>
                  <a:schemeClr val="dk1"/>
                </a:solidFill>
              </a:rPr>
              <a:t>-&gt; Non-linearity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Функция активации – сигмоида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Голова классификации из трёх линейных слоев (</a:t>
            </a:r>
            <a:r>
              <a:rPr b="1" lang="en">
                <a:solidFill>
                  <a:schemeClr val="dk1"/>
                </a:solidFill>
              </a:rPr>
              <a:t>full connection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Первый линейный слой по сути свёрточный (ядро 5x5 покрывает карту признаков)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Размер входного изображения </a:t>
            </a:r>
            <a:r>
              <a:rPr lang="en">
                <a:solidFill>
                  <a:srgbClr val="FCE5CD"/>
                </a:solidFill>
              </a:rPr>
              <a:t>фиксированный</a:t>
            </a:r>
            <a:r>
              <a:rPr lang="en">
                <a:solidFill>
                  <a:schemeClr val="dk1"/>
                </a:solidFill>
              </a:rPr>
              <a:t> и зависит от архитектуры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201" name="Google Shape;20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900" y="3039625"/>
            <a:ext cx="6640595" cy="183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2"/>
          <p:cNvSpPr txBox="1"/>
          <p:nvPr/>
        </p:nvSpPr>
        <p:spPr>
          <a:xfrm>
            <a:off x="7420500" y="0"/>
            <a:ext cx="168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LeCun et al., 1998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3" name="Google Shape;20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type="title"/>
          </p:nvPr>
        </p:nvSpPr>
        <p:spPr>
          <a:xfrm>
            <a:off x="762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AlexNet (2012)</a:t>
            </a:r>
            <a:endParaRPr b="1"/>
          </a:p>
        </p:txBody>
      </p: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311688" y="509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Пять</a:t>
            </a:r>
            <a:r>
              <a:rPr lang="en">
                <a:solidFill>
                  <a:schemeClr val="dk1"/>
                </a:solidFill>
              </a:rPr>
              <a:t> свёрточных (</a:t>
            </a:r>
            <a:r>
              <a:rPr b="1" lang="en">
                <a:solidFill>
                  <a:schemeClr val="dk1"/>
                </a:solidFill>
              </a:rPr>
              <a:t>CONV</a:t>
            </a:r>
            <a:r>
              <a:rPr lang="en">
                <a:solidFill>
                  <a:schemeClr val="dk1"/>
                </a:solidFill>
              </a:rPr>
              <a:t> + </a:t>
            </a:r>
            <a:r>
              <a:rPr b="1" lang="en">
                <a:solidFill>
                  <a:schemeClr val="dk1"/>
                </a:solidFill>
              </a:rPr>
              <a:t>MaxPool</a:t>
            </a:r>
            <a:r>
              <a:rPr lang="en">
                <a:solidFill>
                  <a:schemeClr val="dk1"/>
                </a:solidFill>
              </a:rPr>
              <a:t> / </a:t>
            </a:r>
            <a:r>
              <a:rPr b="1" lang="en">
                <a:solidFill>
                  <a:schemeClr val="dk1"/>
                </a:solidFill>
              </a:rPr>
              <a:t>CONV</a:t>
            </a:r>
            <a:r>
              <a:rPr lang="en">
                <a:solidFill>
                  <a:schemeClr val="dk1"/>
                </a:solidFill>
              </a:rPr>
              <a:t>) и </a:t>
            </a:r>
            <a:r>
              <a:rPr lang="en">
                <a:solidFill>
                  <a:schemeClr val="dk1"/>
                </a:solidFill>
              </a:rPr>
              <a:t>два</a:t>
            </a:r>
            <a:r>
              <a:rPr lang="en">
                <a:solidFill>
                  <a:schemeClr val="dk1"/>
                </a:solidFill>
              </a:rPr>
              <a:t> линейных слоя (</a:t>
            </a:r>
            <a:r>
              <a:rPr b="1" lang="en">
                <a:solidFill>
                  <a:schemeClr val="dk1"/>
                </a:solidFill>
              </a:rPr>
              <a:t>FC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Max pooling</a:t>
            </a:r>
            <a:r>
              <a:rPr lang="en">
                <a:solidFill>
                  <a:schemeClr val="dk1"/>
                </a:solidFill>
              </a:rPr>
              <a:t> вместо </a:t>
            </a:r>
            <a:r>
              <a:rPr b="1" lang="en">
                <a:solidFill>
                  <a:schemeClr val="dk1"/>
                </a:solidFill>
              </a:rPr>
              <a:t>Avg pooling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Аугментация данных</a:t>
            </a:r>
            <a:r>
              <a:rPr lang="en">
                <a:solidFill>
                  <a:schemeClr val="dk1"/>
                </a:solidFill>
              </a:rPr>
              <a:t> и </a:t>
            </a:r>
            <a:r>
              <a:rPr b="1" lang="en">
                <a:solidFill>
                  <a:schemeClr val="dk1"/>
                </a:solidFill>
              </a:rPr>
              <a:t>Dropout</a:t>
            </a:r>
            <a:r>
              <a:rPr lang="en">
                <a:solidFill>
                  <a:schemeClr val="dk1"/>
                </a:solidFill>
              </a:rPr>
              <a:t> (prob = 0.5) для регуляризации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Обучалась неделю на двух NVIDIA GTX 580 3GB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0" name="Google Shape;21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000" y="1989475"/>
            <a:ext cx="5255076" cy="29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33"/>
          <p:cNvSpPr txBox="1"/>
          <p:nvPr/>
        </p:nvSpPr>
        <p:spPr>
          <a:xfrm>
            <a:off x="7144700" y="0"/>
            <a:ext cx="199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Krizhevsky et al., 2012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type="title"/>
          </p:nvPr>
        </p:nvSpPr>
        <p:spPr>
          <a:xfrm>
            <a:off x="39500" y="-8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VGG</a:t>
            </a:r>
            <a:r>
              <a:rPr b="1" lang="en"/>
              <a:t> (2014)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39500" y="400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Пять</a:t>
            </a:r>
            <a:r>
              <a:rPr lang="en">
                <a:solidFill>
                  <a:schemeClr val="dk1"/>
                </a:solidFill>
              </a:rPr>
              <a:t> свёрточных и </a:t>
            </a:r>
            <a:r>
              <a:rPr lang="en">
                <a:solidFill>
                  <a:schemeClr val="dk1"/>
                </a:solidFill>
              </a:rPr>
              <a:t>три</a:t>
            </a:r>
            <a:r>
              <a:rPr lang="en">
                <a:solidFill>
                  <a:schemeClr val="dk1"/>
                </a:solidFill>
              </a:rPr>
              <a:t> линейных слоя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Каскад 3×3 свёрток вместо 5×5, 7×7, 11×11, …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Обучалась 3 недели на 4 GPU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При обучении end-to-end градиенты затухают</a:t>
            </a:r>
            <a:endParaRPr>
              <a:solidFill>
                <a:schemeClr val="dk1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Решение авторов – обучать сеть по частям, наращивая глубину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19" name="Google Shape;21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6887" y="2200975"/>
            <a:ext cx="4365825" cy="277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1" name="Google Shape;221;p34"/>
          <p:cNvSpPr txBox="1"/>
          <p:nvPr/>
        </p:nvSpPr>
        <p:spPr>
          <a:xfrm>
            <a:off x="7170125" y="0"/>
            <a:ext cx="197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Simonyan et al., 2014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type="title"/>
          </p:nvPr>
        </p:nvSpPr>
        <p:spPr>
          <a:xfrm>
            <a:off x="40525" y="-33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Inception / GoogLeNet (2014)</a:t>
            </a:r>
            <a:endParaRPr b="1"/>
          </a:p>
        </p:txBody>
      </p:sp>
      <p:sp>
        <p:nvSpPr>
          <p:cNvPr id="227" name="Google Shape;227;p35"/>
          <p:cNvSpPr txBox="1"/>
          <p:nvPr>
            <p:ph idx="1" type="body"/>
          </p:nvPr>
        </p:nvSpPr>
        <p:spPr>
          <a:xfrm>
            <a:off x="311700" y="441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“Конструктор” из параллельных </a:t>
            </a:r>
            <a:r>
              <a:rPr b="1" lang="en">
                <a:solidFill>
                  <a:schemeClr val="dk1"/>
                </a:solidFill>
              </a:rPr>
              <a:t>Inception модулей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Полностью свёрточная архитектура из 22 слоёв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Голова классификации состоит только из одного линейного слоя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Global Average Pooling</a:t>
            </a:r>
            <a:r>
              <a:rPr lang="en">
                <a:solidFill>
                  <a:schemeClr val="dk1"/>
                </a:solidFill>
              </a:rPr>
              <a:t>: не привязываемся к размеру изображения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Дополнительные классификаторы (</a:t>
            </a:r>
            <a:r>
              <a:rPr b="1" lang="en">
                <a:solidFill>
                  <a:schemeClr val="dk1"/>
                </a:solidFill>
              </a:rPr>
              <a:t>auxiliary loss</a:t>
            </a:r>
            <a:r>
              <a:rPr lang="en">
                <a:solidFill>
                  <a:schemeClr val="dk1"/>
                </a:solidFill>
              </a:rPr>
              <a:t>) для пробрасывания градиентов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28" name="Google Shape;22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6725" y="2520900"/>
            <a:ext cx="5768188" cy="244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5"/>
          <p:cNvSpPr txBox="1"/>
          <p:nvPr/>
        </p:nvSpPr>
        <p:spPr>
          <a:xfrm>
            <a:off x="7288750" y="0"/>
            <a:ext cx="185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Szegedy et al., 2014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/>
          <p:nvPr>
            <p:ph type="title"/>
          </p:nvPr>
        </p:nvSpPr>
        <p:spPr>
          <a:xfrm>
            <a:off x="57475" y="-42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Inception module</a:t>
            </a:r>
            <a:endParaRPr b="1"/>
          </a:p>
        </p:txBody>
      </p:sp>
      <p:sp>
        <p:nvSpPr>
          <p:cNvPr id="236" name="Google Shape;236;p36"/>
          <p:cNvSpPr txBox="1"/>
          <p:nvPr>
            <p:ph idx="1" type="body"/>
          </p:nvPr>
        </p:nvSpPr>
        <p:spPr>
          <a:xfrm>
            <a:off x="209650" y="471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Даем </a:t>
            </a:r>
            <a:r>
              <a:rPr lang="en">
                <a:solidFill>
                  <a:schemeClr val="dk1"/>
                </a:solidFill>
              </a:rPr>
              <a:t>возможность </a:t>
            </a:r>
            <a:r>
              <a:rPr lang="en">
                <a:solidFill>
                  <a:schemeClr val="dk1"/>
                </a:solidFill>
              </a:rPr>
              <a:t>сети самостоятельно “выбирать” тип свёрток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В целях оптимизации применяются </a:t>
            </a:r>
            <a:r>
              <a:rPr lang="en">
                <a:solidFill>
                  <a:srgbClr val="FFF2CC"/>
                </a:solidFill>
              </a:rPr>
              <a:t>1×1 свёртки</a:t>
            </a:r>
            <a:r>
              <a:rPr lang="en">
                <a:solidFill>
                  <a:schemeClr val="dk1"/>
                </a:solidFill>
              </a:rPr>
              <a:t>, уменьшающие число каналов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Inception v2, v3: 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Каскад</a:t>
            </a:r>
            <a:r>
              <a:rPr lang="en" sz="1800">
                <a:solidFill>
                  <a:schemeClr val="dk1"/>
                </a:solidFill>
              </a:rPr>
              <a:t> 3×3 свёрток вместо 5×5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Факторизация свёрток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7" name="Google Shape;23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8" name="Google Shape;23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475" y="2571750"/>
            <a:ext cx="8064950" cy="24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7"/>
          <p:cNvSpPr txBox="1"/>
          <p:nvPr>
            <p:ph type="title"/>
          </p:nvPr>
        </p:nvSpPr>
        <p:spPr>
          <a:xfrm>
            <a:off x="93200" y="-33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ResNet (2015)</a:t>
            </a:r>
            <a:endParaRPr b="1"/>
          </a:p>
        </p:txBody>
      </p:sp>
      <p:sp>
        <p:nvSpPr>
          <p:cNvPr id="244" name="Google Shape;244;p37"/>
          <p:cNvSpPr txBox="1"/>
          <p:nvPr>
            <p:ph idx="1" type="body"/>
          </p:nvPr>
        </p:nvSpPr>
        <p:spPr>
          <a:xfrm>
            <a:off x="311700" y="449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Вместо дополнительных классификаторов используем </a:t>
            </a:r>
            <a:r>
              <a:rPr b="1" lang="en" sz="1700">
                <a:solidFill>
                  <a:schemeClr val="dk1"/>
                </a:solidFill>
              </a:rPr>
              <a:t>residual connections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Меньше каналов, но </a:t>
            </a:r>
            <a:r>
              <a:rPr b="1" lang="en" sz="1700">
                <a:solidFill>
                  <a:schemeClr val="dk1"/>
                </a:solidFill>
              </a:rPr>
              <a:t>больше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b="1" lang="en" sz="1700">
                <a:solidFill>
                  <a:schemeClr val="dk1"/>
                </a:solidFill>
              </a:rPr>
              <a:t>слоёв</a:t>
            </a:r>
            <a:r>
              <a:rPr lang="en" sz="1700">
                <a:solidFill>
                  <a:schemeClr val="dk1"/>
                </a:solidFill>
              </a:rPr>
              <a:t> по сравнению с </a:t>
            </a:r>
            <a:r>
              <a:rPr b="1" lang="en" sz="1700">
                <a:solidFill>
                  <a:schemeClr val="dk1"/>
                </a:solidFill>
              </a:rPr>
              <a:t>VGG</a:t>
            </a:r>
            <a:r>
              <a:rPr lang="en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Strided</a:t>
            </a:r>
            <a:r>
              <a:rPr lang="en" sz="1700">
                <a:solidFill>
                  <a:schemeClr val="dk1"/>
                </a:solidFill>
              </a:rPr>
              <a:t> свёртки вместо </a:t>
            </a:r>
            <a:r>
              <a:rPr b="1" lang="en" sz="1700">
                <a:solidFill>
                  <a:schemeClr val="dk1"/>
                </a:solidFill>
              </a:rPr>
              <a:t>pooling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Первое применение </a:t>
            </a:r>
            <a:r>
              <a:rPr b="1" lang="en" sz="1700">
                <a:solidFill>
                  <a:schemeClr val="dk1"/>
                </a:solidFill>
              </a:rPr>
              <a:t>Batch Normalizaiton</a:t>
            </a:r>
            <a:r>
              <a:rPr lang="en" sz="1700">
                <a:solidFill>
                  <a:schemeClr val="dk1"/>
                </a:solidFill>
              </a:rPr>
              <a:t> перед активациями свёрток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Отказ от </a:t>
            </a:r>
            <a:r>
              <a:rPr b="1" lang="en" sz="1700">
                <a:solidFill>
                  <a:schemeClr val="dk1"/>
                </a:solidFill>
              </a:rPr>
              <a:t>Dropout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245" name="Google Shape;24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6" name="Google Shape;24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1239126" y="2121225"/>
            <a:ext cx="6665749" cy="289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7"/>
          <p:cNvSpPr txBox="1"/>
          <p:nvPr/>
        </p:nvSpPr>
        <p:spPr>
          <a:xfrm>
            <a:off x="7746350" y="0"/>
            <a:ext cx="135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He et al., 2015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 txBox="1"/>
          <p:nvPr>
            <p:ph type="title"/>
          </p:nvPr>
        </p:nvSpPr>
        <p:spPr>
          <a:xfrm>
            <a:off x="125300" y="0"/>
            <a:ext cx="8520600" cy="6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/>
              <a:t>Residual / Skip connections</a:t>
            </a:r>
            <a:endParaRPr b="1" sz="3020"/>
          </a:p>
        </p:txBody>
      </p:sp>
      <p:sp>
        <p:nvSpPr>
          <p:cNvPr id="253" name="Google Shape;253;p38"/>
          <p:cNvSpPr txBox="1"/>
          <p:nvPr>
            <p:ph idx="1" type="body"/>
          </p:nvPr>
        </p:nvSpPr>
        <p:spPr>
          <a:xfrm>
            <a:off x="91800" y="557775"/>
            <a:ext cx="8960400" cy="35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Прокидываем связь, по которой градиент будет протекать без изменений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Обобщение</a:t>
            </a:r>
            <a:r>
              <a:rPr lang="en" sz="2000">
                <a:solidFill>
                  <a:schemeClr val="dk1"/>
                </a:solidFill>
              </a:rPr>
              <a:t> этой </a:t>
            </a:r>
            <a:r>
              <a:rPr lang="en" sz="2000">
                <a:solidFill>
                  <a:schemeClr val="dk1"/>
                </a:solidFill>
              </a:rPr>
              <a:t>идеи – </a:t>
            </a:r>
            <a:r>
              <a:rPr b="1" lang="en" sz="2000">
                <a:solidFill>
                  <a:schemeClr val="dk1"/>
                </a:solidFill>
              </a:rPr>
              <a:t>Highway Networks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chemeClr val="dk1"/>
                </a:solidFill>
              </a:rPr>
              <a:t>(</a:t>
            </a:r>
            <a:r>
              <a:rPr lang="en" sz="20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Srivastava et al., 2015</a:t>
            </a:r>
            <a:r>
              <a:rPr lang="en" sz="2000">
                <a:solidFill>
                  <a:schemeClr val="dk1"/>
                </a:solidFill>
              </a:rPr>
              <a:t>)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Настраиваем вес связи с помощью небольшой нейросети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54" name="Google Shape;25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5" name="Google Shape;25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7999" y="2265297"/>
            <a:ext cx="4655199" cy="2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9"/>
          <p:cNvSpPr txBox="1"/>
          <p:nvPr>
            <p:ph type="title"/>
          </p:nvPr>
        </p:nvSpPr>
        <p:spPr>
          <a:xfrm>
            <a:off x="150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/>
              <a:t>Residual block</a:t>
            </a:r>
            <a:endParaRPr b="1" sz="3020"/>
          </a:p>
        </p:txBody>
      </p:sp>
      <p:sp>
        <p:nvSpPr>
          <p:cNvPr id="261" name="Google Shape;261;p39"/>
          <p:cNvSpPr txBox="1"/>
          <p:nvPr>
            <p:ph idx="1" type="body"/>
          </p:nvPr>
        </p:nvSpPr>
        <p:spPr>
          <a:xfrm>
            <a:off x="311688" y="572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Может содержать несколько слоёв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Размерности входа и выхода связи должны совпадать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Для этого выполняем линейную проекцию с помощью </a:t>
            </a:r>
            <a:r>
              <a:rPr b="1" lang="en" sz="2000">
                <a:solidFill>
                  <a:schemeClr val="dk1"/>
                </a:solidFill>
              </a:rPr>
              <a:t>свёртки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b="1" lang="en" sz="2000">
                <a:solidFill>
                  <a:schemeClr val="dk1"/>
                </a:solidFill>
              </a:rPr>
              <a:t>1</a:t>
            </a:r>
            <a:r>
              <a:rPr b="1" lang="en" sz="2000">
                <a:solidFill>
                  <a:schemeClr val="dk1"/>
                </a:solidFill>
              </a:rPr>
              <a:t>×1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62" name="Google Shape;26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3" name="Google Shape;26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6225" y="2265300"/>
            <a:ext cx="4511550" cy="267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0"/>
          <p:cNvSpPr txBox="1"/>
          <p:nvPr>
            <p:ph type="title"/>
          </p:nvPr>
        </p:nvSpPr>
        <p:spPr>
          <a:xfrm>
            <a:off x="1168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00"/>
              <a:t>Skip Connection Loss Landscape</a:t>
            </a:r>
            <a:endParaRPr b="1" sz="2500"/>
          </a:p>
        </p:txBody>
      </p:sp>
      <p:sp>
        <p:nvSpPr>
          <p:cNvPr id="269" name="Google Shape;269;p40"/>
          <p:cNvSpPr txBox="1"/>
          <p:nvPr>
            <p:ph idx="1" type="body"/>
          </p:nvPr>
        </p:nvSpPr>
        <p:spPr>
          <a:xfrm>
            <a:off x="50850" y="1043725"/>
            <a:ext cx="4401000" cy="36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При увеличении глубины сети </a:t>
            </a:r>
            <a:r>
              <a:rPr b="1" lang="en" sz="1700">
                <a:solidFill>
                  <a:schemeClr val="dk1"/>
                </a:solidFill>
              </a:rPr>
              <a:t>loss surface</a:t>
            </a:r>
            <a:r>
              <a:rPr lang="en" sz="1700">
                <a:solidFill>
                  <a:schemeClr val="dk1"/>
                </a:solidFill>
              </a:rPr>
              <a:t> становится более хаотичной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С увеличением ширины сети эффект </a:t>
            </a:r>
            <a:r>
              <a:rPr b="1" lang="en" sz="1700">
                <a:solidFill>
                  <a:schemeClr val="dk1"/>
                </a:solidFill>
              </a:rPr>
              <a:t>обратный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Residual connection</a:t>
            </a:r>
            <a:r>
              <a:rPr lang="en" sz="1700">
                <a:solidFill>
                  <a:schemeClr val="dk1"/>
                </a:solidFill>
              </a:rPr>
              <a:t> предотвращает переход к хаотичному виду и сглаживает </a:t>
            </a:r>
            <a:r>
              <a:rPr b="1" lang="en" sz="1700">
                <a:solidFill>
                  <a:schemeClr val="dk1"/>
                </a:solidFill>
              </a:rPr>
              <a:t>loss surface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270" name="Google Shape;27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40"/>
          <p:cNvSpPr txBox="1"/>
          <p:nvPr/>
        </p:nvSpPr>
        <p:spPr>
          <a:xfrm>
            <a:off x="7854600" y="0"/>
            <a:ext cx="128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Li et al., 2018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72" name="Google Shape;27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4" y="746749"/>
            <a:ext cx="4400905" cy="194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2756499"/>
            <a:ext cx="4400901" cy="1842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41"/>
          <p:cNvSpPr txBox="1"/>
          <p:nvPr>
            <p:ph type="title"/>
          </p:nvPr>
        </p:nvSpPr>
        <p:spPr>
          <a:xfrm>
            <a:off x="311700" y="1949050"/>
            <a:ext cx="8520600" cy="9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/>
              <a:t>Семинар</a:t>
            </a:r>
            <a:endParaRPr b="1"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2"/>
          <p:cNvSpPr txBox="1"/>
          <p:nvPr>
            <p:ph type="title"/>
          </p:nvPr>
        </p:nvSpPr>
        <p:spPr>
          <a:xfrm>
            <a:off x="311700" y="11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/>
              <a:t>ImageNet</a:t>
            </a:r>
            <a:endParaRPr b="1" sz="3020"/>
          </a:p>
        </p:txBody>
      </p:sp>
      <p:sp>
        <p:nvSpPr>
          <p:cNvPr id="285" name="Google Shape;285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3"/>
          <p:cNvSpPr txBox="1"/>
          <p:nvPr>
            <p:ph type="title"/>
          </p:nvPr>
        </p:nvSpPr>
        <p:spPr>
          <a:xfrm>
            <a:off x="116825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/>
              <a:t>ResNet vs ViT</a:t>
            </a:r>
            <a:endParaRPr b="1" sz="3020"/>
          </a:p>
        </p:txBody>
      </p:sp>
      <p:sp>
        <p:nvSpPr>
          <p:cNvPr id="292" name="Google Shape;292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3" name="Google Shape;29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150" y="732250"/>
            <a:ext cx="7855899" cy="41723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3"/>
          <p:cNvSpPr txBox="1"/>
          <p:nvPr/>
        </p:nvSpPr>
        <p:spPr>
          <a:xfrm>
            <a:off x="7218900" y="86250"/>
            <a:ext cx="192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Wightman et al., 2021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4"/>
          <p:cNvSpPr txBox="1"/>
          <p:nvPr>
            <p:ph type="title"/>
          </p:nvPr>
        </p:nvSpPr>
        <p:spPr>
          <a:xfrm>
            <a:off x="1949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/>
              <a:t>ConvNet vs VIT</a:t>
            </a:r>
            <a:endParaRPr b="1" sz="3020"/>
          </a:p>
        </p:txBody>
      </p:sp>
      <p:sp>
        <p:nvSpPr>
          <p:cNvPr id="300" name="Google Shape;300;p44"/>
          <p:cNvSpPr txBox="1"/>
          <p:nvPr>
            <p:ph idx="1" type="body"/>
          </p:nvPr>
        </p:nvSpPr>
        <p:spPr>
          <a:xfrm>
            <a:off x="311700" y="1059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ConvNeXt</a:t>
            </a:r>
            <a:r>
              <a:rPr lang="en">
                <a:solidFill>
                  <a:schemeClr val="dk1"/>
                </a:solidFill>
              </a:rPr>
              <a:t> – имитируем архитектуру трансформера с помощью </a:t>
            </a:r>
            <a:r>
              <a:rPr b="1" lang="en">
                <a:solidFill>
                  <a:schemeClr val="dk1"/>
                </a:solidFill>
              </a:rPr>
              <a:t>ResNet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InceptionNeXt</a:t>
            </a:r>
            <a:r>
              <a:rPr lang="en">
                <a:solidFill>
                  <a:schemeClr val="dk1"/>
                </a:solidFill>
              </a:rPr>
              <a:t> – используем идею </a:t>
            </a:r>
            <a:r>
              <a:rPr b="1" lang="en">
                <a:solidFill>
                  <a:schemeClr val="dk1"/>
                </a:solidFill>
              </a:rPr>
              <a:t>Inception</a:t>
            </a:r>
            <a:r>
              <a:rPr lang="en">
                <a:solidFill>
                  <a:schemeClr val="dk1"/>
                </a:solidFill>
              </a:rPr>
              <a:t>,</a:t>
            </a:r>
            <a:r>
              <a:rPr b="1"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чтобы ускорить </a:t>
            </a:r>
            <a:r>
              <a:rPr b="1" lang="en">
                <a:solidFill>
                  <a:schemeClr val="dk1"/>
                </a:solidFill>
              </a:rPr>
              <a:t>ConvNeXt</a:t>
            </a:r>
            <a:r>
              <a:rPr lang="en">
                <a:solidFill>
                  <a:schemeClr val="dk1"/>
                </a:solidFill>
              </a:rPr>
              <a:t> с сохранением качества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1" name="Google Shape;301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" name="Google Shape;302;p44"/>
          <p:cNvSpPr txBox="1"/>
          <p:nvPr/>
        </p:nvSpPr>
        <p:spPr>
          <a:xfrm>
            <a:off x="7786800" y="0"/>
            <a:ext cx="135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Liu et al., 2022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3" name="Google Shape;303;p44"/>
          <p:cNvSpPr txBox="1"/>
          <p:nvPr/>
        </p:nvSpPr>
        <p:spPr>
          <a:xfrm>
            <a:off x="7820700" y="305075"/>
            <a:ext cx="135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Yu et al., 2024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type="title"/>
          </p:nvPr>
        </p:nvSpPr>
        <p:spPr>
          <a:xfrm>
            <a:off x="311700" y="12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/>
              <a:t>Аугментации изображений</a:t>
            </a:r>
            <a:endParaRPr b="1" sz="3020"/>
          </a:p>
        </p:txBody>
      </p:sp>
      <p:sp>
        <p:nvSpPr>
          <p:cNvPr id="309" name="Google Shape;30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 txBox="1"/>
          <p:nvPr>
            <p:ph type="title"/>
          </p:nvPr>
        </p:nvSpPr>
        <p:spPr>
          <a:xfrm>
            <a:off x="311700" y="16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/>
              <a:t>Transfer Learning</a:t>
            </a:r>
            <a:endParaRPr b="1" sz="3020"/>
          </a:p>
        </p:txBody>
      </p:sp>
      <p:sp>
        <p:nvSpPr>
          <p:cNvPr id="316" name="Google Shape;316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