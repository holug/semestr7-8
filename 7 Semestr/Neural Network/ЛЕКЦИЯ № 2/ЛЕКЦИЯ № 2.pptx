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305" r:id="rId14"/>
    <p:sldId id="267" r:id="rId15"/>
    <p:sldId id="306" r:id="rId16"/>
    <p:sldId id="311" r:id="rId17"/>
    <p:sldId id="309" r:id="rId18"/>
    <p:sldId id="307" r:id="rId19"/>
    <p:sldId id="308" r:id="rId20"/>
    <p:sldId id="312" r:id="rId21"/>
    <p:sldId id="269" r:id="rId22"/>
    <p:sldId id="270" r:id="rId23"/>
    <p:sldId id="268" r:id="rId24"/>
    <p:sldId id="310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304" r:id="rId33"/>
    <p:sldId id="303" r:id="rId34"/>
    <p:sldId id="290" r:id="rId35"/>
    <p:sldId id="291" r:id="rId36"/>
    <p:sldId id="293" r:id="rId37"/>
    <p:sldId id="271" r:id="rId38"/>
  </p:sldIdLst>
  <p:sldSz cx="9144000" cy="6858000" type="screen4x3"/>
  <p:notesSz cx="7559675" cy="106918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72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616CEFCD-F51C-42DB-B0D3-C491EBCEAF93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2104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A6DD3C27-4BF2-40C2-8305-3BA133AD48DE}" type="slidenum"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2104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D3FA25F-2489-4AA2-A7DC-8DA2993F107F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2104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691A8FB8-F604-4D21-8F3A-52343632EAEC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2104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C5A2F731-1E21-4522-B511-B3BE6744B628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5E3A8D6F-0BB2-4D6C-ACF8-B8E07B6DFCBC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2104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E6C51F9E-BA74-4C98-BA4D-23195DF401A8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2104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58A95E28-BBC8-466E-B3B2-AC53780B3ED7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2104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4BA3F2B9-2595-4C5C-AAFA-0CE77AB48AD2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2104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307A5183-CDD6-41EC-9B13-F83A8353DF94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2104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355262C9-42B5-4FDB-B620-840FC98BDD78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2104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5000"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5000"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5000"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5000"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5000"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5000"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69F7B6C1-E873-4ACE-95F8-42153DBC9526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47FE4709-84EE-43B5-BA46-78E0C97367F2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2104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B895DCE0-2444-4C60-88E2-C2FC804BBBB1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2104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48D6FEEB-B9ED-4C4B-A7C5-135B3875D46F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2104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FD2A3513-9F6F-49EC-AAB0-2BCEBBF91272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2104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0F495A3-9B78-4094-97A2-AD876C446333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313162C6-70D2-4843-B1A2-7370C30C17CA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2104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383EBD42-AB85-4493-8ACD-F87125A3B6AD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2104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BD692D39-33A5-4BA8-A1A9-25C66EC6FAEE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2104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0FF44D6A-A617-4514-AF1E-52A332B70A86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2104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67D8AB52-1ED4-49DE-B1AA-D7B9A736FDC1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2104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FBE3C96A-686C-4470-A924-DB70415FCFBB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2104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5000"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5000"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5000"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5000"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5000"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5000"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EC30EDE0-68A6-420A-B659-25BCE269C323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568974-FE8E-4709-BBA6-00A35BEB2EB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1666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ru-RU" sz="4400" b="0" strike="noStrike" spc="-1">
                <a:solidFill>
                  <a:srgbClr val="000000"/>
                </a:solidFill>
                <a:latin typeface="Arial"/>
              </a:rPr>
              <a:t>Образец заголовка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dt" idx="1"/>
          </p:nvPr>
        </p:nvSpPr>
        <p:spPr>
          <a:xfrm>
            <a:off x="457200" y="6245280"/>
            <a:ext cx="2133360" cy="47592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>
            <a:lvl1pPr indent="0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245280"/>
            <a:ext cx="2895120" cy="47592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>
            <a:lvl1pPr indent="0" algn="ctr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245280"/>
            <a:ext cx="2133360" cy="47592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>
            <a:lvl1pPr indent="0" algn="r">
              <a:lnSpc>
                <a:spcPct val="100000"/>
              </a:lnSpc>
              <a:buNone/>
              <a:defRPr lang="ru-RU" sz="1400" b="0" strike="noStrike" spc="-1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49DAE27-1C11-4B13-9E52-E11CF0FFFE45}" type="slidenum">
              <a:rPr lang="ru-RU" sz="1400" b="0" strike="noStrike" spc="-1">
                <a:solidFill>
                  <a:srgbClr val="000000"/>
                </a:solidFill>
                <a:latin typeface="Arial"/>
              </a:rPr>
              <a:t>‹#›</a:t>
            </a:fld>
            <a:endParaRPr lang="ru-RU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00" b="0" strike="noStrike" spc="-1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ru-RU" sz="4400" b="0" strike="noStrike" spc="-1">
                <a:solidFill>
                  <a:srgbClr val="000000"/>
                </a:solidFill>
                <a:latin typeface="Arial"/>
              </a:rPr>
              <a:t>Образец заголовка</a:t>
            </a: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ru-RU" sz="3200" b="0" strike="noStrike" spc="-1">
                <a:solidFill>
                  <a:srgbClr val="000000"/>
                </a:solidFill>
                <a:latin typeface="Arial"/>
              </a:rPr>
              <a:t>Образец текста</a:t>
            </a: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ru-RU" sz="2800" b="0" strike="noStrike" spc="-1">
                <a:solidFill>
                  <a:srgbClr val="000000"/>
                </a:solidFill>
                <a:latin typeface="Arial"/>
              </a:rPr>
              <a:t>Второй уровень</a:t>
            </a: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ru-RU" sz="2400" b="0" strike="noStrike" spc="-1">
                <a:solidFill>
                  <a:srgbClr val="000000"/>
                </a:solidFill>
                <a:latin typeface="Arial"/>
              </a:rPr>
              <a:t>Третий уровень</a:t>
            </a: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Четвертый уровень</a:t>
            </a: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tarSymbol"/>
              <a:buChar char="»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Пятый уровень</a:t>
            </a:r>
          </a:p>
        </p:txBody>
      </p:sp>
      <p:sp>
        <p:nvSpPr>
          <p:cNvPr id="43" name="PlaceHolder 3"/>
          <p:cNvSpPr>
            <a:spLocks noGrp="1"/>
          </p:cNvSpPr>
          <p:nvPr>
            <p:ph type="dt" idx="4"/>
          </p:nvPr>
        </p:nvSpPr>
        <p:spPr>
          <a:xfrm>
            <a:off x="457200" y="6245280"/>
            <a:ext cx="2133360" cy="47592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>
            <a:lvl1pPr indent="0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&lt;дата/время&gt;</a:t>
            </a:r>
          </a:p>
        </p:txBody>
      </p:sp>
      <p:sp>
        <p:nvSpPr>
          <p:cNvPr id="44" name="PlaceHolder 4"/>
          <p:cNvSpPr>
            <a:spLocks noGrp="1"/>
          </p:cNvSpPr>
          <p:nvPr>
            <p:ph type="ftr" idx="5"/>
          </p:nvPr>
        </p:nvSpPr>
        <p:spPr>
          <a:xfrm>
            <a:off x="3124080" y="6245280"/>
            <a:ext cx="2895120" cy="47592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>
            <a:lvl1pPr indent="0" algn="ctr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45" name="PlaceHolder 5"/>
          <p:cNvSpPr>
            <a:spLocks noGrp="1"/>
          </p:cNvSpPr>
          <p:nvPr>
            <p:ph type="sldNum" idx="6"/>
          </p:nvPr>
        </p:nvSpPr>
        <p:spPr>
          <a:xfrm>
            <a:off x="6553080" y="6245280"/>
            <a:ext cx="2133360" cy="47592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>
            <a:lvl1pPr indent="0" algn="r">
              <a:lnSpc>
                <a:spcPct val="100000"/>
              </a:lnSpc>
              <a:buNone/>
              <a:defRPr lang="ru-RU" sz="1400" b="0" strike="noStrike" spc="-1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3BFC3B5-EB3B-4FD3-B4AF-9B0BC99F405C}" type="slidenum">
              <a:rPr lang="ru-RU" sz="1400" b="0" strike="noStrike" spc="-1">
                <a:solidFill>
                  <a:srgbClr val="000000"/>
                </a:solidFill>
                <a:latin typeface="Arial"/>
              </a:rPr>
              <a:t>‹#›</a:t>
            </a:fld>
            <a:endParaRPr lang="ru-RU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ru.wikipedia.org/wiki/%D0%9D%D0%B5%D0%B9%D1%80%D0%BE%D0%BD" TargetMode="External"/><Relationship Id="rId2" Type="http://schemas.openxmlformats.org/officeDocument/2006/relationships/hyperlink" Target="https://ru.wikipedia.org/wiki/%D0%9C%D0%BE%D0%BB%D0%B5%D0%BA%D1%83%D0%BB%D1%8F%D1%80%D0%BD%D0%B0%D1%8F_%D0%B1%D0%B8%D0%BE%D0%BB%D0%BE%D0%B3%D0%B8%D1%8F" TargetMode="External"/><Relationship Id="rId1" Type="http://schemas.openxmlformats.org/officeDocument/2006/relationships/slideLayout" Target="../slideLayouts/slideLayout25.xml"/><Relationship Id="rId6" Type="http://schemas.openxmlformats.org/officeDocument/2006/relationships/hyperlink" Target="https://ru.wikipedia.org/wiki/%D0%98%D1%81%D0%BA%D1%83%D1%81%D1%81%D1%82%D0%B2%D0%B5%D0%BD%D0%BD%D0%B0%D1%8F_%D0%BD%D0%B5%D0%B9%D1%80%D0%BE%D0%BD%D0%BD%D0%B0%D1%8F_%D1%81%D0%B5%D1%82%D1%8C" TargetMode="External"/><Relationship Id="rId5" Type="http://schemas.openxmlformats.org/officeDocument/2006/relationships/hyperlink" Target="https://ru.wikipedia.org/wiki/%D0%90%D0%B4%D0%B0%D0%BF%D1%82%D0%B8%D0%B2%D0%BD%D0%B0%D1%8F_%D1%81%D0%B8%D1%81%D1%82%D0%B5%D0%BC%D0%B0" TargetMode="External"/><Relationship Id="rId4" Type="http://schemas.openxmlformats.org/officeDocument/2006/relationships/hyperlink" Target="https://ru.wikipedia.org/wiki/%D0%98%D1%81%D0%BA%D1%83%D1%81%D1%81%D1%82%D0%B2%D0%B5%D0%BD%D0%BD%D1%8B%D0%B9_%D0%B8%D0%BD%D1%82%D0%B5%D0%BB%D0%BB%D0%B5%D0%BA%D1%82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ru.wikipedia.org/wiki/&#1056;&#1086;&#1079;&#1077;&#1085;&#1073;&#1083;&#1072;&#1090;&#1090;,_&#1060;&#1088;&#1101;&#1085;&#1082;" TargetMode="Externa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179280" y="333360"/>
            <a:ext cx="8784720" cy="36716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ru-RU" sz="4000" b="1" strike="noStrike" spc="-1">
                <a:solidFill>
                  <a:srgbClr val="000000"/>
                </a:solidFill>
                <a:latin typeface="Arial"/>
              </a:rPr>
              <a:t>ТЕОРИЯ ИСКУССТВЕННЫХ НЕЙРОННЫХ СЕТЕЙ</a:t>
            </a:r>
            <a:br>
              <a:rPr sz="4000"/>
            </a:br>
            <a:r>
              <a:rPr lang="ru-RU" sz="4000" b="1" strike="noStrike" spc="-1">
                <a:solidFill>
                  <a:srgbClr val="000000"/>
                </a:solidFill>
                <a:latin typeface="Arial"/>
              </a:rPr>
              <a:t>Каганов Ю.Т.</a:t>
            </a:r>
            <a:br>
              <a:rPr sz="4000"/>
            </a:br>
            <a:r>
              <a:rPr lang="ru-RU" sz="3200" b="1" strike="noStrike" spc="-1">
                <a:solidFill>
                  <a:srgbClr val="000000"/>
                </a:solidFill>
                <a:latin typeface="Arial"/>
              </a:rPr>
              <a:t>к.т.н., доцент каф. ИУ-9</a:t>
            </a:r>
            <a:br>
              <a:rPr sz="3200"/>
            </a:br>
            <a:r>
              <a:rPr lang="ru-RU" sz="2400" b="1" strike="noStrike" spc="-1">
                <a:solidFill>
                  <a:srgbClr val="000000"/>
                </a:solidFill>
                <a:latin typeface="Arial"/>
              </a:rPr>
              <a:t>«Теоретическая информатика и компьютерные технологии»</a:t>
            </a:r>
            <a:br>
              <a:rPr sz="4000"/>
            </a:br>
            <a:endParaRPr lang="ru-RU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ubTitle"/>
          </p:nvPr>
        </p:nvSpPr>
        <p:spPr>
          <a:xfrm>
            <a:off x="1371600" y="4149720"/>
            <a:ext cx="6400440" cy="215928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ru-RU" sz="3200" b="1" strike="noStrike" spc="-1" dirty="0">
                <a:solidFill>
                  <a:srgbClr val="000000"/>
                </a:solidFill>
                <a:latin typeface="Arial"/>
              </a:rPr>
              <a:t>ЛЕКЦИЯ № 2</a:t>
            </a:r>
            <a:endParaRPr lang="ru-RU" sz="3200" b="0" strike="noStrike" spc="-1" dirty="0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ru-RU" sz="2800" b="1" strike="noStrike" spc="-1" dirty="0">
                <a:solidFill>
                  <a:srgbClr val="000000"/>
                </a:solidFill>
                <a:latin typeface="Arial"/>
              </a:rPr>
              <a:t>Основные понятия о машинном обучении и простейшая НС «ПЕРСЕПТРОН»</a:t>
            </a:r>
          </a:p>
          <a:p>
            <a:pPr indent="0" algn="ctr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ru-RU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ru-RU" sz="3600" b="1" strike="noStrike" spc="-1">
                <a:solidFill>
                  <a:srgbClr val="000000"/>
                </a:solidFill>
                <a:latin typeface="Times New Roman"/>
              </a:rPr>
              <a:t>ПЛАН ЛЕКЦИИ</a:t>
            </a:r>
            <a:endParaRPr lang="ru-RU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360000" y="1260000"/>
            <a:ext cx="8362440" cy="504000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/>
          <a:p>
            <a:pPr marL="609480" indent="-609480">
              <a:lnSpc>
                <a:spcPct val="80000"/>
              </a:lnSpc>
              <a:spcBef>
                <a:spcPts val="439"/>
              </a:spcBef>
              <a:buClr>
                <a:srgbClr val="000000"/>
              </a:buClr>
              <a:buFont typeface="StarSymbol"/>
              <a:buAutoNum type="arabicPeriod"/>
            </a:pPr>
            <a:r>
              <a:rPr lang="ru-RU" sz="2200" b="0" strike="noStrike" spc="-1" dirty="0">
                <a:solidFill>
                  <a:srgbClr val="000000"/>
                </a:solidFill>
                <a:latin typeface="Times New Roman"/>
              </a:rPr>
              <a:t>Что такое машинное обучение? </a:t>
            </a:r>
          </a:p>
          <a:p>
            <a:pPr marL="609480" indent="-609480">
              <a:lnSpc>
                <a:spcPct val="80000"/>
              </a:lnSpc>
              <a:spcBef>
                <a:spcPts val="439"/>
              </a:spcBef>
              <a:buClr>
                <a:srgbClr val="000000"/>
              </a:buClr>
              <a:buFont typeface="StarSymbol"/>
              <a:buAutoNum type="arabicPeriod"/>
            </a:pPr>
            <a:r>
              <a:rPr lang="ru-RU" sz="2200" b="0" strike="noStrike" spc="-1" dirty="0">
                <a:solidFill>
                  <a:srgbClr val="000000"/>
                </a:solidFill>
                <a:latin typeface="Times New Roman"/>
              </a:rPr>
              <a:t>Обучение с учителем. Обучение без учителя. Обучение с подкреплением.</a:t>
            </a:r>
            <a:endParaRPr lang="ru-RU" sz="2200" b="0" strike="noStrike" spc="-1" dirty="0">
              <a:solidFill>
                <a:srgbClr val="000000"/>
              </a:solidFill>
              <a:latin typeface="Arial"/>
            </a:endParaRPr>
          </a:p>
          <a:p>
            <a:pPr marL="609480" indent="-609480">
              <a:lnSpc>
                <a:spcPct val="80000"/>
              </a:lnSpc>
              <a:spcBef>
                <a:spcPts val="439"/>
              </a:spcBef>
              <a:buClr>
                <a:srgbClr val="000000"/>
              </a:buClr>
              <a:buFont typeface="StarSymbol"/>
              <a:buAutoNum type="arabicPeriod"/>
            </a:pPr>
            <a:r>
              <a:rPr lang="ru-RU" sz="2200" b="0" strike="noStrike" spc="-1" dirty="0">
                <a:solidFill>
                  <a:srgbClr val="000000"/>
                </a:solidFill>
                <a:latin typeface="Times New Roman"/>
              </a:rPr>
              <a:t>Основные этапы построения систем машинного обучения.</a:t>
            </a:r>
          </a:p>
          <a:p>
            <a:pPr marL="609480" indent="-609480">
              <a:lnSpc>
                <a:spcPct val="80000"/>
              </a:lnSpc>
              <a:spcBef>
                <a:spcPts val="439"/>
              </a:spcBef>
              <a:buClr>
                <a:srgbClr val="000000"/>
              </a:buClr>
              <a:buFont typeface="StarSymbol"/>
              <a:buAutoNum type="arabicPeriod"/>
            </a:pPr>
            <a:r>
              <a:rPr lang="ru-RU" sz="2200" spc="-1" dirty="0">
                <a:solidFill>
                  <a:srgbClr val="000000"/>
                </a:solidFill>
                <a:latin typeface="Times New Roman"/>
              </a:rPr>
              <a:t>Пример: регрессионный анализ. Обучение, </a:t>
            </a:r>
            <a:r>
              <a:rPr lang="ru-RU" sz="2200" spc="-1" dirty="0" err="1">
                <a:solidFill>
                  <a:srgbClr val="000000"/>
                </a:solidFill>
                <a:latin typeface="Times New Roman"/>
              </a:rPr>
              <a:t>недообучение</a:t>
            </a:r>
            <a:r>
              <a:rPr lang="ru-RU" sz="2200" spc="-1" dirty="0">
                <a:solidFill>
                  <a:srgbClr val="000000"/>
                </a:solidFill>
                <a:latin typeface="Times New Roman"/>
              </a:rPr>
              <a:t>, переобучение.</a:t>
            </a:r>
            <a:endParaRPr lang="ru-RU" sz="2200" b="0" strike="noStrike" spc="-1" dirty="0">
              <a:solidFill>
                <a:srgbClr val="000000"/>
              </a:solidFill>
              <a:latin typeface="Arial"/>
            </a:endParaRPr>
          </a:p>
          <a:p>
            <a:pPr marL="609480" indent="-609480">
              <a:lnSpc>
                <a:spcPct val="80000"/>
              </a:lnSpc>
              <a:spcBef>
                <a:spcPts val="439"/>
              </a:spcBef>
              <a:buClr>
                <a:srgbClr val="000000"/>
              </a:buClr>
              <a:buFont typeface="StarSymbol"/>
              <a:buAutoNum type="arabicPeriod"/>
            </a:pPr>
            <a:r>
              <a:rPr lang="ru-RU" sz="2200" b="0" strike="noStrike" spc="-1" dirty="0">
                <a:solidFill>
                  <a:srgbClr val="000000"/>
                </a:solidFill>
                <a:latin typeface="Times New Roman"/>
              </a:rPr>
              <a:t>Этапы развития теории искусственных нейронных сетей.</a:t>
            </a:r>
            <a:endParaRPr lang="ru-RU" sz="2200" b="0" strike="noStrike" spc="-1" dirty="0">
              <a:solidFill>
                <a:srgbClr val="000000"/>
              </a:solidFill>
              <a:latin typeface="Arial"/>
            </a:endParaRPr>
          </a:p>
          <a:p>
            <a:pPr marL="609480" indent="-609480">
              <a:lnSpc>
                <a:spcPct val="80000"/>
              </a:lnSpc>
              <a:spcBef>
                <a:spcPts val="439"/>
              </a:spcBef>
              <a:buClr>
                <a:srgbClr val="000000"/>
              </a:buClr>
              <a:buFont typeface="StarSymbol"/>
              <a:buAutoNum type="arabicPeriod"/>
            </a:pPr>
            <a:r>
              <a:rPr lang="ru-RU" sz="2200" b="0" strike="noStrike" spc="-1" dirty="0">
                <a:solidFill>
                  <a:srgbClr val="000000"/>
                </a:solidFill>
                <a:latin typeface="Times New Roman"/>
              </a:rPr>
              <a:t>Области применения искусственных нейронных сетей.</a:t>
            </a:r>
            <a:endParaRPr lang="ru-RU" sz="2200" b="0" strike="noStrike" spc="-1" dirty="0">
              <a:solidFill>
                <a:srgbClr val="000000"/>
              </a:solidFill>
              <a:latin typeface="Arial"/>
            </a:endParaRPr>
          </a:p>
          <a:p>
            <a:pPr marL="609480" indent="-609480">
              <a:lnSpc>
                <a:spcPct val="80000"/>
              </a:lnSpc>
              <a:spcBef>
                <a:spcPts val="439"/>
              </a:spcBef>
              <a:buClr>
                <a:srgbClr val="000000"/>
              </a:buClr>
              <a:buFont typeface="StarSymbol"/>
              <a:buAutoNum type="arabicPeriod"/>
            </a:pPr>
            <a:r>
              <a:rPr lang="ru-RU" sz="2200" b="0" strike="noStrike" spc="-1" dirty="0">
                <a:solidFill>
                  <a:srgbClr val="000000"/>
                </a:solidFill>
                <a:latin typeface="Times New Roman"/>
              </a:rPr>
              <a:t>Современное состояние и перспективы развития ИНС.</a:t>
            </a:r>
            <a:endParaRPr lang="ru-RU" sz="2200" b="0" strike="noStrike" spc="-1" dirty="0">
              <a:solidFill>
                <a:srgbClr val="000000"/>
              </a:solidFill>
              <a:latin typeface="Arial"/>
            </a:endParaRPr>
          </a:p>
          <a:p>
            <a:pPr marL="609480" indent="-609480">
              <a:lnSpc>
                <a:spcPct val="80000"/>
              </a:lnSpc>
              <a:spcBef>
                <a:spcPts val="439"/>
              </a:spcBef>
              <a:buClr>
                <a:srgbClr val="000000"/>
              </a:buClr>
              <a:buFont typeface="StarSymbol"/>
              <a:buAutoNum type="arabicPeriod"/>
            </a:pPr>
            <a:r>
              <a:rPr lang="ru-RU" sz="2200" b="0" strike="noStrike" spc="-1" dirty="0">
                <a:solidFill>
                  <a:srgbClr val="000000"/>
                </a:solidFill>
                <a:latin typeface="Times New Roman"/>
              </a:rPr>
              <a:t>Персептрон. </a:t>
            </a:r>
          </a:p>
          <a:p>
            <a:pPr marL="609480" indent="-609480">
              <a:lnSpc>
                <a:spcPct val="80000"/>
              </a:lnSpc>
              <a:spcBef>
                <a:spcPts val="439"/>
              </a:spcBef>
              <a:buClr>
                <a:srgbClr val="000000"/>
              </a:buClr>
              <a:buFont typeface="StarSymbol"/>
              <a:buAutoNum type="arabicPeriod"/>
            </a:pPr>
            <a:r>
              <a:rPr lang="ru-RU" sz="2200" spc="-1" dirty="0">
                <a:solidFill>
                  <a:srgbClr val="000000"/>
                </a:solidFill>
                <a:latin typeface="Times New Roman"/>
              </a:rPr>
              <a:t>Функции активации.</a:t>
            </a:r>
          </a:p>
          <a:p>
            <a:pPr marL="609480" indent="-609480">
              <a:lnSpc>
                <a:spcPct val="80000"/>
              </a:lnSpc>
              <a:spcBef>
                <a:spcPts val="439"/>
              </a:spcBef>
              <a:buClr>
                <a:srgbClr val="000000"/>
              </a:buClr>
              <a:buFont typeface="StarSymbol"/>
              <a:buAutoNum type="arabicPeriod"/>
            </a:pPr>
            <a:r>
              <a:rPr lang="ru-RU" sz="2200" b="0" strike="noStrike" spc="-1" dirty="0" err="1">
                <a:solidFill>
                  <a:srgbClr val="000000"/>
                </a:solidFill>
                <a:latin typeface="Times New Roman"/>
              </a:rPr>
              <a:t>Лосс</a:t>
            </a:r>
            <a:r>
              <a:rPr lang="ru-RU" sz="2200" b="0" strike="noStrike" spc="-1" dirty="0">
                <a:solidFill>
                  <a:srgbClr val="000000"/>
                </a:solidFill>
                <a:latin typeface="Times New Roman"/>
              </a:rPr>
              <a:t>-функции (целевые функции).</a:t>
            </a:r>
          </a:p>
          <a:p>
            <a:pPr marL="609480" indent="-609480">
              <a:lnSpc>
                <a:spcPct val="80000"/>
              </a:lnSpc>
              <a:spcBef>
                <a:spcPts val="439"/>
              </a:spcBef>
              <a:buClr>
                <a:srgbClr val="000000"/>
              </a:buClr>
              <a:buFont typeface="StarSymbol"/>
              <a:buAutoNum type="arabicPeriod"/>
            </a:pPr>
            <a:r>
              <a:rPr lang="ru-RU" sz="2200" spc="-1" dirty="0">
                <a:solidFill>
                  <a:srgbClr val="000000"/>
                </a:solidFill>
                <a:latin typeface="Times New Roman"/>
              </a:rPr>
              <a:t>Концепция обратного распространения ошибки</a:t>
            </a:r>
            <a:endParaRPr lang="ru-RU" sz="2200" b="0" strike="noStrike" spc="-1" dirty="0">
              <a:solidFill>
                <a:srgbClr val="000000"/>
              </a:solidFill>
              <a:latin typeface="Arial"/>
            </a:endParaRPr>
          </a:p>
          <a:p>
            <a:pPr marL="609480" indent="-609480">
              <a:lnSpc>
                <a:spcPct val="80000"/>
              </a:lnSpc>
              <a:spcBef>
                <a:spcPts val="439"/>
              </a:spcBef>
              <a:buClr>
                <a:srgbClr val="000000"/>
              </a:buClr>
              <a:buFont typeface="StarSymbol"/>
              <a:buAutoNum type="arabicPeriod"/>
            </a:pPr>
            <a:r>
              <a:rPr lang="ru-RU" sz="2200" b="0" strike="noStrike" spc="-1" dirty="0">
                <a:solidFill>
                  <a:srgbClr val="000000"/>
                </a:solidFill>
                <a:latin typeface="Times New Roman"/>
              </a:rPr>
              <a:t>Сети глубокого обучения.</a:t>
            </a:r>
            <a:endParaRPr lang="ru-RU" sz="2200" b="0" strike="noStrike" spc="-1" dirty="0">
              <a:solidFill>
                <a:srgbClr val="000000"/>
              </a:solidFill>
              <a:latin typeface="Arial"/>
            </a:endParaRPr>
          </a:p>
          <a:p>
            <a:pPr marL="609480" indent="-609480">
              <a:lnSpc>
                <a:spcPct val="80000"/>
              </a:lnSpc>
              <a:spcBef>
                <a:spcPts val="439"/>
              </a:spcBef>
              <a:buClr>
                <a:srgbClr val="000000"/>
              </a:buClr>
              <a:buFont typeface="StarSymbol"/>
              <a:buAutoNum type="arabicPeriod"/>
            </a:pPr>
            <a:r>
              <a:rPr lang="en-US" sz="2200" b="0" strike="noStrike" spc="-1" dirty="0">
                <a:solidFill>
                  <a:srgbClr val="000000"/>
                </a:solidFill>
                <a:latin typeface="Times New Roman"/>
              </a:rPr>
              <a:t>DEEP    LEARNING   LIBRARY</a:t>
            </a:r>
            <a:endParaRPr lang="ru-RU" sz="2200" b="0" strike="noStrike" spc="-1" dirty="0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80000"/>
              </a:lnSpc>
              <a:spcBef>
                <a:spcPts val="439"/>
              </a:spcBef>
              <a:buNone/>
            </a:pPr>
            <a:endParaRPr lang="ru-RU" sz="2200" b="0" strike="noStrike" spc="-1" dirty="0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80000"/>
              </a:lnSpc>
              <a:spcBef>
                <a:spcPts val="420"/>
              </a:spcBef>
              <a:buNone/>
            </a:pPr>
            <a:endParaRPr lang="ru-RU" sz="21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ru-RU" sz="3600" b="1" strike="noStrike" spc="-1" dirty="0">
                <a:solidFill>
                  <a:srgbClr val="000000"/>
                </a:solidFill>
                <a:latin typeface="Times New Roman"/>
              </a:rPr>
              <a:t>Что такое машинное обучение</a:t>
            </a:r>
            <a:endParaRPr lang="ru-RU" sz="3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/>
          <a:p>
            <a:pPr marL="343080" indent="-343080" algn="just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ru-RU" sz="2800" b="1" strike="noStrike" spc="-1">
                <a:solidFill>
                  <a:srgbClr val="000000"/>
                </a:solidFill>
                <a:latin typeface="Times New Roman"/>
              </a:rPr>
              <a:t>Машинное обучение</a:t>
            </a:r>
            <a:r>
              <a:rPr lang="ru-RU" sz="2800" b="0" strike="noStrike" spc="-1">
                <a:solidFill>
                  <a:srgbClr val="000000"/>
                </a:solidFill>
                <a:latin typeface="Times New Roman"/>
              </a:rPr>
              <a:t> ( </a:t>
            </a:r>
            <a:r>
              <a:rPr lang="ru-RU" sz="2800" b="1" i="1" strike="noStrike" spc="-1">
                <a:solidFill>
                  <a:srgbClr val="000000"/>
                </a:solidFill>
                <a:latin typeface="Times New Roman"/>
              </a:rPr>
              <a:t>machine learning</a:t>
            </a:r>
            <a:r>
              <a:rPr lang="ru-RU" sz="2800" b="0" strike="noStrike" spc="-1">
                <a:solidFill>
                  <a:srgbClr val="000000"/>
                </a:solidFill>
                <a:latin typeface="Times New Roman"/>
              </a:rPr>
              <a:t>, ML) — класс методов искусственного интеллекта, характерной чертой которых является не прямое решение задачи, а обучение в процессе применения решений множества сходных задач. Для построения таких методов используются средства математической статистики, численных методов, методов оптимизации, теории вероятностей, теории графов. </a:t>
            </a: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641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ru-RU" sz="4400" b="1" strike="noStrike" spc="-1">
                <a:solidFill>
                  <a:srgbClr val="000000"/>
                </a:solidFill>
                <a:latin typeface="Times New Roman"/>
              </a:rPr>
              <a:t>Машинное обучение</a:t>
            </a: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457200" y="1196640"/>
            <a:ext cx="8229240" cy="538632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/>
          <a:p>
            <a:pPr marL="343080" indent="-343080" algn="just">
              <a:lnSpc>
                <a:spcPct val="100000"/>
              </a:lnSpc>
              <a:spcBef>
                <a:spcPts val="360"/>
              </a:spcBef>
              <a:buClr>
                <a:srgbClr val="202122"/>
              </a:buClr>
              <a:buFont typeface="Symbol" charset="2"/>
              <a:buChar char=""/>
            </a:pPr>
            <a:r>
              <a:rPr lang="ru-RU" sz="1800" b="0" strike="noStrike" spc="-1">
                <a:solidFill>
                  <a:srgbClr val="202122"/>
                </a:solidFill>
                <a:latin typeface="Times New Roman"/>
              </a:rPr>
              <a:t>Имеется множество </a:t>
            </a:r>
            <a:r>
              <a:rPr lang="ru-RU" sz="1800" b="1" i="1" strike="noStrike" spc="-1">
                <a:solidFill>
                  <a:srgbClr val="202122"/>
                </a:solidFill>
                <a:latin typeface="Times New Roman"/>
              </a:rPr>
              <a:t>объектов</a:t>
            </a:r>
            <a:r>
              <a:rPr lang="ru-RU" sz="1800" b="0" strike="noStrike" spc="-1">
                <a:solidFill>
                  <a:srgbClr val="202122"/>
                </a:solidFill>
                <a:latin typeface="Times New Roman"/>
              </a:rPr>
              <a:t> (ситуаций) и множество возможных </a:t>
            </a:r>
            <a:r>
              <a:rPr lang="ru-RU" sz="1800" b="1" i="1" strike="noStrike" spc="-1">
                <a:solidFill>
                  <a:srgbClr val="202122"/>
                </a:solidFill>
                <a:latin typeface="Times New Roman"/>
              </a:rPr>
              <a:t>ответов</a:t>
            </a:r>
            <a:r>
              <a:rPr lang="ru-RU" sz="1800" b="0" strike="noStrike" spc="-1">
                <a:solidFill>
                  <a:srgbClr val="202122"/>
                </a:solidFill>
                <a:latin typeface="Times New Roman"/>
              </a:rPr>
              <a:t> (откликов, реакций). Существует некоторая зависимость между ответами и объектами, но она неизвестна. Известна только конечная совокупность </a:t>
            </a:r>
            <a:r>
              <a:rPr lang="ru-RU" sz="1800" b="1" i="1" strike="noStrike" spc="-1">
                <a:solidFill>
                  <a:srgbClr val="202122"/>
                </a:solidFill>
                <a:latin typeface="Times New Roman"/>
              </a:rPr>
              <a:t>прецедентов</a:t>
            </a:r>
            <a:r>
              <a:rPr lang="ru-RU" sz="1800" b="1" strike="noStrike" spc="-1">
                <a:solidFill>
                  <a:srgbClr val="202122"/>
                </a:solidFill>
                <a:latin typeface="Times New Roman"/>
              </a:rPr>
              <a:t> </a:t>
            </a:r>
            <a:r>
              <a:rPr lang="ru-RU" sz="1800" b="0" strike="noStrike" spc="-1">
                <a:solidFill>
                  <a:srgbClr val="202122"/>
                </a:solidFill>
                <a:latin typeface="Times New Roman"/>
              </a:rPr>
              <a:t>— пар «объект, ответ», называемая </a:t>
            </a:r>
            <a:r>
              <a:rPr lang="ru-RU" sz="1800" b="1" i="1" strike="noStrike" spc="-1">
                <a:solidFill>
                  <a:srgbClr val="202122"/>
                </a:solidFill>
                <a:latin typeface="Times New Roman"/>
              </a:rPr>
              <a:t>обучающей выборкой</a:t>
            </a:r>
            <a:r>
              <a:rPr lang="ru-RU" sz="1800" b="0" strike="noStrike" spc="-1">
                <a:solidFill>
                  <a:srgbClr val="202122"/>
                </a:solidFill>
                <a:latin typeface="Times New Roman"/>
              </a:rPr>
              <a:t>. На основе этих данных требуется восстановить неявную зависимость, то есть построить алгоритм, способный для любого возможного входного объекта выдать достаточно точный классифицирующий ответ. Эта зависимость не обязательно выражается аналитически, и здесь нейросети реализуют принцип эмпирически формируемого решения. Важной особенностью при этом является способность обучаемой системы к </a:t>
            </a:r>
            <a:r>
              <a:rPr lang="ru-RU" sz="1800" b="1" i="1" strike="noStrike" spc="-1">
                <a:solidFill>
                  <a:srgbClr val="202122"/>
                </a:solidFill>
                <a:latin typeface="Times New Roman"/>
              </a:rPr>
              <a:t>обобщению</a:t>
            </a:r>
            <a:r>
              <a:rPr lang="ru-RU" sz="1800" b="0" strike="noStrike" spc="-1">
                <a:solidFill>
                  <a:srgbClr val="202122"/>
                </a:solidFill>
                <a:latin typeface="Times New Roman"/>
              </a:rPr>
              <a:t>, то есть к адекватному отклику на данные, выходящие за пределы имеющейся обучающей выборки. Для измерения точности ответов вводится оценочный </a:t>
            </a:r>
            <a:r>
              <a:rPr lang="ru-RU" sz="1800" b="1" i="1" strike="noStrike" spc="-1">
                <a:solidFill>
                  <a:srgbClr val="202122"/>
                </a:solidFill>
                <a:latin typeface="Times New Roman"/>
              </a:rPr>
              <a:t>функционал качества</a:t>
            </a:r>
            <a:r>
              <a:rPr lang="ru-RU" sz="1800" b="0" strike="noStrike" spc="-1">
                <a:solidFill>
                  <a:srgbClr val="202122"/>
                </a:solidFill>
                <a:latin typeface="Times New Roman"/>
              </a:rPr>
              <a:t>.</a:t>
            </a: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algn="just">
              <a:lnSpc>
                <a:spcPct val="100000"/>
              </a:lnSpc>
              <a:spcBef>
                <a:spcPts val="360"/>
              </a:spcBef>
              <a:buClr>
                <a:srgbClr val="202122"/>
              </a:buClr>
              <a:buFont typeface="Symbol" charset="2"/>
              <a:buChar char=""/>
            </a:pPr>
            <a:r>
              <a:rPr lang="ru-RU" sz="1800" b="0" strike="noStrike" spc="-1">
                <a:solidFill>
                  <a:srgbClr val="202122"/>
                </a:solidFill>
                <a:latin typeface="Times New Roman"/>
              </a:rPr>
              <a:t>Данная постановка является обобщением классических задач </a:t>
            </a:r>
            <a:r>
              <a:rPr lang="ru-RU" sz="1800" b="1" i="1" strike="noStrike" spc="-1">
                <a:solidFill>
                  <a:srgbClr val="202122"/>
                </a:solidFill>
                <a:latin typeface="Times New Roman"/>
              </a:rPr>
              <a:t>аппроксимаци</a:t>
            </a:r>
            <a:r>
              <a:rPr lang="ru-RU" sz="1800" b="0" strike="noStrike" spc="-1">
                <a:solidFill>
                  <a:srgbClr val="202122"/>
                </a:solidFill>
                <a:latin typeface="Times New Roman"/>
              </a:rPr>
              <a:t>и  функций. В классических задачах аппроксимации объектами являются действительные числа или векторы. В реальных прикладных задачах входные данные об объектах могут быть неполными, неточными, нечисловыми, разнородными. Эти особенности приводят к большому разнообразию методов машинного обучения.</a:t>
            </a: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641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ru-RU" sz="4400" b="1" strike="noStrike" spc="-1">
                <a:solidFill>
                  <a:srgbClr val="000000"/>
                </a:solidFill>
                <a:latin typeface="Times New Roman"/>
              </a:rPr>
              <a:t>Машинное обучение</a:t>
            </a: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98276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ru-RU" sz="2000" b="1" strike="noStrike" spc="-1">
                <a:solidFill>
                  <a:srgbClr val="333333"/>
                </a:solidFill>
                <a:latin typeface="Times New Roman"/>
              </a:rPr>
              <a:t>Машинное</a:t>
            </a:r>
            <a:r>
              <a:rPr lang="ru-RU" sz="2000" b="0" strike="noStrike" spc="-1">
                <a:solidFill>
                  <a:srgbClr val="333333"/>
                </a:solidFill>
                <a:latin typeface="Times New Roman"/>
              </a:rPr>
              <a:t> </a:t>
            </a:r>
            <a:r>
              <a:rPr lang="ru-RU" sz="2000" b="1" strike="noStrike" spc="-1">
                <a:solidFill>
                  <a:srgbClr val="333333"/>
                </a:solidFill>
                <a:latin typeface="Times New Roman"/>
              </a:rPr>
              <a:t>обучение</a:t>
            </a:r>
            <a:r>
              <a:rPr lang="ru-RU" sz="2000" b="0" strike="noStrike" spc="-1">
                <a:solidFill>
                  <a:srgbClr val="333333"/>
                </a:solidFill>
                <a:latin typeface="Times New Roman"/>
              </a:rPr>
              <a:t> разделяется на несколько </a:t>
            </a:r>
            <a:r>
              <a:rPr lang="ru-RU" sz="2000" b="1" strike="noStrike" spc="-1">
                <a:solidFill>
                  <a:srgbClr val="333333"/>
                </a:solidFill>
                <a:latin typeface="Times New Roman"/>
              </a:rPr>
              <a:t>основных</a:t>
            </a:r>
            <a:r>
              <a:rPr lang="ru-RU" sz="2000" b="0" strike="noStrike" spc="-1">
                <a:solidFill>
                  <a:srgbClr val="333333"/>
                </a:solidFill>
                <a:latin typeface="Times New Roman"/>
              </a:rPr>
              <a:t> подходов: </a:t>
            </a:r>
            <a:endParaRPr lang="ru-RU" sz="20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ru-RU" sz="2000" b="0" strike="noStrike" spc="-1">
                <a:solidFill>
                  <a:srgbClr val="333333"/>
                </a:solidFill>
                <a:latin typeface="Times New Roman"/>
              </a:rPr>
              <a:t>● </a:t>
            </a:r>
            <a:r>
              <a:rPr lang="ru-RU" sz="1800" b="1" strike="noStrike" spc="-1">
                <a:solidFill>
                  <a:srgbClr val="333333"/>
                </a:solidFill>
                <a:latin typeface="Times New Roman"/>
              </a:rPr>
              <a:t>Обучение с учителем (</a:t>
            </a:r>
            <a:r>
              <a:rPr lang="en-US" sz="1800" b="1" strike="noStrike" spc="-1">
                <a:solidFill>
                  <a:srgbClr val="333333"/>
                </a:solidFill>
                <a:latin typeface="Times New Roman"/>
              </a:rPr>
              <a:t>supervised learning) </a:t>
            </a: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en-US" sz="1800" b="0" strike="noStrike" spc="-1">
                <a:solidFill>
                  <a:srgbClr val="333333"/>
                </a:solidFill>
                <a:latin typeface="Times New Roman"/>
              </a:rPr>
              <a:t>○ </a:t>
            </a:r>
            <a:r>
              <a:rPr lang="ru-RU" sz="1800" b="0" strike="noStrike" spc="-1">
                <a:solidFill>
                  <a:srgbClr val="333333"/>
                </a:solidFill>
                <a:latin typeface="Times New Roman"/>
              </a:rPr>
              <a:t>Классификация (</a:t>
            </a:r>
            <a:r>
              <a:rPr lang="en-US" sz="1800" b="0" strike="noStrike" spc="-1">
                <a:solidFill>
                  <a:srgbClr val="333333"/>
                </a:solidFill>
                <a:latin typeface="Times New Roman"/>
              </a:rPr>
              <a:t>classification) </a:t>
            </a: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en-US" sz="1800" b="0" strike="noStrike" spc="-1">
                <a:solidFill>
                  <a:srgbClr val="333333"/>
                </a:solidFill>
                <a:latin typeface="Times New Roman"/>
              </a:rPr>
              <a:t>○ </a:t>
            </a:r>
            <a:r>
              <a:rPr lang="ru-RU" sz="1800" b="0" strike="noStrike" spc="-1">
                <a:solidFill>
                  <a:srgbClr val="333333"/>
                </a:solidFill>
                <a:latin typeface="Times New Roman"/>
              </a:rPr>
              <a:t>Регрессия (</a:t>
            </a:r>
            <a:r>
              <a:rPr lang="en-US" sz="1800" b="0" strike="noStrike" spc="-1">
                <a:solidFill>
                  <a:srgbClr val="333333"/>
                </a:solidFill>
                <a:latin typeface="Times New Roman"/>
              </a:rPr>
              <a:t>regression) </a:t>
            </a: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en-US" sz="1800" b="0" strike="noStrike" spc="-1">
                <a:solidFill>
                  <a:srgbClr val="333333"/>
                </a:solidFill>
                <a:latin typeface="Times New Roman"/>
              </a:rPr>
              <a:t>○ </a:t>
            </a:r>
            <a:r>
              <a:rPr lang="ru-RU" sz="1800" b="0" strike="noStrike" spc="-1">
                <a:solidFill>
                  <a:srgbClr val="333333"/>
                </a:solidFill>
                <a:latin typeface="Times New Roman"/>
              </a:rPr>
              <a:t>Ранжирование (</a:t>
            </a:r>
            <a:r>
              <a:rPr lang="en-US" sz="1800" b="1" strike="noStrike" spc="-1">
                <a:solidFill>
                  <a:srgbClr val="333333"/>
                </a:solidFill>
                <a:latin typeface="Times New Roman"/>
              </a:rPr>
              <a:t>learning</a:t>
            </a:r>
            <a:r>
              <a:rPr lang="en-US" sz="1800" b="0" strike="noStrike" spc="-1">
                <a:solidFill>
                  <a:srgbClr val="333333"/>
                </a:solidFill>
                <a:latin typeface="Times New Roman"/>
              </a:rPr>
              <a:t> to rank).</a:t>
            </a: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en-US" sz="1800" b="0" strike="noStrike" spc="-1">
                <a:solidFill>
                  <a:srgbClr val="333333"/>
                </a:solidFill>
                <a:latin typeface="Times New Roman"/>
              </a:rPr>
              <a:t> ● </a:t>
            </a:r>
            <a:r>
              <a:rPr lang="ru-RU" sz="1800" b="1" strike="noStrike" spc="-1">
                <a:solidFill>
                  <a:srgbClr val="333333"/>
                </a:solidFill>
                <a:latin typeface="Times New Roman"/>
              </a:rPr>
              <a:t>Обучение без учителя (</a:t>
            </a:r>
            <a:r>
              <a:rPr lang="en-US" sz="1800" b="1" strike="noStrike" spc="-1">
                <a:solidFill>
                  <a:srgbClr val="333333"/>
                </a:solidFill>
                <a:latin typeface="Times New Roman"/>
              </a:rPr>
              <a:t>unsupervised learning) </a:t>
            </a: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en-US" sz="1800" b="0" strike="noStrike" spc="-1">
                <a:solidFill>
                  <a:srgbClr val="333333"/>
                </a:solidFill>
                <a:latin typeface="Times New Roman"/>
              </a:rPr>
              <a:t>○ </a:t>
            </a:r>
            <a:r>
              <a:rPr lang="ru-RU" sz="1800" b="0" strike="noStrike" spc="-1">
                <a:solidFill>
                  <a:srgbClr val="333333"/>
                </a:solidFill>
                <a:latin typeface="Times New Roman"/>
              </a:rPr>
              <a:t>Кластеризация (</a:t>
            </a:r>
            <a:r>
              <a:rPr lang="en-US" sz="1800" b="0" strike="noStrike" spc="-1">
                <a:solidFill>
                  <a:srgbClr val="333333"/>
                </a:solidFill>
                <a:latin typeface="Times New Roman"/>
              </a:rPr>
              <a:t>clustering) </a:t>
            </a: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en-US" sz="1800" b="0" strike="noStrike" spc="-1">
                <a:solidFill>
                  <a:srgbClr val="333333"/>
                </a:solidFill>
                <a:latin typeface="Times New Roman"/>
              </a:rPr>
              <a:t>○ </a:t>
            </a:r>
            <a:r>
              <a:rPr lang="ru-RU" sz="1800" b="0" strike="noStrike" spc="-1">
                <a:solidFill>
                  <a:srgbClr val="333333"/>
                </a:solidFill>
                <a:latin typeface="Times New Roman"/>
              </a:rPr>
              <a:t>Уменьшение размерности (</a:t>
            </a:r>
            <a:r>
              <a:rPr lang="en-US" sz="1800" b="0" strike="noStrike" spc="-1">
                <a:solidFill>
                  <a:srgbClr val="333333"/>
                </a:solidFill>
                <a:latin typeface="Times New Roman"/>
              </a:rPr>
              <a:t>dimensionality reduction).</a:t>
            </a: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en-US" sz="1800" b="0" strike="noStrike" spc="-1">
                <a:solidFill>
                  <a:srgbClr val="333333"/>
                </a:solidFill>
                <a:latin typeface="Times New Roman"/>
              </a:rPr>
              <a:t> ● </a:t>
            </a:r>
            <a:r>
              <a:rPr lang="ru-RU" sz="1800" b="1" strike="noStrike" spc="-1">
                <a:solidFill>
                  <a:srgbClr val="333333"/>
                </a:solidFill>
                <a:latin typeface="Times New Roman"/>
              </a:rPr>
              <a:t>Обучение  с подкреплением(</a:t>
            </a:r>
            <a:r>
              <a:rPr lang="en-US" sz="1800" b="1" strike="noStrike" spc="-1">
                <a:solidFill>
                  <a:srgbClr val="333333"/>
                </a:solidFill>
                <a:latin typeface="Times New Roman"/>
              </a:rPr>
              <a:t>reinforcement learning) </a:t>
            </a: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ru-RU" sz="1800" b="0" strike="noStrike" spc="-1">
                <a:solidFill>
                  <a:srgbClr val="202122"/>
                </a:solidFill>
                <a:latin typeface="Times New Roman"/>
              </a:rPr>
              <a:t>Один из способов машинного обучения, в ходе которого испытуемая система (</a:t>
            </a:r>
            <a:r>
              <a:rPr lang="ru-RU" sz="1800" b="0" i="1" strike="noStrike" spc="-1">
                <a:solidFill>
                  <a:srgbClr val="202122"/>
                </a:solidFill>
                <a:latin typeface="Times New Roman"/>
              </a:rPr>
              <a:t>агент</a:t>
            </a:r>
            <a:r>
              <a:rPr lang="ru-RU" sz="1800" b="0" strike="noStrike" spc="-1">
                <a:solidFill>
                  <a:srgbClr val="202122"/>
                </a:solidFill>
                <a:latin typeface="Times New Roman"/>
              </a:rPr>
              <a:t>) обучается, взаимодействуя с некоторой </a:t>
            </a:r>
            <a:r>
              <a:rPr lang="ru-RU" sz="1800" b="0" i="1" strike="noStrike" spc="-1">
                <a:solidFill>
                  <a:srgbClr val="202122"/>
                </a:solidFill>
                <a:latin typeface="Times New Roman"/>
              </a:rPr>
              <a:t>средой. </a:t>
            </a:r>
            <a:r>
              <a:rPr lang="ru-RU" sz="1800" b="0" strike="noStrike" spc="-1">
                <a:solidFill>
                  <a:srgbClr val="202122"/>
                </a:solidFill>
                <a:latin typeface="Times New Roman"/>
              </a:rPr>
              <a:t>Откликом среды (а не специальной системы управления подкреплением, как это происходит в обучении с учителем) на принятые решения являются </a:t>
            </a:r>
            <a:r>
              <a:rPr lang="ru-RU" sz="1800" b="0" i="1" strike="noStrike" spc="-1">
                <a:solidFill>
                  <a:srgbClr val="202122"/>
                </a:solidFill>
                <a:latin typeface="Times New Roman"/>
              </a:rPr>
              <a:t>сигналы подкрепления</a:t>
            </a:r>
            <a:r>
              <a:rPr lang="ru-RU" sz="1800" b="0" strike="noStrike" spc="-1">
                <a:solidFill>
                  <a:srgbClr val="202122"/>
                </a:solidFill>
                <a:latin typeface="Times New Roman"/>
              </a:rPr>
              <a:t>, поэтому такое обучение является частным случаем обучения с учителем, но учителем является среда или её модель. </a:t>
            </a:r>
            <a:br>
              <a:rPr sz="1800"/>
            </a:b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ru-RU" sz="4400" b="1" strike="noStrike" spc="-1">
                <a:solidFill>
                  <a:srgbClr val="000000"/>
                </a:solidFill>
                <a:latin typeface="Times New Roman"/>
              </a:rPr>
              <a:t>Обучение с учителем</a:t>
            </a:r>
            <a:br>
              <a:rPr sz="4400"/>
            </a:br>
            <a:r>
              <a:rPr lang="ru-RU" sz="3600" b="0" strike="noStrike" spc="-1">
                <a:solidFill>
                  <a:srgbClr val="191000"/>
                </a:solidFill>
                <a:latin typeface="Times New Roman"/>
              </a:rPr>
              <a:t>(</a:t>
            </a:r>
            <a:r>
              <a:rPr lang="ru-RU" sz="3600" b="1" strike="noStrike" spc="-1">
                <a:solidFill>
                  <a:srgbClr val="191000"/>
                </a:solidFill>
                <a:latin typeface="Times New Roman"/>
              </a:rPr>
              <a:t>supervised learning</a:t>
            </a:r>
            <a:r>
              <a:rPr lang="ru-RU" sz="3600" b="0" strike="noStrike" spc="-1">
                <a:solidFill>
                  <a:srgbClr val="191000"/>
                </a:solidFill>
                <a:latin typeface="Times New Roman"/>
              </a:rPr>
              <a:t>)</a:t>
            </a:r>
            <a:endParaRPr lang="ru-RU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384480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191000"/>
              </a:buClr>
              <a:buFont typeface="Symbol" charset="2"/>
              <a:buChar char=""/>
            </a:pPr>
            <a:r>
              <a:rPr lang="ru-RU" sz="2400" b="1" i="1" strike="noStrike" spc="-1">
                <a:solidFill>
                  <a:srgbClr val="191000"/>
                </a:solidFill>
                <a:latin typeface="Times New Roman"/>
              </a:rPr>
              <a:t>Обучение с учителем </a:t>
            </a:r>
            <a:r>
              <a:rPr lang="ru-RU" sz="2400" b="0" strike="noStrike" spc="-1">
                <a:solidFill>
                  <a:srgbClr val="191000"/>
                </a:solidFill>
                <a:latin typeface="Times New Roman"/>
              </a:rPr>
              <a:t>предполагает наличие полного набора </a:t>
            </a:r>
            <a:r>
              <a:rPr lang="ru-RU" sz="2400" b="1" i="1" strike="noStrike" spc="-1">
                <a:solidFill>
                  <a:srgbClr val="191000"/>
                </a:solidFill>
                <a:latin typeface="Times New Roman"/>
              </a:rPr>
              <a:t>размеченных</a:t>
            </a:r>
            <a:r>
              <a:rPr lang="ru-RU" sz="2400" b="0" strike="noStrike" spc="-1">
                <a:solidFill>
                  <a:srgbClr val="191000"/>
                </a:solidFill>
                <a:latin typeface="Times New Roman"/>
              </a:rPr>
              <a:t> данных для тренировки модели на всех этапах ее построения.</a:t>
            </a:r>
            <a:endParaRPr lang="ru-RU" sz="24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191000"/>
              </a:buClr>
              <a:buFont typeface="Symbol" charset="2"/>
              <a:buChar char=""/>
            </a:pPr>
            <a:r>
              <a:rPr lang="ru-RU" sz="2400" b="0" strike="noStrike" spc="-1">
                <a:solidFill>
                  <a:srgbClr val="191000"/>
                </a:solidFill>
                <a:latin typeface="Times New Roman"/>
              </a:rPr>
              <a:t>Наличие полностью размеченного </a:t>
            </a:r>
            <a:r>
              <a:rPr lang="ru-RU" sz="2400" b="1" i="1" strike="noStrike" spc="-1">
                <a:solidFill>
                  <a:srgbClr val="191000"/>
                </a:solidFill>
                <a:latin typeface="Times New Roman"/>
              </a:rPr>
              <a:t>датасета</a:t>
            </a:r>
            <a:r>
              <a:rPr lang="ru-RU" sz="2400" b="0" strike="noStrike" spc="-1">
                <a:solidFill>
                  <a:srgbClr val="191000"/>
                </a:solidFill>
                <a:latin typeface="Times New Roman"/>
              </a:rPr>
              <a:t> означает, что каждому примеру в обучающем наборе соответствует ответ, который алгоритм и должен получить. </a:t>
            </a:r>
            <a:endParaRPr lang="ru-RU" sz="24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191000"/>
              </a:buClr>
              <a:buFont typeface="Symbol" charset="2"/>
              <a:buChar char=""/>
            </a:pPr>
            <a:r>
              <a:rPr lang="ru-RU" sz="2400" b="0" strike="noStrike" spc="-1">
                <a:solidFill>
                  <a:srgbClr val="191000"/>
                </a:solidFill>
                <a:latin typeface="Lora"/>
              </a:rPr>
              <a:t>В основном обучение с учителем применяется для решения двух типов задач: </a:t>
            </a:r>
            <a:r>
              <a:rPr lang="ru-RU" sz="2400" b="1" i="1" strike="noStrike" spc="-1">
                <a:solidFill>
                  <a:srgbClr val="191000"/>
                </a:solidFill>
                <a:latin typeface="Times New Roman"/>
              </a:rPr>
              <a:t>классификации</a:t>
            </a:r>
            <a:r>
              <a:rPr lang="ru-RU" sz="2400" b="0" strike="noStrike" spc="-1">
                <a:solidFill>
                  <a:srgbClr val="191000"/>
                </a:solidFill>
                <a:latin typeface="Lora"/>
              </a:rPr>
              <a:t> и </a:t>
            </a:r>
            <a:r>
              <a:rPr lang="ru-RU" sz="2400" b="1" i="1" strike="noStrike" spc="-1">
                <a:solidFill>
                  <a:srgbClr val="191000"/>
                </a:solidFill>
                <a:latin typeface="Times New Roman"/>
              </a:rPr>
              <a:t>регрессии.</a:t>
            </a:r>
            <a:endParaRPr lang="ru-RU" sz="24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641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ru-RU" sz="4400" b="1" strike="noStrike" spc="-1">
                <a:solidFill>
                  <a:srgbClr val="000000"/>
                </a:solidFill>
                <a:latin typeface="Times New Roman"/>
              </a:rPr>
              <a:t>Обучение без учителя</a:t>
            </a:r>
            <a:br>
              <a:rPr sz="4400"/>
            </a:br>
            <a:r>
              <a:rPr lang="ru-RU" sz="3200" b="1" strike="noStrike" spc="-1">
                <a:solidFill>
                  <a:srgbClr val="000000"/>
                </a:solidFill>
                <a:latin typeface="Times New Roman"/>
              </a:rPr>
              <a:t>(</a:t>
            </a:r>
            <a:r>
              <a:rPr lang="en-US" sz="3200" b="1" strike="noStrike" spc="-1">
                <a:solidFill>
                  <a:srgbClr val="000000"/>
                </a:solidFill>
                <a:latin typeface="Times New Roman"/>
              </a:rPr>
              <a:t>un</a:t>
            </a:r>
            <a:r>
              <a:rPr lang="ru-RU" sz="3200" b="1" strike="noStrike" spc="-1">
                <a:solidFill>
                  <a:srgbClr val="191000"/>
                </a:solidFill>
                <a:latin typeface="Times New Roman"/>
              </a:rPr>
              <a:t>supervised learning</a:t>
            </a:r>
            <a:r>
              <a:rPr lang="ru-RU" sz="3200" b="0" strike="noStrike" spc="-1">
                <a:solidFill>
                  <a:srgbClr val="191000"/>
                </a:solidFill>
                <a:latin typeface="Times New Roman"/>
              </a:rPr>
              <a:t>) </a:t>
            </a: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377280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/>
          <a:p>
            <a:pPr marL="343080" indent="-343080" algn="just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ru-RU" sz="2400" b="0" strike="noStrike" spc="-1">
                <a:solidFill>
                  <a:srgbClr val="000000"/>
                </a:solidFill>
                <a:latin typeface="Times New Roman"/>
              </a:rPr>
              <a:t>В случае </a:t>
            </a:r>
            <a:r>
              <a:rPr lang="ru-RU" sz="2400" b="1" i="1" strike="noStrike" spc="-1">
                <a:solidFill>
                  <a:srgbClr val="000000"/>
                </a:solidFill>
                <a:latin typeface="Times New Roman"/>
              </a:rPr>
              <a:t>обучения без учителя </a:t>
            </a:r>
            <a:r>
              <a:rPr lang="ru-RU" sz="2400" b="0" strike="noStrike" spc="-1">
                <a:solidFill>
                  <a:srgbClr val="000000"/>
                </a:solidFill>
                <a:latin typeface="Times New Roman"/>
              </a:rPr>
              <a:t>мы имеем дело с </a:t>
            </a:r>
            <a:r>
              <a:rPr lang="ru-RU" sz="2400" b="1" i="1" strike="noStrike" spc="-1">
                <a:solidFill>
                  <a:srgbClr val="000000"/>
                </a:solidFill>
                <a:latin typeface="Times New Roman"/>
              </a:rPr>
              <a:t>непомеченными</a:t>
            </a:r>
            <a:r>
              <a:rPr lang="ru-RU" sz="2400" b="0" strike="noStrike" spc="-1">
                <a:solidFill>
                  <a:srgbClr val="000000"/>
                </a:solidFill>
                <a:latin typeface="Times New Roman"/>
              </a:rPr>
              <a:t> данными или с данными неизвестной структуры. Использование методов обучения без учителя позволяет установить структуру данных для извлечения значимой информации </a:t>
            </a:r>
            <a:r>
              <a:rPr lang="ru-RU" sz="2400" b="1" i="1" strike="noStrike" spc="-1">
                <a:solidFill>
                  <a:srgbClr val="000000"/>
                </a:solidFill>
                <a:latin typeface="Times New Roman"/>
              </a:rPr>
              <a:t>без управления </a:t>
            </a:r>
            <a:r>
              <a:rPr lang="ru-RU" sz="2400" b="0" strike="noStrike" spc="-1">
                <a:solidFill>
                  <a:srgbClr val="000000"/>
                </a:solidFill>
                <a:latin typeface="Times New Roman"/>
              </a:rPr>
              <a:t>со стороны известной переменной результата или функции награды.</a:t>
            </a:r>
            <a:endParaRPr lang="ru-RU" sz="24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algn="just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ru-RU" sz="2400" b="0" strike="noStrike" spc="-1">
                <a:solidFill>
                  <a:srgbClr val="000000"/>
                </a:solidFill>
                <a:latin typeface="Times New Roman"/>
              </a:rPr>
              <a:t>В основном обучение без учителя применяется для решения задач кластеризации, выделения важных признаков и сжатия данных</a:t>
            </a:r>
            <a:endParaRPr lang="ru-RU" sz="2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ru-RU" sz="4400" b="1" strike="noStrike" spc="-1">
                <a:solidFill>
                  <a:srgbClr val="000000"/>
                </a:solidFill>
                <a:latin typeface="Times New Roman"/>
              </a:rPr>
              <a:t>Обучение с подкреплением</a:t>
            </a:r>
            <a:br>
              <a:rPr sz="4400"/>
            </a:br>
            <a:r>
              <a:rPr lang="ru-RU" sz="3600" b="1" strike="noStrike" spc="-1">
                <a:solidFill>
                  <a:srgbClr val="000000"/>
                </a:solidFill>
                <a:latin typeface="Times New Roman"/>
              </a:rPr>
              <a:t>(</a:t>
            </a:r>
            <a:r>
              <a:rPr lang="en-US" sz="3600" b="1" strike="noStrike" spc="-1">
                <a:solidFill>
                  <a:srgbClr val="333333"/>
                </a:solidFill>
                <a:latin typeface="Times New Roman"/>
              </a:rPr>
              <a:t>reinforcement learning) </a:t>
            </a:r>
            <a:endParaRPr lang="ru-RU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/>
          <a:p>
            <a:pPr marL="343080" indent="-343080" algn="just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ru-RU" sz="2200" b="0" strike="noStrike" spc="-1" dirty="0">
                <a:solidFill>
                  <a:srgbClr val="000000"/>
                </a:solidFill>
                <a:latin typeface="Times New Roman"/>
              </a:rPr>
              <a:t>Цель </a:t>
            </a:r>
            <a:r>
              <a:rPr lang="ru-RU" sz="2200" b="1" i="1" strike="noStrike" spc="-1" dirty="0">
                <a:solidFill>
                  <a:srgbClr val="000000"/>
                </a:solidFill>
                <a:latin typeface="Times New Roman"/>
              </a:rPr>
              <a:t>обучения с подкреплением</a:t>
            </a:r>
            <a:r>
              <a:rPr lang="ru-RU" sz="2200" b="0" strike="noStrike" spc="-1" dirty="0">
                <a:solidFill>
                  <a:srgbClr val="000000"/>
                </a:solidFill>
                <a:latin typeface="Times New Roman"/>
              </a:rPr>
              <a:t> заключается в разработке системы </a:t>
            </a:r>
            <a:r>
              <a:rPr lang="ru-RU" sz="2200" b="1" i="1" strike="noStrike" spc="-1" dirty="0">
                <a:solidFill>
                  <a:srgbClr val="000000"/>
                </a:solidFill>
                <a:latin typeface="Times New Roman"/>
              </a:rPr>
              <a:t>(агента), </a:t>
            </a:r>
            <a:r>
              <a:rPr lang="ru-RU" sz="2200" b="0" strike="noStrike" spc="-1" dirty="0">
                <a:solidFill>
                  <a:srgbClr val="000000"/>
                </a:solidFill>
                <a:latin typeface="Times New Roman"/>
              </a:rPr>
              <a:t>улучшающей свои характеристики на основе взаимодействия со средой. Поскольку в состав информации о текущем состоянии среды входит </a:t>
            </a:r>
            <a:r>
              <a:rPr lang="ru-RU" sz="2200" b="1" i="1" strike="noStrike" spc="-1" dirty="0">
                <a:solidFill>
                  <a:srgbClr val="000000"/>
                </a:solidFill>
                <a:latin typeface="Times New Roman"/>
              </a:rPr>
              <a:t>сигнал награды</a:t>
            </a:r>
            <a:r>
              <a:rPr lang="ru-RU" sz="2200" b="0" i="1" strike="noStrike" spc="-1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ru-RU" sz="2200" b="0" strike="noStrike" spc="-1" dirty="0">
                <a:solidFill>
                  <a:srgbClr val="000000"/>
                </a:solidFill>
                <a:latin typeface="Times New Roman"/>
              </a:rPr>
              <a:t>следовательно обучение с подкреплением можно трактовать как область связанную с обучением с учителем. Однако при обучении с подкреплением не является истинной </a:t>
            </a:r>
            <a:r>
              <a:rPr lang="ru-RU" sz="2200" b="1" i="1" strike="noStrike" spc="-1" dirty="0">
                <a:solidFill>
                  <a:srgbClr val="000000"/>
                </a:solidFill>
                <a:latin typeface="Times New Roman"/>
              </a:rPr>
              <a:t>меткой,</a:t>
            </a:r>
            <a:r>
              <a:rPr lang="ru-RU" sz="2200" b="0" i="1" strike="noStrike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ru-RU" sz="2200" b="0" strike="noStrike" spc="-1" dirty="0">
                <a:solidFill>
                  <a:srgbClr val="000000"/>
                </a:solidFill>
                <a:latin typeface="Times New Roman"/>
              </a:rPr>
              <a:t>а является мерой того насколько хорошо действие было оценено функцией наград </a:t>
            </a:r>
            <a:r>
              <a:rPr lang="ru-RU" sz="2200" b="0" i="1" strike="noStrike" spc="-1" dirty="0">
                <a:solidFill>
                  <a:srgbClr val="000000"/>
                </a:solidFill>
                <a:latin typeface="Times New Roman"/>
              </a:rPr>
              <a:t>(подкрепления). </a:t>
            </a:r>
            <a:r>
              <a:rPr lang="ru-RU" sz="2200" b="0" strike="noStrike" spc="-1" dirty="0">
                <a:solidFill>
                  <a:srgbClr val="000000"/>
                </a:solidFill>
                <a:latin typeface="Times New Roman"/>
              </a:rPr>
              <a:t>При взаимодействии со средой </a:t>
            </a:r>
            <a:r>
              <a:rPr lang="ru-RU" sz="2200" b="1" i="1" strike="noStrike" spc="-1" dirty="0">
                <a:solidFill>
                  <a:srgbClr val="000000"/>
                </a:solidFill>
                <a:latin typeface="Times New Roman"/>
              </a:rPr>
              <a:t>агент </a:t>
            </a:r>
            <a:r>
              <a:rPr lang="ru-RU" sz="2200" b="0" strike="noStrike" spc="-1" dirty="0">
                <a:solidFill>
                  <a:srgbClr val="000000"/>
                </a:solidFill>
                <a:latin typeface="Times New Roman"/>
              </a:rPr>
              <a:t>может использовать обучение с подкреплением для выявления последовательности действий, которые доводят до максимума награду, применяя исследовательский метод проб и ошибок.  </a:t>
            </a:r>
            <a:r>
              <a:rPr lang="ru-RU" sz="2200" b="0" i="1" strike="noStrike" spc="-1" dirty="0">
                <a:solidFill>
                  <a:srgbClr val="000000"/>
                </a:solidFill>
                <a:latin typeface="Times New Roman"/>
              </a:rPr>
              <a:t>  </a:t>
            </a:r>
            <a:endParaRPr lang="ru-RU" sz="2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br>
              <a:rPr sz="4400"/>
            </a:br>
            <a:r>
              <a:rPr lang="ru-RU" sz="4400" b="1" strike="noStrike" spc="-1">
                <a:solidFill>
                  <a:srgbClr val="000000"/>
                </a:solidFill>
                <a:latin typeface="Arial"/>
              </a:rPr>
              <a:t>Обучение с подкреплением</a:t>
            </a:r>
            <a:br>
              <a:rPr sz="3200"/>
            </a:b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98276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0" name="Picture 2"/>
          <p:cNvPicPr/>
          <p:nvPr/>
        </p:nvPicPr>
        <p:blipFill>
          <a:blip r:embed="rId2"/>
          <a:stretch/>
        </p:blipFill>
        <p:spPr>
          <a:xfrm>
            <a:off x="-1044720" y="4680"/>
            <a:ext cx="10872720" cy="68482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ctr">
            <a:noAutofit/>
          </a:bodyPr>
          <a:lstStyle/>
          <a:p>
            <a:pPr indent="0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2" name="Picture 2"/>
          <p:cNvPicPr/>
          <p:nvPr/>
        </p:nvPicPr>
        <p:blipFill>
          <a:blip r:embed="rId2"/>
          <a:stretch/>
        </p:blipFill>
        <p:spPr>
          <a:xfrm>
            <a:off x="107640" y="274680"/>
            <a:ext cx="9036000" cy="6582960"/>
          </a:xfrm>
          <a:prstGeom prst="rect">
            <a:avLst/>
          </a:prstGeom>
          <a:ln w="9525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ru-RU" sz="4000" b="1" strike="noStrike" spc="-1">
                <a:solidFill>
                  <a:srgbClr val="000000"/>
                </a:solidFill>
                <a:latin typeface="Times New Roman"/>
              </a:rPr>
              <a:t>Основные этапы построения систем машинного обучения.</a:t>
            </a:r>
            <a:endParaRPr lang="ru-RU" sz="40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4" name="Объект 4"/>
          <p:cNvPicPr/>
          <p:nvPr/>
        </p:nvPicPr>
        <p:blipFill>
          <a:blip r:embed="rId2"/>
          <a:stretch/>
        </p:blipFill>
        <p:spPr>
          <a:xfrm>
            <a:off x="457200" y="1628640"/>
            <a:ext cx="8229240" cy="4954320"/>
          </a:xfrm>
          <a:prstGeom prst="rect">
            <a:avLst/>
          </a:prstGeom>
          <a:ln w="9525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Обучение</a:t>
            </a:r>
          </a:p>
        </p:txBody>
      </p:sp>
      <p:sp>
        <p:nvSpPr>
          <p:cNvPr id="276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628775"/>
            <a:ext cx="8446393" cy="4525963"/>
          </a:xfrm>
        </p:spPr>
        <p:txBody>
          <a:bodyPr/>
          <a:lstStyle/>
          <a:p>
            <a:pPr algn="just">
              <a:lnSpc>
                <a:spcPct val="80000"/>
              </a:lnSpc>
            </a:pPr>
            <a:r>
              <a:rPr lang="ru-RU" sz="2800" b="1" i="0" dirty="0" err="1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Обуче́ние</a:t>
            </a:r>
            <a:r>
              <a:rPr lang="ru-RU" sz="2800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— деятельность по изменению и адаптации поведения субъекта обучения с целями выживания, развития, совершенствования.</a:t>
            </a:r>
          </a:p>
          <a:p>
            <a:pPr algn="just"/>
            <a:r>
              <a:rPr lang="ru-RU" sz="2000" b="1" i="0" dirty="0" err="1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Обуче́ние</a:t>
            </a:r>
            <a:r>
              <a:rPr lang="ru-RU" sz="2000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(в </a:t>
            </a:r>
            <a:r>
              <a:rPr lang="ru-RU" sz="2000" b="1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 tooltip="Молекулярная биология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молекулярной биологии</a:t>
            </a:r>
            <a:r>
              <a:rPr lang="ru-RU" sz="2000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 — результат опыта, а именно долговременное изменение </a:t>
            </a:r>
            <a:r>
              <a:rPr lang="ru-RU" sz="20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 tooltip="Нейрон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нейронных</a:t>
            </a:r>
            <a:r>
              <a:rPr lang="ru-RU" sz="2000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связей после электрической активности нервных клеток. Считается, что животные всех видов в той или иной степени способны к обучению.</a:t>
            </a:r>
          </a:p>
          <a:p>
            <a:pPr algn="just"/>
            <a:r>
              <a:rPr lang="ru-RU" sz="2000" b="1" i="0" dirty="0" err="1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Обуче́ние</a:t>
            </a:r>
            <a:r>
              <a:rPr lang="ru-RU" sz="2000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(в теории </a:t>
            </a:r>
            <a:r>
              <a:rPr lang="ru-RU" sz="2000" b="1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4" tooltip="Искусственный интеллект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искусственного интеллекта</a:t>
            </a:r>
            <a:r>
              <a:rPr lang="ru-RU" sz="2000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 — обучение трактуется как процесс, при котором </a:t>
            </a:r>
            <a:r>
              <a:rPr lang="ru-RU" sz="2000" b="1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5" tooltip="Адаптивная система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адаптивная система</a:t>
            </a:r>
            <a:r>
              <a:rPr lang="ru-RU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2000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(например, </a:t>
            </a:r>
            <a:r>
              <a:rPr lang="ru-RU" sz="2000" b="1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6" tooltip="Искусственная нейронная сеть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искусственная нейронная сеть</a:t>
            </a:r>
            <a:r>
              <a:rPr lang="ru-RU" sz="2000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), совершенствует свои параметры под действием внешнего окружения. Также под обучением может пониматься обучаемость </a:t>
            </a:r>
            <a:r>
              <a:rPr lang="ru-RU" sz="2000" b="1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5" tooltip="Адаптивная система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адаптивных систем</a:t>
            </a:r>
            <a:r>
              <a:rPr lang="ru-RU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80000"/>
              </a:lnSpc>
            </a:pP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86952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ru-RU" sz="3600" b="1" strike="noStrike" spc="-1" dirty="0">
                <a:solidFill>
                  <a:srgbClr val="000000"/>
                </a:solidFill>
                <a:latin typeface="Times New Roman"/>
              </a:rPr>
              <a:t>Что такое глубокое обучение</a:t>
            </a:r>
            <a:endParaRPr lang="ru-RU" sz="3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78080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/>
          <a:p>
            <a:pPr marL="343080" indent="-343080" algn="just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ru-RU" sz="2800" b="1" strike="noStrike" spc="-1">
                <a:solidFill>
                  <a:srgbClr val="000000"/>
                </a:solidFill>
                <a:latin typeface="Times New Roman"/>
              </a:rPr>
              <a:t>Глубокое обучение</a:t>
            </a:r>
            <a:r>
              <a:rPr lang="ru-RU" sz="2800" b="0" strike="noStrike" spc="-1">
                <a:solidFill>
                  <a:srgbClr val="000000"/>
                </a:solidFill>
                <a:latin typeface="Times New Roman"/>
              </a:rPr>
              <a:t> (</a:t>
            </a:r>
            <a:r>
              <a:rPr lang="ru-RU" sz="2800" b="1" i="1" strike="noStrike" spc="-1">
                <a:solidFill>
                  <a:srgbClr val="000000"/>
                </a:solidFill>
                <a:latin typeface="Times New Roman"/>
              </a:rPr>
              <a:t>Deep learning</a:t>
            </a:r>
            <a:r>
              <a:rPr lang="ru-RU" sz="2800" b="0" strike="noStrike" spc="-1">
                <a:solidFill>
                  <a:srgbClr val="000000"/>
                </a:solidFill>
                <a:latin typeface="Times New Roman"/>
              </a:rPr>
              <a:t>) — совокупность методов машинного обучения, основанных на обучении </a:t>
            </a:r>
            <a:r>
              <a:rPr lang="ru-RU" sz="2800" b="1" i="1" strike="noStrike" spc="-1">
                <a:solidFill>
                  <a:srgbClr val="000000"/>
                </a:solidFill>
                <a:latin typeface="Times New Roman"/>
              </a:rPr>
              <a:t>представлениям</a:t>
            </a:r>
            <a:r>
              <a:rPr lang="ru-RU" sz="2800" b="0" strike="noStrike" spc="-1">
                <a:solidFill>
                  <a:srgbClr val="000000"/>
                </a:solidFill>
                <a:latin typeface="Times New Roman"/>
              </a:rPr>
              <a:t>, а не специализированным алгоритмам под конкретные задачи. Многие методы глубокого обучения были известны ещё в 1980-е, но результаты были невпечатляющими, пока продвижения в теории искусственных нейронных сетей и вычислительные мощности середины 2000-х не позволили создавать сложные технологические архитектуры нейронных сетей.</a:t>
            </a: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Машинное Обучение</a:t>
            </a:r>
          </a:p>
        </p:txBody>
      </p:sp>
      <p:cxnSp>
        <p:nvCxnSpPr>
          <p:cNvPr id="3" name="Прямая со стрелкой 2">
            <a:extLst>
              <a:ext uri="{FF2B5EF4-FFF2-40B4-BE49-F238E27FC236}">
                <a16:creationId xmlns:a16="http://schemas.microsoft.com/office/drawing/2014/main" id="{16FE8696-7872-4B7C-BE94-3179EA9A4B54}"/>
              </a:ext>
            </a:extLst>
          </p:cNvPr>
          <p:cNvCxnSpPr>
            <a:cxnSpLocks/>
          </p:cNvCxnSpPr>
          <p:nvPr/>
        </p:nvCxnSpPr>
        <p:spPr>
          <a:xfrm>
            <a:off x="755576" y="2636912"/>
            <a:ext cx="7920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Овал 3">
            <a:extLst>
              <a:ext uri="{FF2B5EF4-FFF2-40B4-BE49-F238E27FC236}">
                <a16:creationId xmlns:a16="http://schemas.microsoft.com/office/drawing/2014/main" id="{BCC9F65D-86BA-4FCA-AF24-A739BA04E8CC}"/>
              </a:ext>
            </a:extLst>
          </p:cNvPr>
          <p:cNvSpPr/>
          <p:nvPr/>
        </p:nvSpPr>
        <p:spPr>
          <a:xfrm>
            <a:off x="1547664" y="2276872"/>
            <a:ext cx="1512168" cy="720078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Данные</a:t>
            </a:r>
          </a:p>
        </p:txBody>
      </p: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DF689187-1897-4092-A748-57F82A1D5E94}"/>
              </a:ext>
            </a:extLst>
          </p:cNvPr>
          <p:cNvCxnSpPr>
            <a:cxnSpLocks/>
          </p:cNvCxnSpPr>
          <p:nvPr/>
        </p:nvCxnSpPr>
        <p:spPr>
          <a:xfrm>
            <a:off x="3059832" y="2636912"/>
            <a:ext cx="7920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Текст 8">
            <a:extLst>
              <a:ext uri="{FF2B5EF4-FFF2-40B4-BE49-F238E27FC236}">
                <a16:creationId xmlns:a16="http://schemas.microsoft.com/office/drawing/2014/main" id="{369562C4-6293-4391-9E3B-97987CB700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rot="5400000">
            <a:off x="4252175" y="1624588"/>
            <a:ext cx="1224136" cy="202464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ru-RU" dirty="0"/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E60F388C-3BDF-4E6E-9332-BAAE29FEF16E}"/>
              </a:ext>
            </a:extLst>
          </p:cNvPr>
          <p:cNvSpPr/>
          <p:nvPr/>
        </p:nvSpPr>
        <p:spPr>
          <a:xfrm>
            <a:off x="4139952" y="2276872"/>
            <a:ext cx="1368152" cy="720078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Модель</a:t>
            </a:r>
          </a:p>
        </p:txBody>
      </p: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6A4CF818-99F7-48C4-8CEA-78F92E9814F7}"/>
              </a:ext>
            </a:extLst>
          </p:cNvPr>
          <p:cNvCxnSpPr>
            <a:cxnSpLocks/>
          </p:cNvCxnSpPr>
          <p:nvPr/>
        </p:nvCxnSpPr>
        <p:spPr>
          <a:xfrm>
            <a:off x="5876567" y="2636911"/>
            <a:ext cx="7920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FEF9579E-9DD9-4C49-9DBD-21E5E8779E96}"/>
              </a:ext>
            </a:extLst>
          </p:cNvPr>
          <p:cNvCxnSpPr>
            <a:cxnSpLocks/>
          </p:cNvCxnSpPr>
          <p:nvPr/>
        </p:nvCxnSpPr>
        <p:spPr>
          <a:xfrm>
            <a:off x="3131840" y="4725144"/>
            <a:ext cx="7920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Овал 6">
            <a:extLst>
              <a:ext uri="{FF2B5EF4-FFF2-40B4-BE49-F238E27FC236}">
                <a16:creationId xmlns:a16="http://schemas.microsoft.com/office/drawing/2014/main" id="{72D9B36F-75E5-4A0B-9E05-5B8E100BC4AC}"/>
              </a:ext>
            </a:extLst>
          </p:cNvPr>
          <p:cNvSpPr/>
          <p:nvPr/>
        </p:nvSpPr>
        <p:spPr>
          <a:xfrm>
            <a:off x="3923928" y="4267944"/>
            <a:ext cx="2016224" cy="9144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Алгоритм обучения</a:t>
            </a:r>
          </a:p>
        </p:txBody>
      </p: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6C0B6A9A-5EFE-45A1-8EC1-16AECCFAFE68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4932040" y="2996950"/>
            <a:ext cx="0" cy="12709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25CA9380-806D-41D7-9E77-24BE11BD3FC2}"/>
              </a:ext>
            </a:extLst>
          </p:cNvPr>
          <p:cNvSpPr txBox="1"/>
          <p:nvPr/>
        </p:nvSpPr>
        <p:spPr>
          <a:xfrm>
            <a:off x="157388" y="2314469"/>
            <a:ext cx="157132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Объекты</a:t>
            </a:r>
          </a:p>
          <a:p>
            <a:r>
              <a:rPr lang="ru-RU" dirty="0"/>
              <a:t>Предметной </a:t>
            </a:r>
          </a:p>
          <a:p>
            <a:r>
              <a:rPr lang="ru-RU" dirty="0"/>
              <a:t>области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8069406-9847-42C0-AB50-DF630AE5F39C}"/>
              </a:ext>
            </a:extLst>
          </p:cNvPr>
          <p:cNvSpPr txBox="1"/>
          <p:nvPr/>
        </p:nvSpPr>
        <p:spPr>
          <a:xfrm>
            <a:off x="6588224" y="2452245"/>
            <a:ext cx="1282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Результат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522ECBD-7D66-4D8A-B3AC-DDAD1AB1D8AD}"/>
              </a:ext>
            </a:extLst>
          </p:cNvPr>
          <p:cNvSpPr txBox="1"/>
          <p:nvPr/>
        </p:nvSpPr>
        <p:spPr>
          <a:xfrm>
            <a:off x="2483768" y="4401978"/>
            <a:ext cx="15373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Обучающие </a:t>
            </a:r>
          </a:p>
          <a:p>
            <a:r>
              <a:rPr lang="ru-RU" dirty="0"/>
              <a:t>данные</a:t>
            </a:r>
          </a:p>
        </p:txBody>
      </p:sp>
    </p:spTree>
    <p:extLst>
      <p:ext uri="{BB962C8B-B14F-4D97-AF65-F5344CB8AC3E}">
        <p14:creationId xmlns:p14="http://schemas.microsoft.com/office/powerpoint/2010/main" val="20739911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ru-RU" sz="36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Пример: регрессионный анализ</a:t>
            </a:r>
          </a:p>
        </p:txBody>
      </p:sp>
      <p:pic>
        <p:nvPicPr>
          <p:cNvPr id="1033" name="Picture 9" descr="Picture background">
            <a:extLst>
              <a:ext uri="{FF2B5EF4-FFF2-40B4-BE49-F238E27FC236}">
                <a16:creationId xmlns:a16="http://schemas.microsoft.com/office/drawing/2014/main" id="{E09BCA11-8BD8-49C8-94A6-EE873D8B3552}"/>
              </a:ext>
            </a:extLst>
          </p:cNvPr>
          <p:cNvPicPr>
            <a:picLocks noGrp="1" noChangeAspect="1" noChangeArrowheads="1"/>
          </p:cNvPicPr>
          <p:nvPr>
            <p:ph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851" y="1117600"/>
            <a:ext cx="8377022" cy="546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48801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Регрессионная модель</a:t>
            </a:r>
          </a:p>
        </p:txBody>
      </p:sp>
      <p:sp>
        <p:nvSpPr>
          <p:cNvPr id="286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853136"/>
          </a:xfrm>
        </p:spPr>
        <p:txBody>
          <a:bodyPr/>
          <a:lstStyle/>
          <a:p>
            <a:pPr marL="0" indent="0" algn="ctr">
              <a:lnSpc>
                <a:spcPct val="90000"/>
              </a:lnSpc>
              <a:buNone/>
            </a:pP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E85E71CD-C62D-4639-A551-0BDA3A0376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23603" y="1123970"/>
            <a:ext cx="9587408" cy="5805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12609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Регрессионная модель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674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600200"/>
                <a:ext cx="8229600" cy="4853136"/>
              </a:xfrm>
            </p:spPr>
            <p:txBody>
              <a:bodyPr/>
              <a:lstStyle/>
              <a:p>
                <a:pPr algn="just">
                  <a:lnSpc>
                    <a:spcPct val="90000"/>
                  </a:lnSpc>
                </a:pP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Прямая и обратная задачи.</a:t>
                </a:r>
              </a:p>
              <a:p>
                <a:pPr marL="0" indent="0" algn="just">
                  <a:lnSpc>
                    <a:spcPct val="90000"/>
                  </a:lnSpc>
                  <a:buNone/>
                </a:pPr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Рассмотрим задачу определения значений линейной функции от одной переменной</a:t>
                </a: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</a:p>
              <a:p>
                <a:pPr marL="0" indent="0" algn="ctr">
                  <a:lnSpc>
                    <a:spcPct val="90000"/>
                  </a:lnSpc>
                  <a:buNone/>
                </a:pP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𝑎𝑥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</m:oMath>
                </a14:m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	(1)</a:t>
                </a:r>
              </a:p>
              <a:p>
                <a:pPr marL="0" indent="0">
                  <a:lnSpc>
                    <a:spcPct val="90000"/>
                  </a:lnSpc>
                  <a:buNone/>
                </a:pPr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где 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– </a:t>
                </a:r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известные параметры. Тогда задача определения зависимости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от </a:t>
                </a:r>
                <a:r>
                  <a:rPr lang="en-US" sz="1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 </a:t>
                </a:r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является</a:t>
                </a:r>
                <a:r>
                  <a:rPr lang="ru-RU" sz="1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прямой задачей.</a:t>
                </a:r>
              </a:p>
              <a:p>
                <a:pPr marL="0" indent="0">
                  <a:lnSpc>
                    <a:spcPct val="90000"/>
                  </a:lnSpc>
                  <a:buNone/>
                </a:pPr>
                <a:r>
                  <a:rPr lang="ru-RU" sz="1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Обратная задача </a:t>
                </a:r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может быть поставлена как определение неизвестных параметров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1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которые мы можем представить как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θ</m:t>
                    </m:r>
                    <m:r>
                      <a:rPr lang="ru-RU" sz="18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 </m:t>
                    </m:r>
                  </m:oMath>
                </a14:m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 этом случае задача состоит в определении параметров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θ</m:t>
                    </m:r>
                  </m:oMath>
                </a14:m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зависящих от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и </a:t>
                </a:r>
                <a:r>
                  <a:rPr lang="en-US" sz="1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ru-RU" sz="1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ctr">
                  <a:lnSpc>
                    <a:spcPct val="90000"/>
                  </a:lnSpc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θ</m:t>
                    </m:r>
                    <m:r>
                      <a:rPr lang="ru-RU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ru-RU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num>
                      <m:den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ru-RU" sz="1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en-US" sz="1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		</a:t>
                </a: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(2)</a:t>
                </a:r>
                <a:endParaRPr lang="ru-RU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90000"/>
                  </a:lnSpc>
                  <a:buNone/>
                </a:pPr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 общем случае обратную задачу для линейной модели можно сформулировать следующим образом</a:t>
                </a:r>
              </a:p>
              <a:p>
                <a:pPr marL="0" indent="0" algn="ctr">
                  <a:lnSpc>
                    <a:spcPct val="9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Θ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en-US" sz="1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		</a:t>
                </a: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(3)</a:t>
                </a:r>
              </a:p>
              <a:p>
                <a:pPr marL="0" indent="0" algn="ctr">
                  <a:lnSpc>
                    <a:spcPct val="90000"/>
                  </a:lnSpc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l-GR" sz="1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Θ</m:t>
                        </m:r>
                      </m:e>
                      <m:sup>
                        <m:r>
                          <a:rPr lang="en-US" sz="1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argmin</m:t>
                    </m:r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  <m:r>
                          <a: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l-GR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Θ</m:t>
                        </m:r>
                        <m:r>
                          <a: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ru-RU" sz="1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𝑎𝑟𝑔𝑚𝑖𝑛</m:t>
                    </m:r>
                    <m:sSup>
                      <m:sSupPr>
                        <m:ctrlPr>
                          <a: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𝑌</m:t>
                            </m:r>
                            <m:r>
                              <a:rPr lang="en-US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l-GR" sz="180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Θ</m:t>
                            </m:r>
                            <m:r>
                              <a:rPr lang="en-US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</m:d>
                      </m:e>
                      <m:sup>
                        <m:r>
                          <a: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  <m:r>
                          <a: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l-GR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Θ</m:t>
                        </m:r>
                        <m:r>
                          <a: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</m:d>
                    <m:r>
                      <a:rPr lang="en-US" sz="1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1800" b="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(4)</a:t>
                </a:r>
              </a:p>
              <a:p>
                <a:pPr marL="0" indent="0" algn="ctr">
                  <a:lnSpc>
                    <a:spcPct val="90000"/>
                  </a:lnSpc>
                  <a:buNone/>
                </a:pP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en-US" sz="18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  <m:r>
                          <a:rPr lang="en-US" sz="1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𝑌</m:t>
                            </m:r>
                            <m:r>
                              <a:rPr lang="en-US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l-GR" sz="180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Θ</m:t>
                            </m:r>
                            <m:r>
                              <a:rPr lang="en-US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</m:d>
                      </m:e>
                      <m:sup>
                        <m:r>
                          <a: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  <m:r>
                      <a:rPr lang="en-US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  <m:r>
                          <a: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l-GR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Θ</m:t>
                        </m:r>
                        <m:r>
                          <a: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</m:d>
                    <m:r>
                      <a:rPr lang="en-US" sz="1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  <m:r>
                      <a:rPr lang="en-US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Θ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  <m:r>
                      <a:rPr lang="en-US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l-GR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Θ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</m:oMath>
                </a14:m>
                <a:r>
                  <a:rPr lang="el-GR" sz="18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Θ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l-GR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Θ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endParaRPr lang="ru-RU" sz="1800" b="0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lnSpc>
                    <a:spcPct val="90000"/>
                  </a:lnSpc>
                  <a:buNone/>
                </a:pPr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lnSpc>
                    <a:spcPct val="90000"/>
                  </a:lnSpc>
                  <a:buNone/>
                </a:pPr>
                <a:endParaRPr lang="ru-RU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8674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600200"/>
                <a:ext cx="8229600" cy="4853136"/>
              </a:xfrm>
              <a:blipFill>
                <a:blip r:embed="rId2"/>
                <a:stretch>
                  <a:fillRect l="-963" t="-1759" r="-13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23194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Регрессионная модель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674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600200"/>
                <a:ext cx="8229600" cy="4853136"/>
              </a:xfrm>
            </p:spPr>
            <p:txBody>
              <a:bodyPr/>
              <a:lstStyle/>
              <a:p>
                <a:pPr marL="0" indent="0" algn="ctr">
                  <a:lnSpc>
                    <a:spcPct val="90000"/>
                  </a:lnSpc>
                  <a:buNone/>
                </a:pPr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Учитывая, что для нахождения экстремума</a:t>
                </a:r>
                <a:endParaRPr lang="ru-RU" sz="18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lnSpc>
                    <a:spcPct val="90000"/>
                  </a:lnSpc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num>
                      <m:den>
                        <m:r>
                          <a:rPr lang="en-US" sz="1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l-GR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Θ</m:t>
                        </m:r>
                      </m:den>
                    </m:f>
                    <m:r>
                      <a:rPr lang="en-US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		(5)</a:t>
                </a:r>
              </a:p>
              <a:p>
                <a:pPr marL="0" indent="0" algn="ctr">
                  <a:lnSpc>
                    <a:spcPct val="90000"/>
                  </a:lnSpc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num>
                      <m:den>
                        <m:r>
                          <a:rPr lang="en-US" sz="1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l-GR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Θ</m:t>
                        </m:r>
                      </m:den>
                    </m:f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l-GR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Θ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(6)</a:t>
                </a:r>
              </a:p>
              <a:p>
                <a:pPr marL="0" indent="0">
                  <a:lnSpc>
                    <a:spcPct val="90000"/>
                  </a:lnSpc>
                  <a:buNone/>
                </a:pPr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Откуда </a:t>
                </a:r>
              </a:p>
              <a:p>
                <a:pPr marL="0" indent="0">
                  <a:lnSpc>
                    <a:spcPct val="90000"/>
                  </a:lnSpc>
                  <a:buNone/>
                </a:pPr>
                <a:r>
                  <a:rPr lang="ru-RU" sz="18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Θ</m:t>
                    </m:r>
                    <m:r>
                      <a:rPr lang="ru-RU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sSup>
                      <m:sSupPr>
                        <m:ctrlP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u-RU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ru-RU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  <m:sup>
                        <m:r>
                          <a:rPr lang="ru-RU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ru-RU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ru-RU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	    (7)	</a:t>
                </a:r>
              </a:p>
            </p:txBody>
          </p:sp>
        </mc:Choice>
        <mc:Fallback xmlns="">
          <p:sp>
            <p:nvSpPr>
              <p:cNvPr id="28674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600200"/>
                <a:ext cx="8229600" cy="4853136"/>
              </a:xfrm>
              <a:blipFill>
                <a:blip r:embed="rId2"/>
                <a:stretch>
                  <a:fillRect l="-593" t="-125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21554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Регрессионная модель</a:t>
            </a:r>
          </a:p>
        </p:txBody>
      </p:sp>
      <p:sp>
        <p:nvSpPr>
          <p:cNvPr id="286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853136"/>
          </a:xfrm>
        </p:spPr>
        <p:txBody>
          <a:bodyPr/>
          <a:lstStyle/>
          <a:p>
            <a:pPr marL="0" indent="0" algn="ctr">
              <a:lnSpc>
                <a:spcPct val="90000"/>
              </a:lnSpc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</p:txBody>
      </p:sp>
      <p:pic>
        <p:nvPicPr>
          <p:cNvPr id="2052" name="Picture 4" descr="Picture background">
            <a:extLst>
              <a:ext uri="{FF2B5EF4-FFF2-40B4-BE49-F238E27FC236}">
                <a16:creationId xmlns:a16="http://schemas.microsoft.com/office/drawing/2014/main" id="{41572DF5-8E31-4A30-AAB4-22047533A6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600200"/>
            <a:ext cx="9144000" cy="5234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82508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ru-RU" sz="4000" b="1" strike="noStrike" spc="-1">
                <a:solidFill>
                  <a:srgbClr val="000000"/>
                </a:solidFill>
                <a:latin typeface="Times New Roman"/>
              </a:rPr>
              <a:t>Персептрон Ф. Розенблатта</a:t>
            </a:r>
            <a:endParaRPr lang="ru-RU" sz="4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4932000" y="1600200"/>
            <a:ext cx="4103640" cy="377316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/>
          <a:p>
            <a:pPr marL="343080" indent="0" algn="just">
              <a:lnSpc>
                <a:spcPct val="8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ru-RU" sz="2000" b="0" strike="noStrike" spc="-1">
                <a:solidFill>
                  <a:srgbClr val="000000"/>
                </a:solidFill>
                <a:latin typeface="Times New Roman"/>
              </a:rPr>
              <a:t>Математическая или </a:t>
            </a:r>
            <a:endParaRPr lang="ru-RU" sz="20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0" algn="just">
              <a:lnSpc>
                <a:spcPct val="8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ru-RU" sz="2000" b="0" strike="noStrike" spc="-1">
                <a:solidFill>
                  <a:srgbClr val="000000"/>
                </a:solidFill>
                <a:latin typeface="Times New Roman"/>
              </a:rPr>
              <a:t> компьютерная модель восприятия информации мозгом. </a:t>
            </a:r>
            <a:endParaRPr lang="ru-RU" sz="20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0" algn="just">
              <a:lnSpc>
                <a:spcPct val="8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ru-RU" sz="2000" b="0" strike="noStrike" spc="-1">
                <a:solidFill>
                  <a:srgbClr val="000000"/>
                </a:solidFill>
                <a:latin typeface="Times New Roman"/>
              </a:rPr>
              <a:t>Предложена Френком</a:t>
            </a:r>
            <a:r>
              <a:rPr lang="ru-RU" sz="2000" b="0" u="sng" strike="noStrike" spc="-1">
                <a:solidFill>
                  <a:srgbClr val="009999"/>
                </a:solidFill>
                <a:uFillTx/>
                <a:latin typeface="Times New Roman"/>
                <a:hlinkClick r:id="rId2"/>
              </a:rPr>
              <a:t> </a:t>
            </a:r>
            <a:r>
              <a:rPr lang="ru-RU" sz="2000" b="0" strike="noStrike" spc="-1">
                <a:solidFill>
                  <a:srgbClr val="000000"/>
                </a:solidFill>
                <a:latin typeface="Times New Roman"/>
              </a:rPr>
              <a:t>Розенблаттом в 1957 году и впервые реализованная в виде электронной машины  </a:t>
            </a:r>
            <a:r>
              <a:rPr lang="en-US" sz="2000" b="0" strike="noStrike" spc="-1">
                <a:solidFill>
                  <a:srgbClr val="000000"/>
                </a:solidFill>
                <a:latin typeface="Times New Roman"/>
              </a:rPr>
              <a:t>”</a:t>
            </a:r>
            <a:r>
              <a:rPr lang="ru-RU" sz="2000" b="0" strike="noStrike" spc="-1">
                <a:solidFill>
                  <a:srgbClr val="000000"/>
                </a:solidFill>
                <a:latin typeface="Times New Roman"/>
              </a:rPr>
              <a:t>Марк </a:t>
            </a:r>
            <a:r>
              <a:rPr lang="en-US" sz="2000" b="0" strike="noStrike" spc="-1">
                <a:solidFill>
                  <a:srgbClr val="000000"/>
                </a:solidFill>
                <a:latin typeface="Times New Roman"/>
              </a:rPr>
              <a:t>-</a:t>
            </a:r>
            <a:r>
              <a:rPr lang="ru-RU" sz="2000" b="0" strike="noStrike" spc="-1">
                <a:solidFill>
                  <a:srgbClr val="000000"/>
                </a:solidFill>
                <a:latin typeface="Times New Roman"/>
              </a:rPr>
              <a:t>1</a:t>
            </a:r>
            <a:r>
              <a:rPr lang="en-US" sz="2000" b="0" strike="noStrike" spc="-1">
                <a:solidFill>
                  <a:srgbClr val="000000"/>
                </a:solidFill>
                <a:latin typeface="Times New Roman"/>
              </a:rPr>
              <a:t>”</a:t>
            </a:r>
            <a:r>
              <a:rPr lang="ru-RU" sz="2000" b="0" strike="noStrike" spc="-1">
                <a:solidFill>
                  <a:srgbClr val="000000"/>
                </a:solidFill>
                <a:latin typeface="Times New Roman"/>
              </a:rPr>
              <a:t> в 1960 году. </a:t>
            </a:r>
            <a:endParaRPr lang="ru-RU" sz="20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0" algn="just">
              <a:lnSpc>
                <a:spcPct val="8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ru-RU" sz="2000" b="0" strike="noStrike" spc="-1">
                <a:solidFill>
                  <a:srgbClr val="000000"/>
                </a:solidFill>
                <a:latin typeface="Times New Roman"/>
              </a:rPr>
              <a:t>Перцептрон стал одной из первых моделей нейросетей а «Марк-1» — первым в мире нейрокомпьютером</a:t>
            </a:r>
            <a:r>
              <a:rPr lang="ru-RU" sz="2400" b="0" strike="noStrike" spc="-1">
                <a:solidFill>
                  <a:srgbClr val="000000"/>
                </a:solidFill>
                <a:latin typeface="Times New Roman"/>
              </a:rPr>
              <a:t>.</a:t>
            </a:r>
            <a:endParaRPr lang="ru-RU" sz="2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4" name="Picture 5" descr="Картинки по запросу Персептрон Розенблатта"/>
          <p:cNvPicPr/>
          <p:nvPr/>
        </p:nvPicPr>
        <p:blipFill>
          <a:blip r:embed="rId3"/>
          <a:stretch/>
        </p:blipFill>
        <p:spPr>
          <a:xfrm>
            <a:off x="179280" y="1484280"/>
            <a:ext cx="4680360" cy="4032000"/>
          </a:xfrm>
          <a:prstGeom prst="rect">
            <a:avLst/>
          </a:prstGeom>
          <a:ln w="9525"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ru-RU" sz="4400" b="1" strike="noStrike" spc="-1">
                <a:solidFill>
                  <a:srgbClr val="000000"/>
                </a:solidFill>
                <a:latin typeface="Arial"/>
              </a:rPr>
              <a:t>Многослойный персептрон</a:t>
            </a: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7" name="Picture 5" descr="Картинки по запросу многослойный персептрон"/>
          <p:cNvPicPr/>
          <p:nvPr/>
        </p:nvPicPr>
        <p:blipFill>
          <a:blip r:embed="rId2"/>
          <a:stretch/>
        </p:blipFill>
        <p:spPr>
          <a:xfrm>
            <a:off x="539640" y="1557360"/>
            <a:ext cx="8135640" cy="4966920"/>
          </a:xfrm>
          <a:prstGeom prst="rect">
            <a:avLst/>
          </a:prstGeom>
          <a:ln w="9525"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ru-RU" sz="3600" b="1" strike="noStrike" spc="-1">
                <a:solidFill>
                  <a:srgbClr val="000000"/>
                </a:solidFill>
                <a:latin typeface="Times New Roman"/>
              </a:rPr>
              <a:t>Функции активации</a:t>
            </a:r>
            <a:endParaRPr lang="ru-RU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9" name="Picture 5" descr="Картинки по запросу функции активации нейронных сетей"/>
          <p:cNvPicPr/>
          <p:nvPr/>
        </p:nvPicPr>
        <p:blipFill>
          <a:blip r:embed="rId2"/>
          <a:stretch/>
        </p:blipFill>
        <p:spPr>
          <a:xfrm>
            <a:off x="107640" y="1600200"/>
            <a:ext cx="8578800" cy="4968360"/>
          </a:xfrm>
          <a:prstGeom prst="rect">
            <a:avLst/>
          </a:prstGeom>
          <a:ln w="9525">
            <a:noFill/>
          </a:ln>
        </p:spPr>
      </p:pic>
      <p:pic>
        <p:nvPicPr>
          <p:cNvPr id="110" name="Рисунок 1"/>
          <p:cNvPicPr/>
          <p:nvPr/>
        </p:nvPicPr>
        <p:blipFill>
          <a:blip r:embed="rId3"/>
          <a:stretch/>
        </p:blipFill>
        <p:spPr>
          <a:xfrm>
            <a:off x="5724360" y="4156920"/>
            <a:ext cx="2962080" cy="1999800"/>
          </a:xfrm>
          <a:prstGeom prst="rect">
            <a:avLst/>
          </a:prstGeom>
          <a:ln w="0">
            <a:noFill/>
          </a:ln>
        </p:spPr>
      </p:pic>
      <p:sp>
        <p:nvSpPr>
          <p:cNvPr id="111" name="Прямоугольник 2"/>
          <p:cNvSpPr/>
          <p:nvPr/>
        </p:nvSpPr>
        <p:spPr>
          <a:xfrm>
            <a:off x="6880680" y="6138000"/>
            <a:ext cx="75276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ReLu</a:t>
            </a: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ЛИТЕРАТУРА</a:t>
            </a:r>
          </a:p>
        </p:txBody>
      </p:sp>
      <p:sp>
        <p:nvSpPr>
          <p:cNvPr id="378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341438"/>
            <a:ext cx="8229600" cy="4525962"/>
          </a:xfrm>
        </p:spPr>
        <p:txBody>
          <a:bodyPr/>
          <a:lstStyle/>
          <a:p>
            <a:pPr marL="609600" indent="-609600">
              <a:lnSpc>
                <a:spcPct val="90000"/>
              </a:lnSpc>
              <a:buFontTx/>
              <a:buAutoNum type="arabicPeriod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Хайкин С. Нейронные сети: полный курс. – М.: «Вильямс», 2006. – 1104 с.</a:t>
            </a:r>
          </a:p>
          <a:p>
            <a:pPr marL="609600" indent="-609600">
              <a:lnSpc>
                <a:spcPct val="90000"/>
              </a:lnSpc>
              <a:buFontTx/>
              <a:buAutoNum type="arabicPeriod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Оссовский С. Нейронные сети для обработки информации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пер. с польского И.Д.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Рудинского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– М.: Горячая линия-Телеком, 2017. – 448 с.</a:t>
            </a:r>
          </a:p>
          <a:p>
            <a:pPr marL="609600" indent="-609600">
              <a:lnSpc>
                <a:spcPct val="90000"/>
              </a:lnSpc>
              <a:buFontTx/>
              <a:buAutoNum type="arabicPeriod"/>
            </a:pP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Уоссермен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Ф. Нейрокомпьютерная техника. Теория и практика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пер. с англ. – М.: Мир, 1992. – 240 с.</a:t>
            </a:r>
          </a:p>
          <a:p>
            <a:pPr marL="609600" indent="-609600">
              <a:lnSpc>
                <a:spcPct val="90000"/>
              </a:lnSpc>
              <a:buFontTx/>
              <a:buAutoNum type="arabicPeriod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Николенко С.,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Кадурин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А., Архангельская Е. Глубокое обучение. – СПб.: Питер. 2018. – 480 с.</a:t>
            </a:r>
          </a:p>
          <a:p>
            <a:pPr marL="609600" indent="-609600">
              <a:lnSpc>
                <a:spcPct val="90000"/>
              </a:lnSpc>
              <a:buFontTx/>
              <a:buAutoNum type="arabicPeriod"/>
            </a:pP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Николлс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Дж.Г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 Мартин А.Р.,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Валлас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Б.Дж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 Фукс П.А. От нейрона к мозгу. - М.: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Едиториал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УРСС, 2003. — 672 с.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9600" indent="-609600">
              <a:lnSpc>
                <a:spcPct val="90000"/>
              </a:lnSpc>
              <a:buFontTx/>
              <a:buAutoNum type="arabicPeriod"/>
            </a:pP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Траск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Э.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Грокаем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глубокое обучение.  - СПб.: Питер, 2019. – 352 с.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9600" indent="-609600">
              <a:lnSpc>
                <a:spcPct val="90000"/>
              </a:lnSpc>
              <a:buFontTx/>
              <a:buAutoNum type="arabicPeriod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Гудфеллоу Я.,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Бенджио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И.,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Курвиль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А. Глубокое обучение. – 2-е изд. – М.: ДМК Пресс, 2018. – 652 с.</a:t>
            </a:r>
          </a:p>
          <a:p>
            <a:pPr marL="0" indent="0">
              <a:lnSpc>
                <a:spcPct val="90000"/>
              </a:lnSpc>
              <a:buNone/>
            </a:pPr>
            <a:endParaRPr lang="en-US" sz="2000" dirty="0"/>
          </a:p>
          <a:p>
            <a:pPr marL="609600" indent="-609600">
              <a:lnSpc>
                <a:spcPct val="90000"/>
              </a:lnSpc>
              <a:buFontTx/>
              <a:buAutoNum type="arabicPeriod"/>
            </a:pPr>
            <a:endParaRPr lang="ru-RU" sz="2400" dirty="0"/>
          </a:p>
          <a:p>
            <a:pPr marL="609600" indent="-609600">
              <a:lnSpc>
                <a:spcPct val="90000"/>
              </a:lnSpc>
              <a:buFontTx/>
              <a:buAutoNum type="arabicPeriod"/>
            </a:pPr>
            <a:endParaRPr lang="ru-RU" sz="2400" dirty="0"/>
          </a:p>
          <a:p>
            <a:pPr marL="609600" indent="-609600">
              <a:lnSpc>
                <a:spcPct val="90000"/>
              </a:lnSpc>
              <a:buFontTx/>
              <a:buAutoNum type="arabicPeriod"/>
            </a:pPr>
            <a:endParaRPr lang="ru-RU" sz="2400" dirty="0"/>
          </a:p>
          <a:p>
            <a:pPr marL="609600" indent="-609600">
              <a:lnSpc>
                <a:spcPct val="90000"/>
              </a:lnSpc>
            </a:pPr>
            <a:endParaRPr lang="ru-RU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435280" cy="114300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   LEARNING   LIBRARY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endParaRPr lang="en-US" sz="240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MISCELLANEOUS</a:t>
            </a:r>
          </a:p>
          <a:p>
            <a:pPr>
              <a:lnSpc>
                <a:spcPct val="8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Google Plus - Deep Learning Community</a:t>
            </a:r>
          </a:p>
          <a:p>
            <a:pPr>
              <a:lnSpc>
                <a:spcPct val="8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Caffe Webinar</a:t>
            </a:r>
          </a:p>
          <a:p>
            <a:pPr>
              <a:lnSpc>
                <a:spcPct val="8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100 Best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Resources in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DL</a:t>
            </a:r>
          </a:p>
          <a:p>
            <a:pPr>
              <a:lnSpc>
                <a:spcPct val="8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Word2Vec</a:t>
            </a:r>
          </a:p>
          <a:p>
            <a:pPr>
              <a:lnSpc>
                <a:spcPct val="8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Caffe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TorontoDeepLEarning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convnet</a:t>
            </a:r>
          </a:p>
          <a:p>
            <a:pPr>
              <a:lnSpc>
                <a:spcPct val="8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Vision data sets</a:t>
            </a:r>
          </a:p>
          <a:p>
            <a:pPr>
              <a:lnSpc>
                <a:spcPct val="8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Fantastic Torch Tutorial My personal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favourite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Also check out gfx.js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179512" y="274638"/>
            <a:ext cx="8507288" cy="114300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   LEARNING   LIBRARY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628775"/>
            <a:ext cx="8229600" cy="4525963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COURSES</a:t>
            </a:r>
          </a:p>
          <a:p>
            <a:pPr>
              <a:lnSpc>
                <a:spcPct val="8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Machine Learning by Andrew Ng in Coursera</a:t>
            </a:r>
          </a:p>
          <a:p>
            <a:pPr>
              <a:lnSpc>
                <a:spcPct val="8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Neural Networks for Machine Learning by Geoffrey Hinton in Coursera</a:t>
            </a:r>
          </a:p>
          <a:p>
            <a:pPr>
              <a:lnSpc>
                <a:spcPct val="8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Neural networks class by Hugo Larochelle from Université de Sherbrooke</a:t>
            </a:r>
          </a:p>
          <a:p>
            <a:pPr>
              <a:lnSpc>
                <a:spcPct val="8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Deep Learning Course by CILVR lab @ NYU</a:t>
            </a:r>
          </a:p>
          <a:p>
            <a:pPr>
              <a:lnSpc>
                <a:spcPct val="8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CS231n: Convolutional Neural Networks for Visual Recognition On-Going</a:t>
            </a:r>
          </a:p>
          <a:p>
            <a:pPr>
              <a:lnSpc>
                <a:spcPct val="8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Probabilistic Graphical Model by Daphne Koller in Coursera</a:t>
            </a:r>
          </a:p>
          <a:p>
            <a:pPr>
              <a:lnSpc>
                <a:spcPct val="8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Kevin Duh Class for Deep Net Deep Learning and Neural Network</a:t>
            </a:r>
          </a:p>
          <a:p>
            <a:pPr>
              <a:lnSpc>
                <a:spcPct val="80000"/>
              </a:lnSpc>
            </a:pPr>
            <a:endParaRPr lang="ru-RU" sz="2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251520" y="274638"/>
            <a:ext cx="8496944" cy="114300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   LEARNING   LIBRARY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AND LECTURES</a:t>
            </a:r>
          </a:p>
          <a:p>
            <a:pPr>
              <a:lnSpc>
                <a:spcPct val="8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How To Create A Mind By Ray Kurzweil - Is a inspiring talk</a:t>
            </a:r>
          </a:p>
          <a:p>
            <a:pPr>
              <a:lnSpc>
                <a:spcPct val="8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Deep Learning, Self-Taught Learning and Unsupervised Feature Learning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Andrew Ng</a:t>
            </a:r>
          </a:p>
          <a:p>
            <a:pPr>
              <a:lnSpc>
                <a:spcPct val="8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Recent Developments in Deep Learning By Geoff Hinton</a:t>
            </a:r>
          </a:p>
          <a:p>
            <a:pPr>
              <a:lnSpc>
                <a:spcPct val="8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The Unreasonable Effectiveness of Deep Learning by Yann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LeCun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Deep Learning of Representations by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Yoshua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Bengio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Principles of Hierarchical Temporal Memory by Jeff Hawkins</a:t>
            </a:r>
          </a:p>
          <a:p>
            <a:pPr>
              <a:lnSpc>
                <a:spcPct val="8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Machine Learning Discussion Group - Deep Learning w/ Stanford AI Lab by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Adam Coates</a:t>
            </a:r>
          </a:p>
          <a:p>
            <a:pPr>
              <a:lnSpc>
                <a:spcPct val="8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Making Sense of the World with Deep Learning By Adam Coates</a:t>
            </a:r>
          </a:p>
          <a:p>
            <a:pPr>
              <a:lnSpc>
                <a:spcPct val="8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Demystifying Unsupervised Feature Learning By Adam Coates</a:t>
            </a:r>
          </a:p>
          <a:p>
            <a:pPr>
              <a:lnSpc>
                <a:spcPct val="8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Visual Perception with Deep Learning By Yann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LeCun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endParaRPr lang="ru-RU" sz="2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179512" y="274638"/>
            <a:ext cx="8507288" cy="114300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   LEARNING   LIBRARY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ImageNet Classification with Deep Convolutional Neural Networks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Using Very Deep Autoencoders for Content Based Image Retrieval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Learning Deep Architectures for AI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CMU’s list of papers</a:t>
            </a: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251520" y="274638"/>
            <a:ext cx="8435280" cy="114300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   LEARNING   LIBRARY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SITES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deeplearning.net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deeplearning.stanford.edu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deeplearning.cs.toronto.edu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179512" y="274638"/>
            <a:ext cx="8507288" cy="114300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 LEARNING   LIBRARY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TUTORIALS</a:t>
            </a:r>
          </a:p>
          <a:p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UFLDL Tutorial 1</a:t>
            </a:r>
          </a:p>
          <a:p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UFLDL Tutorial 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Deep Learning for NLP (without Magic)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A Deep Learning Tutorial: From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Perceptrons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Deep Networks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  LIBRARY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1"/>
            <a:ext cx="8229600" cy="3773016"/>
          </a:xfrm>
        </p:spPr>
        <p:txBody>
          <a:bodyPr/>
          <a:lstStyle/>
          <a:p>
            <a:pPr>
              <a:buFontTx/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TensorFlow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endParaRPr lang="en-US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Darknet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endParaRPr lang="en-US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  LIBRARY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1"/>
            <a:ext cx="8229600" cy="3773016"/>
          </a:xfrm>
        </p:spPr>
        <p:txBody>
          <a:bodyPr/>
          <a:lstStyle/>
          <a:p>
            <a:pPr>
              <a:buFontTx/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TensorFlow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endParaRPr lang="en-US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Darknet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endParaRPr lang="en-US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767436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sz="4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Какой фреймворк к какой задаче лучше всего применить?</a:t>
            </a:r>
            <a:endParaRPr lang="ru-RU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709119"/>
          </a:xfrm>
        </p:spPr>
        <p:txBody>
          <a:bodyPr/>
          <a:lstStyle/>
          <a:p>
            <a:pPr fontAlgn="base"/>
            <a:r>
              <a:rPr lang="ru-RU" sz="20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TensorFlow</a:t>
            </a:r>
            <a:r>
              <a:rPr lang="ru-RU" sz="2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хорош для продвинутых проектов, таких как создание многослойных нейронных сетей. Может использоваться для распознавания речи, лиц, объектов и изображений, а также для работы с текстом.</a:t>
            </a:r>
          </a:p>
          <a:p>
            <a:pPr fontAlgn="base"/>
            <a:r>
              <a:rPr lang="ru-RU" sz="20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ru-RU" sz="2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подойдёт в случае, когда вам необходимо обучить модели быстро и эффективно. Удобный для быстрого прототипирования в исследованиях, а также для любителей и небольших проектов.</a:t>
            </a:r>
          </a:p>
          <a:p>
            <a:pPr fontAlgn="base"/>
            <a:r>
              <a:rPr lang="ru-RU" sz="20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r>
              <a:rPr lang="ru-RU" sz="2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подходит для быстрого прототипирования. Хорош в кейсах, связанных с переводом, распознаванием изображений и речи.</a:t>
            </a:r>
          </a:p>
          <a:p>
            <a:pPr fontAlgn="base"/>
            <a:r>
              <a:rPr lang="ru-RU" sz="20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Darknet</a:t>
            </a:r>
            <a:r>
              <a:rPr lang="ru-RU" sz="2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подходит для небольших проектов. Хорошо работает в задачах обнаружения.</a:t>
            </a:r>
          </a:p>
          <a:p>
            <a:pPr fontAlgn="base"/>
            <a:r>
              <a:rPr lang="ru-RU" sz="20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ru-RU" sz="2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может использоваться для решения задач регрессии, классификации, упорядочивания и пользовательских задач на предсказание.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7518609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LIBRARY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DATASETS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MNIST Handwritten digits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Google House Numbers from street view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CIFAR-10 and CIFAR-100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IMAGENET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Tiny Images 80 Million tiny images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Flickr Data 100 Million Yahoo dataset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Berkeley Segmentation Dataset 500</a:t>
            </a:r>
          </a:p>
          <a:p>
            <a:endParaRPr lang="ru-RU" sz="2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 LEARNING LIBRARY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 ONLINE BOOKS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Deep Learning by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Yoshua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Bengio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Ian Goodfellow and Aaron Courville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Neural Networks and Deep Learning by Michael Nielsen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Deep Learning by Microsoft Research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Deep Learning Tutorial by LISA lab, University of Montreal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DeepLearning4J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LIBRARY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00809"/>
            <a:ext cx="8229600" cy="3888432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LINK</a:t>
            </a:r>
          </a:p>
          <a:p>
            <a:pPr>
              <a:lnSpc>
                <a:spcPct val="8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https://ift6266h13.wordpress.com/home/resources/</a:t>
            </a:r>
          </a:p>
          <a:p>
            <a:pPr>
              <a:lnSpc>
                <a:spcPct val="80000"/>
              </a:lnSpc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http://www.slideshare.net/hammawan/deep-neural-networks</a:t>
            </a:r>
          </a:p>
          <a:p>
            <a:pPr>
              <a:lnSpc>
                <a:spcPct val="80000"/>
              </a:lnSpc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http://www.iro.umontreal.ca/~bengioy/talks/mlss-austin.pdf</a:t>
            </a:r>
          </a:p>
          <a:p>
            <a:pPr>
              <a:lnSpc>
                <a:spcPct val="80000"/>
              </a:lnSpc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http://techtalks.tv/talks/lab/59461/</a:t>
            </a:r>
          </a:p>
          <a:p>
            <a:pPr>
              <a:lnSpc>
                <a:spcPct val="80000"/>
              </a:lnSpc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https://www.evernote.com/shard/s433/sh/52b77d5f-a2cf-46f5-9b4c-68620f1682be/73527274007c5fa123cd6cc0d8bb10df</a:t>
            </a:r>
          </a:p>
          <a:p>
            <a:pPr>
              <a:lnSpc>
                <a:spcPct val="80000"/>
              </a:lnSpc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http://cl.naist.jp/~kevinduh/a/deep2014/140116-ResearchSeminar.pdf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endParaRPr lang="ru-RU" sz="2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ru-RU" sz="4400" b="1" strike="noStrike" spc="-1">
                <a:solidFill>
                  <a:srgbClr val="000000"/>
                </a:solidFill>
                <a:latin typeface="Arial"/>
              </a:rPr>
              <a:t>ЛИТЕРАТУРА</a:t>
            </a: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468360" y="1341360"/>
            <a:ext cx="8229240" cy="524160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/>
          <a:p>
            <a:pPr marL="609480" indent="-609480">
              <a:lnSpc>
                <a:spcPct val="90000"/>
              </a:lnSpc>
              <a:spcBef>
                <a:spcPts val="320"/>
              </a:spcBef>
              <a:buClr>
                <a:srgbClr val="000000"/>
              </a:buClr>
              <a:buFont typeface="StarSymbol"/>
              <a:buAutoNum type="arabicPeriod"/>
            </a:pPr>
            <a:r>
              <a:rPr lang="ru-RU" sz="1600" b="0" strike="noStrike" spc="-1">
                <a:solidFill>
                  <a:srgbClr val="000000"/>
                </a:solidFill>
                <a:latin typeface="Times New Roman"/>
              </a:rPr>
              <a:t>Хайкин С. Нейронные сети: полный курс. – М.: «Вильямс», 2006. – 1104 с.</a:t>
            </a:r>
            <a:endParaRPr lang="ru-RU" sz="1600" b="0" strike="noStrike" spc="-1">
              <a:solidFill>
                <a:srgbClr val="000000"/>
              </a:solidFill>
              <a:latin typeface="Arial"/>
            </a:endParaRPr>
          </a:p>
          <a:p>
            <a:pPr marL="609480" indent="-609480">
              <a:lnSpc>
                <a:spcPct val="90000"/>
              </a:lnSpc>
              <a:spcBef>
                <a:spcPts val="320"/>
              </a:spcBef>
              <a:buClr>
                <a:srgbClr val="000000"/>
              </a:buClr>
              <a:buFont typeface="StarSymbol"/>
              <a:buAutoNum type="arabicPeriod"/>
            </a:pPr>
            <a:r>
              <a:rPr lang="ru-RU" sz="1600" b="0" strike="noStrike" spc="-1">
                <a:solidFill>
                  <a:srgbClr val="000000"/>
                </a:solidFill>
                <a:latin typeface="Times New Roman"/>
              </a:rPr>
              <a:t>Гудфеллоу Я., Бенджио И., Курвиль А. Глубокое обучение. – 2-е изд. – М.: ДМК Пресс, 2018. – 652 с. </a:t>
            </a:r>
            <a:endParaRPr lang="ru-RU" sz="1600" b="0" strike="noStrike" spc="-1">
              <a:solidFill>
                <a:srgbClr val="000000"/>
              </a:solidFill>
              <a:latin typeface="Arial"/>
            </a:endParaRPr>
          </a:p>
          <a:p>
            <a:pPr marL="609480" indent="-609480">
              <a:lnSpc>
                <a:spcPct val="90000"/>
              </a:lnSpc>
              <a:spcBef>
                <a:spcPts val="320"/>
              </a:spcBef>
              <a:buClr>
                <a:srgbClr val="000000"/>
              </a:buClr>
              <a:buFont typeface="StarSymbol"/>
              <a:buAutoNum type="arabicPeriod"/>
            </a:pPr>
            <a:r>
              <a:rPr lang="ru-RU" sz="1600" b="0" strike="noStrike" spc="-1">
                <a:solidFill>
                  <a:srgbClr val="000000"/>
                </a:solidFill>
                <a:latin typeface="Times New Roman"/>
              </a:rPr>
              <a:t>Николенко С., Кадурин А., Архангельская Е. Глубокое обучение. – СПб.: Питер. 2018. – 480 с. </a:t>
            </a:r>
            <a:endParaRPr lang="ru-RU" sz="1600" b="0" strike="noStrike" spc="-1">
              <a:solidFill>
                <a:srgbClr val="000000"/>
              </a:solidFill>
              <a:latin typeface="Arial"/>
            </a:endParaRPr>
          </a:p>
          <a:p>
            <a:pPr marL="609480" indent="-609480">
              <a:lnSpc>
                <a:spcPct val="90000"/>
              </a:lnSpc>
              <a:spcBef>
                <a:spcPts val="320"/>
              </a:spcBef>
              <a:buClr>
                <a:srgbClr val="000000"/>
              </a:buClr>
              <a:buFont typeface="StarSymbol"/>
              <a:buAutoNum type="arabicPeriod"/>
            </a:pPr>
            <a:r>
              <a:rPr lang="ru-RU" sz="1600" b="0" strike="noStrike" spc="-1">
                <a:solidFill>
                  <a:srgbClr val="000000"/>
                </a:solidFill>
                <a:latin typeface="Times New Roman"/>
              </a:rPr>
              <a:t>Джулли А., Пал С. Библиотека </a:t>
            </a:r>
            <a:r>
              <a:rPr lang="en-US" sz="1600" b="0" strike="noStrike" spc="-1">
                <a:solidFill>
                  <a:srgbClr val="000000"/>
                </a:solidFill>
                <a:latin typeface="Times New Roman"/>
              </a:rPr>
              <a:t>Keras – </a:t>
            </a:r>
            <a:r>
              <a:rPr lang="ru-RU" sz="1600" b="0" strike="noStrike" spc="-1">
                <a:solidFill>
                  <a:srgbClr val="000000"/>
                </a:solidFill>
                <a:latin typeface="Times New Roman"/>
              </a:rPr>
              <a:t>инструмент глубокого обучения. Реализация нейронных сетей с помощью библиотек </a:t>
            </a:r>
            <a:r>
              <a:rPr lang="en-US" sz="1600" b="0" strike="noStrike" spc="-1">
                <a:solidFill>
                  <a:srgbClr val="000000"/>
                </a:solidFill>
                <a:latin typeface="Times New Roman"/>
              </a:rPr>
              <a:t>Theano</a:t>
            </a:r>
            <a:r>
              <a:rPr lang="ru-RU" sz="1600" b="0" strike="noStrike" spc="-1">
                <a:solidFill>
                  <a:srgbClr val="000000"/>
                </a:solidFill>
                <a:latin typeface="Times New Roman"/>
              </a:rPr>
              <a:t> и </a:t>
            </a:r>
            <a:r>
              <a:rPr lang="en-US" sz="1600" b="0" strike="noStrike" spc="-1">
                <a:solidFill>
                  <a:srgbClr val="000000"/>
                </a:solidFill>
                <a:latin typeface="Times New Roman"/>
              </a:rPr>
              <a:t>TensorFlow.</a:t>
            </a:r>
            <a:r>
              <a:rPr lang="ru-RU" sz="1600" b="0" strike="noStrike" spc="-1">
                <a:solidFill>
                  <a:srgbClr val="000000"/>
                </a:solidFill>
                <a:latin typeface="Times New Roman"/>
              </a:rPr>
              <a:t> – М.: ДМК Пресс, 2018. – 294 с.</a:t>
            </a:r>
            <a:endParaRPr lang="ru-RU" sz="1600" b="0" strike="noStrike" spc="-1">
              <a:solidFill>
                <a:srgbClr val="000000"/>
              </a:solidFill>
              <a:latin typeface="Arial"/>
            </a:endParaRPr>
          </a:p>
          <a:p>
            <a:pPr marL="609480" indent="-609480">
              <a:lnSpc>
                <a:spcPct val="90000"/>
              </a:lnSpc>
              <a:spcBef>
                <a:spcPts val="320"/>
              </a:spcBef>
              <a:buClr>
                <a:srgbClr val="000000"/>
              </a:buClr>
              <a:buFont typeface="StarSymbol"/>
              <a:buAutoNum type="arabicPeriod"/>
            </a:pPr>
            <a:r>
              <a:rPr lang="ru-RU" sz="1600" b="0" strike="noStrike" spc="-1">
                <a:solidFill>
                  <a:srgbClr val="000000"/>
                </a:solidFill>
                <a:latin typeface="Times New Roman"/>
              </a:rPr>
              <a:t>Уоссермен Ф. Нейрокомпьютерная техника. Теория и практика </a:t>
            </a:r>
            <a:r>
              <a:rPr lang="en-US" sz="1600" b="0" strike="noStrike" spc="-1">
                <a:solidFill>
                  <a:srgbClr val="000000"/>
                </a:solidFill>
                <a:latin typeface="Times New Roman"/>
              </a:rPr>
              <a:t>/</a:t>
            </a:r>
            <a:r>
              <a:rPr lang="ru-RU" sz="1600" b="0" strike="noStrike" spc="-1">
                <a:solidFill>
                  <a:srgbClr val="000000"/>
                </a:solidFill>
                <a:latin typeface="Times New Roman"/>
              </a:rPr>
              <a:t> пер. с англ. – М.: Мир, 1992. – 240 с.</a:t>
            </a:r>
            <a:endParaRPr lang="ru-RU" sz="1600" b="0" strike="noStrike" spc="-1">
              <a:solidFill>
                <a:srgbClr val="000000"/>
              </a:solidFill>
              <a:latin typeface="Arial"/>
            </a:endParaRPr>
          </a:p>
          <a:p>
            <a:pPr marL="609480" indent="-609480">
              <a:lnSpc>
                <a:spcPct val="90000"/>
              </a:lnSpc>
              <a:spcBef>
                <a:spcPts val="320"/>
              </a:spcBef>
              <a:buClr>
                <a:srgbClr val="000000"/>
              </a:buClr>
              <a:buFont typeface="StarSymbol"/>
              <a:buAutoNum type="arabicPeriod"/>
            </a:pPr>
            <a:r>
              <a:rPr lang="ru-RU" sz="1600" b="0" strike="noStrike" spc="-1">
                <a:solidFill>
                  <a:srgbClr val="000000"/>
                </a:solidFill>
                <a:latin typeface="Times New Roman"/>
              </a:rPr>
              <a:t>Чару Аггарвал Нейронные сети и глубокое обучение. Учебный курс. : Пер. с англ. – СПб.: ООО «Диалектика», 2020, - 752 с.</a:t>
            </a:r>
            <a:endParaRPr lang="ru-RU" sz="1600" b="0" strike="noStrike" spc="-1">
              <a:solidFill>
                <a:srgbClr val="000000"/>
              </a:solidFill>
              <a:latin typeface="Arial"/>
            </a:endParaRPr>
          </a:p>
          <a:p>
            <a:pPr marL="609480" indent="-609480">
              <a:lnSpc>
                <a:spcPct val="90000"/>
              </a:lnSpc>
              <a:spcBef>
                <a:spcPts val="320"/>
              </a:spcBef>
              <a:buClr>
                <a:srgbClr val="000000"/>
              </a:buClr>
              <a:buFont typeface="StarSymbol"/>
              <a:buAutoNum type="arabicPeriod"/>
            </a:pPr>
            <a:r>
              <a:rPr lang="ru-RU" sz="1600" b="0" strike="noStrike" spc="-1">
                <a:solidFill>
                  <a:srgbClr val="000000"/>
                </a:solidFill>
                <a:latin typeface="Times New Roman"/>
              </a:rPr>
              <a:t>Паттанаяк С. Глубокое обучение и </a:t>
            </a:r>
            <a:r>
              <a:rPr lang="en-US" sz="1600" b="0" strike="noStrike" spc="-1">
                <a:solidFill>
                  <a:srgbClr val="000000"/>
                </a:solidFill>
                <a:latin typeface="Times New Roman"/>
              </a:rPr>
              <a:t>TensorFlow</a:t>
            </a:r>
            <a:r>
              <a:rPr lang="ru-RU" sz="1600" b="0" strike="noStrike" spc="-1">
                <a:solidFill>
                  <a:srgbClr val="000000"/>
                </a:solidFill>
                <a:latin typeface="Times New Roman"/>
              </a:rPr>
              <a:t> для профессионалов. Математический подход к построению систем искусственного интеллекта на </a:t>
            </a:r>
            <a:r>
              <a:rPr lang="en-US" sz="1600" b="0" strike="noStrike" spc="-1">
                <a:solidFill>
                  <a:srgbClr val="000000"/>
                </a:solidFill>
                <a:latin typeface="Times New Roman"/>
              </a:rPr>
              <a:t>Python</a:t>
            </a:r>
            <a:r>
              <a:rPr lang="ru-RU" sz="1600" b="0" strike="noStrike" spc="-1">
                <a:solidFill>
                  <a:srgbClr val="000000"/>
                </a:solidFill>
                <a:latin typeface="Times New Roman"/>
              </a:rPr>
              <a:t>. Пер. с англ. – СПб.:</a:t>
            </a:r>
            <a:r>
              <a:rPr lang="en-US" sz="1600" b="0" strike="noStrike" spc="-1">
                <a:solidFill>
                  <a:srgbClr val="000000"/>
                </a:solidFill>
                <a:latin typeface="Times New Roman"/>
              </a:rPr>
              <a:t> </a:t>
            </a:r>
            <a:r>
              <a:rPr lang="ru-RU" sz="1600" b="0" strike="noStrike" spc="-1">
                <a:solidFill>
                  <a:srgbClr val="000000"/>
                </a:solidFill>
                <a:latin typeface="Times New Roman"/>
              </a:rPr>
              <a:t> ООО «Диалектика», 2019, - 480 с. </a:t>
            </a:r>
            <a:endParaRPr lang="ru-RU" sz="1600" b="0" strike="noStrike" spc="-1">
              <a:solidFill>
                <a:srgbClr val="000000"/>
              </a:solidFill>
              <a:latin typeface="Arial"/>
            </a:endParaRPr>
          </a:p>
          <a:p>
            <a:pPr marL="609480" indent="-609480">
              <a:lnSpc>
                <a:spcPct val="90000"/>
              </a:lnSpc>
              <a:spcBef>
                <a:spcPts val="320"/>
              </a:spcBef>
              <a:buClr>
                <a:srgbClr val="000000"/>
              </a:buClr>
              <a:buFont typeface="StarSymbol"/>
              <a:buAutoNum type="arabicPeriod"/>
            </a:pPr>
            <a:r>
              <a:rPr lang="ru-RU" sz="1600" b="0" strike="noStrike" spc="-1">
                <a:solidFill>
                  <a:srgbClr val="000000"/>
                </a:solidFill>
                <a:latin typeface="Times New Roman"/>
              </a:rPr>
              <a:t>Лапань М. Глубокое обучение с подкреплением. </a:t>
            </a:r>
            <a:r>
              <a:rPr lang="en-US" sz="1600" b="0" strike="noStrike" spc="-1">
                <a:solidFill>
                  <a:srgbClr val="000000"/>
                </a:solidFill>
                <a:latin typeface="Times New Roman"/>
              </a:rPr>
              <a:t>AlphaGo </a:t>
            </a:r>
            <a:r>
              <a:rPr lang="ru-RU" sz="1600" b="0" strike="noStrike" spc="-1">
                <a:solidFill>
                  <a:srgbClr val="000000"/>
                </a:solidFill>
                <a:latin typeface="Times New Roman"/>
              </a:rPr>
              <a:t>и другие технологии. – СПб.: Питер, 2020. – 496 с.</a:t>
            </a:r>
            <a:endParaRPr lang="ru-RU" sz="1600" b="0" strike="noStrike" spc="-1">
              <a:solidFill>
                <a:srgbClr val="000000"/>
              </a:solidFill>
              <a:latin typeface="Arial"/>
            </a:endParaRPr>
          </a:p>
          <a:p>
            <a:pPr marL="609480" indent="-609480">
              <a:lnSpc>
                <a:spcPct val="90000"/>
              </a:lnSpc>
              <a:spcBef>
                <a:spcPts val="320"/>
              </a:spcBef>
              <a:buClr>
                <a:srgbClr val="000000"/>
              </a:buClr>
              <a:buFont typeface="StarSymbol"/>
              <a:buAutoNum type="arabicPeriod"/>
            </a:pPr>
            <a:r>
              <a:rPr lang="ru-RU" sz="1600" b="0" strike="noStrike" spc="-1">
                <a:solidFill>
                  <a:srgbClr val="000000"/>
                </a:solidFill>
                <a:latin typeface="Times New Roman"/>
              </a:rPr>
              <a:t>Ховард Дж., Сильвейн Г. Глубокое обучение с </a:t>
            </a:r>
            <a:r>
              <a:rPr lang="en-US" sz="1600" b="0" strike="noStrike" spc="-1">
                <a:solidFill>
                  <a:srgbClr val="000000"/>
                </a:solidFill>
                <a:latin typeface="Times New Roman"/>
              </a:rPr>
              <a:t>fastai</a:t>
            </a:r>
            <a:r>
              <a:rPr lang="ru-RU" sz="1600" b="0" strike="noStrike" spc="-1">
                <a:solidFill>
                  <a:srgbClr val="000000"/>
                </a:solidFill>
                <a:latin typeface="Times New Roman"/>
              </a:rPr>
              <a:t> и </a:t>
            </a:r>
            <a:r>
              <a:rPr lang="en-US" sz="1600" b="0" strike="noStrike" spc="-1">
                <a:solidFill>
                  <a:srgbClr val="000000"/>
                </a:solidFill>
                <a:latin typeface="Times New Roman"/>
              </a:rPr>
              <a:t>PyTorch</a:t>
            </a:r>
            <a:r>
              <a:rPr lang="ru-RU" sz="1600" b="0" strike="noStrike" spc="-1">
                <a:solidFill>
                  <a:srgbClr val="000000"/>
                </a:solidFill>
                <a:latin typeface="Times New Roman"/>
              </a:rPr>
              <a:t>. – СПб.: Питер, 2022. - 624 с.</a:t>
            </a:r>
            <a:endParaRPr lang="ru-RU" sz="1600" b="0" strike="noStrike" spc="-1">
              <a:solidFill>
                <a:srgbClr val="000000"/>
              </a:solidFill>
              <a:latin typeface="Arial"/>
            </a:endParaRPr>
          </a:p>
          <a:p>
            <a:pPr marL="609480" indent="-609480">
              <a:lnSpc>
                <a:spcPct val="90000"/>
              </a:lnSpc>
              <a:spcBef>
                <a:spcPts val="320"/>
              </a:spcBef>
              <a:buClr>
                <a:srgbClr val="000000"/>
              </a:buClr>
              <a:buFont typeface="StarSymbol"/>
              <a:buAutoNum type="arabicPeriod"/>
            </a:pPr>
            <a:r>
              <a:rPr lang="ru-RU" sz="1600" b="0" strike="noStrike" spc="-1">
                <a:solidFill>
                  <a:srgbClr val="000000"/>
                </a:solidFill>
                <a:latin typeface="Times New Roman"/>
              </a:rPr>
              <a:t>Силва В. Разработка с использованием квантовых компьютеров. – СПб.: Питер, 2020. - 352 с.</a:t>
            </a:r>
            <a:endParaRPr lang="ru-RU" sz="16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20"/>
              </a:spcBef>
              <a:buNone/>
            </a:pPr>
            <a:endParaRPr lang="ru-RU" sz="16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60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641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Оформление по умолчанию">
  <a:themeElements>
    <a:clrScheme name="Оформление по умолчанию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Оформление по умолчанию">
  <a:themeElements>
    <a:clrScheme name="Оформление по умолчанию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1884</TotalTime>
  <Words>2338</Words>
  <Application>Microsoft Office PowerPoint</Application>
  <PresentationFormat>Экран (4:3)</PresentationFormat>
  <Paragraphs>205</Paragraphs>
  <Slides>36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36</vt:i4>
      </vt:variant>
    </vt:vector>
  </HeadingPairs>
  <TitlesOfParts>
    <vt:vector size="45" baseType="lpstr">
      <vt:lpstr>Arial</vt:lpstr>
      <vt:lpstr>Cambria Math</vt:lpstr>
      <vt:lpstr>Lora</vt:lpstr>
      <vt:lpstr>StarSymbol</vt:lpstr>
      <vt:lpstr>Symbol</vt:lpstr>
      <vt:lpstr>Times New Roman</vt:lpstr>
      <vt:lpstr>Wingdings</vt:lpstr>
      <vt:lpstr>Оформление по умолчанию</vt:lpstr>
      <vt:lpstr>Оформление по умолчанию</vt:lpstr>
      <vt:lpstr>ТЕОРИЯ ИСКУССТВЕННЫХ НЕЙРОННЫХ СЕТЕЙ Каганов Ю.Т. к.т.н., доцент каф. ИУ-9 «Теоретическая информатика и компьютерные технологии» </vt:lpstr>
      <vt:lpstr>ПЛАН ЛЕКЦИИ</vt:lpstr>
      <vt:lpstr>Что такое машинное обучение</vt:lpstr>
      <vt:lpstr>Машинное обучение</vt:lpstr>
      <vt:lpstr>Машинное обучение</vt:lpstr>
      <vt:lpstr>Обучение с учителем (supervised learning)</vt:lpstr>
      <vt:lpstr>Обучение без учителя (unsupervised learning) </vt:lpstr>
      <vt:lpstr>Обучение с подкреплением (reinforcement learning) </vt:lpstr>
      <vt:lpstr> Обучение с подкреплением </vt:lpstr>
      <vt:lpstr>Презентация PowerPoint</vt:lpstr>
      <vt:lpstr>Основные этапы построения систем машинного обучения.</vt:lpstr>
      <vt:lpstr>Обучение</vt:lpstr>
      <vt:lpstr>Что такое глубокое обучение</vt:lpstr>
      <vt:lpstr>Машинное Обучение</vt:lpstr>
      <vt:lpstr>Пример: регрессионный анализ</vt:lpstr>
      <vt:lpstr>Регрессионная модель</vt:lpstr>
      <vt:lpstr>Регрессионная модель</vt:lpstr>
      <vt:lpstr>Регрессионная модель</vt:lpstr>
      <vt:lpstr>Регрессионная модель</vt:lpstr>
      <vt:lpstr>Персептрон Ф. Розенблатта</vt:lpstr>
      <vt:lpstr>Многослойный персептрон</vt:lpstr>
      <vt:lpstr>Функции активации</vt:lpstr>
      <vt:lpstr>ЛИТЕРАТУРА</vt:lpstr>
      <vt:lpstr>DEEP    LEARNING   LIBRARY</vt:lpstr>
      <vt:lpstr>DEEP    LEARNING   LIBRARY</vt:lpstr>
      <vt:lpstr>DEEP    LEARNING   LIBRARY</vt:lpstr>
      <vt:lpstr>DEEP    LEARNING   LIBRARY</vt:lpstr>
      <vt:lpstr>DEEP    LEARNING   LIBRARY</vt:lpstr>
      <vt:lpstr>DEEP  LEARNING   LIBRARY</vt:lpstr>
      <vt:lpstr>DEEP LEARNING   LIBRARY</vt:lpstr>
      <vt:lpstr>DEEP LEARNING   LIBRARY</vt:lpstr>
      <vt:lpstr>Какой фреймворк к какой задаче лучше всего применить?</vt:lpstr>
      <vt:lpstr>DEEP LEARNING LIBRARY</vt:lpstr>
      <vt:lpstr>DEEP  LEARNING LIBRARY</vt:lpstr>
      <vt:lpstr>DEEP LEARNING LIBRARY</vt:lpstr>
      <vt:lpstr>ЛИТЕРАТУРА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НАЧАЛА ТЕОРЕТИЧЕСКОЙ ФИЗИКИ</dc:title>
  <dc:subject/>
  <dc:creator>Yura</dc:creator>
  <dc:description/>
  <cp:lastModifiedBy>Yuriy Kaganov</cp:lastModifiedBy>
  <cp:revision>96</cp:revision>
  <dcterms:created xsi:type="dcterms:W3CDTF">2015-11-28T16:20:51Z</dcterms:created>
  <dcterms:modified xsi:type="dcterms:W3CDTF">2024-09-11T18:55:15Z</dcterms:modified>
  <dc:language>ru-RU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Экран (4:3)</vt:lpwstr>
  </property>
  <property fmtid="{D5CDD505-2E9C-101B-9397-08002B2CF9AE}" pid="3" name="Slides">
    <vt:i4>41</vt:i4>
  </property>
</Properties>
</file>