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59" r:id="rId2"/>
    <p:sldId id="257" r:id="rId3"/>
    <p:sldId id="372" r:id="rId4"/>
    <p:sldId id="371" r:id="rId5"/>
    <p:sldId id="360" r:id="rId6"/>
    <p:sldId id="361" r:id="rId7"/>
    <p:sldId id="362" r:id="rId8"/>
    <p:sldId id="363" r:id="rId9"/>
    <p:sldId id="364" r:id="rId10"/>
    <p:sldId id="365" r:id="rId11"/>
    <p:sldId id="366" r:id="rId12"/>
    <p:sldId id="367" r:id="rId13"/>
    <p:sldId id="368" r:id="rId14"/>
    <p:sldId id="307" r:id="rId1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46" autoAdjust="0"/>
    <p:restoredTop sz="94660"/>
  </p:normalViewPr>
  <p:slideViewPr>
    <p:cSldViewPr snapToGrid="0">
      <p:cViewPr varScale="1">
        <p:scale>
          <a:sx n="52" d="100"/>
          <a:sy n="52" d="100"/>
        </p:scale>
        <p:origin x="53" y="6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image" Target="../media/image5.wmf"/><Relationship Id="rId1" Type="http://schemas.openxmlformats.org/officeDocument/2006/relationships/image" Target="../media/image4.wmf"/><Relationship Id="rId6" Type="http://schemas.openxmlformats.org/officeDocument/2006/relationships/image" Target="../media/image9.wmf"/><Relationship Id="rId5" Type="http://schemas.openxmlformats.org/officeDocument/2006/relationships/image" Target="../media/image8.wmf"/><Relationship Id="rId4" Type="http://schemas.openxmlformats.org/officeDocument/2006/relationships/image" Target="../media/image7.wmf"/></Relationships>
</file>

<file path=ppt/drawings/_rels/vmlDrawing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7.wmf"/><Relationship Id="rId3" Type="http://schemas.openxmlformats.org/officeDocument/2006/relationships/image" Target="../media/image12.wmf"/><Relationship Id="rId7" Type="http://schemas.openxmlformats.org/officeDocument/2006/relationships/image" Target="../media/image16.wmf"/><Relationship Id="rId2" Type="http://schemas.openxmlformats.org/officeDocument/2006/relationships/image" Target="../media/image11.wmf"/><Relationship Id="rId1" Type="http://schemas.openxmlformats.org/officeDocument/2006/relationships/image" Target="../media/image10.wmf"/><Relationship Id="rId6" Type="http://schemas.openxmlformats.org/officeDocument/2006/relationships/image" Target="../media/image15.wmf"/><Relationship Id="rId5" Type="http://schemas.openxmlformats.org/officeDocument/2006/relationships/image" Target="../media/image14.wmf"/><Relationship Id="rId4" Type="http://schemas.openxmlformats.org/officeDocument/2006/relationships/image" Target="../media/image13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20.wmf"/><Relationship Id="rId2" Type="http://schemas.openxmlformats.org/officeDocument/2006/relationships/image" Target="../media/image19.wmf"/><Relationship Id="rId1" Type="http://schemas.openxmlformats.org/officeDocument/2006/relationships/image" Target="../media/image18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wmf"/></Relationships>
</file>

<file path=ppt/drawings/_rels/vmlDrawing5.vml.rels><?xml version="1.0" encoding="UTF-8" standalone="yes"?>
<Relationships xmlns="http://schemas.openxmlformats.org/package/2006/relationships"><Relationship Id="rId8" Type="http://schemas.openxmlformats.org/officeDocument/2006/relationships/image" Target="../media/image29.wmf"/><Relationship Id="rId3" Type="http://schemas.openxmlformats.org/officeDocument/2006/relationships/image" Target="../media/image24.wmf"/><Relationship Id="rId7" Type="http://schemas.openxmlformats.org/officeDocument/2006/relationships/image" Target="../media/image28.wmf"/><Relationship Id="rId2" Type="http://schemas.openxmlformats.org/officeDocument/2006/relationships/image" Target="../media/image23.wmf"/><Relationship Id="rId1" Type="http://schemas.openxmlformats.org/officeDocument/2006/relationships/image" Target="../media/image22.wmf"/><Relationship Id="rId6" Type="http://schemas.openxmlformats.org/officeDocument/2006/relationships/image" Target="../media/image27.wmf"/><Relationship Id="rId5" Type="http://schemas.openxmlformats.org/officeDocument/2006/relationships/image" Target="../media/image26.wmf"/><Relationship Id="rId4" Type="http://schemas.openxmlformats.org/officeDocument/2006/relationships/image" Target="../media/image25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30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34.wmf"/><Relationship Id="rId7" Type="http://schemas.openxmlformats.org/officeDocument/2006/relationships/image" Target="../media/image38.wmf"/><Relationship Id="rId2" Type="http://schemas.openxmlformats.org/officeDocument/2006/relationships/image" Target="../media/image33.wmf"/><Relationship Id="rId1" Type="http://schemas.openxmlformats.org/officeDocument/2006/relationships/image" Target="../media/image32.wmf"/><Relationship Id="rId6" Type="http://schemas.openxmlformats.org/officeDocument/2006/relationships/image" Target="../media/image37.wmf"/><Relationship Id="rId5" Type="http://schemas.openxmlformats.org/officeDocument/2006/relationships/image" Target="../media/image36.wmf"/><Relationship Id="rId4" Type="http://schemas.openxmlformats.org/officeDocument/2006/relationships/image" Target="../media/image35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42.wmf"/><Relationship Id="rId7" Type="http://schemas.openxmlformats.org/officeDocument/2006/relationships/image" Target="../media/image46.wmf"/><Relationship Id="rId2" Type="http://schemas.openxmlformats.org/officeDocument/2006/relationships/image" Target="../media/image41.wmf"/><Relationship Id="rId1" Type="http://schemas.openxmlformats.org/officeDocument/2006/relationships/image" Target="../media/image40.wmf"/><Relationship Id="rId6" Type="http://schemas.openxmlformats.org/officeDocument/2006/relationships/image" Target="../media/image45.wmf"/><Relationship Id="rId5" Type="http://schemas.openxmlformats.org/officeDocument/2006/relationships/image" Target="../media/image44.wmf"/><Relationship Id="rId4" Type="http://schemas.openxmlformats.org/officeDocument/2006/relationships/image" Target="../media/image43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49.wmf"/><Relationship Id="rId2" Type="http://schemas.openxmlformats.org/officeDocument/2006/relationships/image" Target="../media/image48.wmf"/><Relationship Id="rId1" Type="http://schemas.openxmlformats.org/officeDocument/2006/relationships/image" Target="../media/image47.wmf"/><Relationship Id="rId4" Type="http://schemas.openxmlformats.org/officeDocument/2006/relationships/image" Target="../media/image50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B642DF8-AA84-4120-AB25-5F2648FE50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28081FD-37DF-4289-A764-ADEC3205C5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3047626-3E70-4485-86F6-55F2262DAC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EB753-BBEB-4C3C-9673-2186C8B64DA5}" type="datetimeFigureOut">
              <a:rPr lang="ru-RU" smtClean="0"/>
              <a:t>06.11.2024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FD84EED-B627-492C-8D13-1D490E0164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8A29CE1-DBFD-4E22-B719-B6D51994E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246D1-7E5A-4525-8119-0FE5EDA418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173621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EF09660-5726-4204-BED8-A1E9F6DFE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F11D7AA-235F-4B2F-964D-7CC1080990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3595A23-1146-495C-BE3B-942C676E41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EB753-BBEB-4C3C-9673-2186C8B64DA5}" type="datetimeFigureOut">
              <a:rPr lang="ru-RU" smtClean="0"/>
              <a:t>06.11.2024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C695294-6C76-4C19-BFD5-F082BCC52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1CA3451-97D5-4F50-AB12-48C4E4FF41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246D1-7E5A-4525-8119-0FE5EDA418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79167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C332AAB-6ED0-4F57-8F6A-2ED083BDB5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264554F-1644-43B1-836F-99B87CE68A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F5C925C-B12A-46CE-ACEA-BBCF0B99DF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EB753-BBEB-4C3C-9673-2186C8B64DA5}" type="datetimeFigureOut">
              <a:rPr lang="ru-RU" smtClean="0"/>
              <a:t>06.11.2024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419952B-6677-4E99-A91D-9440C15DE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6BF5188-1502-43B7-A1F9-F2558907CF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246D1-7E5A-4525-8119-0FE5EDA418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131457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945BD98-126E-4D56-948F-29F915B5D3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D5CF457-37BC-4F70-86B3-C6ECD0614A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2FFBB2C-218D-4E8F-AF2B-47C510D03C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89BCFEC-950F-413B-8DD3-18CACFBC3C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EB753-BBEB-4C3C-9673-2186C8B64DA5}" type="datetimeFigureOut">
              <a:rPr lang="ru-RU" smtClean="0"/>
              <a:t>06.11.2024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7CA1E4D-84E1-45DA-B006-E34EE8D788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A5F164F-A078-4CAA-9110-6523E36231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246D1-7E5A-4525-8119-0FE5EDA418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040371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E2A5A38-E7B0-4949-BAD6-320F3DFD61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14F734E-422D-47E6-B0EC-29D609E093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0B7FD7C-5949-4C93-BEFA-06AB8E5B34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BB905E93-C02C-41CC-A0B5-FCB8A86529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110283BE-F4A0-4F93-83C1-66F77F0B56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2E20D3F0-CBCB-4E84-9B68-C1C370652A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EB753-BBEB-4C3C-9673-2186C8B64DA5}" type="datetimeFigureOut">
              <a:rPr lang="ru-RU" smtClean="0"/>
              <a:t>06.11.2024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B2150BF-ED4C-4B86-BB8F-104873DEB3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0E7660CA-0418-4DB1-8869-CFEC6493DA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246D1-7E5A-4525-8119-0FE5EDA418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789276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DE77F0-628C-4602-8AF3-7BD2539C3E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0058F4DA-82F1-4611-8FE9-8A5EBE7118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EB753-BBEB-4C3C-9673-2186C8B64DA5}" type="datetimeFigureOut">
              <a:rPr lang="ru-RU" smtClean="0"/>
              <a:t>06.11.2024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C25682D9-F9F6-4792-A6D2-9B6723ED94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8AC2CA4-9264-468C-AB2C-51EDF886E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246D1-7E5A-4525-8119-0FE5EDA418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830918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12CA2535-A979-45D7-903A-54BFB60D42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EB753-BBEB-4C3C-9673-2186C8B64DA5}" type="datetimeFigureOut">
              <a:rPr lang="ru-RU" smtClean="0"/>
              <a:t>06.11.2024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9DB2865E-A142-439C-BF88-2A5827059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C59EAFE-1EA4-42B4-AEE1-7311B7336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246D1-7E5A-4525-8119-0FE5EDA418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68827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AF5EEA7-DCEE-42A1-846E-08E8753B3F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9423595-2BBE-4643-8FAF-0C8538B391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F1332E0-8374-4A7B-B593-67B1D50DCF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9732668-6F98-4F8C-AECD-23F69407EB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EB753-BBEB-4C3C-9673-2186C8B64DA5}" type="datetimeFigureOut">
              <a:rPr lang="ru-RU" smtClean="0"/>
              <a:t>06.11.2024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9A975DC-8D80-4387-9459-A6118A4383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ED5744F-375E-4F21-84F7-5F04686FE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246D1-7E5A-4525-8119-0FE5EDA418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080371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F87AE13-17E8-48F0-86B8-053C525D82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5CC3D994-B784-4FE8-86A2-F7AF5C57FF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A8CC998-5459-40E1-8E9B-31B5722877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18B9B26-7501-491C-90E6-33449239D6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EB753-BBEB-4C3C-9673-2186C8B64DA5}" type="datetimeFigureOut">
              <a:rPr lang="ru-RU" smtClean="0"/>
              <a:t>06.11.2024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303B3DA-D97A-4992-BB67-4DBCDCADEE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A3A17B6-DB38-43A8-A70C-C879CE1C4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246D1-7E5A-4525-8119-0FE5EDA418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915897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FFE9A7-B71E-421E-8E5B-BF26B1CBED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5FC261A-5A6E-4A59-9D47-11AACF05D8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BE96BF4-DDD4-43EB-A0C4-82DD12FB5E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EB753-BBEB-4C3C-9673-2186C8B64DA5}" type="datetimeFigureOut">
              <a:rPr lang="ru-RU" smtClean="0"/>
              <a:t>06.11.2024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034057B-B145-498C-BE22-ABB178C19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0549325-00FE-4369-933E-B64F818EA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246D1-7E5A-4525-8119-0FE5EDA418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684552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D1B6C5D3-FA14-4D1C-8B75-0880059BA5F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FBDEFA4-E240-4E10-A27B-C3D498A750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B803179-AF7F-4A15-931E-7C342EB711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EB753-BBEB-4C3C-9673-2186C8B64DA5}" type="datetimeFigureOut">
              <a:rPr lang="ru-RU" smtClean="0"/>
              <a:t>06.11.2024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F9B43E2-75EC-4A4F-A80D-750137A341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7D29654-4268-4E5C-89D1-E96E107CA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246D1-7E5A-4525-8119-0FE5EDA418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53281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Заголовок, текст и 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Объект 4"/>
          <p:cNvSpPr>
            <a:spLocks noGrp="1"/>
          </p:cNvSpPr>
          <p:nvPr>
            <p:ph sz="quarter" idx="3"/>
          </p:nvPr>
        </p:nvSpPr>
        <p:spPr>
          <a:xfrm>
            <a:off x="6197600" y="3938591"/>
            <a:ext cx="5384800" cy="218757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C9350477-8AED-46E3-B52D-927B4FD3707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ru-RU"/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EF91F6CB-E7EF-4FD6-88FB-7CCFB2AD408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ru-RU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21A0C32C-3910-4C1C-87A4-5E6190096C5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7BAB2ED-AC81-4393-ABE4-C78ADC96987E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7213732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F737023-CA40-4175-BAAF-1CC9DEE5BD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FAB59D5-6629-4625-BEE7-0BBDEF6513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201CFD2-3A90-43EA-B146-598B9E8B10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8EB753-BBEB-4C3C-9673-2186C8B64DA5}" type="datetimeFigureOut">
              <a:rPr lang="ru-RU" smtClean="0"/>
              <a:t>06.11.2024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07888EB-C156-4101-87D6-52D5A8E3B3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E0F4CD5-54AC-46BE-B3A1-48DCD30733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3246D1-7E5A-4525-8119-0FE5EDA418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765105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wmf"/><Relationship Id="rId13" Type="http://schemas.openxmlformats.org/officeDocument/2006/relationships/oleObject" Target="../embeddings/oleObject6.bin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8.wmf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5.w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0" Type="http://schemas.openxmlformats.org/officeDocument/2006/relationships/image" Target="../media/image7.wmf"/><Relationship Id="rId4" Type="http://schemas.openxmlformats.org/officeDocument/2006/relationships/image" Target="../media/image4.w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9.w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wmf"/><Relationship Id="rId13" Type="http://schemas.openxmlformats.org/officeDocument/2006/relationships/oleObject" Target="../embeddings/oleObject12.bin"/><Relationship Id="rId18" Type="http://schemas.openxmlformats.org/officeDocument/2006/relationships/image" Target="../media/image17.wmf"/><Relationship Id="rId3" Type="http://schemas.openxmlformats.org/officeDocument/2006/relationships/oleObject" Target="../embeddings/oleObject7.bin"/><Relationship Id="rId7" Type="http://schemas.openxmlformats.org/officeDocument/2006/relationships/oleObject" Target="../embeddings/oleObject9.bin"/><Relationship Id="rId12" Type="http://schemas.openxmlformats.org/officeDocument/2006/relationships/image" Target="../media/image14.wmf"/><Relationship Id="rId17" Type="http://schemas.openxmlformats.org/officeDocument/2006/relationships/oleObject" Target="../embeddings/oleObject14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6.wmf"/><Relationship Id="rId1" Type="http://schemas.openxmlformats.org/officeDocument/2006/relationships/vmlDrawing" Target="../drawings/vmlDrawing2.vml"/><Relationship Id="rId6" Type="http://schemas.openxmlformats.org/officeDocument/2006/relationships/image" Target="../media/image11.wmf"/><Relationship Id="rId11" Type="http://schemas.openxmlformats.org/officeDocument/2006/relationships/oleObject" Target="../embeddings/oleObject11.bin"/><Relationship Id="rId5" Type="http://schemas.openxmlformats.org/officeDocument/2006/relationships/oleObject" Target="../embeddings/oleObject8.bin"/><Relationship Id="rId15" Type="http://schemas.openxmlformats.org/officeDocument/2006/relationships/oleObject" Target="../embeddings/oleObject13.bin"/><Relationship Id="rId10" Type="http://schemas.openxmlformats.org/officeDocument/2006/relationships/image" Target="../media/image13.wmf"/><Relationship Id="rId4" Type="http://schemas.openxmlformats.org/officeDocument/2006/relationships/image" Target="../media/image10.wmf"/><Relationship Id="rId9" Type="http://schemas.openxmlformats.org/officeDocument/2006/relationships/oleObject" Target="../embeddings/oleObject10.bin"/><Relationship Id="rId14" Type="http://schemas.openxmlformats.org/officeDocument/2006/relationships/image" Target="../media/image15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wmf"/><Relationship Id="rId3" Type="http://schemas.openxmlformats.org/officeDocument/2006/relationships/oleObject" Target="../embeddings/oleObject15.bin"/><Relationship Id="rId7" Type="http://schemas.openxmlformats.org/officeDocument/2006/relationships/oleObject" Target="../embeddings/oleObject1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9.wmf"/><Relationship Id="rId5" Type="http://schemas.openxmlformats.org/officeDocument/2006/relationships/oleObject" Target="../embeddings/oleObject16.bin"/><Relationship Id="rId4" Type="http://schemas.openxmlformats.org/officeDocument/2006/relationships/image" Target="../media/image18.w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21.w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wmf"/><Relationship Id="rId13" Type="http://schemas.openxmlformats.org/officeDocument/2006/relationships/oleObject" Target="../embeddings/oleObject24.bin"/><Relationship Id="rId18" Type="http://schemas.openxmlformats.org/officeDocument/2006/relationships/image" Target="../media/image29.wmf"/><Relationship Id="rId3" Type="http://schemas.openxmlformats.org/officeDocument/2006/relationships/oleObject" Target="../embeddings/oleObject19.bin"/><Relationship Id="rId7" Type="http://schemas.openxmlformats.org/officeDocument/2006/relationships/oleObject" Target="../embeddings/oleObject21.bin"/><Relationship Id="rId12" Type="http://schemas.openxmlformats.org/officeDocument/2006/relationships/image" Target="../media/image26.wmf"/><Relationship Id="rId17" Type="http://schemas.openxmlformats.org/officeDocument/2006/relationships/oleObject" Target="../embeddings/oleObject26.bin"/><Relationship Id="rId2" Type="http://schemas.openxmlformats.org/officeDocument/2006/relationships/slideLayout" Target="../slideLayouts/slideLayout12.xml"/><Relationship Id="rId16" Type="http://schemas.openxmlformats.org/officeDocument/2006/relationships/image" Target="../media/image28.wmf"/><Relationship Id="rId1" Type="http://schemas.openxmlformats.org/officeDocument/2006/relationships/vmlDrawing" Target="../drawings/vmlDrawing5.vml"/><Relationship Id="rId6" Type="http://schemas.openxmlformats.org/officeDocument/2006/relationships/image" Target="../media/image23.wmf"/><Relationship Id="rId11" Type="http://schemas.openxmlformats.org/officeDocument/2006/relationships/oleObject" Target="../embeddings/oleObject23.bin"/><Relationship Id="rId5" Type="http://schemas.openxmlformats.org/officeDocument/2006/relationships/oleObject" Target="../embeddings/oleObject20.bin"/><Relationship Id="rId15" Type="http://schemas.openxmlformats.org/officeDocument/2006/relationships/oleObject" Target="../embeddings/oleObject25.bin"/><Relationship Id="rId10" Type="http://schemas.openxmlformats.org/officeDocument/2006/relationships/image" Target="../media/image25.wmf"/><Relationship Id="rId4" Type="http://schemas.openxmlformats.org/officeDocument/2006/relationships/image" Target="../media/image22.wmf"/><Relationship Id="rId9" Type="http://schemas.openxmlformats.org/officeDocument/2006/relationships/oleObject" Target="../embeddings/oleObject22.bin"/><Relationship Id="rId14" Type="http://schemas.openxmlformats.org/officeDocument/2006/relationships/image" Target="../media/image27.w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5" Type="http://schemas.openxmlformats.org/officeDocument/2006/relationships/image" Target="../media/image30.wmf"/><Relationship Id="rId4" Type="http://schemas.openxmlformats.org/officeDocument/2006/relationships/oleObject" Target="../embeddings/oleObject27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wmf"/><Relationship Id="rId13" Type="http://schemas.openxmlformats.org/officeDocument/2006/relationships/image" Target="../media/image36.wmf"/><Relationship Id="rId3" Type="http://schemas.openxmlformats.org/officeDocument/2006/relationships/oleObject" Target="../embeddings/oleObject28.bin"/><Relationship Id="rId7" Type="http://schemas.openxmlformats.org/officeDocument/2006/relationships/oleObject" Target="../embeddings/oleObject30.bin"/><Relationship Id="rId12" Type="http://schemas.openxmlformats.org/officeDocument/2006/relationships/oleObject" Target="../embeddings/oleObject32.bin"/><Relationship Id="rId17" Type="http://schemas.openxmlformats.org/officeDocument/2006/relationships/image" Target="../media/image38.wmf"/><Relationship Id="rId2" Type="http://schemas.openxmlformats.org/officeDocument/2006/relationships/slideLayout" Target="../slideLayouts/slideLayout12.xml"/><Relationship Id="rId16" Type="http://schemas.openxmlformats.org/officeDocument/2006/relationships/oleObject" Target="../embeddings/oleObject34.bin"/><Relationship Id="rId1" Type="http://schemas.openxmlformats.org/officeDocument/2006/relationships/vmlDrawing" Target="../drawings/vmlDrawing7.vml"/><Relationship Id="rId6" Type="http://schemas.openxmlformats.org/officeDocument/2006/relationships/image" Target="../media/image33.wmf"/><Relationship Id="rId11" Type="http://schemas.openxmlformats.org/officeDocument/2006/relationships/image" Target="../media/image35.wmf"/><Relationship Id="rId5" Type="http://schemas.openxmlformats.org/officeDocument/2006/relationships/oleObject" Target="../embeddings/oleObject29.bin"/><Relationship Id="rId15" Type="http://schemas.openxmlformats.org/officeDocument/2006/relationships/image" Target="../media/image37.wmf"/><Relationship Id="rId10" Type="http://schemas.openxmlformats.org/officeDocument/2006/relationships/oleObject" Target="../embeddings/oleObject31.bin"/><Relationship Id="rId4" Type="http://schemas.openxmlformats.org/officeDocument/2006/relationships/image" Target="../media/image32.wmf"/><Relationship Id="rId9" Type="http://schemas.openxmlformats.org/officeDocument/2006/relationships/image" Target="../media/image39.jpeg"/><Relationship Id="rId14" Type="http://schemas.openxmlformats.org/officeDocument/2006/relationships/oleObject" Target="../embeddings/oleObject33.bin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wmf"/><Relationship Id="rId13" Type="http://schemas.openxmlformats.org/officeDocument/2006/relationships/oleObject" Target="../embeddings/oleObject40.bin"/><Relationship Id="rId3" Type="http://schemas.openxmlformats.org/officeDocument/2006/relationships/oleObject" Target="../embeddings/oleObject35.bin"/><Relationship Id="rId7" Type="http://schemas.openxmlformats.org/officeDocument/2006/relationships/oleObject" Target="../embeddings/oleObject37.bin"/><Relationship Id="rId12" Type="http://schemas.openxmlformats.org/officeDocument/2006/relationships/image" Target="../media/image44.wmf"/><Relationship Id="rId2" Type="http://schemas.openxmlformats.org/officeDocument/2006/relationships/slideLayout" Target="../slideLayouts/slideLayout4.xml"/><Relationship Id="rId16" Type="http://schemas.openxmlformats.org/officeDocument/2006/relationships/image" Target="../media/image46.wmf"/><Relationship Id="rId1" Type="http://schemas.openxmlformats.org/officeDocument/2006/relationships/vmlDrawing" Target="../drawings/vmlDrawing8.vml"/><Relationship Id="rId6" Type="http://schemas.openxmlformats.org/officeDocument/2006/relationships/image" Target="../media/image41.wmf"/><Relationship Id="rId11" Type="http://schemas.openxmlformats.org/officeDocument/2006/relationships/oleObject" Target="../embeddings/oleObject39.bin"/><Relationship Id="rId5" Type="http://schemas.openxmlformats.org/officeDocument/2006/relationships/oleObject" Target="../embeddings/oleObject36.bin"/><Relationship Id="rId15" Type="http://schemas.openxmlformats.org/officeDocument/2006/relationships/oleObject" Target="../embeddings/oleObject41.bin"/><Relationship Id="rId10" Type="http://schemas.openxmlformats.org/officeDocument/2006/relationships/image" Target="../media/image43.wmf"/><Relationship Id="rId4" Type="http://schemas.openxmlformats.org/officeDocument/2006/relationships/image" Target="../media/image40.wmf"/><Relationship Id="rId9" Type="http://schemas.openxmlformats.org/officeDocument/2006/relationships/oleObject" Target="../embeddings/oleObject38.bin"/><Relationship Id="rId14" Type="http://schemas.openxmlformats.org/officeDocument/2006/relationships/image" Target="../media/image45.w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wmf"/><Relationship Id="rId3" Type="http://schemas.openxmlformats.org/officeDocument/2006/relationships/oleObject" Target="../embeddings/oleObject42.bin"/><Relationship Id="rId7" Type="http://schemas.openxmlformats.org/officeDocument/2006/relationships/oleObject" Target="../embeddings/oleObject44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48.wmf"/><Relationship Id="rId11" Type="http://schemas.openxmlformats.org/officeDocument/2006/relationships/image" Target="../media/image50.wmf"/><Relationship Id="rId5" Type="http://schemas.openxmlformats.org/officeDocument/2006/relationships/oleObject" Target="../embeddings/oleObject43.bin"/><Relationship Id="rId10" Type="http://schemas.openxmlformats.org/officeDocument/2006/relationships/oleObject" Target="../embeddings/oleObject45.bin"/><Relationship Id="rId4" Type="http://schemas.openxmlformats.org/officeDocument/2006/relationships/image" Target="../media/image47.wmf"/><Relationship Id="rId9" Type="http://schemas.openxmlformats.org/officeDocument/2006/relationships/image" Target="../media/image51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703389" y="333375"/>
            <a:ext cx="8785225" cy="3671888"/>
          </a:xfrm>
        </p:spPr>
        <p:txBody>
          <a:bodyPr/>
          <a:lstStyle/>
          <a:p>
            <a:pPr eaLnBrk="1" hangingPunct="1"/>
            <a:r>
              <a:rPr lang="ru-RU" sz="4000" b="1" dirty="0">
                <a:latin typeface="+mn-lt"/>
              </a:rPr>
              <a:t>ТЕОРИЯ ИСКУССТВЕННЫХ НЕЙРОННЫХ СЕТЕЙ</a:t>
            </a:r>
            <a:br>
              <a:rPr lang="ru-RU" sz="4000" b="1" dirty="0">
                <a:latin typeface="+mn-lt"/>
              </a:rPr>
            </a:br>
            <a:r>
              <a:rPr lang="ru-RU" sz="4000" b="1" dirty="0">
                <a:latin typeface="+mn-lt"/>
              </a:rPr>
              <a:t>Каганов Ю.Т.</a:t>
            </a:r>
            <a:br>
              <a:rPr lang="ru-RU" sz="4000" b="1" dirty="0">
                <a:latin typeface="+mn-lt"/>
              </a:rPr>
            </a:br>
            <a:r>
              <a:rPr lang="ru-RU" sz="3200" b="1" dirty="0">
                <a:latin typeface="+mn-lt"/>
              </a:rPr>
              <a:t>к.т.н., доцент каф. ИУ-9</a:t>
            </a:r>
            <a:br>
              <a:rPr lang="ru-RU" sz="3200" b="1" dirty="0">
                <a:latin typeface="+mn-lt"/>
              </a:rPr>
            </a:br>
            <a:r>
              <a:rPr lang="ru-RU" sz="3200" b="1" dirty="0">
                <a:latin typeface="+mn-lt"/>
              </a:rPr>
              <a:t>«Теоретическая информатика и компьютерные технологии»</a:t>
            </a:r>
            <a:br>
              <a:rPr lang="ru-RU" sz="3200" b="1" dirty="0">
                <a:latin typeface="+mn-lt"/>
              </a:rPr>
            </a:br>
            <a:endParaRPr lang="ru-RU" sz="3200" b="1" dirty="0">
              <a:latin typeface="+mn-lt"/>
            </a:endParaRPr>
          </a:p>
        </p:txBody>
      </p:sp>
      <p:sp>
        <p:nvSpPr>
          <p:cNvPr id="13314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521069" y="4149726"/>
            <a:ext cx="9214339" cy="2016125"/>
          </a:xfrm>
        </p:spPr>
        <p:txBody>
          <a:bodyPr/>
          <a:lstStyle/>
          <a:p>
            <a:pPr eaLnBrk="1" hangingPunct="1"/>
            <a:r>
              <a:rPr lang="ru-RU" sz="3600" b="1" dirty="0"/>
              <a:t>ЛЕКЦИЯ № 10</a:t>
            </a:r>
          </a:p>
          <a:p>
            <a:pPr eaLnBrk="1" hangingPunct="1"/>
            <a:r>
              <a:rPr lang="ru-RU" sz="4000" b="1" dirty="0"/>
              <a:t>Регуляризация в глубоком обучении</a:t>
            </a:r>
            <a:endParaRPr lang="en-US" sz="40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274639"/>
            <a:ext cx="8229600" cy="993775"/>
          </a:xfrm>
        </p:spPr>
        <p:txBody>
          <a:bodyPr/>
          <a:lstStyle/>
          <a:p>
            <a:pPr algn="ctr" eaLnBrk="1" hangingPunct="1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ПЛАН ЛЕКЦИИ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338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1847850" y="1196975"/>
                <a:ext cx="8362950" cy="4929188"/>
              </a:xfrm>
            </p:spPr>
            <p:txBody>
              <a:bodyPr>
                <a:normAutofit fontScale="70000" lnSpcReduction="20000"/>
              </a:bodyPr>
              <a:lstStyle/>
              <a:p>
                <a:pPr marL="0" indent="0">
                  <a:buNone/>
                </a:pPr>
                <a:r>
                  <a:rPr lang="ru-RU" altLang="ru-RU" sz="3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1. Основная задача регуляризации.</a:t>
                </a:r>
              </a:p>
              <a:p>
                <a:pPr marL="0" indent="0">
                  <a:buNone/>
                </a:pPr>
                <a:r>
                  <a:rPr lang="ru-RU" altLang="ru-RU" sz="3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2. Постановка задачи регуляризации.</a:t>
                </a:r>
              </a:p>
              <a:p>
                <a:pPr marL="0" indent="0">
                  <a:buNone/>
                </a:pPr>
                <a:r>
                  <a:rPr lang="ru-RU" altLang="ru-RU" sz="3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2. Основные виды регуляризации.</a:t>
                </a:r>
              </a:p>
              <a:p>
                <a:pPr marL="0" indent="0">
                  <a:buNone/>
                </a:pPr>
                <a:r>
                  <a:rPr lang="ru-RU" altLang="ru-RU" sz="3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3. Регуляризация – как оптимизация с ограничениями.</a:t>
                </a:r>
              </a:p>
              <a:p>
                <a:pPr marL="0" indent="0">
                  <a:buNone/>
                </a:pPr>
                <a:r>
                  <a:rPr lang="ru-RU" altLang="ru-RU" sz="3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4. Регуляризация параметров по норме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ru-RU" sz="36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ru-RU" sz="36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𝑳</m:t>
                        </m:r>
                      </m:e>
                      <m:sub>
                        <m:r>
                          <a:rPr lang="en-US" altLang="ru-RU" sz="36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ru-RU" sz="3600" b="1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endParaRPr lang="en-US" altLang="ru-RU" sz="36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ru-RU" sz="3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</a:t>
                </a:r>
                <a:r>
                  <a:rPr lang="ru-RU" altLang="ru-RU" sz="3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Регуляризация параметров по норме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ru-RU" sz="36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ru-RU" sz="36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𝑳</m:t>
                        </m:r>
                      </m:e>
                      <m:sub>
                        <m:r>
                          <a:rPr lang="ru-RU" altLang="ru-RU" sz="36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ru-RU" sz="3600" b="1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endParaRPr lang="ru-RU" altLang="ru-RU" sz="36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ru-RU" altLang="ru-RU" sz="3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6. Регуляризация </a:t>
                </a:r>
                <a:r>
                  <a:rPr lang="en-US" altLang="ru-RU" sz="36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LASSO.</a:t>
                </a:r>
                <a:endParaRPr lang="ru-RU" altLang="ru-RU" sz="3600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ru-RU" altLang="ru-RU" sz="3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7. Ранняя остановка.</a:t>
                </a:r>
              </a:p>
              <a:p>
                <a:pPr marL="0" indent="0">
                  <a:buNone/>
                </a:pPr>
                <a:r>
                  <a:rPr lang="ru-RU" altLang="ru-RU" sz="3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8. </a:t>
                </a:r>
                <a:r>
                  <a:rPr lang="en-US" altLang="ru-RU" sz="3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DROPOUT.</a:t>
                </a:r>
              </a:p>
              <a:p>
                <a:pPr marL="0" indent="0">
                  <a:buNone/>
                </a:pPr>
                <a:r>
                  <a:rPr lang="en-US" altLang="ru-RU" sz="3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9.</a:t>
                </a:r>
                <a:r>
                  <a:rPr lang="ru-RU" altLang="ru-RU" sz="3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ru-RU" sz="3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BAGGING (Bootstrap aggregating)</a:t>
                </a:r>
                <a:endParaRPr lang="ru-RU" altLang="ru-RU" sz="36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ru-RU" altLang="ru-RU" sz="3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ru-RU" sz="3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4338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847850" y="1196975"/>
                <a:ext cx="8362950" cy="4929188"/>
              </a:xfrm>
              <a:blipFill>
                <a:blip r:embed="rId2"/>
                <a:stretch>
                  <a:fillRect l="-1166" t="-309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FAACDB-54BD-4195-857D-DAE5D2EA1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Основная задача регуляризации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FE55E187-8931-40AD-A0D9-90461EA83F7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165872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 algn="just">
                  <a:buNone/>
                </a:pP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В процессе обучения глубокой нейронной сети возникают проблемы, связанные с </a:t>
                </a:r>
                <a:r>
                  <a:rPr lang="ru-RU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перобучением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и </a:t>
                </a:r>
                <a:r>
                  <a:rPr lang="ru-RU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недообучением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Это определяется степенью обобщения. То есть в процессе обучения возникают ситуации, когда модель оказывается менее адекватной обучаемым данным. Как правило </a:t>
                </a:r>
                <a:r>
                  <a:rPr lang="ru-RU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недообучение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связана с ситуацией, </a:t>
                </a:r>
                <a:r>
                  <a:rPr lang="ru-RU" b="0" i="0" dirty="0">
                    <a:solidFill>
                      <a:srgbClr val="333333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когда сложность устройства данных выше, чем сложность устройства модели</a:t>
                </a:r>
                <a:r>
                  <a:rPr lang="ru-RU" dirty="0">
                    <a:solidFill>
                      <a:srgbClr val="333333"/>
                    </a:solidFill>
                    <a:latin typeface="YS Text"/>
                    <a:cs typeface="Times New Roman" panose="02020603050405020304" pitchFamily="18" charset="0"/>
                  </a:rPr>
                  <a:t>. </a:t>
                </a:r>
                <a:r>
                  <a:rPr lang="ru-RU" dirty="0">
                    <a:solidFill>
                      <a:srgbClr val="333333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В свою очередь </a:t>
                </a:r>
                <a:r>
                  <a:rPr lang="ru-RU" b="1" dirty="0">
                    <a:solidFill>
                      <a:srgbClr val="333333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пере</a:t>
                </a:r>
                <a:r>
                  <a:rPr lang="ru-RU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обучение – 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это явление, когда построенная модель хорошо соответствует данным из обучающей выборки, но плохо работает на данных не участвовавших в обучении (тестовая выборка). Обычно это связано с тем, что резко возрастают величины весов </a:t>
                </a:r>
                <a14:m>
                  <m:oMath xmlns:m="http://schemas.openxmlformats.org/officeDocument/2006/math">
                    <m:r>
                      <a:rPr lang="ru-RU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𝜃</m:t>
                    </m:r>
                  </m:oMath>
                </a14:m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Назначение регуляризации – приведение в равновесие обучение и тестирование. Таким образом регулируя величины весов можно добиться адекватного поведения модели.</a:t>
                </a:r>
              </a:p>
            </p:txBody>
          </p:sp>
        </mc:Choice>
        <mc:Fallback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FE55E187-8931-40AD-A0D9-90461EA83F7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165872"/>
              </a:xfrm>
              <a:blipFill>
                <a:blip r:embed="rId2"/>
                <a:stretch>
                  <a:fillRect l="-1043" t="-3216" r="-98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33357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274639"/>
            <a:ext cx="8229600" cy="993775"/>
          </a:xfrm>
        </p:spPr>
        <p:txBody>
          <a:bodyPr>
            <a:normAutofit fontScale="90000"/>
          </a:bodyPr>
          <a:lstStyle/>
          <a:p>
            <a:pPr algn="ctr" eaLnBrk="1" hangingPunct="1"/>
            <a:r>
              <a:rPr lang="ru-RU" altLang="ru-RU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Постановка задачи регуляризации</a:t>
            </a:r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338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1847850" y="1196975"/>
                <a:ext cx="8362950" cy="492918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ru-RU" alt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Большинство подходов к регуляризации основаны на ограничении емкости модели путем прибавления штрафа по норме параметра </a:t>
                </a:r>
                <a14:m>
                  <m:oMath xmlns:m="http://schemas.openxmlformats.org/officeDocument/2006/math">
                    <m:r>
                      <a:rPr lang="ru-RU" altLang="ru-R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𝜑</m:t>
                    </m:r>
                    <m:r>
                      <a:rPr lang="ru-RU" altLang="ru-R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ru-RU" altLang="ru-R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𝜃</m:t>
                    </m:r>
                    <m:r>
                      <a:rPr lang="ru-RU" altLang="ru-R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ru-RU" alt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к целевой функции </a:t>
                </a:r>
                <a14:m>
                  <m:oMath xmlns:m="http://schemas.openxmlformats.org/officeDocument/2006/math">
                    <m:r>
                      <a:rPr lang="en-US" altLang="ru-RU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  <m:d>
                      <m:dPr>
                        <m:ctrlPr>
                          <a:rPr lang="en-US" altLang="ru-RU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ru-RU" sz="24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  <m:r>
                          <a:rPr lang="en-US" altLang="ru-RU" sz="24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;</m:t>
                        </m:r>
                        <m:r>
                          <a:rPr lang="en-US" altLang="ru-RU" sz="24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𝑋</m:t>
                        </m:r>
                        <m:r>
                          <a:rPr lang="en-US" altLang="ru-RU" sz="24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ru-RU" sz="24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𝑌</m:t>
                        </m:r>
                      </m:e>
                    </m:d>
                    <m:r>
                      <a:rPr lang="ru-RU" altLang="ru-RU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r>
                  <a:rPr lang="ru-RU" alt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В этом случае обозначим </a:t>
                </a:r>
                <a:r>
                  <a:rPr lang="ru-RU" altLang="ru-RU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регуляризованную</a:t>
                </a:r>
                <a:r>
                  <a:rPr lang="ru-RU" alt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целевую функцию: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altLang="ru-RU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𝐹</m:t>
                    </m:r>
                    <m:d>
                      <m:dPr>
                        <m:ctrlPr>
                          <a:rPr lang="en-US" altLang="ru-RU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ru-RU" sz="24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  <m:r>
                          <a:rPr lang="en-US" altLang="ru-RU" sz="24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;</m:t>
                        </m:r>
                        <m:r>
                          <a:rPr lang="en-US" altLang="ru-RU" sz="24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𝑋</m:t>
                        </m:r>
                        <m:r>
                          <a:rPr lang="en-US" altLang="ru-RU" sz="24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ru-RU" sz="24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𝑌</m:t>
                        </m:r>
                      </m:e>
                    </m:d>
                  </m:oMath>
                </a14:m>
                <a:r>
                  <a:rPr lang="en-US" alt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:r>
                  <a:rPr lang="en-US" altLang="ru-RU" sz="24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ru-RU" sz="2400" b="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  <m:d>
                      <m:dPr>
                        <m:ctrlPr>
                          <a:rPr lang="en-US" altLang="ru-RU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ru-RU" sz="24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  <m:r>
                          <a:rPr lang="en-US" altLang="ru-RU" sz="24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;</m:t>
                        </m:r>
                        <m:r>
                          <a:rPr lang="en-US" altLang="ru-RU" sz="24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𝑋</m:t>
                        </m:r>
                        <m:r>
                          <a:rPr lang="en-US" altLang="ru-RU" sz="24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ru-RU" sz="24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𝑌</m:t>
                        </m:r>
                      </m:e>
                    </m:d>
                    <m:r>
                      <a:rPr lang="en-US" altLang="ru-R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altLang="ru-R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𝛼𝜑</m:t>
                    </m:r>
                    <m:d>
                      <m:dPr>
                        <m:ctrlPr>
                          <a:rPr lang="ru-RU" altLang="ru-RU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ru-RU" altLang="ru-RU" sz="24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</m:d>
                    <m:r>
                      <a:rPr lang="ru-RU" altLang="ru-RU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</m:oMath>
                </a14:m>
                <a:endParaRPr lang="ru-RU" altLang="ru-RU" sz="2400" dirty="0"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ru-RU" alt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где </a:t>
                </a:r>
                <a14:m>
                  <m:oMath xmlns:m="http://schemas.openxmlformats.org/officeDocument/2006/math">
                    <m:r>
                      <a:rPr lang="en-US" altLang="ru-R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𝛼</m:t>
                    </m:r>
                    <m:r>
                      <a:rPr lang="en-US" altLang="ru-R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∈[0,∞]</m:t>
                    </m:r>
                  </m:oMath>
                </a14:m>
                <a:r>
                  <a:rPr lang="ru-RU" alt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– </a:t>
                </a:r>
                <a:r>
                  <a:rPr lang="ru-RU" altLang="ru-RU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гиперпараметр</a:t>
                </a:r>
                <a:r>
                  <a:rPr lang="ru-RU" alt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задающий вес члена </a:t>
                </a:r>
                <a14:m>
                  <m:oMath xmlns:m="http://schemas.openxmlformats.org/officeDocument/2006/math">
                    <m:r>
                      <a:rPr lang="ru-RU" altLang="ru-RU" sz="2400" b="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𝜑</m:t>
                    </m:r>
                    <m:d>
                      <m:dPr>
                        <m:ctrlPr>
                          <a:rPr lang="ru-RU" altLang="ru-RU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ru-RU" altLang="ru-RU" sz="24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</m:d>
                  </m:oMath>
                </a14:m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ru-RU" altLang="ru-RU" sz="2400" b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штрафующий по норме относительно стандартной</m:t>
                    </m:r>
                  </m:oMath>
                </a14:m>
                <a:r>
                  <a:rPr lang="ru-RU" alt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marL="0" indent="0">
                  <a:buNone/>
                </a:pPr>
                <a:r>
                  <a:rPr lang="ru-RU" alt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целевой функции </a:t>
                </a:r>
                <a14:m>
                  <m:oMath xmlns:m="http://schemas.openxmlformats.org/officeDocument/2006/math">
                    <m:r>
                      <a:rPr lang="en-US" altLang="ru-RU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  <m:d>
                      <m:dPr>
                        <m:ctrlPr>
                          <a:rPr lang="en-US" altLang="ru-RU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ru-RU" sz="24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  <m:r>
                          <a:rPr lang="en-US" altLang="ru-RU" sz="24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;</m:t>
                        </m:r>
                        <m:r>
                          <a:rPr lang="en-US" altLang="ru-RU" sz="24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𝑋</m:t>
                        </m:r>
                        <m:r>
                          <a:rPr lang="en-US" altLang="ru-RU" sz="24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ru-RU" sz="24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𝑌</m:t>
                        </m:r>
                      </m:e>
                    </m:d>
                  </m:oMath>
                </a14:m>
                <a:r>
                  <a:rPr lang="ru-RU" alt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Если </a:t>
                </a:r>
                <a14:m>
                  <m:oMath xmlns:m="http://schemas.openxmlformats.org/officeDocument/2006/math">
                    <m:r>
                      <a:rPr lang="en-US" altLang="ru-RU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𝛼</m:t>
                    </m:r>
                    <m:r>
                      <a:rPr lang="ru-RU" altLang="ru-R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=0</m:t>
                    </m:r>
                  </m:oMath>
                </a14:m>
                <a:r>
                  <a:rPr lang="ru-RU" alt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то регуляризация отсутствует. Чем больше значение </a:t>
                </a:r>
                <a14:m>
                  <m:oMath xmlns:m="http://schemas.openxmlformats.org/officeDocument/2006/math">
                    <m:r>
                      <a:rPr lang="en-US" altLang="ru-RU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𝛼</m:t>
                    </m:r>
                  </m:oMath>
                </a14:m>
                <a:r>
                  <a:rPr lang="ru-RU" alt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тем сильнее регуляризация. </a:t>
                </a:r>
              </a:p>
              <a:p>
                <a:pPr marL="0" indent="0">
                  <a:buNone/>
                </a:pPr>
                <a:r>
                  <a:rPr lang="ru-RU" alt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ru-RU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ru-RU" sz="3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4338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847850" y="1196975"/>
                <a:ext cx="8362950" cy="4929188"/>
              </a:xfrm>
              <a:blipFill>
                <a:blip r:embed="rId2"/>
                <a:stretch>
                  <a:fillRect l="-1093" t="-173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135820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43C7BD72-1306-4CA3-977F-DEDDFEFAFAB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Необходимые и достаточные условия существования экстремума функции</a:t>
            </a:r>
            <a:endParaRPr lang="ru-RU" altLang="ru-RU" sz="2800" b="1" i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C35BBD96-AD9F-40A1-8D98-7D3FAF1B63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2329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30724" name="Rectangle 4">
            <a:extLst>
              <a:ext uri="{FF2B5EF4-FFF2-40B4-BE49-F238E27FC236}">
                <a16:creationId xmlns:a16="http://schemas.microsoft.com/office/drawing/2014/main" id="{8F16C00F-2C55-4428-BA7B-303636D329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230770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30725" name="Rectangle 5">
            <a:extLst>
              <a:ext uri="{FF2B5EF4-FFF2-40B4-BE49-F238E27FC236}">
                <a16:creationId xmlns:a16="http://schemas.microsoft.com/office/drawing/2014/main" id="{B76DC5DC-7CC9-40BB-AB6E-518CE600A7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284745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30726" name="Rectangle 6">
            <a:extLst>
              <a:ext uri="{FF2B5EF4-FFF2-40B4-BE49-F238E27FC236}">
                <a16:creationId xmlns:a16="http://schemas.microsoft.com/office/drawing/2014/main" id="{0D4088C6-59E6-443B-96FF-261AB2E712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260475" y="360469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30727" name="Rectangle 7">
            <a:extLst>
              <a:ext uri="{FF2B5EF4-FFF2-40B4-BE49-F238E27FC236}">
                <a16:creationId xmlns:a16="http://schemas.microsoft.com/office/drawing/2014/main" id="{D1BC99F8-03AE-4552-A81C-EF30567BE7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288397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30728" name="Rectangle 8">
            <a:extLst>
              <a:ext uri="{FF2B5EF4-FFF2-40B4-BE49-F238E27FC236}">
                <a16:creationId xmlns:a16="http://schemas.microsoft.com/office/drawing/2014/main" id="{9E955F76-421B-4A1B-8EA8-CDA03EF073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30729" name="Rectangle 9">
            <a:extLst>
              <a:ext uri="{FF2B5EF4-FFF2-40B4-BE49-F238E27FC236}">
                <a16:creationId xmlns:a16="http://schemas.microsoft.com/office/drawing/2014/main" id="{DC9BA92F-B3AA-48CE-9BBA-82739721DB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230770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30730" name="Rectangle 10">
            <a:extLst>
              <a:ext uri="{FF2B5EF4-FFF2-40B4-BE49-F238E27FC236}">
                <a16:creationId xmlns:a16="http://schemas.microsoft.com/office/drawing/2014/main" id="{8B6D7657-14D5-416C-A724-E4FB3832C4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30731" name="Rectangle 11">
            <a:extLst>
              <a:ext uri="{FF2B5EF4-FFF2-40B4-BE49-F238E27FC236}">
                <a16:creationId xmlns:a16="http://schemas.microsoft.com/office/drawing/2014/main" id="{009B57D2-EEBB-4C58-9742-2032ACD132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1" y="1506816"/>
            <a:ext cx="850728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Условия существования экстремума с учетом ограничений</a:t>
            </a:r>
          </a:p>
        </p:txBody>
      </p:sp>
      <p:sp>
        <p:nvSpPr>
          <p:cNvPr id="30732" name="Rectangle 12">
            <a:extLst>
              <a:ext uri="{FF2B5EF4-FFF2-40B4-BE49-F238E27FC236}">
                <a16:creationId xmlns:a16="http://schemas.microsoft.com/office/drawing/2014/main" id="{71CA6470-719E-4E39-9F8B-F1503B0796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5188" y="2132291"/>
            <a:ext cx="225613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Постановка задачи</a:t>
            </a:r>
            <a:r>
              <a:rPr lang="ru-RU" altLang="ru-RU" sz="1800" b="1" u="sng" dirty="0"/>
              <a:t>:</a:t>
            </a:r>
          </a:p>
        </p:txBody>
      </p:sp>
      <p:sp>
        <p:nvSpPr>
          <p:cNvPr id="30733" name="Rectangle 13">
            <a:extLst>
              <a:ext uri="{FF2B5EF4-FFF2-40B4-BE49-F238E27FC236}">
                <a16:creationId xmlns:a16="http://schemas.microsoft.com/office/drawing/2014/main" id="{3EFFC93E-C8A8-4185-A334-3F78F05163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79650" y="2636838"/>
            <a:ext cx="1119188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Пусть  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</p:txBody>
      </p:sp>
      <p:sp>
        <p:nvSpPr>
          <p:cNvPr id="30734" name="Rectangle 14">
            <a:extLst>
              <a:ext uri="{FF2B5EF4-FFF2-40B4-BE49-F238E27FC236}">
                <a16:creationId xmlns:a16="http://schemas.microsoft.com/office/drawing/2014/main" id="{35AD76D3-0D79-43A8-BC63-09CE840293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300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30735" name="Object 15">
            <a:extLst>
              <a:ext uri="{FF2B5EF4-FFF2-40B4-BE49-F238E27FC236}">
                <a16:creationId xmlns:a16="http://schemas.microsoft.com/office/drawing/2014/main" id="{AD985AF6-4407-418F-9691-89A649F8C2F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87714" y="2636838"/>
          <a:ext cx="2232025" cy="341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0" name="Формула" r:id="rId3" imgW="1498600" imgH="228600" progId="Equation.3">
                  <p:embed/>
                </p:oleObj>
              </mc:Choice>
              <mc:Fallback>
                <p:oleObj name="Формула" r:id="rId3" imgW="1498600" imgH="228600" progId="Equation.3">
                  <p:embed/>
                  <p:pic>
                    <p:nvPicPr>
                      <p:cNvPr id="30735" name="Object 15">
                        <a:extLst>
                          <a:ext uri="{FF2B5EF4-FFF2-40B4-BE49-F238E27FC236}">
                            <a16:creationId xmlns:a16="http://schemas.microsoft.com/office/drawing/2014/main" id="{AD985AF6-4407-418F-9691-89A649F8C2F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7714" y="2636838"/>
                        <a:ext cx="2232025" cy="341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36" name="Rectangle 16">
            <a:extLst>
              <a:ext uri="{FF2B5EF4-FFF2-40B4-BE49-F238E27FC236}">
                <a16:creationId xmlns:a16="http://schemas.microsoft.com/office/drawing/2014/main" id="{85CD2060-2F48-439D-8236-012AF41C7B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3586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30737" name="Rectangle 17">
            <a:extLst>
              <a:ext uri="{FF2B5EF4-FFF2-40B4-BE49-F238E27FC236}">
                <a16:creationId xmlns:a16="http://schemas.microsoft.com/office/drawing/2014/main" id="{228D9B38-4B52-47B6-BF7A-D65CA34665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91175" y="2635250"/>
            <a:ext cx="2967038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ru-RU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ru-RU" altLang="ru-RU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ru-RU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ru-RU" altLang="ru-RU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ru-RU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ru-RU" altLang="ru-RU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ru-RU" altLang="ru-RU" sz="1800"/>
              <a:t> 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– выпуклая функция; </a:t>
            </a:r>
          </a:p>
        </p:txBody>
      </p:sp>
      <p:sp>
        <p:nvSpPr>
          <p:cNvPr id="30738" name="Rectangle 18">
            <a:extLst>
              <a:ext uri="{FF2B5EF4-FFF2-40B4-BE49-F238E27FC236}">
                <a16:creationId xmlns:a16="http://schemas.microsoft.com/office/drawing/2014/main" id="{46AF5428-84F3-4C85-9837-7E0910D865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300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30739" name="Object 19">
            <a:extLst>
              <a:ext uri="{FF2B5EF4-FFF2-40B4-BE49-F238E27FC236}">
                <a16:creationId xmlns:a16="http://schemas.microsoft.com/office/drawing/2014/main" id="{E85AC9BF-8AB9-4805-9C94-643F72069AC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79650" y="2997201"/>
          <a:ext cx="2736850" cy="373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1" name="Формула" r:id="rId5" imgW="1676400" imgH="228600" progId="Equation.3">
                  <p:embed/>
                </p:oleObj>
              </mc:Choice>
              <mc:Fallback>
                <p:oleObj name="Формула" r:id="rId5" imgW="1676400" imgH="228600" progId="Equation.3">
                  <p:embed/>
                  <p:pic>
                    <p:nvPicPr>
                      <p:cNvPr id="30739" name="Object 19">
                        <a:extLst>
                          <a:ext uri="{FF2B5EF4-FFF2-40B4-BE49-F238E27FC236}">
                            <a16:creationId xmlns:a16="http://schemas.microsoft.com/office/drawing/2014/main" id="{E85AC9BF-8AB9-4805-9C94-643F72069AC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9650" y="2997201"/>
                        <a:ext cx="2736850" cy="373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40" name="Rectangle 20">
            <a:extLst>
              <a:ext uri="{FF2B5EF4-FFF2-40B4-BE49-F238E27FC236}">
                <a16:creationId xmlns:a16="http://schemas.microsoft.com/office/drawing/2014/main" id="{3B98EB39-BEC4-43B0-9C3C-A48D6AE552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16501" y="2997201"/>
            <a:ext cx="126841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/>
              <a:t>и пусть </a:t>
            </a:r>
            <a:r>
              <a:rPr lang="en-US" altLang="ru-RU" sz="1800"/>
              <a:t>g</a:t>
            </a:r>
            <a:r>
              <a:rPr lang="ru-RU" altLang="ru-RU" sz="1800"/>
              <a:t>: </a:t>
            </a:r>
          </a:p>
        </p:txBody>
      </p:sp>
      <p:sp>
        <p:nvSpPr>
          <p:cNvPr id="30741" name="Rectangle 21">
            <a:extLst>
              <a:ext uri="{FF2B5EF4-FFF2-40B4-BE49-F238E27FC236}">
                <a16:creationId xmlns:a16="http://schemas.microsoft.com/office/drawing/2014/main" id="{E0649776-07D9-4F05-90DF-9E5CC3D265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300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30742" name="Object 22">
            <a:extLst>
              <a:ext uri="{FF2B5EF4-FFF2-40B4-BE49-F238E27FC236}">
                <a16:creationId xmlns:a16="http://schemas.microsoft.com/office/drawing/2014/main" id="{F6CBCD9E-64FD-4665-9EEF-73047E84243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240464" y="3068638"/>
          <a:ext cx="2376487" cy="349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2" name="Формула" r:id="rId7" imgW="1549400" imgH="228600" progId="Equation.3">
                  <p:embed/>
                </p:oleObj>
              </mc:Choice>
              <mc:Fallback>
                <p:oleObj name="Формула" r:id="rId7" imgW="1549400" imgH="228600" progId="Equation.3">
                  <p:embed/>
                  <p:pic>
                    <p:nvPicPr>
                      <p:cNvPr id="30742" name="Object 22">
                        <a:extLst>
                          <a:ext uri="{FF2B5EF4-FFF2-40B4-BE49-F238E27FC236}">
                            <a16:creationId xmlns:a16="http://schemas.microsoft.com/office/drawing/2014/main" id="{F6CBCD9E-64FD-4665-9EEF-73047E84243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0464" y="3068638"/>
                        <a:ext cx="2376487" cy="349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43" name="Rectangle 23">
            <a:extLst>
              <a:ext uri="{FF2B5EF4-FFF2-40B4-BE49-F238E27FC236}">
                <a16:creationId xmlns:a16="http://schemas.microsoft.com/office/drawing/2014/main" id="{C76C323C-0844-4CC3-A0F8-A015A1EB92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286809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30744" name="Object 24">
            <a:extLst>
              <a:ext uri="{FF2B5EF4-FFF2-40B4-BE49-F238E27FC236}">
                <a16:creationId xmlns:a16="http://schemas.microsoft.com/office/drawing/2014/main" id="{95F8EE2E-FE80-4695-87A4-6F85AE6BFC9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08214" y="3357563"/>
          <a:ext cx="2592387" cy="1192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3" name="Формула" r:id="rId9" imgW="1638300" imgH="749300" progId="Equation.3">
                  <p:embed/>
                </p:oleObj>
              </mc:Choice>
              <mc:Fallback>
                <p:oleObj name="Формула" r:id="rId9" imgW="1638300" imgH="749300" progId="Equation.3">
                  <p:embed/>
                  <p:pic>
                    <p:nvPicPr>
                      <p:cNvPr id="30744" name="Object 24">
                        <a:extLst>
                          <a:ext uri="{FF2B5EF4-FFF2-40B4-BE49-F238E27FC236}">
                            <a16:creationId xmlns:a16="http://schemas.microsoft.com/office/drawing/2014/main" id="{95F8EE2E-FE80-4695-87A4-6F85AE6BFC9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8214" y="3357563"/>
                        <a:ext cx="2592387" cy="1192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45" name="Rectangle 25">
            <a:extLst>
              <a:ext uri="{FF2B5EF4-FFF2-40B4-BE49-F238E27FC236}">
                <a16:creationId xmlns:a16="http://schemas.microsoft.com/office/drawing/2014/main" id="{0BDE30D6-AA55-4958-841F-F19B2AEC08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11675" y="3768725"/>
            <a:ext cx="3835400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–   вогнутые или выпуклые функции,</a:t>
            </a:r>
          </a:p>
        </p:txBody>
      </p:sp>
      <p:sp>
        <p:nvSpPr>
          <p:cNvPr id="30746" name="Rectangle 26">
            <a:extLst>
              <a:ext uri="{FF2B5EF4-FFF2-40B4-BE49-F238E27FC236}">
                <a16:creationId xmlns:a16="http://schemas.microsoft.com/office/drawing/2014/main" id="{624CE846-9B78-4C59-A5EA-6AFF32D29C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7576" y="4176713"/>
            <a:ext cx="1203325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,   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а также </a:t>
            </a:r>
          </a:p>
        </p:txBody>
      </p:sp>
      <p:sp>
        <p:nvSpPr>
          <p:cNvPr id="30747" name="Rectangle 27">
            <a:extLst>
              <a:ext uri="{FF2B5EF4-FFF2-40B4-BE49-F238E27FC236}">
                <a16:creationId xmlns:a16="http://schemas.microsoft.com/office/drawing/2014/main" id="{C200B7B1-13FD-42E9-82BB-540774181B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2685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30748" name="Object 28">
            <a:extLst>
              <a:ext uri="{FF2B5EF4-FFF2-40B4-BE49-F238E27FC236}">
                <a16:creationId xmlns:a16="http://schemas.microsoft.com/office/drawing/2014/main" id="{8289284A-5402-4B8D-91EC-B7196BF8DD5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800725" y="4205289"/>
          <a:ext cx="1079500" cy="357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4" name="Формула" r:id="rId11" imgW="710891" imgH="241195" progId="Equation.3">
                  <p:embed/>
                </p:oleObj>
              </mc:Choice>
              <mc:Fallback>
                <p:oleObj name="Формула" r:id="rId11" imgW="710891" imgH="241195" progId="Equation.3">
                  <p:embed/>
                  <p:pic>
                    <p:nvPicPr>
                      <p:cNvPr id="30748" name="Object 28">
                        <a:extLst>
                          <a:ext uri="{FF2B5EF4-FFF2-40B4-BE49-F238E27FC236}">
                            <a16:creationId xmlns:a16="http://schemas.microsoft.com/office/drawing/2014/main" id="{8289284A-5402-4B8D-91EC-B7196BF8DD5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00725" y="4205289"/>
                        <a:ext cx="1079500" cy="357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49" name="Rectangle 29">
            <a:extLst>
              <a:ext uri="{FF2B5EF4-FFF2-40B4-BE49-F238E27FC236}">
                <a16:creationId xmlns:a16="http://schemas.microsoft.com/office/drawing/2014/main" id="{25A26CAC-22A8-4902-8FFC-63B42C8032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97689" y="4179888"/>
            <a:ext cx="3197225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– ограничения типа равенства. </a:t>
            </a:r>
          </a:p>
        </p:txBody>
      </p:sp>
      <p:sp>
        <p:nvSpPr>
          <p:cNvPr id="30750" name="Rectangle 30">
            <a:extLst>
              <a:ext uri="{FF2B5EF4-FFF2-40B4-BE49-F238E27FC236}">
                <a16:creationId xmlns:a16="http://schemas.microsoft.com/office/drawing/2014/main" id="{E08EBD05-B8B3-42F1-A77A-E580EE8F43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27264" y="4583113"/>
            <a:ext cx="7488237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Тогда задачу поиска экстремума функции при наличии ограничений можно записать:</a:t>
            </a:r>
          </a:p>
        </p:txBody>
      </p:sp>
      <p:sp>
        <p:nvSpPr>
          <p:cNvPr id="30751" name="Rectangle 31">
            <a:extLst>
              <a:ext uri="{FF2B5EF4-FFF2-40B4-BE49-F238E27FC236}">
                <a16:creationId xmlns:a16="http://schemas.microsoft.com/office/drawing/2014/main" id="{29B37204-8267-4313-BF35-6792E5659C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287920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30752" name="Object 32">
            <a:extLst>
              <a:ext uri="{FF2B5EF4-FFF2-40B4-BE49-F238E27FC236}">
                <a16:creationId xmlns:a16="http://schemas.microsoft.com/office/drawing/2014/main" id="{143261D1-3535-4BA4-8FE1-BB58E4163B0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00601" y="5013326"/>
          <a:ext cx="2303463" cy="1374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5" name="Формула" r:id="rId13" imgW="1231900" imgH="736600" progId="Equation.3">
                  <p:embed/>
                </p:oleObj>
              </mc:Choice>
              <mc:Fallback>
                <p:oleObj name="Формула" r:id="rId13" imgW="1231900" imgH="736600" progId="Equation.3">
                  <p:embed/>
                  <p:pic>
                    <p:nvPicPr>
                      <p:cNvPr id="30752" name="Object 32">
                        <a:extLst>
                          <a:ext uri="{FF2B5EF4-FFF2-40B4-BE49-F238E27FC236}">
                            <a16:creationId xmlns:a16="http://schemas.microsoft.com/office/drawing/2014/main" id="{143261D1-3535-4BA4-8FE1-BB58E4163B0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0601" y="5013326"/>
                        <a:ext cx="2303463" cy="1374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391841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5875CFD2-2620-4E17-A763-8802EE6C721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Необходимые и достаточные условия существования экстремума функции.</a:t>
            </a:r>
          </a:p>
        </p:txBody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76F5A205-22AF-4C85-BF8F-51A2E486B6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48526" y="2997201"/>
            <a:ext cx="6254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при </a:t>
            </a:r>
          </a:p>
        </p:txBody>
      </p:sp>
      <p:sp>
        <p:nvSpPr>
          <p:cNvPr id="31748" name="Rectangle 4">
            <a:extLst>
              <a:ext uri="{FF2B5EF4-FFF2-40B4-BE49-F238E27FC236}">
                <a16:creationId xmlns:a16="http://schemas.microsoft.com/office/drawing/2014/main" id="{A464961D-7888-43A6-B1B6-03EAACE39E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252360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31749" name="Rectangle 5">
            <a:extLst>
              <a:ext uri="{FF2B5EF4-FFF2-40B4-BE49-F238E27FC236}">
                <a16:creationId xmlns:a16="http://schemas.microsoft.com/office/drawing/2014/main" id="{CDA4DED2-0FF7-4674-BA7E-3E7FDC1206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79651" y="1483003"/>
            <a:ext cx="3401059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Метод множителей Лагранжа.</a:t>
            </a:r>
            <a:r>
              <a:rPr lang="ru-RU" altLang="ru-RU" sz="1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1750" name="Rectangle 6">
            <a:extLst>
              <a:ext uri="{FF2B5EF4-FFF2-40B4-BE49-F238E27FC236}">
                <a16:creationId xmlns:a16="http://schemas.microsoft.com/office/drawing/2014/main" id="{F6800D61-AC09-43F1-9AF6-ED2E56296B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83339" y="1482725"/>
            <a:ext cx="3609975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 u="sng"/>
              <a:t>(</a:t>
            </a:r>
            <a:r>
              <a:rPr lang="ru-RU" altLang="ru-RU" sz="1800" u="sng">
                <a:latin typeface="Times New Roman" panose="02020603050405020304" pitchFamily="18" charset="0"/>
                <a:cs typeface="Times New Roman" panose="02020603050405020304" pitchFamily="18" charset="0"/>
              </a:rPr>
              <a:t>1788г.”Аналитическая механика”)</a:t>
            </a:r>
          </a:p>
        </p:txBody>
      </p:sp>
      <p:sp>
        <p:nvSpPr>
          <p:cNvPr id="31751" name="Rectangle 7">
            <a:extLst>
              <a:ext uri="{FF2B5EF4-FFF2-40B4-BE49-F238E27FC236}">
                <a16:creationId xmlns:a16="http://schemas.microsoft.com/office/drawing/2014/main" id="{CCD91431-779B-4CD7-9E3A-2DCDB74DAD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02049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31752" name="Object 8">
            <a:extLst>
              <a:ext uri="{FF2B5EF4-FFF2-40B4-BE49-F238E27FC236}">
                <a16:creationId xmlns:a16="http://schemas.microsoft.com/office/drawing/2014/main" id="{53DC7CBE-88F5-4A64-A67D-D3BDD3764DC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83114" y="1844676"/>
          <a:ext cx="3095625" cy="796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2" name="Формула" r:id="rId3" imgW="1739900" imgH="444500" progId="Equation.3">
                  <p:embed/>
                </p:oleObj>
              </mc:Choice>
              <mc:Fallback>
                <p:oleObj name="Формула" r:id="rId3" imgW="1739900" imgH="444500" progId="Equation.3">
                  <p:embed/>
                  <p:pic>
                    <p:nvPicPr>
                      <p:cNvPr id="31752" name="Object 8">
                        <a:extLst>
                          <a:ext uri="{FF2B5EF4-FFF2-40B4-BE49-F238E27FC236}">
                            <a16:creationId xmlns:a16="http://schemas.microsoft.com/office/drawing/2014/main" id="{53DC7CBE-88F5-4A64-A67D-D3BDD3764DC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83114" y="1844676"/>
                        <a:ext cx="3095625" cy="796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53" name="Rectangle 9">
            <a:extLst>
              <a:ext uri="{FF2B5EF4-FFF2-40B4-BE49-F238E27FC236}">
                <a16:creationId xmlns:a16="http://schemas.microsoft.com/office/drawing/2014/main" id="{6C1A37BD-8576-4BE9-8121-E449E79E85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82889" y="1989138"/>
            <a:ext cx="302418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Функция вида:</a:t>
            </a:r>
          </a:p>
        </p:txBody>
      </p:sp>
      <p:sp>
        <p:nvSpPr>
          <p:cNvPr id="31754" name="Rectangle 10">
            <a:extLst>
              <a:ext uri="{FF2B5EF4-FFF2-40B4-BE49-F238E27FC236}">
                <a16:creationId xmlns:a16="http://schemas.microsoft.com/office/drawing/2014/main" id="{1961DFA1-E940-475E-9D0F-46CF4BCFFF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82888" y="2490789"/>
            <a:ext cx="5383212" cy="369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Если взять вариацию от функции </a:t>
            </a:r>
            <a:r>
              <a:rPr lang="en-US" altLang="ru-RU" sz="1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ru-RU" altLang="ru-RU" sz="1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ru-RU" sz="1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ru-RU" altLang="ru-RU" sz="1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ru-RU" sz="1800" b="1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</a:t>
            </a:r>
            <a:r>
              <a:rPr lang="ru-RU" altLang="ru-RU" sz="1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ru-RU" altLang="ru-RU" sz="1800"/>
              <a:t> в</a:t>
            </a:r>
            <a:r>
              <a:rPr lang="en-US" altLang="ru-RU" sz="1800"/>
              <a:t>                </a:t>
            </a:r>
            <a:r>
              <a:rPr lang="ru-RU" altLang="ru-RU" sz="1800">
                <a:sym typeface="Symbol" panose="05050102010706020507" pitchFamily="18" charset="2"/>
              </a:rPr>
              <a:t>:</a:t>
            </a:r>
          </a:p>
        </p:txBody>
      </p:sp>
      <p:sp>
        <p:nvSpPr>
          <p:cNvPr id="31755" name="Rectangle 11">
            <a:extLst>
              <a:ext uri="{FF2B5EF4-FFF2-40B4-BE49-F238E27FC236}">
                <a16:creationId xmlns:a16="http://schemas.microsoft.com/office/drawing/2014/main" id="{9413B289-6284-4E2C-8CE8-BC84AF6924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0284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31756" name="Object 12">
            <a:extLst>
              <a:ext uri="{FF2B5EF4-FFF2-40B4-BE49-F238E27FC236}">
                <a16:creationId xmlns:a16="http://schemas.microsoft.com/office/drawing/2014/main" id="{A00C539A-B740-45A5-86EE-1CCB1BDCB9D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55913" y="2852739"/>
          <a:ext cx="4392612" cy="720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3" name="Формула" r:id="rId5" imgW="2743200" imgH="444500" progId="Equation.3">
                  <p:embed/>
                </p:oleObj>
              </mc:Choice>
              <mc:Fallback>
                <p:oleObj name="Формула" r:id="rId5" imgW="2743200" imgH="444500" progId="Equation.3">
                  <p:embed/>
                  <p:pic>
                    <p:nvPicPr>
                      <p:cNvPr id="31756" name="Object 12">
                        <a:extLst>
                          <a:ext uri="{FF2B5EF4-FFF2-40B4-BE49-F238E27FC236}">
                            <a16:creationId xmlns:a16="http://schemas.microsoft.com/office/drawing/2014/main" id="{A00C539A-B740-45A5-86EE-1CCB1BDCB9D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5913" y="2852739"/>
                        <a:ext cx="4392612" cy="720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57" name="Rectangle 13">
            <a:extLst>
              <a:ext uri="{FF2B5EF4-FFF2-40B4-BE49-F238E27FC236}">
                <a16:creationId xmlns:a16="http://schemas.microsoft.com/office/drawing/2014/main" id="{BDBB80C3-F5C2-4441-A32F-3C2D696736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4590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31758" name="Object 14">
            <a:extLst>
              <a:ext uri="{FF2B5EF4-FFF2-40B4-BE49-F238E27FC236}">
                <a16:creationId xmlns:a16="http://schemas.microsoft.com/office/drawing/2014/main" id="{A644A77E-1026-42DB-A472-3E4407D70CB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896226" y="2919414"/>
          <a:ext cx="936625" cy="452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4" name="Формула" r:id="rId7" imgW="406048" imgH="203024" progId="Equation.3">
                  <p:embed/>
                </p:oleObj>
              </mc:Choice>
              <mc:Fallback>
                <p:oleObj name="Формула" r:id="rId7" imgW="406048" imgH="203024" progId="Equation.3">
                  <p:embed/>
                  <p:pic>
                    <p:nvPicPr>
                      <p:cNvPr id="31758" name="Object 14">
                        <a:extLst>
                          <a:ext uri="{FF2B5EF4-FFF2-40B4-BE49-F238E27FC236}">
                            <a16:creationId xmlns:a16="http://schemas.microsoft.com/office/drawing/2014/main" id="{A644A77E-1026-42DB-A472-3E4407D70CB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96226" y="2919414"/>
                        <a:ext cx="936625" cy="452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59" name="Rectangle 15">
            <a:extLst>
              <a:ext uri="{FF2B5EF4-FFF2-40B4-BE49-F238E27FC236}">
                <a16:creationId xmlns:a16="http://schemas.microsoft.com/office/drawing/2014/main" id="{C2EB0E55-3A09-4617-BE01-8C2AA06D74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298239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31760" name="Object 16">
            <a:extLst>
              <a:ext uri="{FF2B5EF4-FFF2-40B4-BE49-F238E27FC236}">
                <a16:creationId xmlns:a16="http://schemas.microsoft.com/office/drawing/2014/main" id="{618470F9-CC4A-4523-9EA4-8FD51C0C83A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55914" y="3597275"/>
          <a:ext cx="3527425" cy="717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5" name="Формула" r:id="rId9" imgW="2578100" imgH="520700" progId="Equation.3">
                  <p:embed/>
                </p:oleObj>
              </mc:Choice>
              <mc:Fallback>
                <p:oleObj name="Формула" r:id="rId9" imgW="2578100" imgH="520700" progId="Equation.3">
                  <p:embed/>
                  <p:pic>
                    <p:nvPicPr>
                      <p:cNvPr id="31760" name="Object 16">
                        <a:extLst>
                          <a:ext uri="{FF2B5EF4-FFF2-40B4-BE49-F238E27FC236}">
                            <a16:creationId xmlns:a16="http://schemas.microsoft.com/office/drawing/2014/main" id="{618470F9-CC4A-4523-9EA4-8FD51C0C83A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5914" y="3597275"/>
                        <a:ext cx="3527425" cy="717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61" name="Rectangle 17">
            <a:extLst>
              <a:ext uri="{FF2B5EF4-FFF2-40B4-BE49-F238E27FC236}">
                <a16:creationId xmlns:a16="http://schemas.microsoft.com/office/drawing/2014/main" id="{CA8B5E5C-3372-4886-8DFC-60275ED99A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1450" y="4364039"/>
            <a:ext cx="4776788" cy="369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Таким образом получаем систему уравнений : </a:t>
            </a:r>
          </a:p>
        </p:txBody>
      </p:sp>
      <p:sp>
        <p:nvSpPr>
          <p:cNvPr id="31762" name="Rectangle 18">
            <a:extLst>
              <a:ext uri="{FF2B5EF4-FFF2-40B4-BE49-F238E27FC236}">
                <a16:creationId xmlns:a16="http://schemas.microsoft.com/office/drawing/2014/main" id="{DBBF3B35-7643-4873-8CFA-AEE9CC5A38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298239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31763" name="Object 19">
            <a:extLst>
              <a:ext uri="{FF2B5EF4-FFF2-40B4-BE49-F238E27FC236}">
                <a16:creationId xmlns:a16="http://schemas.microsoft.com/office/drawing/2014/main" id="{6C87B0A9-6F3A-475D-B4F8-132162EBD85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896225" y="4005264"/>
          <a:ext cx="2592388" cy="871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6" name="Формула" r:id="rId11" imgW="1562100" imgH="520700" progId="Equation.3">
                  <p:embed/>
                </p:oleObj>
              </mc:Choice>
              <mc:Fallback>
                <p:oleObj name="Формула" r:id="rId11" imgW="1562100" imgH="520700" progId="Equation.3">
                  <p:embed/>
                  <p:pic>
                    <p:nvPicPr>
                      <p:cNvPr id="31763" name="Object 19">
                        <a:extLst>
                          <a:ext uri="{FF2B5EF4-FFF2-40B4-BE49-F238E27FC236}">
                            <a16:creationId xmlns:a16="http://schemas.microsoft.com/office/drawing/2014/main" id="{6C87B0A9-6F3A-475D-B4F8-132162EBD85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96225" y="4005264"/>
                        <a:ext cx="2592388" cy="871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64" name="Object 20">
            <a:extLst>
              <a:ext uri="{FF2B5EF4-FFF2-40B4-BE49-F238E27FC236}">
                <a16:creationId xmlns:a16="http://schemas.microsoft.com/office/drawing/2014/main" id="{B679618C-8336-40AB-BE1A-D70C31E0580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880100" y="5057776"/>
          <a:ext cx="863600" cy="320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7" name="Формула" r:id="rId13" imgW="596641" imgH="215806" progId="Equation.3">
                  <p:embed/>
                </p:oleObj>
              </mc:Choice>
              <mc:Fallback>
                <p:oleObj name="Формула" r:id="rId13" imgW="596641" imgH="215806" progId="Equation.3">
                  <p:embed/>
                  <p:pic>
                    <p:nvPicPr>
                      <p:cNvPr id="31764" name="Object 20">
                        <a:extLst>
                          <a:ext uri="{FF2B5EF4-FFF2-40B4-BE49-F238E27FC236}">
                            <a16:creationId xmlns:a16="http://schemas.microsoft.com/office/drawing/2014/main" id="{B679618C-8336-40AB-BE1A-D70C31E0580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80100" y="5057776"/>
                        <a:ext cx="863600" cy="320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65" name="Object 21">
            <a:extLst>
              <a:ext uri="{FF2B5EF4-FFF2-40B4-BE49-F238E27FC236}">
                <a16:creationId xmlns:a16="http://schemas.microsoft.com/office/drawing/2014/main" id="{1303D344-C3A5-4113-B987-743FF167019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832851" y="5013326"/>
          <a:ext cx="447675" cy="487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8" name="Формула" r:id="rId15" imgW="177569" imgH="202936" progId="Equation.3">
                  <p:embed/>
                </p:oleObj>
              </mc:Choice>
              <mc:Fallback>
                <p:oleObj name="Формула" r:id="rId15" imgW="177569" imgH="202936" progId="Equation.3">
                  <p:embed/>
                  <p:pic>
                    <p:nvPicPr>
                      <p:cNvPr id="31765" name="Object 21">
                        <a:extLst>
                          <a:ext uri="{FF2B5EF4-FFF2-40B4-BE49-F238E27FC236}">
                            <a16:creationId xmlns:a16="http://schemas.microsoft.com/office/drawing/2014/main" id="{1303D344-C3A5-4113-B987-743FF167019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32851" y="5013326"/>
                        <a:ext cx="447675" cy="487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66" name="Rectangle 22">
            <a:extLst>
              <a:ext uri="{FF2B5EF4-FFF2-40B4-BE49-F238E27FC236}">
                <a16:creationId xmlns:a16="http://schemas.microsoft.com/office/drawing/2014/main" id="{BEC60500-0DF2-42D0-B611-113B1A1B00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4113" y="4724400"/>
            <a:ext cx="7993062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Подбором определенных значений 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</a:t>
            </a:r>
            <a:r>
              <a:rPr lang="en-US" altLang="ru-RU" sz="1800" baseline="-3000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можно добиться того, чтобы эти уравнения удовлетворялись при </a:t>
            </a:r>
          </a:p>
        </p:txBody>
      </p:sp>
      <p:sp>
        <p:nvSpPr>
          <p:cNvPr id="31767" name="Rectangle 23">
            <a:extLst>
              <a:ext uri="{FF2B5EF4-FFF2-40B4-BE49-F238E27FC236}">
                <a16:creationId xmlns:a16="http://schemas.microsoft.com/office/drawing/2014/main" id="{1C9F7DC2-1FBB-41F8-AB68-5A97903631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16726" y="5084763"/>
            <a:ext cx="1858963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200">
                <a:cs typeface="Times New Roman" panose="02020603050405020304" pitchFamily="18" charset="0"/>
              </a:rPr>
              <a:t>  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Именно в точке</a:t>
            </a:r>
            <a:r>
              <a:rPr lang="ru-RU" altLang="ru-RU" sz="1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altLang="ru-RU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768" name="Rectangle 24">
            <a:extLst>
              <a:ext uri="{FF2B5EF4-FFF2-40B4-BE49-F238E27FC236}">
                <a16:creationId xmlns:a16="http://schemas.microsoft.com/office/drawing/2014/main" id="{45E269EA-3DCC-43B5-B149-17A125F4F5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51089" y="5300663"/>
            <a:ext cx="792162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достигается стационарность функции </a:t>
            </a:r>
            <a:r>
              <a:rPr lang="en-US" altLang="ru-RU" sz="1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ru-RU" altLang="ru-RU" sz="1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ru-RU" sz="1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ru-RU" altLang="ru-RU" sz="1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ru-RU" altLang="ru-RU" sz="1800" b="1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</a:t>
            </a:r>
            <a:r>
              <a:rPr lang="ru-RU" altLang="ru-RU" sz="1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 т.е. экстремум функции 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  при заданных ограничениях 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en-US" altLang="ru-RU" sz="1800" baseline="-300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j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)=0.</a:t>
            </a:r>
          </a:p>
        </p:txBody>
      </p:sp>
      <p:sp>
        <p:nvSpPr>
          <p:cNvPr id="31769" name="Rectangle 25">
            <a:extLst>
              <a:ext uri="{FF2B5EF4-FFF2-40B4-BE49-F238E27FC236}">
                <a16:creationId xmlns:a16="http://schemas.microsoft.com/office/drawing/2014/main" id="{788B2C8D-FF66-4002-A9B4-8632E0F0CD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31770" name="Rectangle 26">
            <a:extLst>
              <a:ext uri="{FF2B5EF4-FFF2-40B4-BE49-F238E27FC236}">
                <a16:creationId xmlns:a16="http://schemas.microsoft.com/office/drawing/2014/main" id="{0197C7F1-4F0C-41B8-B012-450CF85247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300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31771" name="Rectangle 27">
            <a:extLst>
              <a:ext uri="{FF2B5EF4-FFF2-40B4-BE49-F238E27FC236}">
                <a16:creationId xmlns:a16="http://schemas.microsoft.com/office/drawing/2014/main" id="{8D53B7AD-E61A-40D5-B628-BC430E2F17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31772" name="Object 28">
            <a:extLst>
              <a:ext uri="{FF2B5EF4-FFF2-40B4-BE49-F238E27FC236}">
                <a16:creationId xmlns:a16="http://schemas.microsoft.com/office/drawing/2014/main" id="{CBCABAD5-D1A4-4B40-9FDC-B0CF5690418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391400" y="2441576"/>
          <a:ext cx="865188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9" name="Формула" r:id="rId17" imgW="482391" imgH="241195" progId="Equation.3">
                  <p:embed/>
                </p:oleObj>
              </mc:Choice>
              <mc:Fallback>
                <p:oleObj name="Формула" r:id="rId17" imgW="482391" imgH="241195" progId="Equation.3">
                  <p:embed/>
                  <p:pic>
                    <p:nvPicPr>
                      <p:cNvPr id="31772" name="Object 28">
                        <a:extLst>
                          <a:ext uri="{FF2B5EF4-FFF2-40B4-BE49-F238E27FC236}">
                            <a16:creationId xmlns:a16="http://schemas.microsoft.com/office/drawing/2014/main" id="{CBCABAD5-D1A4-4B40-9FDC-B0CF5690418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91400" y="2441576"/>
                        <a:ext cx="865188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489204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DD517309-6C1A-40DA-85A9-00B452F1E71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Необходимые и достаточные условия существования экстремума функции.</a:t>
            </a:r>
          </a:p>
        </p:txBody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D520526A-4CD8-4934-8633-0BF0ADEC01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252360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32772" name="Rectangle 4">
            <a:extLst>
              <a:ext uri="{FF2B5EF4-FFF2-40B4-BE49-F238E27FC236}">
                <a16:creationId xmlns:a16="http://schemas.microsoft.com/office/drawing/2014/main" id="{71D31CE1-A3FD-4A39-AA83-68F05A4B09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51089" y="1557338"/>
            <a:ext cx="3759619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Метод множителей Лагранжа.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2773" name="Rectangle 5">
            <a:extLst>
              <a:ext uri="{FF2B5EF4-FFF2-40B4-BE49-F238E27FC236}">
                <a16:creationId xmlns:a16="http://schemas.microsoft.com/office/drawing/2014/main" id="{782796CE-A38C-4ACA-93AB-EF23A30B35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5188" y="1987550"/>
            <a:ext cx="5707062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Задачу можно переформулировать следующим образом.</a:t>
            </a:r>
          </a:p>
        </p:txBody>
      </p:sp>
      <p:sp>
        <p:nvSpPr>
          <p:cNvPr id="32774" name="Rectangle 6">
            <a:extLst>
              <a:ext uri="{FF2B5EF4-FFF2-40B4-BE49-F238E27FC236}">
                <a16:creationId xmlns:a16="http://schemas.microsoft.com/office/drawing/2014/main" id="{2BFE94E4-31AF-442D-80E5-6C893F3CD9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8213" y="2419350"/>
            <a:ext cx="1865312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Требуется найти:</a:t>
            </a:r>
          </a:p>
        </p:txBody>
      </p:sp>
      <p:sp>
        <p:nvSpPr>
          <p:cNvPr id="32775" name="Rectangle 7">
            <a:extLst>
              <a:ext uri="{FF2B5EF4-FFF2-40B4-BE49-F238E27FC236}">
                <a16:creationId xmlns:a16="http://schemas.microsoft.com/office/drawing/2014/main" id="{DAF14535-2E53-4822-95D7-47793C0FAF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295858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32776" name="Object 8">
            <a:extLst>
              <a:ext uri="{FF2B5EF4-FFF2-40B4-BE49-F238E27FC236}">
                <a16:creationId xmlns:a16="http://schemas.microsoft.com/office/drawing/2014/main" id="{FE2C307C-8E3F-491B-BC27-71DA28A648C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367214" y="2276476"/>
          <a:ext cx="2879725" cy="842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6" name="Формула" r:id="rId3" imgW="1587500" imgH="508000" progId="Equation.3">
                  <p:embed/>
                </p:oleObj>
              </mc:Choice>
              <mc:Fallback>
                <p:oleObj name="Формула" r:id="rId3" imgW="1587500" imgH="508000" progId="Equation.3">
                  <p:embed/>
                  <p:pic>
                    <p:nvPicPr>
                      <p:cNvPr id="32776" name="Object 8">
                        <a:extLst>
                          <a:ext uri="{FF2B5EF4-FFF2-40B4-BE49-F238E27FC236}">
                            <a16:creationId xmlns:a16="http://schemas.microsoft.com/office/drawing/2014/main" id="{FE2C307C-8E3F-491B-BC27-71DA28A648C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67214" y="2276476"/>
                        <a:ext cx="2879725" cy="842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77" name="Rectangle 9">
            <a:extLst>
              <a:ext uri="{FF2B5EF4-FFF2-40B4-BE49-F238E27FC236}">
                <a16:creationId xmlns:a16="http://schemas.microsoft.com/office/drawing/2014/main" id="{ADCE17AC-A63F-4163-9C07-2C6CABC89F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5188" y="3067050"/>
            <a:ext cx="6627812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Тогда решение задачи состоит в совместном решении уравнений:</a:t>
            </a:r>
          </a:p>
        </p:txBody>
      </p:sp>
      <p:sp>
        <p:nvSpPr>
          <p:cNvPr id="32778" name="Rectangle 10">
            <a:extLst>
              <a:ext uri="{FF2B5EF4-FFF2-40B4-BE49-F238E27FC236}">
                <a16:creationId xmlns:a16="http://schemas.microsoft.com/office/drawing/2014/main" id="{1ECCE2C6-DC2A-4241-B462-B550BD3BA1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27871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32779" name="Rectangle 11">
            <a:extLst>
              <a:ext uri="{FF2B5EF4-FFF2-40B4-BE49-F238E27FC236}">
                <a16:creationId xmlns:a16="http://schemas.microsoft.com/office/drawing/2014/main" id="{F9AEA2A1-B1AD-4F9E-9F32-2A5CF6B353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11675" y="3859214"/>
            <a:ext cx="5086350" cy="369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/>
              <a:t> 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Составляются и решаются 2 системы уравнений:</a:t>
            </a:r>
          </a:p>
        </p:txBody>
      </p:sp>
      <p:sp>
        <p:nvSpPr>
          <p:cNvPr id="32780" name="Rectangle 12">
            <a:extLst>
              <a:ext uri="{FF2B5EF4-FFF2-40B4-BE49-F238E27FC236}">
                <a16:creationId xmlns:a16="http://schemas.microsoft.com/office/drawing/2014/main" id="{E5187D75-1540-4FFE-A705-84B62F8CA1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287920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32781" name="Object 13">
            <a:extLst>
              <a:ext uri="{FF2B5EF4-FFF2-40B4-BE49-F238E27FC236}">
                <a16:creationId xmlns:a16="http://schemas.microsoft.com/office/drawing/2014/main" id="{F272444D-612A-4CD7-A086-F6EC1746B36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72038" y="4284663"/>
          <a:ext cx="4392612" cy="142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7" name="Формула" r:id="rId5" imgW="2247900" imgH="736600" progId="Equation.3">
                  <p:embed/>
                </p:oleObj>
              </mc:Choice>
              <mc:Fallback>
                <p:oleObj name="Формула" r:id="rId5" imgW="2247900" imgH="736600" progId="Equation.3">
                  <p:embed/>
                  <p:pic>
                    <p:nvPicPr>
                      <p:cNvPr id="32781" name="Object 13">
                        <a:extLst>
                          <a:ext uri="{FF2B5EF4-FFF2-40B4-BE49-F238E27FC236}">
                            <a16:creationId xmlns:a16="http://schemas.microsoft.com/office/drawing/2014/main" id="{F272444D-612A-4CD7-A086-F6EC1746B36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2038" y="4284663"/>
                        <a:ext cx="4392612" cy="142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82" name="Object 14">
            <a:extLst>
              <a:ext uri="{FF2B5EF4-FFF2-40B4-BE49-F238E27FC236}">
                <a16:creationId xmlns:a16="http://schemas.microsoft.com/office/drawing/2014/main" id="{E3EA87FC-48BB-4B8E-B778-D943EFFA0329}"/>
              </a:ext>
            </a:extLst>
          </p:cNvPr>
          <p:cNvGraphicFramePr>
            <a:graphicFrameLocks noGrp="1" noChangeAspect="1"/>
          </p:cNvGraphicFramePr>
          <p:nvPr>
            <p:ph idx="1"/>
          </p:nvPr>
        </p:nvGraphicFramePr>
        <p:xfrm>
          <a:off x="2063750" y="3554413"/>
          <a:ext cx="2592388" cy="165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8" name="Формула" r:id="rId7" imgW="1435100" imgH="914400" progId="Equation.3">
                  <p:embed/>
                </p:oleObj>
              </mc:Choice>
              <mc:Fallback>
                <p:oleObj name="Формула" r:id="rId7" imgW="1435100" imgH="914400" progId="Equation.3">
                  <p:embed/>
                  <p:pic>
                    <p:nvPicPr>
                      <p:cNvPr id="32782" name="Object 14">
                        <a:extLst>
                          <a:ext uri="{FF2B5EF4-FFF2-40B4-BE49-F238E27FC236}">
                            <a16:creationId xmlns:a16="http://schemas.microsoft.com/office/drawing/2014/main" id="{E3EA87FC-48BB-4B8E-B778-D943EFFA032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3750" y="3554413"/>
                        <a:ext cx="2592388" cy="165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092935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5DB61493-CC42-473B-BFF4-3BB9A7701C0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Необходимые и достаточные условия существования экстремума функции.</a:t>
            </a:r>
          </a:p>
        </p:txBody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B824BAD8-3797-4CD2-B9D1-C72CDB34713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92313" y="1628776"/>
            <a:ext cx="8229600" cy="4525963"/>
          </a:xfrm>
        </p:spPr>
        <p:txBody>
          <a:bodyPr/>
          <a:lstStyle/>
          <a:p>
            <a:pPr>
              <a:buFontTx/>
              <a:buNone/>
            </a:pPr>
            <a:r>
              <a:rPr lang="ru-RU" alt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Область применения классического метода множителей Лагранжа.</a:t>
            </a:r>
          </a:p>
        </p:txBody>
      </p:sp>
      <p:sp>
        <p:nvSpPr>
          <p:cNvPr id="33796" name="Rectangle 4">
            <a:extLst>
              <a:ext uri="{FF2B5EF4-FFF2-40B4-BE49-F238E27FC236}">
                <a16:creationId xmlns:a16="http://schemas.microsoft.com/office/drawing/2014/main" id="{5DBDE855-91B6-4FBC-AC90-03F02DF785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2313" y="2484438"/>
            <a:ext cx="8064500" cy="646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Задача поиска экстремума методами классического математического анализа связана с удовлетворением следующих условий, накладываемых на функции:</a:t>
            </a:r>
          </a:p>
        </p:txBody>
      </p:sp>
      <p:sp>
        <p:nvSpPr>
          <p:cNvPr id="33797" name="Rectangle 5">
            <a:extLst>
              <a:ext uri="{FF2B5EF4-FFF2-40B4-BE49-F238E27FC236}">
                <a16:creationId xmlns:a16="http://schemas.microsoft.com/office/drawing/2014/main" id="{EA9F6982-6C48-4368-B590-DA12FE7548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28814" y="3244850"/>
            <a:ext cx="7723187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1.Целевая функция </a:t>
            </a:r>
            <a:r>
              <a:rPr lang="en-US" altLang="ru-RU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ru-RU" altLang="ru-RU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ru-RU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ru-RU" altLang="ru-RU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 должна быть выпуклой (в случае поиска минимума).</a:t>
            </a:r>
          </a:p>
        </p:txBody>
      </p:sp>
      <p:sp>
        <p:nvSpPr>
          <p:cNvPr id="33798" name="Rectangle 6">
            <a:extLst>
              <a:ext uri="{FF2B5EF4-FFF2-40B4-BE49-F238E27FC236}">
                <a16:creationId xmlns:a16="http://schemas.microsoft.com/office/drawing/2014/main" id="{B1AC3755-6B6D-45C9-B338-9F28E91F4F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2313" y="3644900"/>
            <a:ext cx="8189912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2.Функции ограничений </a:t>
            </a:r>
            <a:r>
              <a:rPr lang="en-US" altLang="ru-RU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gj</a:t>
            </a:r>
            <a:r>
              <a:rPr lang="ru-RU" altLang="ru-RU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ru-RU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ru-RU" altLang="ru-RU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должны быть вогнутыми или выпуклыми функциями.</a:t>
            </a:r>
          </a:p>
        </p:txBody>
      </p:sp>
      <p:sp>
        <p:nvSpPr>
          <p:cNvPr id="33799" name="Rectangle 7">
            <a:extLst>
              <a:ext uri="{FF2B5EF4-FFF2-40B4-BE49-F238E27FC236}">
                <a16:creationId xmlns:a16="http://schemas.microsoft.com/office/drawing/2014/main" id="{DCCA3664-46B1-432C-9ED1-90058CE3A4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2314" y="4364039"/>
            <a:ext cx="4714875" cy="369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3.Ограничения </a:t>
            </a:r>
            <a:r>
              <a:rPr lang="en-US" altLang="ru-RU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gj</a:t>
            </a:r>
            <a:r>
              <a:rPr lang="ru-RU" altLang="ru-RU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ru-RU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ru-RU" altLang="ru-RU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) = 0 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только типа равенств.</a:t>
            </a:r>
          </a:p>
        </p:txBody>
      </p:sp>
      <p:sp>
        <p:nvSpPr>
          <p:cNvPr id="33800" name="Rectangle 8">
            <a:extLst>
              <a:ext uri="{FF2B5EF4-FFF2-40B4-BE49-F238E27FC236}">
                <a16:creationId xmlns:a16="http://schemas.microsoft.com/office/drawing/2014/main" id="{2DB3AF35-4D71-41DC-A69A-0DF452374B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9289" y="4805363"/>
            <a:ext cx="856932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Последнее условие связано с тем, что если 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gj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) &lt; 0, то классический метод множителей Лагранжа не дает единственного решения </a:t>
            </a:r>
          </a:p>
        </p:txBody>
      </p:sp>
      <p:sp>
        <p:nvSpPr>
          <p:cNvPr id="33801" name="Rectangle 9">
            <a:extLst>
              <a:ext uri="{FF2B5EF4-FFF2-40B4-BE49-F238E27FC236}">
                <a16:creationId xmlns:a16="http://schemas.microsoft.com/office/drawing/2014/main" id="{1FAD50FC-C6B4-445A-96D8-65FF1695C3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33802" name="Object 10">
            <a:extLst>
              <a:ext uri="{FF2B5EF4-FFF2-40B4-BE49-F238E27FC236}">
                <a16:creationId xmlns:a16="http://schemas.microsoft.com/office/drawing/2014/main" id="{556D0D42-F9B6-46FC-BE86-D4EA70B8FA5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464425" y="5060950"/>
          <a:ext cx="2376488" cy="471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2" name="Формула" r:id="rId3" imgW="1155700" imgH="228600" progId="Equation.3">
                  <p:embed/>
                </p:oleObj>
              </mc:Choice>
              <mc:Fallback>
                <p:oleObj name="Формула" r:id="rId3" imgW="1155700" imgH="228600" progId="Equation.3">
                  <p:embed/>
                  <p:pic>
                    <p:nvPicPr>
                      <p:cNvPr id="33802" name="Object 10">
                        <a:extLst>
                          <a:ext uri="{FF2B5EF4-FFF2-40B4-BE49-F238E27FC236}">
                            <a16:creationId xmlns:a16="http://schemas.microsoft.com/office/drawing/2014/main" id="{556D0D42-F9B6-46FC-BE86-D4EA70B8FA5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64425" y="5060950"/>
                        <a:ext cx="2376488" cy="471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803" name="Rectangle 11">
            <a:extLst>
              <a:ext uri="{FF2B5EF4-FFF2-40B4-BE49-F238E27FC236}">
                <a16:creationId xmlns:a16="http://schemas.microsoft.com/office/drawing/2014/main" id="{7D534FD5-EE84-4841-9868-6E4AB0850A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2313" y="5443539"/>
            <a:ext cx="3136900" cy="369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и, следовательно, не работает.</a:t>
            </a:r>
          </a:p>
        </p:txBody>
      </p:sp>
    </p:spTree>
    <p:extLst>
      <p:ext uri="{BB962C8B-B14F-4D97-AF65-F5344CB8AC3E}">
        <p14:creationId xmlns:p14="http://schemas.microsoft.com/office/powerpoint/2010/main" val="21424877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CCBB3596-BA80-441E-9F4C-9F9842D7BCD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838200" indent="-838200"/>
            <a:r>
              <a:rPr lang="ru-RU" alt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Задачи выпуклого программирования</a:t>
            </a:r>
            <a:endParaRPr lang="ru-RU" altLang="ru-RU" sz="3200" b="1" i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819" name="Rectangle 3">
            <a:extLst>
              <a:ext uri="{FF2B5EF4-FFF2-40B4-BE49-F238E27FC236}">
                <a16:creationId xmlns:a16="http://schemas.microsoft.com/office/drawing/2014/main" id="{F3E0D0FF-13F2-4C88-B769-8AEDA96425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34820" name="Object 4">
            <a:extLst>
              <a:ext uri="{FF2B5EF4-FFF2-40B4-BE49-F238E27FC236}">
                <a16:creationId xmlns:a16="http://schemas.microsoft.com/office/drawing/2014/main" id="{91D674E1-3FDC-440E-918C-83A2719018E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09700" y="2957514"/>
          <a:ext cx="114300" cy="212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34" name="Формула" r:id="rId3" imgW="114151" imgH="215619" progId="Equation.3">
                  <p:embed/>
                </p:oleObj>
              </mc:Choice>
              <mc:Fallback>
                <p:oleObj name="Формула" r:id="rId3" imgW="114151" imgH="215619" progId="Equation.3">
                  <p:embed/>
                  <p:pic>
                    <p:nvPicPr>
                      <p:cNvPr id="34820" name="Object 4">
                        <a:extLst>
                          <a:ext uri="{FF2B5EF4-FFF2-40B4-BE49-F238E27FC236}">
                            <a16:creationId xmlns:a16="http://schemas.microsoft.com/office/drawing/2014/main" id="{91D674E1-3FDC-440E-918C-83A2719018E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9700" y="2957514"/>
                        <a:ext cx="114300" cy="212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21" name="Rectangle 5">
            <a:extLst>
              <a:ext uri="{FF2B5EF4-FFF2-40B4-BE49-F238E27FC236}">
                <a16:creationId xmlns:a16="http://schemas.microsoft.com/office/drawing/2014/main" id="{F4815095-8376-45A9-BE91-07C86E9159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0284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34822" name="Rectangle 6">
            <a:extLst>
              <a:ext uri="{FF2B5EF4-FFF2-40B4-BE49-F238E27FC236}">
                <a16:creationId xmlns:a16="http://schemas.microsoft.com/office/drawing/2014/main" id="{CE83F791-5489-48F7-97BE-29E3E37CB3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3926" y="166000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34823" name="Rectangle 7">
            <a:extLst>
              <a:ext uri="{FF2B5EF4-FFF2-40B4-BE49-F238E27FC236}">
                <a16:creationId xmlns:a16="http://schemas.microsoft.com/office/drawing/2014/main" id="{21C755DD-7354-4B96-9326-8E4FDCFFF5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411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34824" name="Rectangle 8">
            <a:extLst>
              <a:ext uri="{FF2B5EF4-FFF2-40B4-BE49-F238E27FC236}">
                <a16:creationId xmlns:a16="http://schemas.microsoft.com/office/drawing/2014/main" id="{AECFFE1F-C64F-4ED7-BB6D-B9AAA39BDB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411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34825" name="Rectangle 9">
            <a:extLst>
              <a:ext uri="{FF2B5EF4-FFF2-40B4-BE49-F238E27FC236}">
                <a16:creationId xmlns:a16="http://schemas.microsoft.com/office/drawing/2014/main" id="{89C63FD5-2BE0-4375-A80A-B7EE50C541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09669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34826" name="Rectangle 10">
            <a:extLst>
              <a:ext uri="{FF2B5EF4-FFF2-40B4-BE49-F238E27FC236}">
                <a16:creationId xmlns:a16="http://schemas.microsoft.com/office/drawing/2014/main" id="{AD947827-873A-4587-A049-86DD1F9034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-757238" y="317289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34827" name="Rectangle 11">
            <a:extLst>
              <a:ext uri="{FF2B5EF4-FFF2-40B4-BE49-F238E27FC236}">
                <a16:creationId xmlns:a16="http://schemas.microsoft.com/office/drawing/2014/main" id="{AA62C05F-FD7C-4186-9437-B7CEF90A16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7289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34828" name="Rectangle 12">
            <a:extLst>
              <a:ext uri="{FF2B5EF4-FFF2-40B4-BE49-F238E27FC236}">
                <a16:creationId xmlns:a16="http://schemas.microsoft.com/office/drawing/2014/main" id="{47A0F4DA-23EE-4F94-B276-22F39F5578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09669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34829" name="Rectangle 13">
            <a:extLst>
              <a:ext uri="{FF2B5EF4-FFF2-40B4-BE49-F238E27FC236}">
                <a16:creationId xmlns:a16="http://schemas.microsoft.com/office/drawing/2014/main" id="{44B40A86-3A70-46A9-88C1-52AE1E07CC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7289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34830" name="Rectangle 14">
            <a:extLst>
              <a:ext uri="{FF2B5EF4-FFF2-40B4-BE49-F238E27FC236}">
                <a16:creationId xmlns:a16="http://schemas.microsoft.com/office/drawing/2014/main" id="{3168B79A-405D-4DA8-AEC0-017C8BC618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0376" y="1641129"/>
            <a:ext cx="345299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2400" b="1" dirty="0"/>
              <a:t> </a:t>
            </a:r>
            <a:r>
              <a:rPr lang="ru-RU" alt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Формулировка задачи </a:t>
            </a:r>
          </a:p>
        </p:txBody>
      </p:sp>
      <p:sp>
        <p:nvSpPr>
          <p:cNvPr id="34831" name="Rectangle 15">
            <a:extLst>
              <a:ext uri="{FF2B5EF4-FFF2-40B4-BE49-F238E27FC236}">
                <a16:creationId xmlns:a16="http://schemas.microsoft.com/office/drawing/2014/main" id="{52A3EF34-54DD-4CD4-B7D1-0134513860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09987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34832" name="Rectangle 16">
            <a:extLst>
              <a:ext uri="{FF2B5EF4-FFF2-40B4-BE49-F238E27FC236}">
                <a16:creationId xmlns:a16="http://schemas.microsoft.com/office/drawing/2014/main" id="{50A7804E-2033-408D-AE6E-4865B2B8D4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273950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34833" name="Rectangle 17">
            <a:extLst>
              <a:ext uri="{FF2B5EF4-FFF2-40B4-BE49-F238E27FC236}">
                <a16:creationId xmlns:a16="http://schemas.microsoft.com/office/drawing/2014/main" id="{CA6795FF-F39B-477B-983A-EED098889F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676650"/>
            <a:ext cx="227013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200">
                <a:cs typeface="Times New Roman" panose="02020603050405020304" pitchFamily="18" charset="0"/>
              </a:rPr>
              <a:t>.</a:t>
            </a:r>
            <a:endParaRPr lang="ru-RU" altLang="ru-RU" sz="1800"/>
          </a:p>
        </p:txBody>
      </p:sp>
      <p:sp>
        <p:nvSpPr>
          <p:cNvPr id="34834" name="Rectangle 18">
            <a:extLst>
              <a:ext uri="{FF2B5EF4-FFF2-40B4-BE49-F238E27FC236}">
                <a16:creationId xmlns:a16="http://schemas.microsoft.com/office/drawing/2014/main" id="{CED1F1E3-2CCC-42E6-8D4B-2556597DC0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273950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34835" name="Rectangle 19">
            <a:extLst>
              <a:ext uri="{FF2B5EF4-FFF2-40B4-BE49-F238E27FC236}">
                <a16:creationId xmlns:a16="http://schemas.microsoft.com/office/drawing/2014/main" id="{DA96D82C-C821-4984-9D99-4678426A98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7289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34836" name="Rectangle 20">
            <a:extLst>
              <a:ext uri="{FF2B5EF4-FFF2-40B4-BE49-F238E27FC236}">
                <a16:creationId xmlns:a16="http://schemas.microsoft.com/office/drawing/2014/main" id="{8CB73EAA-DF55-404B-B6EA-4C9C53EDF1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51538" y="3284538"/>
            <a:ext cx="311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cs typeface="Times New Roman" panose="02020603050405020304" pitchFamily="18" charset="0"/>
              </a:rPr>
              <a:t>,</a:t>
            </a:r>
            <a:r>
              <a:rPr lang="ru-RU" altLang="ru-RU" sz="1800"/>
              <a:t> </a:t>
            </a:r>
          </a:p>
        </p:txBody>
      </p:sp>
      <p:sp>
        <p:nvSpPr>
          <p:cNvPr id="34837" name="Rectangle 21">
            <a:extLst>
              <a:ext uri="{FF2B5EF4-FFF2-40B4-BE49-F238E27FC236}">
                <a16:creationId xmlns:a16="http://schemas.microsoft.com/office/drawing/2014/main" id="{14773C1A-90A3-40B1-80A7-E48CDDD498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08663" y="3068638"/>
            <a:ext cx="311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/>
              <a:t>, </a:t>
            </a:r>
          </a:p>
        </p:txBody>
      </p:sp>
      <p:sp>
        <p:nvSpPr>
          <p:cNvPr id="34838" name="Rectangle 22">
            <a:extLst>
              <a:ext uri="{FF2B5EF4-FFF2-40B4-BE49-F238E27FC236}">
                <a16:creationId xmlns:a16="http://schemas.microsoft.com/office/drawing/2014/main" id="{0456594B-90D9-401D-81D3-86D9E2586A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91175" y="2708276"/>
            <a:ext cx="311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cs typeface="Times New Roman" panose="02020603050405020304" pitchFamily="18" charset="0"/>
              </a:rPr>
              <a:t>,</a:t>
            </a:r>
            <a:r>
              <a:rPr lang="ru-RU" altLang="ru-RU" sz="1800"/>
              <a:t> </a:t>
            </a:r>
          </a:p>
        </p:txBody>
      </p:sp>
      <p:sp>
        <p:nvSpPr>
          <p:cNvPr id="34839" name="Rectangle 23">
            <a:extLst>
              <a:ext uri="{FF2B5EF4-FFF2-40B4-BE49-F238E27FC236}">
                <a16:creationId xmlns:a16="http://schemas.microsoft.com/office/drawing/2014/main" id="{6B2C7049-EB62-4FFE-BFD6-FB91C9A7DD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08663" y="2420938"/>
            <a:ext cx="311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cs typeface="Times New Roman" panose="02020603050405020304" pitchFamily="18" charset="0"/>
              </a:rPr>
              <a:t>,</a:t>
            </a:r>
            <a:r>
              <a:rPr lang="ru-RU" altLang="ru-RU" sz="1800"/>
              <a:t> </a:t>
            </a:r>
          </a:p>
        </p:txBody>
      </p:sp>
      <p:sp>
        <p:nvSpPr>
          <p:cNvPr id="34840" name="Rectangle 24">
            <a:extLst>
              <a:ext uri="{FF2B5EF4-FFF2-40B4-BE49-F238E27FC236}">
                <a16:creationId xmlns:a16="http://schemas.microsoft.com/office/drawing/2014/main" id="{F3416B9D-DBE2-4389-B915-0D0787DF14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09987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34841" name="Rectangle 25">
            <a:extLst>
              <a:ext uri="{FF2B5EF4-FFF2-40B4-BE49-F238E27FC236}">
                <a16:creationId xmlns:a16="http://schemas.microsoft.com/office/drawing/2014/main" id="{C1486A2D-C744-43BA-9879-13CE7CED7B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157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34842" name="Rectangle 26">
            <a:extLst>
              <a:ext uri="{FF2B5EF4-FFF2-40B4-BE49-F238E27FC236}">
                <a16:creationId xmlns:a16="http://schemas.microsoft.com/office/drawing/2014/main" id="{A92F2140-F4CD-44AF-907B-D4617ECA75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2314" y="2349501"/>
            <a:ext cx="105568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Пусть </a:t>
            </a:r>
            <a:r>
              <a:rPr lang="en-US" altLang="ru-RU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ru-RU" altLang="ru-RU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4843" name="Rectangle 27">
            <a:extLst>
              <a:ext uri="{FF2B5EF4-FFF2-40B4-BE49-F238E27FC236}">
                <a16:creationId xmlns:a16="http://schemas.microsoft.com/office/drawing/2014/main" id="{00A53FBF-9079-4056-9AD1-E2433308E7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09987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34844" name="Object 28">
            <a:extLst>
              <a:ext uri="{FF2B5EF4-FFF2-40B4-BE49-F238E27FC236}">
                <a16:creationId xmlns:a16="http://schemas.microsoft.com/office/drawing/2014/main" id="{F8662295-15F0-4A4F-A309-3E16F0E300B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00375" y="2349501"/>
          <a:ext cx="2808288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35" name="Формула" r:id="rId5" imgW="1498600" imgH="228600" progId="Equation.3">
                  <p:embed/>
                </p:oleObj>
              </mc:Choice>
              <mc:Fallback>
                <p:oleObj name="Формула" r:id="rId5" imgW="1498600" imgH="228600" progId="Equation.3">
                  <p:embed/>
                  <p:pic>
                    <p:nvPicPr>
                      <p:cNvPr id="34844" name="Object 28">
                        <a:extLst>
                          <a:ext uri="{FF2B5EF4-FFF2-40B4-BE49-F238E27FC236}">
                            <a16:creationId xmlns:a16="http://schemas.microsoft.com/office/drawing/2014/main" id="{F8662295-15F0-4A4F-A309-3E16F0E300B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0375" y="2349501"/>
                        <a:ext cx="2808288" cy="428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45" name="Rectangle 29">
            <a:extLst>
              <a:ext uri="{FF2B5EF4-FFF2-40B4-BE49-F238E27FC236}">
                <a16:creationId xmlns:a16="http://schemas.microsoft.com/office/drawing/2014/main" id="{9AAF7B2F-3E4E-4B5F-8275-FA58E10E88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38879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34846" name="Rectangle 30">
            <a:extLst>
              <a:ext uri="{FF2B5EF4-FFF2-40B4-BE49-F238E27FC236}">
                <a16:creationId xmlns:a16="http://schemas.microsoft.com/office/drawing/2014/main" id="{B9242C92-4915-43F4-9918-7861D9EBAA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09987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34847" name="Object 31">
            <a:extLst>
              <a:ext uri="{FF2B5EF4-FFF2-40B4-BE49-F238E27FC236}">
                <a16:creationId xmlns:a16="http://schemas.microsoft.com/office/drawing/2014/main" id="{6654BB7F-CF6F-47A7-8B6F-4071CF7C732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00375" y="2708276"/>
          <a:ext cx="2520950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36" name="Формула" r:id="rId7" imgW="1549400" imgH="228600" progId="Equation.3">
                  <p:embed/>
                </p:oleObj>
              </mc:Choice>
              <mc:Fallback>
                <p:oleObj name="Формула" r:id="rId7" imgW="1549400" imgH="228600" progId="Equation.3">
                  <p:embed/>
                  <p:pic>
                    <p:nvPicPr>
                      <p:cNvPr id="34847" name="Object 31">
                        <a:extLst>
                          <a:ext uri="{FF2B5EF4-FFF2-40B4-BE49-F238E27FC236}">
                            <a16:creationId xmlns:a16="http://schemas.microsoft.com/office/drawing/2014/main" id="{6654BB7F-CF6F-47A7-8B6F-4071CF7C732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0375" y="2708276"/>
                        <a:ext cx="2520950" cy="371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48" name="Rectangle 32">
            <a:extLst>
              <a:ext uri="{FF2B5EF4-FFF2-40B4-BE49-F238E27FC236}">
                <a16:creationId xmlns:a16="http://schemas.microsoft.com/office/drawing/2014/main" id="{BEB3BF42-AD4D-49B2-A0C6-88455563D4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66989" y="2706688"/>
            <a:ext cx="5048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/>
              <a:t> </a:t>
            </a:r>
            <a:r>
              <a:rPr lang="en-US" altLang="ru-RU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ru-RU" altLang="ru-RU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ru-RU" altLang="ru-RU" sz="1800"/>
              <a:t> </a:t>
            </a:r>
          </a:p>
        </p:txBody>
      </p:sp>
      <p:sp>
        <p:nvSpPr>
          <p:cNvPr id="34849" name="Rectangle 33">
            <a:extLst>
              <a:ext uri="{FF2B5EF4-FFF2-40B4-BE49-F238E27FC236}">
                <a16:creationId xmlns:a16="http://schemas.microsoft.com/office/drawing/2014/main" id="{626F8F8D-D6E5-41E3-8432-05B416B7D9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34850" name="Object 34">
            <a:extLst>
              <a:ext uri="{FF2B5EF4-FFF2-40B4-BE49-F238E27FC236}">
                <a16:creationId xmlns:a16="http://schemas.microsoft.com/office/drawing/2014/main" id="{A327CBC1-0586-4099-B235-09D4E1797D5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11451" y="3068638"/>
          <a:ext cx="3097213" cy="38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37" name="Формула" r:id="rId9" imgW="1828800" imgH="228600" progId="Equation.3">
                  <p:embed/>
                </p:oleObj>
              </mc:Choice>
              <mc:Fallback>
                <p:oleObj name="Формула" r:id="rId9" imgW="1828800" imgH="228600" progId="Equation.3">
                  <p:embed/>
                  <p:pic>
                    <p:nvPicPr>
                      <p:cNvPr id="34850" name="Object 34">
                        <a:extLst>
                          <a:ext uri="{FF2B5EF4-FFF2-40B4-BE49-F238E27FC236}">
                            <a16:creationId xmlns:a16="http://schemas.microsoft.com/office/drawing/2014/main" id="{A327CBC1-0586-4099-B235-09D4E1797D5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1451" y="3068638"/>
                        <a:ext cx="3097213" cy="387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51" name="Rectangle 35">
            <a:extLst>
              <a:ext uri="{FF2B5EF4-FFF2-40B4-BE49-F238E27FC236}">
                <a16:creationId xmlns:a16="http://schemas.microsoft.com/office/drawing/2014/main" id="{47EF2C5B-388A-48E1-9983-2991C01599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34852" name="Object 36">
            <a:extLst>
              <a:ext uri="{FF2B5EF4-FFF2-40B4-BE49-F238E27FC236}">
                <a16:creationId xmlns:a16="http://schemas.microsoft.com/office/drawing/2014/main" id="{33703B15-2CC6-4FAC-AB15-5E7EB22BAF9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51088" y="3429000"/>
          <a:ext cx="3960812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38" name="Формула" r:id="rId11" imgW="2019300" imgH="241300" progId="Equation.3">
                  <p:embed/>
                </p:oleObj>
              </mc:Choice>
              <mc:Fallback>
                <p:oleObj name="Формула" r:id="rId11" imgW="2019300" imgH="241300" progId="Equation.3">
                  <p:embed/>
                  <p:pic>
                    <p:nvPicPr>
                      <p:cNvPr id="34852" name="Object 36">
                        <a:extLst>
                          <a:ext uri="{FF2B5EF4-FFF2-40B4-BE49-F238E27FC236}">
                            <a16:creationId xmlns:a16="http://schemas.microsoft.com/office/drawing/2014/main" id="{33703B15-2CC6-4FAC-AB15-5E7EB22BAF9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1088" y="3429000"/>
                        <a:ext cx="3960812" cy="42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53" name="Rectangle 37">
            <a:extLst>
              <a:ext uri="{FF2B5EF4-FFF2-40B4-BE49-F238E27FC236}">
                <a16:creationId xmlns:a16="http://schemas.microsoft.com/office/drawing/2014/main" id="{4F9A87BA-A806-41DD-9272-14E2450542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2685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34854" name="Object 38">
            <a:extLst>
              <a:ext uri="{FF2B5EF4-FFF2-40B4-BE49-F238E27FC236}">
                <a16:creationId xmlns:a16="http://schemas.microsoft.com/office/drawing/2014/main" id="{95E0DA9B-7FA9-4CCA-B2F1-47C411253E3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51088" y="3859214"/>
          <a:ext cx="1873250" cy="382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39" name="Формула" r:id="rId13" imgW="1155700" imgH="241300" progId="Equation.3">
                  <p:embed/>
                </p:oleObj>
              </mc:Choice>
              <mc:Fallback>
                <p:oleObj name="Формула" r:id="rId13" imgW="1155700" imgH="241300" progId="Equation.3">
                  <p:embed/>
                  <p:pic>
                    <p:nvPicPr>
                      <p:cNvPr id="34854" name="Object 38">
                        <a:extLst>
                          <a:ext uri="{FF2B5EF4-FFF2-40B4-BE49-F238E27FC236}">
                            <a16:creationId xmlns:a16="http://schemas.microsoft.com/office/drawing/2014/main" id="{95E0DA9B-7FA9-4CCA-B2F1-47C411253E3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1088" y="3859214"/>
                        <a:ext cx="1873250" cy="382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55" name="Rectangle 39">
            <a:extLst>
              <a:ext uri="{FF2B5EF4-FFF2-40B4-BE49-F238E27FC236}">
                <a16:creationId xmlns:a16="http://schemas.microsoft.com/office/drawing/2014/main" id="{FB8A3DF2-F8E3-48A0-8A45-A56FF447B4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29887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34856" name="Rectangle 40">
            <a:extLst>
              <a:ext uri="{FF2B5EF4-FFF2-40B4-BE49-F238E27FC236}">
                <a16:creationId xmlns:a16="http://schemas.microsoft.com/office/drawing/2014/main" id="{84D0293E-3004-4E54-ADED-3A0FD49414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4339" y="3860801"/>
            <a:ext cx="345598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– ограничения типа равенств.</a:t>
            </a:r>
          </a:p>
        </p:txBody>
      </p:sp>
      <p:sp>
        <p:nvSpPr>
          <p:cNvPr id="34857" name="Rectangle 41">
            <a:extLst>
              <a:ext uri="{FF2B5EF4-FFF2-40B4-BE49-F238E27FC236}">
                <a16:creationId xmlns:a16="http://schemas.microsoft.com/office/drawing/2014/main" id="{78F5A012-9347-4D99-A57C-62FEEB5063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2443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34858" name="Object 42">
            <a:extLst>
              <a:ext uri="{FF2B5EF4-FFF2-40B4-BE49-F238E27FC236}">
                <a16:creationId xmlns:a16="http://schemas.microsoft.com/office/drawing/2014/main" id="{8476E3D9-936C-44E1-87FE-27F277EE5B7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51089" y="4221163"/>
          <a:ext cx="2166937" cy="354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40" name="Формула" r:id="rId15" imgW="1447800" imgH="241300" progId="Equation.3">
                  <p:embed/>
                </p:oleObj>
              </mc:Choice>
              <mc:Fallback>
                <p:oleObj name="Формула" r:id="rId15" imgW="1447800" imgH="241300" progId="Equation.3">
                  <p:embed/>
                  <p:pic>
                    <p:nvPicPr>
                      <p:cNvPr id="34858" name="Object 42">
                        <a:extLst>
                          <a:ext uri="{FF2B5EF4-FFF2-40B4-BE49-F238E27FC236}">
                            <a16:creationId xmlns:a16="http://schemas.microsoft.com/office/drawing/2014/main" id="{8476E3D9-936C-44E1-87FE-27F277EE5B7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1089" y="4221163"/>
                        <a:ext cx="2166937" cy="354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59" name="Rectangle 43">
            <a:extLst>
              <a:ext uri="{FF2B5EF4-FFF2-40B4-BE49-F238E27FC236}">
                <a16:creationId xmlns:a16="http://schemas.microsoft.com/office/drawing/2014/main" id="{AA895E22-DCAD-4CDD-849F-7E624ECA63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0238" y="4219853"/>
            <a:ext cx="331719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</a:rPr>
              <a:t>– ограничения типа неравенств.</a:t>
            </a:r>
          </a:p>
        </p:txBody>
      </p:sp>
      <p:sp>
        <p:nvSpPr>
          <p:cNvPr id="34860" name="Rectangle 44">
            <a:extLst>
              <a:ext uri="{FF2B5EF4-FFF2-40B4-BE49-F238E27FC236}">
                <a16:creationId xmlns:a16="http://schemas.microsoft.com/office/drawing/2014/main" id="{71CFFD39-7B4B-4627-8982-9D838696A4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87600" y="4660901"/>
            <a:ext cx="3600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Обозначим множество индексов: </a:t>
            </a:r>
          </a:p>
        </p:txBody>
      </p:sp>
      <p:sp>
        <p:nvSpPr>
          <p:cNvPr id="34861" name="Rectangle 45">
            <a:extLst>
              <a:ext uri="{FF2B5EF4-FFF2-40B4-BE49-F238E27FC236}">
                <a16:creationId xmlns:a16="http://schemas.microsoft.com/office/drawing/2014/main" id="{D094CED0-FD18-498B-AECE-C206D6C98E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09987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34862" name="Object 46">
            <a:extLst>
              <a:ext uri="{FF2B5EF4-FFF2-40B4-BE49-F238E27FC236}">
                <a16:creationId xmlns:a16="http://schemas.microsoft.com/office/drawing/2014/main" id="{7F8F5C8B-8F89-4D1B-860A-CDEAF35485E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46750" y="4722813"/>
          <a:ext cx="1873250" cy="33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41" name="Формула" r:id="rId17" imgW="1231366" imgH="215806" progId="Equation.3">
                  <p:embed/>
                </p:oleObj>
              </mc:Choice>
              <mc:Fallback>
                <p:oleObj name="Формула" r:id="rId17" imgW="1231366" imgH="215806" progId="Equation.3">
                  <p:embed/>
                  <p:pic>
                    <p:nvPicPr>
                      <p:cNvPr id="34862" name="Object 46">
                        <a:extLst>
                          <a:ext uri="{FF2B5EF4-FFF2-40B4-BE49-F238E27FC236}">
                            <a16:creationId xmlns:a16="http://schemas.microsoft.com/office/drawing/2014/main" id="{7F8F5C8B-8F89-4D1B-860A-CDEAF35485E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46750" y="4722813"/>
                        <a:ext cx="1873250" cy="336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63" name="Rectangle 47">
            <a:extLst>
              <a:ext uri="{FF2B5EF4-FFF2-40B4-BE49-F238E27FC236}">
                <a16:creationId xmlns:a16="http://schemas.microsoft.com/office/drawing/2014/main" id="{0C5782A6-1BE5-4428-82F4-10FC29527D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0" y="4676776"/>
            <a:ext cx="2476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 b="1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813041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D96C0864-7D65-4712-A62E-7E25A988F9F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838200" indent="-838200"/>
            <a:r>
              <a:rPr lang="ru-RU" alt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Задачи выпуклого программирования.</a:t>
            </a:r>
          </a:p>
        </p:txBody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F532835F-8550-4E5C-AE28-74A0430DB72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92313" y="1628776"/>
            <a:ext cx="8229600" cy="4525963"/>
          </a:xfrm>
        </p:spPr>
        <p:txBody>
          <a:bodyPr/>
          <a:lstStyle/>
          <a:p>
            <a:pPr>
              <a:buFontTx/>
              <a:buNone/>
            </a:pPr>
            <a:r>
              <a:rPr lang="ru-RU" alt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Активные ограничения.</a:t>
            </a:r>
            <a:endParaRPr lang="ru-RU" alt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844" name="Rectangle 4">
            <a:extLst>
              <a:ext uri="{FF2B5EF4-FFF2-40B4-BE49-F238E27FC236}">
                <a16:creationId xmlns:a16="http://schemas.microsoft.com/office/drawing/2014/main" id="{B4D1A311-3A51-4EDC-8E7D-685C1733D0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35845" name="Rectangle 5">
            <a:extLst>
              <a:ext uri="{FF2B5EF4-FFF2-40B4-BE49-F238E27FC236}">
                <a16:creationId xmlns:a16="http://schemas.microsoft.com/office/drawing/2014/main" id="{8FF9F53B-B3B6-43C9-88A9-DA7CB9A326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5702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35846" name="Rectangle 6">
            <a:extLst>
              <a:ext uri="{FF2B5EF4-FFF2-40B4-BE49-F238E27FC236}">
                <a16:creationId xmlns:a16="http://schemas.microsoft.com/office/drawing/2014/main" id="{E1A844C4-8558-479F-958F-E98F77D115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35847" name="Rectangle 7">
            <a:extLst>
              <a:ext uri="{FF2B5EF4-FFF2-40B4-BE49-F238E27FC236}">
                <a16:creationId xmlns:a16="http://schemas.microsoft.com/office/drawing/2014/main" id="{D0774A3B-0006-4ABE-A6C7-CC6128670B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300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35848" name="Rectangle 8">
            <a:extLst>
              <a:ext uri="{FF2B5EF4-FFF2-40B4-BE49-F238E27FC236}">
                <a16:creationId xmlns:a16="http://schemas.microsoft.com/office/drawing/2014/main" id="{3947E37B-2DE6-4B93-AC26-A36AC17EEE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05065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35849" name="Rectangle 9">
            <a:extLst>
              <a:ext uri="{FF2B5EF4-FFF2-40B4-BE49-F238E27FC236}">
                <a16:creationId xmlns:a16="http://schemas.microsoft.com/office/drawing/2014/main" id="{89B7DE28-ED5A-4412-A089-8945DCD2B7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02049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35850" name="Rectangle 10">
            <a:extLst>
              <a:ext uri="{FF2B5EF4-FFF2-40B4-BE49-F238E27FC236}">
                <a16:creationId xmlns:a16="http://schemas.microsoft.com/office/drawing/2014/main" id="{3C0E6A40-35FB-497F-A7C0-81B32D7CF8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02049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pic>
        <p:nvPicPr>
          <p:cNvPr id="35851" name="Picture 11" descr="81">
            <a:extLst>
              <a:ext uri="{FF2B5EF4-FFF2-40B4-BE49-F238E27FC236}">
                <a16:creationId xmlns:a16="http://schemas.microsoft.com/office/drawing/2014/main" id="{01F016FC-3BF7-4B45-8F2E-72AF7BC2E1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0376" y="2276475"/>
            <a:ext cx="6119813" cy="2305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852" name="Rectangle 12">
            <a:extLst>
              <a:ext uri="{FF2B5EF4-FFF2-40B4-BE49-F238E27FC236}">
                <a16:creationId xmlns:a16="http://schemas.microsoft.com/office/drawing/2014/main" id="{BF0DEED5-6C54-4428-8098-036BC8D891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3389" y="4713289"/>
            <a:ext cx="8785225" cy="12017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В процессе решения задачи происходит перемещение текущей точки из заданной начальной точки в конечную точку. При этом возможен выход на границу области допустимых решений  Х.  Такие нарушенные ограничения носят название активных.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	Определение множества индексов активных ограничений:</a:t>
            </a:r>
          </a:p>
        </p:txBody>
      </p:sp>
      <p:sp>
        <p:nvSpPr>
          <p:cNvPr id="35853" name="Rectangle 13">
            <a:extLst>
              <a:ext uri="{FF2B5EF4-FFF2-40B4-BE49-F238E27FC236}">
                <a16:creationId xmlns:a16="http://schemas.microsoft.com/office/drawing/2014/main" id="{A1FC18D3-26C9-40AB-89C5-0903C3A0F6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09987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35854" name="Object 14">
            <a:extLst>
              <a:ext uri="{FF2B5EF4-FFF2-40B4-BE49-F238E27FC236}">
                <a16:creationId xmlns:a16="http://schemas.microsoft.com/office/drawing/2014/main" id="{F9B80A3A-5717-4AA6-B1F2-3BD0A7AC42A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66988" y="6011864"/>
          <a:ext cx="6697662" cy="484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0" name="Формула" r:id="rId4" imgW="3568700" imgH="254000" progId="Equation.3">
                  <p:embed/>
                </p:oleObj>
              </mc:Choice>
              <mc:Fallback>
                <p:oleObj name="Формула" r:id="rId4" imgW="3568700" imgH="254000" progId="Equation.3">
                  <p:embed/>
                  <p:pic>
                    <p:nvPicPr>
                      <p:cNvPr id="35854" name="Object 14">
                        <a:extLst>
                          <a:ext uri="{FF2B5EF4-FFF2-40B4-BE49-F238E27FC236}">
                            <a16:creationId xmlns:a16="http://schemas.microsoft.com/office/drawing/2014/main" id="{F9B80A3A-5717-4AA6-B1F2-3BD0A7AC42A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6988" y="6011864"/>
                        <a:ext cx="6697662" cy="484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410157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312ECA32-FDD5-4BE4-8582-273AC7957A2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alt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Функция Куна-</a:t>
            </a:r>
            <a:r>
              <a:rPr lang="ru-RU" alt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Таккера</a:t>
            </a:r>
            <a:r>
              <a:rPr lang="ru-RU" alt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(функция Лагранжа) для задач выпуклого программирования (1951г.)</a:t>
            </a:r>
          </a:p>
        </p:txBody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808C8F5B-1703-401E-8CDF-2B086710A9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02049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36868" name="Object 4">
            <a:extLst>
              <a:ext uri="{FF2B5EF4-FFF2-40B4-BE49-F238E27FC236}">
                <a16:creationId xmlns:a16="http://schemas.microsoft.com/office/drawing/2014/main" id="{B376CB40-44CD-4FF8-B768-260E7A0889E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82889" y="1237457"/>
          <a:ext cx="6480175" cy="1073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68" name="Формула" r:id="rId3" imgW="2717800" imgH="444500" progId="Equation.3">
                  <p:embed/>
                </p:oleObj>
              </mc:Choice>
              <mc:Fallback>
                <p:oleObj name="Формула" r:id="rId3" imgW="2717800" imgH="444500" progId="Equation.3">
                  <p:embed/>
                  <p:pic>
                    <p:nvPicPr>
                      <p:cNvPr id="36868" name="Object 4">
                        <a:extLst>
                          <a:ext uri="{FF2B5EF4-FFF2-40B4-BE49-F238E27FC236}">
                            <a16:creationId xmlns:a16="http://schemas.microsoft.com/office/drawing/2014/main" id="{B376CB40-44CD-4FF8-B768-260E7A0889E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2889" y="1237457"/>
                        <a:ext cx="6480175" cy="1073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869" name="Rectangle 5">
            <a:extLst>
              <a:ext uri="{FF2B5EF4-FFF2-40B4-BE49-F238E27FC236}">
                <a16:creationId xmlns:a16="http://schemas.microsoft.com/office/drawing/2014/main" id="{DEA141AA-B8D3-483C-8C83-AF1F20E392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2313" y="2236788"/>
            <a:ext cx="82804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Продифференцируем функцию 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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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) по 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и приравняем  0.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Если продифференцировать по </a:t>
            </a:r>
            <a:r>
              <a:rPr lang="ru-RU" altLang="ru-RU" sz="1800" baseline="-30000">
                <a:latin typeface="Times New Roman" panose="02020603050405020304" pitchFamily="18" charset="0"/>
                <a:cs typeface="Times New Roman" panose="02020603050405020304" pitchFamily="18" charset="0"/>
              </a:rPr>
              <a:t>к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, то получим неравенства 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en-US" altLang="ru-RU" sz="1800" baseline="-300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k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 </a:t>
            </a:r>
          </a:p>
        </p:txBody>
      </p:sp>
      <p:sp>
        <p:nvSpPr>
          <p:cNvPr id="36870" name="Rectangle 6">
            <a:extLst>
              <a:ext uri="{FF2B5EF4-FFF2-40B4-BE49-F238E27FC236}">
                <a16:creationId xmlns:a16="http://schemas.microsoft.com/office/drawing/2014/main" id="{82FA0B0F-B272-4F59-95BB-38C441828C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27238" y="2781300"/>
            <a:ext cx="8640762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что не позволяет получить единственное решение. Противоречие состоит в том, что для ЗВП имеется единственное решение.</a:t>
            </a:r>
          </a:p>
        </p:txBody>
      </p:sp>
      <p:graphicFrame>
        <p:nvGraphicFramePr>
          <p:cNvPr id="36871" name="Object 7">
            <a:extLst>
              <a:ext uri="{FF2B5EF4-FFF2-40B4-BE49-F238E27FC236}">
                <a16:creationId xmlns:a16="http://schemas.microsoft.com/office/drawing/2014/main" id="{919BA163-98BA-4914-B20B-64D6BA1C43D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401051" y="2565400"/>
          <a:ext cx="246063" cy="287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69" name="Формула" r:id="rId5" imgW="126835" imgH="152202" progId="Equation.3">
                  <p:embed/>
                </p:oleObj>
              </mc:Choice>
              <mc:Fallback>
                <p:oleObj name="Формула" r:id="rId5" imgW="126835" imgH="152202" progId="Equation.3">
                  <p:embed/>
                  <p:pic>
                    <p:nvPicPr>
                      <p:cNvPr id="36871" name="Object 7">
                        <a:extLst>
                          <a:ext uri="{FF2B5EF4-FFF2-40B4-BE49-F238E27FC236}">
                            <a16:creationId xmlns:a16="http://schemas.microsoft.com/office/drawing/2014/main" id="{919BA163-98BA-4914-B20B-64D6BA1C43D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01051" y="2565400"/>
                        <a:ext cx="246063" cy="287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872" name="Rectangle 8">
            <a:extLst>
              <a:ext uri="{FF2B5EF4-FFF2-40B4-BE49-F238E27FC236}">
                <a16:creationId xmlns:a16="http://schemas.microsoft.com/office/drawing/2014/main" id="{F3561B6D-C6FE-42C4-A54E-91AE5494F9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3925" y="2492376"/>
            <a:ext cx="4889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200" i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ru-RU" altLang="ru-RU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1800" i="1">
                <a:cs typeface="Times New Roman" panose="02020603050405020304" pitchFamily="18" charset="0"/>
              </a:rPr>
              <a:t>,</a:t>
            </a:r>
            <a:r>
              <a:rPr lang="ru-RU" altLang="ru-RU" sz="1800" i="1"/>
              <a:t> </a:t>
            </a:r>
          </a:p>
        </p:txBody>
      </p:sp>
      <p:sp>
        <p:nvSpPr>
          <p:cNvPr id="36873" name="Rectangle 9">
            <a:extLst>
              <a:ext uri="{FF2B5EF4-FFF2-40B4-BE49-F238E27FC236}">
                <a16:creationId xmlns:a16="http://schemas.microsoft.com/office/drawing/2014/main" id="{9457F506-3839-4D9E-9C81-867CF7EA9F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0014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36874" name="Object 10">
            <a:extLst>
              <a:ext uri="{FF2B5EF4-FFF2-40B4-BE49-F238E27FC236}">
                <a16:creationId xmlns:a16="http://schemas.microsoft.com/office/drawing/2014/main" id="{84EE41A8-1A1E-41F9-AFC9-C0CCAE9758A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82889" y="3357564"/>
          <a:ext cx="5976937" cy="777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70" name="Формула" r:id="rId7" imgW="3746500" imgH="482600" progId="Equation.3">
                  <p:embed/>
                </p:oleObj>
              </mc:Choice>
              <mc:Fallback>
                <p:oleObj name="Формула" r:id="rId7" imgW="3746500" imgH="482600" progId="Equation.3">
                  <p:embed/>
                  <p:pic>
                    <p:nvPicPr>
                      <p:cNvPr id="36874" name="Object 10">
                        <a:extLst>
                          <a:ext uri="{FF2B5EF4-FFF2-40B4-BE49-F238E27FC236}">
                            <a16:creationId xmlns:a16="http://schemas.microsoft.com/office/drawing/2014/main" id="{84EE41A8-1A1E-41F9-AFC9-C0CCAE9758A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2889" y="3357564"/>
                        <a:ext cx="5976937" cy="777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6875" name="Picture 11" descr="82">
            <a:extLst>
              <a:ext uri="{FF2B5EF4-FFF2-40B4-BE49-F238E27FC236}">
                <a16:creationId xmlns:a16="http://schemas.microsoft.com/office/drawing/2014/main" id="{DA0E5D57-7141-44F8-A9E9-8ACCA85A10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3389" y="4076700"/>
            <a:ext cx="3887787" cy="251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36876" name="Object 12">
            <a:extLst>
              <a:ext uri="{FF2B5EF4-FFF2-40B4-BE49-F238E27FC236}">
                <a16:creationId xmlns:a16="http://schemas.microsoft.com/office/drawing/2014/main" id="{0D570C59-03EA-46F4-9BE1-D72AE361044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393238" y="4195764"/>
          <a:ext cx="971550" cy="477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71" name="Формула" r:id="rId10" imgW="469900" imgH="228600" progId="Equation.3">
                  <p:embed/>
                </p:oleObj>
              </mc:Choice>
              <mc:Fallback>
                <p:oleObj name="Формула" r:id="rId10" imgW="469900" imgH="228600" progId="Equation.3">
                  <p:embed/>
                  <p:pic>
                    <p:nvPicPr>
                      <p:cNvPr id="36876" name="Object 12">
                        <a:extLst>
                          <a:ext uri="{FF2B5EF4-FFF2-40B4-BE49-F238E27FC236}">
                            <a16:creationId xmlns:a16="http://schemas.microsoft.com/office/drawing/2014/main" id="{0D570C59-03EA-46F4-9BE1-D72AE361044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93238" y="4195764"/>
                        <a:ext cx="971550" cy="477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877" name="Rectangle 13">
            <a:extLst>
              <a:ext uri="{FF2B5EF4-FFF2-40B4-BE49-F238E27FC236}">
                <a16:creationId xmlns:a16="http://schemas.microsoft.com/office/drawing/2014/main" id="{2FB4F7CD-0303-409B-AFE0-8D4C7B6606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72150" y="4237038"/>
            <a:ext cx="44386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 b="1" u="sng">
                <a:cs typeface="Times New Roman" panose="02020603050405020304" pitchFamily="18" charset="0"/>
              </a:rPr>
              <a:t>Лемма</a:t>
            </a:r>
            <a:r>
              <a:rPr lang="ru-RU" altLang="ru-RU" sz="1800" b="1">
                <a:cs typeface="Times New Roman" panose="02020603050405020304" pitchFamily="18" charset="0"/>
              </a:rPr>
              <a:t>:</a:t>
            </a:r>
            <a:r>
              <a:rPr lang="ru-RU" altLang="ru-RU" sz="1800">
                <a:cs typeface="Times New Roman" panose="02020603050405020304" pitchFamily="18" charset="0"/>
              </a:rPr>
              <a:t> 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Градиент целевой функции </a:t>
            </a:r>
          </a:p>
        </p:txBody>
      </p:sp>
      <p:sp>
        <p:nvSpPr>
          <p:cNvPr id="36878" name="Rectangle 14">
            <a:extLst>
              <a:ext uri="{FF2B5EF4-FFF2-40B4-BE49-F238E27FC236}">
                <a16:creationId xmlns:a16="http://schemas.microsoft.com/office/drawing/2014/main" id="{EC40C367-C395-4E74-83A5-4D6CE2E6F0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51538" y="4508500"/>
            <a:ext cx="4716462" cy="915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200">
                <a:cs typeface="Times New Roman" panose="02020603050405020304" pitchFamily="18" charset="0"/>
              </a:rPr>
              <a:t> 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равен линейной комбинации градиентов функций ограничений в точке условного экстремума </a:t>
            </a:r>
          </a:p>
        </p:txBody>
      </p:sp>
      <p:sp>
        <p:nvSpPr>
          <p:cNvPr id="36879" name="Rectangle 15">
            <a:extLst>
              <a:ext uri="{FF2B5EF4-FFF2-40B4-BE49-F238E27FC236}">
                <a16:creationId xmlns:a16="http://schemas.microsoft.com/office/drawing/2014/main" id="{37F0F2D4-2756-425C-B094-5391657EE4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4501" y="5567363"/>
            <a:ext cx="31083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cs typeface="Times New Roman" panose="02020603050405020304" pitchFamily="18" charset="0"/>
              </a:rPr>
              <a:t>  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Множество всех векторов</a:t>
            </a:r>
            <a:r>
              <a:rPr lang="ru-RU" altLang="ru-RU" sz="1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altLang="ru-RU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880" name="Rectangle 16">
            <a:extLst>
              <a:ext uri="{FF2B5EF4-FFF2-40B4-BE49-F238E27FC236}">
                <a16:creationId xmlns:a16="http://schemas.microsoft.com/office/drawing/2014/main" id="{2F07BD53-9B90-4769-B4D8-4D756D2217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7289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36881" name="Object 17">
            <a:extLst>
              <a:ext uri="{FF2B5EF4-FFF2-40B4-BE49-F238E27FC236}">
                <a16:creationId xmlns:a16="http://schemas.microsoft.com/office/drawing/2014/main" id="{554FCDD4-7BC2-40AB-9EF8-6FA7F310CA7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248525" y="5003800"/>
          <a:ext cx="381000" cy="414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72" name="Формула" r:id="rId12" imgW="177569" imgH="202936" progId="Equation.3">
                  <p:embed/>
                </p:oleObj>
              </mc:Choice>
              <mc:Fallback>
                <p:oleObj name="Формула" r:id="rId12" imgW="177569" imgH="202936" progId="Equation.3">
                  <p:embed/>
                  <p:pic>
                    <p:nvPicPr>
                      <p:cNvPr id="36881" name="Object 17">
                        <a:extLst>
                          <a:ext uri="{FF2B5EF4-FFF2-40B4-BE49-F238E27FC236}">
                            <a16:creationId xmlns:a16="http://schemas.microsoft.com/office/drawing/2014/main" id="{554FCDD4-7BC2-40AB-9EF8-6FA7F310CA7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48525" y="5003800"/>
                        <a:ext cx="381000" cy="414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882" name="Rectangle 18">
            <a:extLst>
              <a:ext uri="{FF2B5EF4-FFF2-40B4-BE49-F238E27FC236}">
                <a16:creationId xmlns:a16="http://schemas.microsoft.com/office/drawing/2014/main" id="{C30B51FB-04B0-4C98-B832-0C7EACA7A7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299350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36883" name="Object 19">
            <a:extLst>
              <a:ext uri="{FF2B5EF4-FFF2-40B4-BE49-F238E27FC236}">
                <a16:creationId xmlns:a16="http://schemas.microsoft.com/office/drawing/2014/main" id="{CD84844A-AC5E-4654-AA15-C29138EE1A7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356476" y="5445125"/>
          <a:ext cx="3311525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73" name="Формула" r:id="rId14" imgW="2114858" imgH="552388" progId="Equation.3">
                  <p:embed/>
                </p:oleObj>
              </mc:Choice>
              <mc:Fallback>
                <p:oleObj name="Формула" r:id="rId14" imgW="2114858" imgH="552388" progId="Equation.3">
                  <p:embed/>
                  <p:pic>
                    <p:nvPicPr>
                      <p:cNvPr id="36883" name="Object 19">
                        <a:extLst>
                          <a:ext uri="{FF2B5EF4-FFF2-40B4-BE49-F238E27FC236}">
                            <a16:creationId xmlns:a16="http://schemas.microsoft.com/office/drawing/2014/main" id="{CD84844A-AC5E-4654-AA15-C29138EE1A7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56476" y="5445125"/>
                        <a:ext cx="3311525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884" name="Rectangle 20">
            <a:extLst>
              <a:ext uri="{FF2B5EF4-FFF2-40B4-BE49-F238E27FC236}">
                <a16:creationId xmlns:a16="http://schemas.microsoft.com/office/drawing/2014/main" id="{0C39AF10-1D84-4230-9D0E-E37C10E886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56139" y="6019800"/>
            <a:ext cx="5227637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называется множеством </a:t>
            </a:r>
            <a:r>
              <a:rPr lang="ru-RU" altLang="ru-RU" sz="1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возможных направлений</a:t>
            </a:r>
            <a:r>
              <a:rPr lang="ru-RU" altLang="ru-RU" sz="1800" b="1" i="1"/>
              <a:t>.</a:t>
            </a:r>
          </a:p>
        </p:txBody>
      </p:sp>
      <p:sp>
        <p:nvSpPr>
          <p:cNvPr id="36885" name="Rectangle 21">
            <a:extLst>
              <a:ext uri="{FF2B5EF4-FFF2-40B4-BE49-F238E27FC236}">
                <a16:creationId xmlns:a16="http://schemas.microsoft.com/office/drawing/2014/main" id="{C27408B2-BEBB-4560-8387-9C2EC602E4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36886" name="Object 22">
            <a:extLst>
              <a:ext uri="{FF2B5EF4-FFF2-40B4-BE49-F238E27FC236}">
                <a16:creationId xmlns:a16="http://schemas.microsoft.com/office/drawing/2014/main" id="{B608EA14-EE53-4122-BCF4-0CCDD7B9CFF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591426" y="4968875"/>
          <a:ext cx="3059113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74" name="Формула" r:id="rId16" imgW="2590800" imgH="444500" progId="Equation.3">
                  <p:embed/>
                </p:oleObj>
              </mc:Choice>
              <mc:Fallback>
                <p:oleObj name="Формула" r:id="rId16" imgW="2590800" imgH="444500" progId="Equation.3">
                  <p:embed/>
                  <p:pic>
                    <p:nvPicPr>
                      <p:cNvPr id="36886" name="Object 22">
                        <a:extLst>
                          <a:ext uri="{FF2B5EF4-FFF2-40B4-BE49-F238E27FC236}">
                            <a16:creationId xmlns:a16="http://schemas.microsoft.com/office/drawing/2014/main" id="{B608EA14-EE53-4122-BCF4-0CCDD7B9CFF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91426" y="4968875"/>
                        <a:ext cx="3059113" cy="647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887" name="Rectangle 23">
            <a:extLst>
              <a:ext uri="{FF2B5EF4-FFF2-40B4-BE49-F238E27FC236}">
                <a16:creationId xmlns:a16="http://schemas.microsoft.com/office/drawing/2014/main" id="{577836F5-3504-40A5-A1F4-A0ED292D9B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9963" y="5084763"/>
            <a:ext cx="311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/>
              <a:t> :</a:t>
            </a:r>
          </a:p>
        </p:txBody>
      </p:sp>
    </p:spTree>
    <p:extLst>
      <p:ext uri="{BB962C8B-B14F-4D97-AF65-F5344CB8AC3E}">
        <p14:creationId xmlns:p14="http://schemas.microsoft.com/office/powerpoint/2010/main" val="475916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8D1E50D9-D651-49C5-873A-B736FA0E764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49213"/>
            <a:ext cx="10515600" cy="1325563"/>
          </a:xfrm>
        </p:spPr>
        <p:txBody>
          <a:bodyPr/>
          <a:lstStyle/>
          <a:p>
            <a:pPr algn="ctr"/>
            <a:r>
              <a:rPr lang="ru-RU" alt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Теорема </a:t>
            </a:r>
            <a:r>
              <a:rPr lang="ru-RU" altLang="ru-RU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Каруша</a:t>
            </a:r>
            <a:r>
              <a:rPr lang="ru-RU" alt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-Куна-</a:t>
            </a:r>
            <a:r>
              <a:rPr lang="ru-RU" altLang="ru-RU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Таккера</a:t>
            </a:r>
            <a:endParaRPr lang="ru-RU" altLang="ru-RU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096D645F-7F64-41C2-9C98-8DFFCCE6F0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02367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37892" name="Rectangle 4">
            <a:extLst>
              <a:ext uri="{FF2B5EF4-FFF2-40B4-BE49-F238E27FC236}">
                <a16:creationId xmlns:a16="http://schemas.microsoft.com/office/drawing/2014/main" id="{5BADCB02-E897-48D2-96DF-9341674834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46499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37893" name="Rectangle 5">
            <a:extLst>
              <a:ext uri="{FF2B5EF4-FFF2-40B4-BE49-F238E27FC236}">
                <a16:creationId xmlns:a16="http://schemas.microsoft.com/office/drawing/2014/main" id="{F0A75952-EAC5-40C6-813B-5376FD184F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03002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37894" name="Rectangle 6">
            <a:extLst>
              <a:ext uri="{FF2B5EF4-FFF2-40B4-BE49-F238E27FC236}">
                <a16:creationId xmlns:a16="http://schemas.microsoft.com/office/drawing/2014/main" id="{36F8FCDA-1658-4849-B7F8-474177D046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4602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37895" name="Rectangle 7">
            <a:extLst>
              <a:ext uri="{FF2B5EF4-FFF2-40B4-BE49-F238E27FC236}">
                <a16:creationId xmlns:a16="http://schemas.microsoft.com/office/drawing/2014/main" id="{CD4A7C20-3A0F-4821-A2F8-1E4D0F8F6F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7289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37896" name="Rectangle 8">
            <a:extLst>
              <a:ext uri="{FF2B5EF4-FFF2-40B4-BE49-F238E27FC236}">
                <a16:creationId xmlns:a16="http://schemas.microsoft.com/office/drawing/2014/main" id="{D471B79B-F2CE-41F7-B85F-D96F7DDE00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03160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37897" name="Rectangle 9">
            <a:extLst>
              <a:ext uri="{FF2B5EF4-FFF2-40B4-BE49-F238E27FC236}">
                <a16:creationId xmlns:a16="http://schemas.microsoft.com/office/drawing/2014/main" id="{52468DDB-3281-45AF-B627-93BD439B8C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0284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37898" name="Rectangle 10">
            <a:extLst>
              <a:ext uri="{FF2B5EF4-FFF2-40B4-BE49-F238E27FC236}">
                <a16:creationId xmlns:a16="http://schemas.microsoft.com/office/drawing/2014/main" id="{D0ADD8C7-31F0-4301-9828-F66A736043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37899" name="Rectangle 11">
            <a:extLst>
              <a:ext uri="{FF2B5EF4-FFF2-40B4-BE49-F238E27FC236}">
                <a16:creationId xmlns:a16="http://schemas.microsoft.com/office/drawing/2014/main" id="{01B3725B-238D-4EC9-8388-92E15E24BC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300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37900" name="Rectangle 12">
            <a:extLst>
              <a:ext uri="{FF2B5EF4-FFF2-40B4-BE49-F238E27FC236}">
                <a16:creationId xmlns:a16="http://schemas.microsoft.com/office/drawing/2014/main" id="{D4BEA4D1-0DFC-4380-AE80-029332B230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0622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37901" name="Rectangle 13">
            <a:extLst>
              <a:ext uri="{FF2B5EF4-FFF2-40B4-BE49-F238E27FC236}">
                <a16:creationId xmlns:a16="http://schemas.microsoft.com/office/drawing/2014/main" id="{B49A8825-D517-49A6-903C-ECD87E969A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38879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37902" name="Rectangle 14">
            <a:extLst>
              <a:ext uri="{FF2B5EF4-FFF2-40B4-BE49-F238E27FC236}">
                <a16:creationId xmlns:a16="http://schemas.microsoft.com/office/drawing/2014/main" id="{D320873E-7722-45BB-B5DB-870CFD7CE2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299192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37903" name="Rectangle 15">
            <a:extLst>
              <a:ext uri="{FF2B5EF4-FFF2-40B4-BE49-F238E27FC236}">
                <a16:creationId xmlns:a16="http://schemas.microsoft.com/office/drawing/2014/main" id="{EE3B1C5A-9C06-4E74-A7E3-DCFDFD2E46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49515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37904" name="Rectangle 16">
            <a:extLst>
              <a:ext uri="{FF2B5EF4-FFF2-40B4-BE49-F238E27FC236}">
                <a16:creationId xmlns:a16="http://schemas.microsoft.com/office/drawing/2014/main" id="{D286718D-52E0-4C3F-B9B2-188CD03E12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295858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37905" name="Rectangle 17">
            <a:extLst>
              <a:ext uri="{FF2B5EF4-FFF2-40B4-BE49-F238E27FC236}">
                <a16:creationId xmlns:a16="http://schemas.microsoft.com/office/drawing/2014/main" id="{01D97DF4-B325-44D9-B2E3-69CD6B5C00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31951" y="338879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37906" name="Rectangle 18">
            <a:extLst>
              <a:ext uri="{FF2B5EF4-FFF2-40B4-BE49-F238E27FC236}">
                <a16:creationId xmlns:a16="http://schemas.microsoft.com/office/drawing/2014/main" id="{C3F4ED63-47D0-46F2-9346-6A97C97958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300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37907" name="Rectangle 19">
            <a:extLst>
              <a:ext uri="{FF2B5EF4-FFF2-40B4-BE49-F238E27FC236}">
                <a16:creationId xmlns:a16="http://schemas.microsoft.com/office/drawing/2014/main" id="{396ABDFB-182E-492B-AEF3-F9C97123A2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300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37908" name="Rectangle 20">
            <a:extLst>
              <a:ext uri="{FF2B5EF4-FFF2-40B4-BE49-F238E27FC236}">
                <a16:creationId xmlns:a16="http://schemas.microsoft.com/office/drawing/2014/main" id="{AF1FB187-01BB-4D9F-94D2-495137C3E6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0284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37909" name="Rectangle 21">
            <a:extLst>
              <a:ext uri="{FF2B5EF4-FFF2-40B4-BE49-F238E27FC236}">
                <a16:creationId xmlns:a16="http://schemas.microsoft.com/office/drawing/2014/main" id="{201963E6-7C72-404D-AB0C-181A063E24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0284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37910" name="Rectangle 22">
            <a:extLst>
              <a:ext uri="{FF2B5EF4-FFF2-40B4-BE49-F238E27FC236}">
                <a16:creationId xmlns:a16="http://schemas.microsoft.com/office/drawing/2014/main" id="{F607EF9C-B120-4F9A-A20B-9456DA01C9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51089" y="1266825"/>
            <a:ext cx="5157787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Рассмотрим задачу выпуклого программирования </a:t>
            </a:r>
          </a:p>
        </p:txBody>
      </p:sp>
      <p:graphicFrame>
        <p:nvGraphicFramePr>
          <p:cNvPr id="37911" name="Object 23">
            <a:extLst>
              <a:ext uri="{FF2B5EF4-FFF2-40B4-BE49-F238E27FC236}">
                <a16:creationId xmlns:a16="http://schemas.microsoft.com/office/drawing/2014/main" id="{987B7E0D-C203-4DAB-9228-1B232AD79DF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75050" y="1773239"/>
          <a:ext cx="3671888" cy="350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92" name="Формула" r:id="rId3" imgW="2387600" imgH="228600" progId="Equation.3">
                  <p:embed/>
                </p:oleObj>
              </mc:Choice>
              <mc:Fallback>
                <p:oleObj name="Формула" r:id="rId3" imgW="2387600" imgH="228600" progId="Equation.3">
                  <p:embed/>
                  <p:pic>
                    <p:nvPicPr>
                      <p:cNvPr id="37911" name="Object 23">
                        <a:extLst>
                          <a:ext uri="{FF2B5EF4-FFF2-40B4-BE49-F238E27FC236}">
                            <a16:creationId xmlns:a16="http://schemas.microsoft.com/office/drawing/2014/main" id="{987B7E0D-C203-4DAB-9228-1B232AD79DF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5050" y="1773239"/>
                        <a:ext cx="3671888" cy="350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12" name="Object 24">
            <a:extLst>
              <a:ext uri="{FF2B5EF4-FFF2-40B4-BE49-F238E27FC236}">
                <a16:creationId xmlns:a16="http://schemas.microsoft.com/office/drawing/2014/main" id="{8B373409-10D4-40F6-9EE2-79B996CAD7E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75050" y="2276475"/>
          <a:ext cx="3816350" cy="357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93" name="Формула" r:id="rId5" imgW="2438400" imgH="228600" progId="Equation.3">
                  <p:embed/>
                </p:oleObj>
              </mc:Choice>
              <mc:Fallback>
                <p:oleObj name="Формула" r:id="rId5" imgW="2438400" imgH="228600" progId="Equation.3">
                  <p:embed/>
                  <p:pic>
                    <p:nvPicPr>
                      <p:cNvPr id="37912" name="Object 24">
                        <a:extLst>
                          <a:ext uri="{FF2B5EF4-FFF2-40B4-BE49-F238E27FC236}">
                            <a16:creationId xmlns:a16="http://schemas.microsoft.com/office/drawing/2014/main" id="{8B373409-10D4-40F6-9EE2-79B996CAD7E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5050" y="2276475"/>
                        <a:ext cx="3816350" cy="357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913" name="Rectangle 25">
            <a:extLst>
              <a:ext uri="{FF2B5EF4-FFF2-40B4-BE49-F238E27FC236}">
                <a16:creationId xmlns:a16="http://schemas.microsoft.com/office/drawing/2014/main" id="{AFD2F35F-C4B3-4402-8449-03BE176ACA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4114" y="1727201"/>
            <a:ext cx="20161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Пусть    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</p:txBody>
      </p:sp>
      <p:sp>
        <p:nvSpPr>
          <p:cNvPr id="37914" name="Rectangle 26">
            <a:extLst>
              <a:ext uri="{FF2B5EF4-FFF2-40B4-BE49-F238E27FC236}">
                <a16:creationId xmlns:a16="http://schemas.microsoft.com/office/drawing/2014/main" id="{62141F3B-BEE8-4F58-9AB2-F16DCA06B5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71813" y="2205038"/>
            <a:ext cx="5461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200">
                <a:cs typeface="Times New Roman" panose="02020603050405020304" pitchFamily="18" charset="0"/>
              </a:rPr>
              <a:t>   </a:t>
            </a:r>
            <a:r>
              <a:rPr lang="en-US" altLang="ru-RU" sz="1800">
                <a:cs typeface="Times New Roman" panose="02020603050405020304" pitchFamily="18" charset="0"/>
              </a:rPr>
              <a:t>g</a:t>
            </a:r>
            <a:r>
              <a:rPr lang="ru-RU" altLang="ru-RU" sz="1800">
                <a:cs typeface="Times New Roman" panose="02020603050405020304" pitchFamily="18" charset="0"/>
              </a:rPr>
              <a:t>:</a:t>
            </a:r>
            <a:r>
              <a:rPr lang="ru-RU" altLang="ru-RU" sz="1200">
                <a:cs typeface="Times New Roman" panose="02020603050405020304" pitchFamily="18" charset="0"/>
              </a:rPr>
              <a:t> </a:t>
            </a:r>
            <a:endParaRPr lang="ru-RU" altLang="ru-RU" sz="1800"/>
          </a:p>
        </p:txBody>
      </p:sp>
      <p:sp>
        <p:nvSpPr>
          <p:cNvPr id="37915" name="Rectangle 27">
            <a:extLst>
              <a:ext uri="{FF2B5EF4-FFF2-40B4-BE49-F238E27FC236}">
                <a16:creationId xmlns:a16="http://schemas.microsoft.com/office/drawing/2014/main" id="{E69103B1-465D-4210-8CD2-2B85E0849A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4113" y="2635250"/>
            <a:ext cx="1924050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Требуется найти: </a:t>
            </a:r>
          </a:p>
        </p:txBody>
      </p:sp>
      <p:sp>
        <p:nvSpPr>
          <p:cNvPr id="37916" name="Rectangle 28">
            <a:extLst>
              <a:ext uri="{FF2B5EF4-FFF2-40B4-BE49-F238E27FC236}">
                <a16:creationId xmlns:a16="http://schemas.microsoft.com/office/drawing/2014/main" id="{39B4AF7D-2A1A-41ED-B273-A7964133F8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09987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37917" name="Object 29">
            <a:extLst>
              <a:ext uri="{FF2B5EF4-FFF2-40B4-BE49-F238E27FC236}">
                <a16:creationId xmlns:a16="http://schemas.microsoft.com/office/drawing/2014/main" id="{E342AE8B-725D-4816-BC60-B41AB32CEBD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40238" y="2636839"/>
          <a:ext cx="2089150" cy="414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94" name="Формула" r:id="rId7" imgW="1155700" imgH="228600" progId="Equation.3">
                  <p:embed/>
                </p:oleObj>
              </mc:Choice>
              <mc:Fallback>
                <p:oleObj name="Формула" r:id="rId7" imgW="1155700" imgH="228600" progId="Equation.3">
                  <p:embed/>
                  <p:pic>
                    <p:nvPicPr>
                      <p:cNvPr id="37917" name="Object 29">
                        <a:extLst>
                          <a:ext uri="{FF2B5EF4-FFF2-40B4-BE49-F238E27FC236}">
                            <a16:creationId xmlns:a16="http://schemas.microsoft.com/office/drawing/2014/main" id="{E342AE8B-725D-4816-BC60-B41AB32CEBD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40238" y="2636839"/>
                        <a:ext cx="2089150" cy="414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918" name="Rectangle 30">
            <a:extLst>
              <a:ext uri="{FF2B5EF4-FFF2-40B4-BE49-F238E27FC236}">
                <a16:creationId xmlns:a16="http://schemas.microsoft.com/office/drawing/2014/main" id="{41B646B3-3C8E-4524-89A6-5BDB5ED6E0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27801" y="2636838"/>
            <a:ext cx="35877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cs typeface="Times New Roman" panose="02020603050405020304" pitchFamily="18" charset="0"/>
              </a:rPr>
              <a:t>,</a:t>
            </a:r>
            <a:r>
              <a:rPr lang="ru-RU" altLang="ru-RU" sz="1200">
                <a:cs typeface="Times New Roman" panose="02020603050405020304" pitchFamily="18" charset="0"/>
              </a:rPr>
              <a:t> </a:t>
            </a:r>
            <a:endParaRPr lang="ru-RU" altLang="ru-RU" sz="1800"/>
          </a:p>
        </p:txBody>
      </p:sp>
      <p:graphicFrame>
        <p:nvGraphicFramePr>
          <p:cNvPr id="37919" name="Object 31">
            <a:extLst>
              <a:ext uri="{FF2B5EF4-FFF2-40B4-BE49-F238E27FC236}">
                <a16:creationId xmlns:a16="http://schemas.microsoft.com/office/drawing/2014/main" id="{F329B8DA-AD10-44C4-A3EC-8FF8A39B7F9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743701" y="2708276"/>
          <a:ext cx="720725" cy="320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95" name="Формула" r:id="rId9" imgW="405872" imgH="177569" progId="Equation.3">
                  <p:embed/>
                </p:oleObj>
              </mc:Choice>
              <mc:Fallback>
                <p:oleObj name="Формула" r:id="rId9" imgW="405872" imgH="177569" progId="Equation.3">
                  <p:embed/>
                  <p:pic>
                    <p:nvPicPr>
                      <p:cNvPr id="37919" name="Object 31">
                        <a:extLst>
                          <a:ext uri="{FF2B5EF4-FFF2-40B4-BE49-F238E27FC236}">
                            <a16:creationId xmlns:a16="http://schemas.microsoft.com/office/drawing/2014/main" id="{F329B8DA-AD10-44C4-A3EC-8FF8A39B7F9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43701" y="2708276"/>
                        <a:ext cx="720725" cy="320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920" name="Rectangle 32">
            <a:extLst>
              <a:ext uri="{FF2B5EF4-FFF2-40B4-BE49-F238E27FC236}">
                <a16:creationId xmlns:a16="http://schemas.microsoft.com/office/drawing/2014/main" id="{ED9EB4E9-D856-4B9E-9CFC-A4DC91CBF6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43026" y="295699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37921" name="Object 33">
            <a:extLst>
              <a:ext uri="{FF2B5EF4-FFF2-40B4-BE49-F238E27FC236}">
                <a16:creationId xmlns:a16="http://schemas.microsoft.com/office/drawing/2014/main" id="{7C976313-C7AE-441C-ACBA-367E1BB0054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24113" y="2997201"/>
          <a:ext cx="2520950" cy="1312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96" name="Формула" r:id="rId11" imgW="1333500" imgH="698500" progId="Equation.3">
                  <p:embed/>
                </p:oleObj>
              </mc:Choice>
              <mc:Fallback>
                <p:oleObj name="Формула" r:id="rId11" imgW="1333500" imgH="698500" progId="Equation.3">
                  <p:embed/>
                  <p:pic>
                    <p:nvPicPr>
                      <p:cNvPr id="37921" name="Object 33">
                        <a:extLst>
                          <a:ext uri="{FF2B5EF4-FFF2-40B4-BE49-F238E27FC236}">
                            <a16:creationId xmlns:a16="http://schemas.microsoft.com/office/drawing/2014/main" id="{7C976313-C7AE-441C-ACBA-367E1BB0054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4113" y="2997201"/>
                        <a:ext cx="2520950" cy="1312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922" name="Rectangle 34">
            <a:extLst>
              <a:ext uri="{FF2B5EF4-FFF2-40B4-BE49-F238E27FC236}">
                <a16:creationId xmlns:a16="http://schemas.microsoft.com/office/drawing/2014/main" id="{49F1817A-5DDA-450F-A4B2-DD335B6563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57789" y="3870325"/>
            <a:ext cx="5329237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Для этого решение ЗВП должно удовлетворять следующим условиям:</a:t>
            </a:r>
          </a:p>
        </p:txBody>
      </p:sp>
      <p:sp>
        <p:nvSpPr>
          <p:cNvPr id="37923" name="Rectangle 35">
            <a:extLst>
              <a:ext uri="{FF2B5EF4-FFF2-40B4-BE49-F238E27FC236}">
                <a16:creationId xmlns:a16="http://schemas.microsoft.com/office/drawing/2014/main" id="{A7F00F70-52DB-4D92-B283-8AF28C2F81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51314" y="2924176"/>
            <a:ext cx="3587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cs typeface="Times New Roman" panose="02020603050405020304" pitchFamily="18" charset="0"/>
              </a:rPr>
              <a:t>,</a:t>
            </a:r>
            <a:r>
              <a:rPr lang="ru-RU" altLang="ru-RU" sz="1200">
                <a:cs typeface="Times New Roman" panose="02020603050405020304" pitchFamily="18" charset="0"/>
              </a:rPr>
              <a:t> </a:t>
            </a:r>
            <a:endParaRPr lang="ru-RU" altLang="ru-RU" sz="1800"/>
          </a:p>
        </p:txBody>
      </p:sp>
      <p:sp>
        <p:nvSpPr>
          <p:cNvPr id="37924" name="Rectangle 36">
            <a:extLst>
              <a:ext uri="{FF2B5EF4-FFF2-40B4-BE49-F238E27FC236}">
                <a16:creationId xmlns:a16="http://schemas.microsoft.com/office/drawing/2014/main" id="{FF559F77-C9F5-476B-BC93-CEBB78A040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56139" y="3357563"/>
            <a:ext cx="35877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cs typeface="Times New Roman" panose="02020603050405020304" pitchFamily="18" charset="0"/>
              </a:rPr>
              <a:t>,</a:t>
            </a:r>
            <a:r>
              <a:rPr lang="ru-RU" altLang="ru-RU" sz="1200">
                <a:cs typeface="Times New Roman" panose="02020603050405020304" pitchFamily="18" charset="0"/>
              </a:rPr>
              <a:t> </a:t>
            </a:r>
            <a:endParaRPr lang="ru-RU" altLang="ru-RU" sz="1800"/>
          </a:p>
        </p:txBody>
      </p:sp>
      <p:sp>
        <p:nvSpPr>
          <p:cNvPr id="37925" name="Rectangle 37">
            <a:extLst>
              <a:ext uri="{FF2B5EF4-FFF2-40B4-BE49-F238E27FC236}">
                <a16:creationId xmlns:a16="http://schemas.microsoft.com/office/drawing/2014/main" id="{EF51204A-0BDD-415C-AE11-0094897C13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601" y="3932238"/>
            <a:ext cx="35877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/>
              <a:t>.</a:t>
            </a:r>
            <a:r>
              <a:rPr lang="ru-RU" altLang="ru-RU" sz="1200">
                <a:cs typeface="Times New Roman" panose="02020603050405020304" pitchFamily="18" charset="0"/>
              </a:rPr>
              <a:t> </a:t>
            </a:r>
            <a:endParaRPr lang="ru-RU" altLang="ru-RU" sz="1800"/>
          </a:p>
        </p:txBody>
      </p:sp>
      <p:sp>
        <p:nvSpPr>
          <p:cNvPr id="37926" name="Rectangle 38">
            <a:extLst>
              <a:ext uri="{FF2B5EF4-FFF2-40B4-BE49-F238E27FC236}">
                <a16:creationId xmlns:a16="http://schemas.microsoft.com/office/drawing/2014/main" id="{F365CB8D-6BC2-428E-B284-29C1E9FAF5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25204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37927" name="Object 39">
            <a:extLst>
              <a:ext uri="{FF2B5EF4-FFF2-40B4-BE49-F238E27FC236}">
                <a16:creationId xmlns:a16="http://schemas.microsoft.com/office/drawing/2014/main" id="{AE424532-887A-4066-AA28-A6082641DCB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06576" y="4437063"/>
          <a:ext cx="4906963" cy="222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97" name="Формула" r:id="rId13" imgW="2717800" imgH="1447800" progId="Equation.3">
                  <p:embed/>
                </p:oleObj>
              </mc:Choice>
              <mc:Fallback>
                <p:oleObj name="Формула" r:id="rId13" imgW="2717800" imgH="1447800" progId="Equation.3">
                  <p:embed/>
                  <p:pic>
                    <p:nvPicPr>
                      <p:cNvPr id="37927" name="Object 39">
                        <a:extLst>
                          <a:ext uri="{FF2B5EF4-FFF2-40B4-BE49-F238E27FC236}">
                            <a16:creationId xmlns:a16="http://schemas.microsoft.com/office/drawing/2014/main" id="{AE424532-887A-4066-AA28-A6082641DCB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06576" y="4437063"/>
                        <a:ext cx="4906963" cy="2222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928" name="Rectangle 40">
            <a:extLst>
              <a:ext uri="{FF2B5EF4-FFF2-40B4-BE49-F238E27FC236}">
                <a16:creationId xmlns:a16="http://schemas.microsoft.com/office/drawing/2014/main" id="{C011ADDF-1001-4511-8525-1AF27A8452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43701" y="4535488"/>
            <a:ext cx="3744913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Если  эти условия выполнены, то </a:t>
            </a:r>
          </a:p>
        </p:txBody>
      </p:sp>
      <p:graphicFrame>
        <p:nvGraphicFramePr>
          <p:cNvPr id="37929" name="Object 41">
            <a:extLst>
              <a:ext uri="{FF2B5EF4-FFF2-40B4-BE49-F238E27FC236}">
                <a16:creationId xmlns:a16="http://schemas.microsoft.com/office/drawing/2014/main" id="{460650A5-9DB9-455D-A1DC-5D95C030CCE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16726" y="4797425"/>
          <a:ext cx="461963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98" name="Формула" r:id="rId15" imgW="177569" imgH="202936" progId="Equation.3">
                  <p:embed/>
                </p:oleObj>
              </mc:Choice>
              <mc:Fallback>
                <p:oleObj name="Формула" r:id="rId15" imgW="177569" imgH="202936" progId="Equation.3">
                  <p:embed/>
                  <p:pic>
                    <p:nvPicPr>
                      <p:cNvPr id="37929" name="Object 41">
                        <a:extLst>
                          <a:ext uri="{FF2B5EF4-FFF2-40B4-BE49-F238E27FC236}">
                            <a16:creationId xmlns:a16="http://schemas.microsoft.com/office/drawing/2014/main" id="{460650A5-9DB9-455D-A1DC-5D95C030CCE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16726" y="4797425"/>
                        <a:ext cx="461963" cy="503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930" name="Rectangle 42">
            <a:extLst>
              <a:ext uri="{FF2B5EF4-FFF2-40B4-BE49-F238E27FC236}">
                <a16:creationId xmlns:a16="http://schemas.microsoft.com/office/drawing/2014/main" id="{E5664EBF-1659-4CCB-A52A-7755BB9B34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5500" y="4868863"/>
            <a:ext cx="2592388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200">
                <a:cs typeface="Times New Roman" panose="02020603050405020304" pitchFamily="18" charset="0"/>
              </a:rPr>
              <a:t> 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– решение ЗВП.</a:t>
            </a:r>
          </a:p>
        </p:txBody>
      </p:sp>
      <p:sp>
        <p:nvSpPr>
          <p:cNvPr id="37931" name="Rectangle 43">
            <a:extLst>
              <a:ext uri="{FF2B5EF4-FFF2-40B4-BE49-F238E27FC236}">
                <a16:creationId xmlns:a16="http://schemas.microsoft.com/office/drawing/2014/main" id="{74676687-89BF-4CA5-9443-3BB7DEFDFD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16726" y="5451476"/>
            <a:ext cx="122396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Условия: </a:t>
            </a:r>
          </a:p>
        </p:txBody>
      </p:sp>
      <p:sp>
        <p:nvSpPr>
          <p:cNvPr id="37932" name="Rectangle 44">
            <a:extLst>
              <a:ext uri="{FF2B5EF4-FFF2-40B4-BE49-F238E27FC236}">
                <a16:creationId xmlns:a16="http://schemas.microsoft.com/office/drawing/2014/main" id="{B9BB52BC-2827-46BE-9884-1A92376B5D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72263" y="5740400"/>
            <a:ext cx="3744912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- называются </a:t>
            </a:r>
            <a:r>
              <a:rPr lang="ru-RU" altLang="ru-RU" sz="1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условиями дополняющей нежесткости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37933" name="Rectangle 45">
            <a:extLst>
              <a:ext uri="{FF2B5EF4-FFF2-40B4-BE49-F238E27FC236}">
                <a16:creationId xmlns:a16="http://schemas.microsoft.com/office/drawing/2014/main" id="{02A4B00D-D6DA-4C55-9642-4B603174DF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4114" y="4437063"/>
            <a:ext cx="35877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cs typeface="Times New Roman" panose="02020603050405020304" pitchFamily="18" charset="0"/>
              </a:rPr>
              <a:t>,</a:t>
            </a:r>
            <a:r>
              <a:rPr lang="ru-RU" altLang="ru-RU" sz="1200">
                <a:cs typeface="Times New Roman" panose="02020603050405020304" pitchFamily="18" charset="0"/>
              </a:rPr>
              <a:t> </a:t>
            </a:r>
            <a:endParaRPr lang="ru-RU" altLang="ru-RU" sz="1800"/>
          </a:p>
        </p:txBody>
      </p:sp>
      <p:sp>
        <p:nvSpPr>
          <p:cNvPr id="37934" name="Rectangle 46">
            <a:extLst>
              <a:ext uri="{FF2B5EF4-FFF2-40B4-BE49-F238E27FC236}">
                <a16:creationId xmlns:a16="http://schemas.microsoft.com/office/drawing/2014/main" id="{E4898BC0-5941-4E51-B35A-9F990202BF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9514" y="5876926"/>
            <a:ext cx="3587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cs typeface="Times New Roman" panose="02020603050405020304" pitchFamily="18" charset="0"/>
              </a:rPr>
              <a:t>,</a:t>
            </a:r>
            <a:r>
              <a:rPr lang="ru-RU" altLang="ru-RU" sz="1200">
                <a:cs typeface="Times New Roman" panose="02020603050405020304" pitchFamily="18" charset="0"/>
              </a:rPr>
              <a:t> </a:t>
            </a:r>
            <a:endParaRPr lang="ru-RU" altLang="ru-RU" sz="1800"/>
          </a:p>
        </p:txBody>
      </p:sp>
      <p:sp>
        <p:nvSpPr>
          <p:cNvPr id="37935" name="Rectangle 47">
            <a:extLst>
              <a:ext uri="{FF2B5EF4-FFF2-40B4-BE49-F238E27FC236}">
                <a16:creationId xmlns:a16="http://schemas.microsoft.com/office/drawing/2014/main" id="{1DE7D5CF-CAE0-4D15-8017-01C2D860C3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9513" y="6237288"/>
            <a:ext cx="2476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/>
              <a:t>.</a:t>
            </a:r>
          </a:p>
        </p:txBody>
      </p:sp>
      <p:sp>
        <p:nvSpPr>
          <p:cNvPr id="37936" name="Rectangle 48">
            <a:extLst>
              <a:ext uri="{FF2B5EF4-FFF2-40B4-BE49-F238E27FC236}">
                <a16:creationId xmlns:a16="http://schemas.microsoft.com/office/drawing/2014/main" id="{DC1A6022-B964-4741-A474-ABCBBCD8DF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72263" y="5300663"/>
            <a:ext cx="2476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950844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0FD51C3F-FB4D-456F-9EBC-D861A9585B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alt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Теория двойственности</a:t>
            </a:r>
            <a:endParaRPr lang="ru-RU" altLang="ru-RU" sz="3600" b="1" i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7D61AA16-C9E2-4917-84B8-F807CE96D6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02367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38916" name="Rectangle 4">
            <a:extLst>
              <a:ext uri="{FF2B5EF4-FFF2-40B4-BE49-F238E27FC236}">
                <a16:creationId xmlns:a16="http://schemas.microsoft.com/office/drawing/2014/main" id="{AA3329CE-A428-4742-B886-4B91C1436C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46499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38917" name="Rectangle 5">
            <a:extLst>
              <a:ext uri="{FF2B5EF4-FFF2-40B4-BE49-F238E27FC236}">
                <a16:creationId xmlns:a16="http://schemas.microsoft.com/office/drawing/2014/main" id="{92D610A8-624B-4F1C-8B16-2DBA409C80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03002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38918" name="Rectangle 6">
            <a:extLst>
              <a:ext uri="{FF2B5EF4-FFF2-40B4-BE49-F238E27FC236}">
                <a16:creationId xmlns:a16="http://schemas.microsoft.com/office/drawing/2014/main" id="{3646B09E-9810-4179-92CD-DBF2578ACE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4602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38919" name="Rectangle 7">
            <a:extLst>
              <a:ext uri="{FF2B5EF4-FFF2-40B4-BE49-F238E27FC236}">
                <a16:creationId xmlns:a16="http://schemas.microsoft.com/office/drawing/2014/main" id="{F2088A14-6E00-4A90-8FD1-32E25DACD6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16276" y="309987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38920" name="Rectangle 8">
            <a:extLst>
              <a:ext uri="{FF2B5EF4-FFF2-40B4-BE49-F238E27FC236}">
                <a16:creationId xmlns:a16="http://schemas.microsoft.com/office/drawing/2014/main" id="{93A51D5C-93E9-4303-B4D3-E89DE83B50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0284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38921" name="Rectangle 9">
            <a:extLst>
              <a:ext uri="{FF2B5EF4-FFF2-40B4-BE49-F238E27FC236}">
                <a16:creationId xmlns:a16="http://schemas.microsoft.com/office/drawing/2014/main" id="{DAB805FE-1D7C-4E5A-B051-BD6136A4D6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38922" name="Rectangle 10">
            <a:extLst>
              <a:ext uri="{FF2B5EF4-FFF2-40B4-BE49-F238E27FC236}">
                <a16:creationId xmlns:a16="http://schemas.microsoft.com/office/drawing/2014/main" id="{F8F1DE2F-917A-4C85-B5FA-9513A12E5F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295699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38923" name="Rectangle 11">
            <a:extLst>
              <a:ext uri="{FF2B5EF4-FFF2-40B4-BE49-F238E27FC236}">
                <a16:creationId xmlns:a16="http://schemas.microsoft.com/office/drawing/2014/main" id="{584AD6E2-6DAA-4219-9AC5-737634A9A3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0284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38924" name="Rectangle 12">
            <a:extLst>
              <a:ext uri="{FF2B5EF4-FFF2-40B4-BE49-F238E27FC236}">
                <a16:creationId xmlns:a16="http://schemas.microsoft.com/office/drawing/2014/main" id="{0AA5DECF-7E47-48A4-887D-89306847CE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4602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38925" name="Rectangle 13">
            <a:extLst>
              <a:ext uri="{FF2B5EF4-FFF2-40B4-BE49-F238E27FC236}">
                <a16:creationId xmlns:a16="http://schemas.microsoft.com/office/drawing/2014/main" id="{800F6395-2A1B-4EAF-B75D-DF2481EF5D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09987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38926" name="Rectangle 14">
            <a:extLst>
              <a:ext uri="{FF2B5EF4-FFF2-40B4-BE49-F238E27FC236}">
                <a16:creationId xmlns:a16="http://schemas.microsoft.com/office/drawing/2014/main" id="{E26356FA-710D-4BDD-9391-EFFAD4911E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25966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38927" name="Rectangle 15">
            <a:extLst>
              <a:ext uri="{FF2B5EF4-FFF2-40B4-BE49-F238E27FC236}">
                <a16:creationId xmlns:a16="http://schemas.microsoft.com/office/drawing/2014/main" id="{10033FCC-13B9-432C-A56D-E3CFEF619B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1393795"/>
            <a:ext cx="82296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Седловая точка функции Лагранжа. Двойственность.</a:t>
            </a:r>
          </a:p>
        </p:txBody>
      </p:sp>
      <p:sp>
        <p:nvSpPr>
          <p:cNvPr id="38928" name="Rectangle 16">
            <a:extLst>
              <a:ext uri="{FF2B5EF4-FFF2-40B4-BE49-F238E27FC236}">
                <a16:creationId xmlns:a16="http://schemas.microsoft.com/office/drawing/2014/main" id="{009D886F-E3FB-4BAB-8AC7-78096A683B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300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38929" name="Rectangle 17">
            <a:extLst>
              <a:ext uri="{FF2B5EF4-FFF2-40B4-BE49-F238E27FC236}">
                <a16:creationId xmlns:a16="http://schemas.microsoft.com/office/drawing/2014/main" id="{08115F82-5392-4F03-BBBB-CF4DF58E5D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38879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38930" name="Rectangle 18">
            <a:extLst>
              <a:ext uri="{FF2B5EF4-FFF2-40B4-BE49-F238E27FC236}">
                <a16:creationId xmlns:a16="http://schemas.microsoft.com/office/drawing/2014/main" id="{5ED0330F-87CC-496C-A915-56B8D48C97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300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38931" name="Rectangle 19">
            <a:extLst>
              <a:ext uri="{FF2B5EF4-FFF2-40B4-BE49-F238E27FC236}">
                <a16:creationId xmlns:a16="http://schemas.microsoft.com/office/drawing/2014/main" id="{182355BB-276A-4B93-8695-B2705A1F35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03635" y="29776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38932" name="Rectangle 20">
            <a:extLst>
              <a:ext uri="{FF2B5EF4-FFF2-40B4-BE49-F238E27FC236}">
                <a16:creationId xmlns:a16="http://schemas.microsoft.com/office/drawing/2014/main" id="{E63C102F-6E95-423C-A863-238C7F4EC6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4432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38933" name="Rectangle 21">
            <a:extLst>
              <a:ext uri="{FF2B5EF4-FFF2-40B4-BE49-F238E27FC236}">
                <a16:creationId xmlns:a16="http://schemas.microsoft.com/office/drawing/2014/main" id="{FB6ADC7A-6D91-4090-851E-10563113F3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34275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38934" name="Rectangle 22">
            <a:extLst>
              <a:ext uri="{FF2B5EF4-FFF2-40B4-BE49-F238E27FC236}">
                <a16:creationId xmlns:a16="http://schemas.microsoft.com/office/drawing/2014/main" id="{CC12E606-DEC9-423D-B91F-F7D6058EB6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7289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38935" name="Rectangle 23">
            <a:extLst>
              <a:ext uri="{FF2B5EF4-FFF2-40B4-BE49-F238E27FC236}">
                <a16:creationId xmlns:a16="http://schemas.microsoft.com/office/drawing/2014/main" id="{0088EBBB-EBB8-4000-9EE5-DB3FC2DF5D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2038" y="4581526"/>
            <a:ext cx="2476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/>
              <a:t>.</a:t>
            </a:r>
          </a:p>
        </p:txBody>
      </p:sp>
      <p:sp>
        <p:nvSpPr>
          <p:cNvPr id="38936" name="Rectangle 24">
            <a:extLst>
              <a:ext uri="{FF2B5EF4-FFF2-40B4-BE49-F238E27FC236}">
                <a16:creationId xmlns:a16="http://schemas.microsoft.com/office/drawing/2014/main" id="{645A654C-1355-4BA6-9EC6-E8C45A9E90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4338" y="3500438"/>
            <a:ext cx="5472112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Тогда функция Лагранжа может быть записана:</a:t>
            </a:r>
          </a:p>
        </p:txBody>
      </p:sp>
      <p:sp>
        <p:nvSpPr>
          <p:cNvPr id="38937" name="Rectangle 25">
            <a:extLst>
              <a:ext uri="{FF2B5EF4-FFF2-40B4-BE49-F238E27FC236}">
                <a16:creationId xmlns:a16="http://schemas.microsoft.com/office/drawing/2014/main" id="{2FD3C868-4F90-450C-B5A1-93AB08FC45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31951" y="1985963"/>
            <a:ext cx="650081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Рассмотрим упрощенную задачу выпуклого программирования.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Пусть заданы условия на </a:t>
            </a:r>
            <a:r>
              <a:rPr lang="en-US" altLang="ru-RU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ru-RU" altLang="ru-RU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ru-RU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ru-RU" altLang="ru-RU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  и </a:t>
            </a:r>
            <a:r>
              <a:rPr lang="en-US" altLang="ru-RU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ru-RU" altLang="ru-RU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altLang="ru-RU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ru-RU" altLang="ru-RU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 как и ранее.</a:t>
            </a:r>
          </a:p>
        </p:txBody>
      </p:sp>
      <p:sp>
        <p:nvSpPr>
          <p:cNvPr id="38938" name="Rectangle 26">
            <a:extLst>
              <a:ext uri="{FF2B5EF4-FFF2-40B4-BE49-F238E27FC236}">
                <a16:creationId xmlns:a16="http://schemas.microsoft.com/office/drawing/2014/main" id="{0430946C-F1DB-4F6C-9D3D-29CD7B822D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38939" name="Object 27">
            <a:extLst>
              <a:ext uri="{FF2B5EF4-FFF2-40B4-BE49-F238E27FC236}">
                <a16:creationId xmlns:a16="http://schemas.microsoft.com/office/drawing/2014/main" id="{10A1047D-C789-40BD-8886-840F2F25C33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03389" y="2636838"/>
          <a:ext cx="2447925" cy="1414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74" name="Формула" r:id="rId3" imgW="1270000" imgH="736600" progId="Equation.3">
                  <p:embed/>
                </p:oleObj>
              </mc:Choice>
              <mc:Fallback>
                <p:oleObj name="Формула" r:id="rId3" imgW="1270000" imgH="736600" progId="Equation.3">
                  <p:embed/>
                  <p:pic>
                    <p:nvPicPr>
                      <p:cNvPr id="38939" name="Object 27">
                        <a:extLst>
                          <a:ext uri="{FF2B5EF4-FFF2-40B4-BE49-F238E27FC236}">
                            <a16:creationId xmlns:a16="http://schemas.microsoft.com/office/drawing/2014/main" id="{10A1047D-C789-40BD-8886-840F2F25C33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3389" y="2636838"/>
                        <a:ext cx="2447925" cy="1414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940" name="Rectangle 28">
            <a:extLst>
              <a:ext uri="{FF2B5EF4-FFF2-40B4-BE49-F238E27FC236}">
                <a16:creationId xmlns:a16="http://schemas.microsoft.com/office/drawing/2014/main" id="{474D0E0E-3641-4D87-84C6-E222D26F3E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0284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38941" name="Object 29">
            <a:extLst>
              <a:ext uri="{FF2B5EF4-FFF2-40B4-BE49-F238E27FC236}">
                <a16:creationId xmlns:a16="http://schemas.microsoft.com/office/drawing/2014/main" id="{F55A9E61-0A57-4278-8379-22C1036989B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74826" y="3860801"/>
          <a:ext cx="2881313" cy="741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75" name="Формула" r:id="rId5" imgW="1739900" imgH="444500" progId="Equation.3">
                  <p:embed/>
                </p:oleObj>
              </mc:Choice>
              <mc:Fallback>
                <p:oleObj name="Формула" r:id="rId5" imgW="1739900" imgH="444500" progId="Equation.3">
                  <p:embed/>
                  <p:pic>
                    <p:nvPicPr>
                      <p:cNvPr id="38941" name="Object 29">
                        <a:extLst>
                          <a:ext uri="{FF2B5EF4-FFF2-40B4-BE49-F238E27FC236}">
                            <a16:creationId xmlns:a16="http://schemas.microsoft.com/office/drawing/2014/main" id="{F55A9E61-0A57-4278-8379-22C1036989B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4826" y="3860801"/>
                        <a:ext cx="2881313" cy="741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942" name="Rectangle 30">
            <a:extLst>
              <a:ext uri="{FF2B5EF4-FFF2-40B4-BE49-F238E27FC236}">
                <a16:creationId xmlns:a16="http://schemas.microsoft.com/office/drawing/2014/main" id="{F02F9DA9-3C2F-4CE2-B800-F8442D5291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83113" y="4076701"/>
            <a:ext cx="2476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/>
              <a:t>.</a:t>
            </a:r>
          </a:p>
        </p:txBody>
      </p:sp>
      <p:sp>
        <p:nvSpPr>
          <p:cNvPr id="38943" name="Rectangle 31">
            <a:extLst>
              <a:ext uri="{FF2B5EF4-FFF2-40B4-BE49-F238E27FC236}">
                <a16:creationId xmlns:a16="http://schemas.microsoft.com/office/drawing/2014/main" id="{0C53D88A-4E98-47B3-B13E-D8CD04C781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83113" y="3859214"/>
            <a:ext cx="4305300" cy="369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Рассмотрим случай, когда  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1, 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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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:</a:t>
            </a:r>
          </a:p>
        </p:txBody>
      </p:sp>
      <p:sp>
        <p:nvSpPr>
          <p:cNvPr id="38944" name="Rectangle 32">
            <a:extLst>
              <a:ext uri="{FF2B5EF4-FFF2-40B4-BE49-F238E27FC236}">
                <a16:creationId xmlns:a16="http://schemas.microsoft.com/office/drawing/2014/main" id="{BF869F53-F216-4484-AAF8-F31ECF5313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300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38945" name="Object 33">
            <a:extLst>
              <a:ext uri="{FF2B5EF4-FFF2-40B4-BE49-F238E27FC236}">
                <a16:creationId xmlns:a16="http://schemas.microsoft.com/office/drawing/2014/main" id="{9C0C9197-30FB-4C6B-B9E5-6F0C4F9F06F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03388" y="4541838"/>
          <a:ext cx="316865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76" name="Формула" r:id="rId7" imgW="1892300" imgH="228600" progId="Equation.3">
                  <p:embed/>
                </p:oleObj>
              </mc:Choice>
              <mc:Fallback>
                <p:oleObj name="Формула" r:id="rId7" imgW="1892300" imgH="228600" progId="Equation.3">
                  <p:embed/>
                  <p:pic>
                    <p:nvPicPr>
                      <p:cNvPr id="38945" name="Object 33">
                        <a:extLst>
                          <a:ext uri="{FF2B5EF4-FFF2-40B4-BE49-F238E27FC236}">
                            <a16:creationId xmlns:a16="http://schemas.microsoft.com/office/drawing/2014/main" id="{9C0C9197-30FB-4C6B-B9E5-6F0C4F9F06F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3388" y="4541838"/>
                        <a:ext cx="316865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946" name="Rectangle 34">
            <a:extLst>
              <a:ext uri="{FF2B5EF4-FFF2-40B4-BE49-F238E27FC236}">
                <a16:creationId xmlns:a16="http://schemas.microsoft.com/office/drawing/2014/main" id="{C1C08DC0-9EA5-40E9-B968-A070C57870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3586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pic>
        <p:nvPicPr>
          <p:cNvPr id="38947" name="Picture 35" descr="83">
            <a:extLst>
              <a:ext uri="{FF2B5EF4-FFF2-40B4-BE49-F238E27FC236}">
                <a16:creationId xmlns:a16="http://schemas.microsoft.com/office/drawing/2014/main" id="{AEA606F1-4D4B-4A77-ABD9-A12A282DAE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48300" y="4292601"/>
            <a:ext cx="4681538" cy="234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8948" name="Rectangle 36">
            <a:extLst>
              <a:ext uri="{FF2B5EF4-FFF2-40B4-BE49-F238E27FC236}">
                <a16:creationId xmlns:a16="http://schemas.microsoft.com/office/drawing/2014/main" id="{E84E6F7F-4731-4D37-9AB7-4AEC2BE944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5013325"/>
            <a:ext cx="3529013" cy="915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Таким образом седловая точка функции Лагранжа (функции Куна-Таккера) является </a:t>
            </a:r>
          </a:p>
        </p:txBody>
      </p:sp>
      <p:graphicFrame>
        <p:nvGraphicFramePr>
          <p:cNvPr id="38949" name="Object 37">
            <a:extLst>
              <a:ext uri="{FF2B5EF4-FFF2-40B4-BE49-F238E27FC236}">
                <a16:creationId xmlns:a16="http://schemas.microsoft.com/office/drawing/2014/main" id="{60C0E6F6-BF16-4BF8-B666-9169867652E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48114" y="5518151"/>
          <a:ext cx="935037" cy="474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77" name="Формула" r:id="rId10" imgW="520474" imgH="266584" progId="Equation.3">
                  <p:embed/>
                </p:oleObj>
              </mc:Choice>
              <mc:Fallback>
                <p:oleObj name="Формула" r:id="rId10" imgW="520474" imgH="266584" progId="Equation.3">
                  <p:embed/>
                  <p:pic>
                    <p:nvPicPr>
                      <p:cNvPr id="38949" name="Object 37">
                        <a:extLst>
                          <a:ext uri="{FF2B5EF4-FFF2-40B4-BE49-F238E27FC236}">
                            <a16:creationId xmlns:a16="http://schemas.microsoft.com/office/drawing/2014/main" id="{60C0E6F6-BF16-4BF8-B666-9169867652E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48114" y="5518151"/>
                        <a:ext cx="935037" cy="474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950" name="Rectangle 38">
            <a:extLst>
              <a:ext uri="{FF2B5EF4-FFF2-40B4-BE49-F238E27FC236}">
                <a16:creationId xmlns:a16="http://schemas.microsoft.com/office/drawing/2014/main" id="{50A261BC-2907-47B9-A452-6019129A9D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98814" y="3562350"/>
            <a:ext cx="269875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200">
                <a:cs typeface="Times New Roman" panose="02020603050405020304" pitchFamily="18" charset="0"/>
              </a:rPr>
              <a:t>. </a:t>
            </a:r>
            <a:endParaRPr lang="ru-RU" altLang="ru-RU" sz="1800"/>
          </a:p>
        </p:txBody>
      </p:sp>
      <p:sp>
        <p:nvSpPr>
          <p:cNvPr id="38951" name="Rectangle 39">
            <a:extLst>
              <a:ext uri="{FF2B5EF4-FFF2-40B4-BE49-F238E27FC236}">
                <a16:creationId xmlns:a16="http://schemas.microsoft.com/office/drawing/2014/main" id="{96745150-1554-4C05-8676-405C19C465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38952" name="Rectangle 40">
            <a:extLst>
              <a:ext uri="{FF2B5EF4-FFF2-40B4-BE49-F238E27FC236}">
                <a16:creationId xmlns:a16="http://schemas.microsoft.com/office/drawing/2014/main" id="{DE8E83B4-DA1C-4872-9275-D03C15CF8B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9325" y="5603876"/>
            <a:ext cx="2476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/>
              <a:t>.</a:t>
            </a:r>
          </a:p>
        </p:txBody>
      </p:sp>
      <p:sp>
        <p:nvSpPr>
          <p:cNvPr id="38953" name="Rectangle 41">
            <a:extLst>
              <a:ext uri="{FF2B5EF4-FFF2-40B4-BE49-F238E27FC236}">
                <a16:creationId xmlns:a16="http://schemas.microsoft.com/office/drawing/2014/main" id="{64DFBAFA-5BBD-459E-90A8-C01B686B8C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5949950"/>
            <a:ext cx="3529013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Именно эта точка является решением ЗВП. </a:t>
            </a:r>
          </a:p>
        </p:txBody>
      </p:sp>
    </p:spTree>
    <p:extLst>
      <p:ext uri="{BB962C8B-B14F-4D97-AF65-F5344CB8AC3E}">
        <p14:creationId xmlns:p14="http://schemas.microsoft.com/office/powerpoint/2010/main" val="13669086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9E0BE3B-3A90-4133-A793-DB9A8C9A20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ru-RU" alt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Постановка задачи</a:t>
            </a:r>
            <a:br>
              <a:rPr lang="en-US" alt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alt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многомерной оптимизации</a:t>
            </a:r>
            <a:endParaRPr lang="ru-RU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0D1ED755-A80A-478E-BABE-6BAF97F2B64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981200" y="1600200"/>
                <a:ext cx="8229600" cy="5257800"/>
              </a:xfrm>
            </p:spPr>
            <p:txBody>
              <a:bodyPr/>
              <a:lstStyle/>
              <a:p>
                <a:pPr marL="0" indent="0" algn="ctr">
                  <a:buNone/>
                </a:pPr>
                <a:r>
                  <a:rPr lang="ru-RU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Рассмотрим задачи нелинейной оптимизации в общем случае.</a:t>
                </a:r>
              </a:p>
              <a:p>
                <a:pPr marL="0" indent="0">
                  <a:buNone/>
                </a:pPr>
                <a:r>
                  <a:rPr lang="ru-RU" sz="2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Пусть </a:t>
                </a:r>
                <a14:m>
                  <m:oMath xmlns:m="http://schemas.openxmlformats.org/officeDocument/2006/math">
                    <m:r>
                      <a:rPr lang="en-US" sz="23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23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n-US" sz="23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3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23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3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sz="23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(1)</m:t>
                                </m:r>
                              </m:sup>
                            </m:sSup>
                            <m:r>
                              <a:rPr lang="en-US" sz="23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en-US" sz="23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3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…,</m:t>
                                </m:r>
                                <m:r>
                                  <a:rPr lang="en-US" sz="23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sz="23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(</m:t>
                                </m:r>
                                <m:r>
                                  <a:rPr lang="en-US" sz="23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𝑛</m:t>
                                </m:r>
                                <m:r>
                                  <a:rPr lang="en-US" sz="23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)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sz="23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sup>
                    </m:sSup>
                    <m:r>
                      <a:rPr lang="en-US" sz="23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∈</m:t>
                    </m:r>
                    <m:sSup>
                      <m:sSupPr>
                        <m:ctrlPr>
                          <a:rPr lang="en-US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p>
                        <m:r>
                          <a:rPr lang="en-US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sz="2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3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𝑆</m:t>
                    </m:r>
                    <m:r>
                      <a:rPr lang="en-US" sz="23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sz="2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– </a:t>
                </a:r>
                <a:r>
                  <a:rPr lang="ru-RU" sz="2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некоторое множество из пространства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p>
                        <m:r>
                          <a:rPr lang="en-US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ru-RU" sz="2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Пусть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3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3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a:rPr lang="ru-RU" sz="23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d>
                      <m:dPr>
                        <m:ctrlPr>
                          <a:rPr lang="en-US" sz="23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3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  <m:r>
                      <a:rPr lang="en-US" sz="23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…,</m:t>
                    </m:r>
                  </m:oMath>
                </a14:m>
                <a:r>
                  <a:rPr lang="ru-RU" sz="23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3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3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3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sub>
                    </m:sSub>
                    <m:d>
                      <m:dPr>
                        <m:ctrlPr>
                          <a:rPr lang="en-US" sz="23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3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  <m:r>
                      <a:rPr lang="en-US" sz="23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:</m:t>
                    </m:r>
                    <m:r>
                      <a:rPr lang="en-US" sz="23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𝑆</m:t>
                    </m:r>
                    <m:r>
                      <a:rPr lang="en-US" sz="23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  <m:sSup>
                      <m:sSupPr>
                        <m:ctrlPr>
                          <a:rPr lang="en-US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p>
                        <m:r>
                          <a:rPr lang="en-US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p>
                    </m:sSup>
                    <m:r>
                      <a:rPr lang="ru-RU" sz="230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. </m:t>
                    </m:r>
                  </m:oMath>
                </a14:m>
                <a:r>
                  <a:rPr lang="ru-RU" sz="2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Тогда задачу минимизации можно рассматривать в следующем виде 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en-US" sz="23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3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min</m:t>
                        </m:r>
                      </m:fName>
                      <m:e>
                        <m:sSub>
                          <m:sSubPr>
                            <m:ctrlPr>
                              <a:rPr lang="en-US" sz="23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3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sz="23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23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sz="23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  <m:r>
                          <a:rPr lang="en-US" sz="23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e>
                    </m:func>
                    <m:r>
                      <a:rPr lang="en-US" sz="23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ru-RU" sz="2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при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3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3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3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2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(x)</a:t>
                </a:r>
                <a14:m>
                  <m:oMath xmlns:m="http://schemas.openxmlformats.org/officeDocument/2006/math">
                    <m:r>
                      <a:rPr lang="en-US" sz="23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≤=</m:t>
                    </m:r>
                  </m:oMath>
                </a14:m>
                <a:r>
                  <a:rPr lang="en-US" sz="2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0, </a:t>
                </a:r>
                <a14:m>
                  <m:oMath xmlns:m="http://schemas.openxmlformats.org/officeDocument/2006/math">
                    <m:r>
                      <a:rPr lang="en-US" sz="23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𝑗</m:t>
                    </m:r>
                    <m:r>
                      <a:rPr lang="en-US" sz="23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=1,…,</m:t>
                    </m:r>
                    <m:r>
                      <a:rPr lang="en-US" sz="23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</m:t>
                    </m:r>
                    <m:r>
                      <a:rPr lang="en-US" sz="23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r>
                      <a:rPr lang="en-US" sz="23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23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∈</m:t>
                    </m:r>
                    <m:r>
                      <a:rPr lang="en-US" sz="23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𝑆</m:t>
                    </m:r>
                    <m:r>
                      <a:rPr lang="en-US" sz="23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r>
                  <a:rPr lang="ru-RU" sz="23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    (1)</a:t>
                </a:r>
                <a:endParaRPr lang="en-US" sz="2300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u-RU" sz="23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3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3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d>
                      <m:dPr>
                        <m:ctrlPr>
                          <a:rPr lang="en-US" sz="23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3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sz="2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- </a:t>
                </a:r>
                <a:r>
                  <a:rPr lang="ru-RU" sz="2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будем называть </a:t>
                </a:r>
                <a:r>
                  <a:rPr lang="ru-RU" sz="23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целевой функцией</a:t>
                </a:r>
                <a:r>
                  <a:rPr lang="ru-RU" sz="2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Функции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3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3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3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2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(x)</a:t>
                </a:r>
                <a14:m>
                  <m:oMath xmlns:m="http://schemas.openxmlformats.org/officeDocument/2006/math">
                    <m:r>
                      <a:rPr lang="en-US" sz="23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≤=</m:t>
                    </m:r>
                  </m:oMath>
                </a14:m>
                <a:r>
                  <a:rPr lang="en-US" sz="2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r>
                  <a:rPr lang="ru-RU" sz="2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как было принято нами ранее, обозначим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3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3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𝑔</m:t>
                        </m:r>
                      </m:e>
                      <m:sub>
                        <m:r>
                          <a:rPr lang="en-US" sz="23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2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(x)</a:t>
                </a:r>
                <a14:m>
                  <m:oMath xmlns:m="http://schemas.openxmlformats.org/officeDocument/2006/math">
                    <m:r>
                      <a:rPr lang="en-US" sz="23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</m:oMath>
                </a14:m>
                <a:r>
                  <a:rPr lang="en-US" sz="2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 </a:t>
                </a:r>
                <a:r>
                  <a:rPr lang="ru-RU" sz="2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или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3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3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𝑔</m:t>
                        </m:r>
                      </m:e>
                      <m:sub>
                        <m:r>
                          <a:rPr lang="en-US" sz="23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2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(x)</a:t>
                </a:r>
                <a:r>
                  <a:rPr lang="ru-RU" sz="2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:r>
                  <a:rPr lang="en-US" sz="2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r>
                  <a:rPr lang="ru-RU" sz="2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r>
                  <a:rPr lang="en-US" sz="2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2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Они называются </a:t>
                </a:r>
                <a:r>
                  <a:rPr lang="ru-RU" sz="23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функциями ограничений </a:t>
                </a:r>
                <a:r>
                  <a:rPr lang="ru-RU" sz="2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и зависят от типа ограничений – равенств или неравенств. Множество </a:t>
                </a:r>
                <a14:m>
                  <m:oMath xmlns:m="http://schemas.openxmlformats.org/officeDocument/2006/math">
                    <m:r>
                      <a:rPr lang="en-US" sz="23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𝑆</m:t>
                    </m:r>
                    <m:r>
                      <a:rPr lang="en-US" sz="23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−</m:t>
                    </m:r>
                  </m:oMath>
                </a14:m>
                <a:endParaRPr lang="ru-RU" sz="23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ru-RU" sz="2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называется </a:t>
                </a:r>
                <a:r>
                  <a:rPr lang="ru-RU" sz="23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базовым допустимым множеством</a:t>
                </a:r>
                <a:r>
                  <a:rPr lang="ru-RU" sz="2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а множество </a:t>
                </a:r>
                <a14:m>
                  <m:oMath xmlns:m="http://schemas.openxmlformats.org/officeDocument/2006/math">
                    <m:r>
                      <a:rPr lang="en-US" sz="23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𝑄</m:t>
                    </m:r>
                  </m:oMath>
                </a14:m>
                <a:endParaRPr lang="en-US" sz="23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3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𝑄</m:t>
                    </m:r>
                    <m:r>
                      <a:rPr lang="en-US" sz="23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ctrlPr>
                          <a:rPr lang="en-US" sz="23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3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  <m:r>
                          <a:rPr lang="en-US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∈</m:t>
                        </m:r>
                        <m:r>
                          <a:rPr lang="en-US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  <m:r>
                          <a:rPr lang="en-US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|</m:t>
                        </m:r>
                        <m:r>
                          <m:rPr>
                            <m:nor/>
                          </m:rPr>
                          <a:rPr lang="en-US" sz="2300" dirty="0">
                            <a:cs typeface="Times New Roman" panose="020206030504050203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sz="23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3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𝑔</m:t>
                            </m:r>
                          </m:e>
                          <m:sub>
                            <m:r>
                              <a:rPr lang="en-US" sz="23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sz="23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sz="23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x</m:t>
                        </m:r>
                        <m:r>
                          <m:rPr>
                            <m:nor/>
                          </m:rPr>
                          <a:rPr lang="en-US" sz="23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  <m:r>
                          <a:rPr lang="en-US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≤</m:t>
                        </m:r>
                        <m:r>
                          <m:rPr>
                            <m:nor/>
                          </m:rPr>
                          <a:rPr lang="en-US" sz="23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0 , </m:t>
                        </m:r>
                        <m:r>
                          <m:rPr>
                            <m:nor/>
                          </m:rPr>
                          <a:rPr lang="en-US" sz="2300" i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j</m:t>
                        </m:r>
                        <m:r>
                          <m:rPr>
                            <m:nor/>
                          </m:rPr>
                          <a:rPr lang="en-US" sz="2300" i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m:rPr>
                            <m:nor/>
                          </m:rPr>
                          <a:rPr lang="en-US" sz="23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1,…,</m:t>
                        </m:r>
                        <m:r>
                          <m:rPr>
                            <m:nor/>
                          </m:rPr>
                          <a:rPr lang="en-US" sz="2300" i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m</m:t>
                        </m:r>
                      </m:e>
                    </m:d>
                  </m:oMath>
                </a14:m>
                <a:r>
                  <a:rPr lang="ru-RU" sz="23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r>
                  <a:rPr lang="ru-RU" sz="2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Называется просто</a:t>
                </a:r>
                <a:r>
                  <a:rPr lang="ru-RU" sz="23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допустимым множеством.</a:t>
                </a: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0D1ED755-A80A-478E-BABE-6BAF97F2B64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981200" y="1600200"/>
                <a:ext cx="8229600" cy="5257800"/>
              </a:xfrm>
              <a:blipFill>
                <a:blip r:embed="rId2"/>
                <a:stretch>
                  <a:fillRect l="-1037" t="-162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4029901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</TotalTime>
  <Words>1051</Words>
  <Application>Microsoft Office PowerPoint</Application>
  <PresentationFormat>Широкоэкранный</PresentationFormat>
  <Paragraphs>121</Paragraphs>
  <Slides>14</Slides>
  <Notes>0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22" baseType="lpstr">
      <vt:lpstr>Arial</vt:lpstr>
      <vt:lpstr>Calibri</vt:lpstr>
      <vt:lpstr>Calibri Light</vt:lpstr>
      <vt:lpstr>Cambria Math</vt:lpstr>
      <vt:lpstr>Times New Roman</vt:lpstr>
      <vt:lpstr>YS Text</vt:lpstr>
      <vt:lpstr>Тема Office</vt:lpstr>
      <vt:lpstr>Формула</vt:lpstr>
      <vt:lpstr>ТЕОРИЯ ИСКУССТВЕННЫХ НЕЙРОННЫХ СЕТЕЙ Каганов Ю.Т. к.т.н., доцент каф. ИУ-9 «Теоретическая информатика и компьютерные технологии» </vt:lpstr>
      <vt:lpstr>ПЛАН ЛЕКЦИИ</vt:lpstr>
      <vt:lpstr>Основная задача регуляризации</vt:lpstr>
      <vt:lpstr>Постановка задачи регуляризации</vt:lpstr>
      <vt:lpstr>Необходимые и достаточные условия существования экстремума функции</vt:lpstr>
      <vt:lpstr>Необходимые и достаточные условия существования экстремума функции.</vt:lpstr>
      <vt:lpstr>Необходимые и достаточные условия существования экстремума функции.</vt:lpstr>
      <vt:lpstr>Необходимые и достаточные условия существования экстремума функции.</vt:lpstr>
      <vt:lpstr>Задачи выпуклого программирования</vt:lpstr>
      <vt:lpstr>Задачи выпуклого программирования.</vt:lpstr>
      <vt:lpstr>Функция Куна-Таккера (функция Лагранжа) для задач выпуклого программирования (1951г.)</vt:lpstr>
      <vt:lpstr>Теорема Каруша-Куна-Таккера</vt:lpstr>
      <vt:lpstr>Теория двойственности</vt:lpstr>
      <vt:lpstr>Постановка задачи многомерной оптимизации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ТЕОРИЯ ИСКУССТВЕННЫХ НЕЙРОННЫХ СЕТЕЙ Каганов Ю.Т. к.т.н., доцент каф. ИУ-9 «Теоретическая информатика и компьютерные технологии»</dc:title>
  <dc:creator>Yuriy Kaganov</dc:creator>
  <cp:lastModifiedBy>Yuriy Kaganov</cp:lastModifiedBy>
  <cp:revision>21</cp:revision>
  <dcterms:created xsi:type="dcterms:W3CDTF">2022-09-19T18:39:18Z</dcterms:created>
  <dcterms:modified xsi:type="dcterms:W3CDTF">2024-11-06T20:34:41Z</dcterms:modified>
</cp:coreProperties>
</file>