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mblem_n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05156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182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</a:rPr>
              <a:t>Министерство науки и высшего образования Российской Федерации
Федеральное государственное автономное образовательное учреждение высшего образования
«Московский государственный технический университет имени Н.Э. Баумана
(национальный исследовательский университет)» (МГТУ им. Н.Э. Баумана)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i="0" dirty="0" smtClean="0">
                <a:solidFill>
                  <a:srgbClr val="000000"/>
                </a:solidFill>
                <a:latin typeface="Times New Roman"/>
              </a:rPr>
              <a:t>Компилятор базисного подмножества Рефала-5</a:t>
            </a:r>
          </a:p>
          <a:p>
            <a:pPr algn="ctr"/>
            <a:r>
              <a:rPr lang="ru-RU" sz="3200" b="1" dirty="0" smtClean="0">
                <a:solidFill>
                  <a:srgbClr val="000000"/>
                </a:solidFill>
                <a:latin typeface="Times New Roman"/>
              </a:rPr>
              <a:t>с представлением данных,</a:t>
            </a:r>
          </a:p>
          <a:p>
            <a:pPr algn="ctr"/>
            <a:r>
              <a:rPr lang="ru-RU" sz="3200" b="1" dirty="0">
                <a:solidFill>
                  <a:srgbClr val="000000"/>
                </a:solidFill>
                <a:latin typeface="Times New Roman"/>
              </a:rPr>
              <a:t>и</a:t>
            </a:r>
            <a:r>
              <a:rPr lang="ru-RU" sz="3200" b="1" i="0" dirty="0" smtClean="0">
                <a:solidFill>
                  <a:srgbClr val="000000"/>
                </a:solidFill>
                <a:latin typeface="Times New Roman"/>
              </a:rPr>
              <a:t>спользующим раскрученные очереди</a:t>
            </a:r>
            <a:endParaRPr sz="32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Times New Roman"/>
              </a:rPr>
              <a:t>Выпускная квалификационная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84632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000000"/>
                </a:solidFill>
                <a:latin typeface="Times New Roman"/>
              </a:rPr>
              <a:t>Выполнил: Аринин М. А., ИУ9-82Б</a:t>
            </a:r>
          </a:p>
          <a:p>
            <a:pPr algn="r"/>
            <a:r>
              <a:rPr sz="1800" b="0" i="0">
                <a:solidFill>
                  <a:srgbClr val="000000"/>
                </a:solidFill>
                <a:latin typeface="Times New Roman"/>
              </a:rPr>
              <a:t>Руководитель: Коновалов А. 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Цель и объект исследования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Объект исследования: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Программная система трансляции и исполнения программ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на базисном подмножестве языка Рефал-5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Цель работы: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Разработать компилятор базисного подмножества Рефала-5,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использующий раскрученную двустороннюю очередь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для представления объектных выражений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Подтвердить корректность и работоспособность реализации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автоматическими тестами и сравнительным замером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производительности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Задачи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1. Изучить базовые конструкции и терминологию языка Рефал-5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2. Исследовать существующие представления объектных выражений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   и обсудить их компромиссы по ключевым операциям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3. Обосновать выбор раскрученной двусторонней очереди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   как представления, амортизированно покрывающего все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   основные операции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4. Спроектировать архитектуру: состав модулей, интерфейсы,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   форматы диагностических сообщений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5. Реализовать компилятор на платформе JVM (Java 25 LTS)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6. Построить автоматический набор тестов и провести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   сравнительный прогон с двумя альтернативными реализациями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Язык Рефал-5: основные понятия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Программа — набор функций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Функция — предложения вида «образец = результат»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При вызове: первое подходящее правило просматривается сверху вниз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Переменные образца: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s.X  —  один символ (атомарный терм)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t.X  —  один терм (в том числе скобочный)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e.X  —  цепочка термов произвольной длины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Ключевые операции при исполнении: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Отделение терма с начала / с конца выражения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Конкатенация двух выражений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Повторное использование значения переменной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Представления объектных выражений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Классическое (плоское двусвязное):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+ O(1) на концах,  + O(1) конкатенация,  − O(N) копирование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Компромиссное (подвешенные скобки):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+ снижает копирование до верхнего уровня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− сложное управление памятью (счётчики ссылок)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Массивное (с дырками):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+ O(1) копирование переменной,  − конкатенация O(|X|+|Y|)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Дерево конкатенаций (rope):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+ O(1) конкатенация и копирование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− O(log N) операции на концах — дорого для e-переменных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Вывод: ни одно представление не покрывает все три требования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Выбранное представление: раскрученная двусторонняя очередь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Структура по Окасаки — два уровня вложенности: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1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Мелкий уровень (ShallowDeque):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Циклический массив, CAPACITY = 9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Операции на концах — сдвиг индексов, строго O(1)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Глубокий уровень (DeepDeque):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Тройка ⟨front, mid, back⟩: крайние — мелкие буферы,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mid — очередь мелких буферов (рекурсивно)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Инвариант: буферы mid заполнены не менее чем наполовину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Амортизированные оценки: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Отделение терма с конца — O(1),  Конкатенация — O(1)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Повторное использование переменной — O(1) (структурное разделение)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Архитектура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Цепочка трансляции: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Исходный текст → Лексер → Парсер → Семантика → Исполнение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Модули (Java-пакеты):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refal.deque    — Expr&lt;T&gt;, ShallowDeque, DeepDeque, ExprOps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refal.ast      — Term, Var, Br, Call, Rule, Func, Program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refal.lexer    — Lexer, Token, LexException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refal.parser   — Parser, ParseException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refal.semantic — SemanticChecker, SemanticException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refal.runtime  — Matcher, Substitutor, Runtime, Builtins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refal.Main     — интерфейс командной строки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Внешний рассахариватель r5fw-desugar: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Переводит расширенный синтаксис к базисному подмножеству;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интерпретатор принимает его результат без изменений ядра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Ключевые решения реализации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Sealed interface Expr&lt;T&gt;: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Два наследника: ShallowDeque&lt;T&gt; и DeepDeque&lt;T&gt;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Компилятор Java 25 проверяет полноту switch — default не нужна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Конкатенация (ExprOps.concat) — четыре случая: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Shallow+Shallow, Shallow+Deep, Deep+Shallow, Deep+Deep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Рекурсивное слияние mid-очередей, O(1) амортизированно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Оптимизация BulkPassive: O(N²) → O(N)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Без: подстановка переменной = N вызовов pushFront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С:   всё значение — один объект BulkPassive на стек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При сборке аргументов: Expr.concat(bp.items(), argsExpr) — O(1) аморт.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Цикл нормализации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Двустековая схема: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right — необработанные элементы поля зрения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left  — пассивные (уже нормализованные) элементы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Единицы поля зрения (ViewTerm):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Passive / BulkPassive  — пассивные термы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AngOpen(fn) / AngClose — маркеры вызова функции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ParenOpen / ParenClose — маркеры скобочного терма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Шаг при встрече AngClose: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1. Снять с left элементы до парного AngOpen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2. Собрать argsExpr через concat — O(1) амортизированно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3. Встроенная функция → выполнить примитив → в right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4. Пользовательская → найти правило, подставить → в right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Итеративность — независимость от глубины JVM-стека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Стратегия и состав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Три уровня: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1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Юнит-тесты — компоненты в изоляции: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ShallowDeque, DeepDeque, ExprOps.concat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Лексер, парсер, семантика; Matcher, Substitutor, Builtins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Интеграционные тесты: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Полная цепочка «разбор → семантика → нормализация»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Проверка вывода и кодов возврата CLI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Совместимостные тесты (AutotestsRunnerTest):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Интерпретатор запускается как внешний процесс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81 программа из refal-5j и refal-5-framework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Таймаут 20 секунд на программу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Итого: 224 теста.  Инструменты: JUnit 5, AssertJ, JaCoCo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Результаты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mvn</a:t>
            </a:r>
            <a:r>
              <a:rPr sz="2000" b="1" i="0">
                <a:solidFill>
                  <a:srgbClr val="000000"/>
                </a:solidFill>
                <a:latin typeface="Times New Roman"/>
              </a:rPr>
              <a:t> test: 224 / </a:t>
            </a:r>
            <a:r>
              <a:rPr sz="2000" b="1" i="0" smtClean="0">
                <a:solidFill>
                  <a:srgbClr val="000000"/>
                </a:solidFill>
                <a:latin typeface="Times New Roman"/>
              </a:rPr>
              <a:t>224</a:t>
            </a:r>
            <a:endParaRPr sz="2000" b="1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1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 dirty="0">
                <a:solidFill>
                  <a:srgbClr val="000000"/>
                </a:solidFill>
                <a:latin typeface="Times New Roman"/>
              </a:rPr>
              <a:t>MUST_PASS-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программы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>
                <a:solidFill>
                  <a:srgbClr val="000000"/>
                </a:solidFill>
                <a:latin typeface="Times New Roman"/>
              </a:rPr>
              <a:t>refal-5j:    5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из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5  —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пройдены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все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обязательные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desugared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:  18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из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18 —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пройдены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все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обязательные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Покрытие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кода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 (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JaCoCo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):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refal.deque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:      86,7 %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инструкций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 /  72,9 %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ветки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refal.lexer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:      90,3 %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инструкций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 /  80,9 %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ветки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refal.parser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:     86,5 %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инструкций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 /  76,1 %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ветки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refal.semantic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:   94,8 %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инструкций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 /  95,5 %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ветки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refal.runtime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:    85,6 %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инструкций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 /  74,7 %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ветки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Итого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по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проекту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: 87,3 % 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инструкций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  /  76,9 % 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ветки</a:t>
            </a:r>
            <a:endParaRPr sz="2000" b="1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1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Пороги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pom.xml (≥70 %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инструкций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, ≥55 %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ветки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) —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превышены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Сравнительный прогон: Loop/Select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22960"/>
            <a:ext cx="53949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Синтетический тест: N итераций с растущим аккумулятором e.Acc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На каждом шаге e.Acc используется в двух аргументах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endParaRPr sz="1800" b="0" i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Ожидаемые сложности:</a:t>
            </a:r>
          </a:p>
          <a:p>
            <a:pPr marL="411480" indent="0">
              <a:spcBef>
                <a:spcPts val="100"/>
              </a:spcBef>
              <a:spcAft>
                <a:spcPts val="1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Список (PZ, R5J):  O(N²) — копирование e.Acc</a:t>
            </a:r>
          </a:p>
          <a:p>
            <a:pPr marL="411480" indent="0">
              <a:spcBef>
                <a:spcPts val="100"/>
              </a:spcBef>
              <a:spcAft>
                <a:spcPts val="1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Раскрученная очередь (наша):  O(N)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endParaRPr sz="1800" b="0" i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Результаты (медиана 3 прогонов, мс):</a:t>
            </a:r>
          </a:p>
          <a:p>
            <a:pPr marL="411480" indent="0">
              <a:spcBef>
                <a:spcPts val="100"/>
              </a:spcBef>
              <a:spcAft>
                <a:spcPts val="1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N=10 000:  наша 254,   PZ  277,   R5J  440</a:t>
            </a:r>
          </a:p>
          <a:p>
            <a:pPr marL="411480" indent="0">
              <a:spcBef>
                <a:spcPts val="100"/>
              </a:spcBef>
              <a:spcAft>
                <a:spcPts val="1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N=15 000:  наша 297,   PZ  632,   R5J  830</a:t>
            </a:r>
          </a:p>
          <a:p>
            <a:pPr marL="411480" indent="0">
              <a:spcBef>
                <a:spcPts val="100"/>
              </a:spcBef>
              <a:spcAft>
                <a:spcPts val="1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N=20 000:  наша 302,   PZ 1059,   R5J 1348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endParaRPr sz="1800" b="1" i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При N=20 000:</a:t>
            </a:r>
          </a:p>
          <a:p>
            <a:pPr marL="411480" indent="0">
              <a:spcBef>
                <a:spcPts val="100"/>
              </a:spcBef>
              <a:spcAft>
                <a:spcPts val="1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PZ в 3,5 раза медленнее нашей</a:t>
            </a:r>
          </a:p>
          <a:p>
            <a:pPr marL="411480" indent="0">
              <a:spcBef>
                <a:spcPts val="100"/>
              </a:spcBef>
              <a:spcAft>
                <a:spcPts val="1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R5J в 4,5 раза медленнее нашей</a:t>
            </a:r>
          </a:p>
        </p:txBody>
      </p:sp>
      <p:pic>
        <p:nvPicPr>
          <p:cNvPr id="5" name="Picture 4" descr="loop-select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822960"/>
            <a:ext cx="6153912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Сравнительный прогон: рассахариватель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Реальная программа: рассахариватель refal-5-framework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5 модулей, ~4200 строк; вход: R5FW-Parser.ref (1038 строк)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Ожидаемый выход: 1631 строка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Способы исполнения: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refal5q-impl — интерпретация рассахаренных .ref-файлов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Refal-5 PZ   — компиляция (refc) + исполнение (refgo)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Refal-5J     — компиляция (r5jc + javac) + исполнение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Результаты (медиана 3 прогонов):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refal5q-impl:  2055 мс  (интерпретация)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Refal-5 PZ:     369 мс  (компиляция, ×5,6 быстрее)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Refal-5J:      1632 мс  (компиляция, ×1,3 быстрее)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Все три реализации дают эквивалентный выход (1631 строка)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Разница — компиляция vs интерпретация, не структура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1. Рассмотрены пять представлений объектных выражений;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   обоснован выбор раскрученной двусторонней очереди по Окасаки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2. Разработан компилятор базисного подмножества Рефала-5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   (Maven-проект refal5q-impl, ~3500 строк основного кода)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3. Построен автоматический набор из 224 тестов;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   покрытие 87,3 % инструкций / 76,9 % ветки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4. Синтетический прогон Loop/Select подтвердил O(N) против O(N²);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   при N = 20 000 выигрыш 3,5–4,5 раза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5. Прогон рассахаривателя подтвердил корректность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   на реальной программе в 4200 строк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Направления дальнейшего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901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2000" b="1" i="0" dirty="0">
                <a:solidFill>
                  <a:srgbClr val="000000"/>
                </a:solidFill>
                <a:latin typeface="Times New Roman"/>
              </a:rPr>
              <a:t>1. 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Компиляция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 в JVM-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байт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код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Порождение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отдельного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Java-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метода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для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каждого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правила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Снизит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постоянный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множитель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устранит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разрыв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с R5J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на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задачах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без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квадратичного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паттерна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 dirty="0">
                <a:solidFill>
                  <a:srgbClr val="000000"/>
                </a:solidFill>
                <a:latin typeface="Times New Roman"/>
              </a:rPr>
              <a:t>2. 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Поддержка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модульной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системы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 Рефала-5: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Директива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*$FROM,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квалифицированные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имена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функций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Сейчас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поддерживается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конкатенация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файлов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через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+,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но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не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полноценная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модульная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система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 i="0" dirty="0">
                <a:solidFill>
                  <a:srgbClr val="000000"/>
                </a:solidFill>
                <a:latin typeface="Times New Roman"/>
              </a:rPr>
              <a:t>3. 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Расширение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библиотеки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встроенных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0000"/>
                </a:solidFill>
                <a:latin typeface="Times New Roman"/>
              </a:rPr>
              <a:t>функций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>
                <a:solidFill>
                  <a:srgbClr val="000000"/>
                </a:solidFill>
                <a:latin typeface="Times New Roman"/>
              </a:rPr>
              <a:t>Br/Dg,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шифр-функции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файловый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ввод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/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вывод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marL="411480" indent="0" algn="l">
              <a:spcBef>
                <a:spcPts val="100"/>
              </a:spcBef>
              <a:spcAft>
                <a:spcPts val="100"/>
              </a:spcAft>
            </a:pP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Архитектура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регистрации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допускает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это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без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изменений</a:t>
            </a:r>
            <a:r>
              <a:rPr sz="20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Times New Roman"/>
              </a:rPr>
              <a:t>ядра</a:t>
            </a:r>
            <a:endParaRPr sz="20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0"/>
              </a:spcBef>
              <a:spcAft>
                <a:spcPts val="100"/>
              </a:spcAft>
            </a:pPr>
            <a:endParaRPr sz="20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57432" y="6446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1277</Words>
  <Application>Microsoft Office PowerPoint</Application>
  <PresentationFormat>Произвольный</PresentationFormat>
  <Paragraphs>233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cp:lastModifiedBy>Учетная запись Майкрософт</cp:lastModifiedBy>
  <cp:revision>4</cp:revision>
  <dcterms:created xsi:type="dcterms:W3CDTF">2013-01-27T09:14:16Z</dcterms:created>
  <dcterms:modified xsi:type="dcterms:W3CDTF">2026-06-19T23:13:37Z</dcterms:modified>
  <cp:category/>
</cp:coreProperties>
</file>