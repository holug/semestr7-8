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85" r:id="rId5"/>
    <p:sldId id="283" r:id="rId6"/>
    <p:sldId id="298" r:id="rId7"/>
    <p:sldId id="286" r:id="rId8"/>
    <p:sldId id="279" r:id="rId9"/>
    <p:sldId id="282" r:id="rId10"/>
    <p:sldId id="287" r:id="rId11"/>
    <p:sldId id="288" r:id="rId12"/>
    <p:sldId id="274" r:id="rId13"/>
    <p:sldId id="289" r:id="rId14"/>
    <p:sldId id="291" r:id="rId15"/>
    <p:sldId id="276" r:id="rId16"/>
    <p:sldId id="299" r:id="rId17"/>
    <p:sldId id="300" r:id="rId18"/>
    <p:sldId id="303" r:id="rId19"/>
    <p:sldId id="304" r:id="rId20"/>
    <p:sldId id="302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E30774-E467-1890-BB96-264042807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CF7394-663F-AF6C-C7DF-BCA0C3048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EC8F33-2729-A290-39D0-5DEE9C56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2A6F-FF2A-4643-9CE0-2DCF8FC6B69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D99437-49AD-AA4D-E46A-3AE5EF760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25A867-2C9A-4C0C-387F-78B7A44C9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301B6-2CBF-4370-9311-992537CFAD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3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0A258-E46D-1860-4D47-EBE1FA8F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5CD3D-677C-28B8-B833-6B8EC1F7A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403DA7-7BE2-A903-8A27-D31EBC979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2A6F-FF2A-4643-9CE0-2DCF8FC6B69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24E1E9-09C5-468E-D17A-626B21FB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9AE01D-753D-AFAF-5D01-894D11E5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301B6-2CBF-4370-9311-992537CFAD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339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AB66D9-34B0-850C-AC3F-0F8B92FD8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457BFE-5E14-D4FC-6111-DA2EC328B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239491-7D61-AB51-B0F2-BA4668B0A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2A6F-FF2A-4643-9CE0-2DCF8FC6B69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1997F2-02AA-0D67-994F-2951CB0C9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CE2A29-CFA8-27B2-03F7-840B0DDB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301B6-2CBF-4370-9311-992537CFAD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36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EBFDD6-6144-2E29-1D5D-B6D57C5FB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503C55-DA23-EA9B-2182-F7D4FFA78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0AE12A-1CC0-A8AE-3BBC-63CE0D4A9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476D17-F344-5D57-42F1-D77040C7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2A6F-FF2A-4643-9CE0-2DCF8FC6B69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48966B-D80F-8676-F989-F1CF15DB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10B8D5-44BD-CC81-DA8A-5236782F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301B6-2CBF-4370-9311-992537CFAD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26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A75B9-7F89-C5A7-2553-C00A40185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C2D242-AE84-22D3-07C1-9AB7961BC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A7CB19-C383-7A83-1D0D-10C9ED5EE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CD29E3-51B2-681F-682F-F04D4E0F9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303718-B4CF-A138-6083-998D8F9E4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8515788-3C4B-6BE3-3A25-C53EAB7A6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2A6F-FF2A-4643-9CE0-2DCF8FC6B69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751DC7-B56F-BAA1-0433-40762B44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73B08FA-D0A8-B18C-04EC-B3458BC47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301B6-2CBF-4370-9311-992537CFAD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76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9BE10-9A2F-BD84-6A99-C4EC5B903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2C383C2-030B-CE9F-0E13-E5F54A891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2A6F-FF2A-4643-9CE0-2DCF8FC6B69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A62FA6-061F-B806-2BA4-B376BFDC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A5BA5C7-E454-538F-61FD-ADF00C3C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301B6-2CBF-4370-9311-992537CFAD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23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756B06B-F280-6EC2-3458-186837E5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2A6F-FF2A-4643-9CE0-2DCF8FC6B69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965B93F-BB53-69DD-CE71-80BC05C5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78E996-6537-0033-47FE-FEEF03E27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301B6-2CBF-4370-9311-992537CFAD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291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156C3-FFD3-0480-1436-095434AB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A06033-C5FA-4D21-1484-FE6AE7ACA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6C8B55-8E3A-3EB0-703B-2F8532E4C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457277-B243-F0F1-7C17-5214C09C4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2A6F-FF2A-4643-9CE0-2DCF8FC6B69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43461E-AC75-9B42-AC86-F6034B5FB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99E78B-A1D7-8463-2010-763081D36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301B6-2CBF-4370-9311-992537CFAD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64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34DAF6-B2B4-3146-3F23-CAFA020DA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6F2B479-8278-483F-0E39-BC2D1844DB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AE020F-A4E2-7F89-E1D4-724E793AC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0867F8-8290-9F7F-8C49-D4E781269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2A6F-FF2A-4643-9CE0-2DCF8FC6B69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73E155-3F04-3476-AD49-9E35A8D4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FD96A6-57E8-0621-B34E-370FEA866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301B6-2CBF-4370-9311-992537CFAD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697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A6727F-E1B4-37B1-9733-AA878DBD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FFEBF6-DC14-6F25-E289-903990A89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6C72D2-E210-9D4D-EF7F-2F26C3246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2A6F-FF2A-4643-9CE0-2DCF8FC6B69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71E018-4D4B-644D-ACBD-026BC67A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F10F4F-BCC1-7D4A-C1F7-0F79366B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301B6-2CBF-4370-9311-992537CFAD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05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C572B9-8759-80AD-0590-79392C74A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774C70-D930-D8BD-F87D-48FEF93E5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105D7F-7689-0639-C9C5-61144C99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2A6F-FF2A-4643-9CE0-2DCF8FC6B69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68FC9B-3B7B-3775-866E-2EEBF2C6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BBA646-2C22-FAD4-ACC4-939CB5E94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301B6-2CBF-4370-9311-992537CFAD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42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69AD06-72D5-7322-E467-4B7F29D8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932B3A-1784-D6E2-87FB-2FC4E76C5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9D74AE-29B5-10DD-962E-C2D6433DCC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A2A6F-FF2A-4643-9CE0-2DCF8FC6B69C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28EF28-DA5E-A8A1-2E6D-38B755A70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6D8983-E567-1A1F-E365-D0B7BEAE4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301B6-2CBF-4370-9311-992537CFAD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319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17D8F-722C-FB36-939A-9A77DB573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73154"/>
            <a:ext cx="12192000" cy="1284034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система классификации предметов</a:t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горизонтальном конвейере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B724FC-5B87-49F1-D3FC-B7C7A7878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459766"/>
            <a:ext cx="9466555" cy="994299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Морозов Д. В., ИУ9-82Б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Посевин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Д.П.</a:t>
            </a:r>
          </a:p>
        </p:txBody>
      </p:sp>
      <p:pic>
        <p:nvPicPr>
          <p:cNvPr id="4" name="image1.jpeg">
            <a:extLst>
              <a:ext uri="{FF2B5EF4-FFF2-40B4-BE49-F238E27FC236}">
                <a16:creationId xmlns:a16="http://schemas.microsoft.com/office/drawing/2014/main" id="{E074E42D-D776-8217-5266-27F74D86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3530" y="403935"/>
            <a:ext cx="1073126" cy="1212941"/>
          </a:xfrm>
          <a:prstGeom prst="rect">
            <a:avLst/>
          </a:prstGeo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83ED7F8-CAFC-6A9E-085B-BE7F15CFCE10}"/>
              </a:ext>
            </a:extLst>
          </p:cNvPr>
          <p:cNvSpPr txBox="1">
            <a:spLocks/>
          </p:cNvSpPr>
          <p:nvPr/>
        </p:nvSpPr>
        <p:spPr>
          <a:xfrm>
            <a:off x="0" y="619580"/>
            <a:ext cx="12192000" cy="1513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8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8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>
              <a:lnSpc>
                <a:spcPts val="8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«Московский государственный технический университет имени Н.Э. Баумана</a:t>
            </a:r>
          </a:p>
          <a:p>
            <a:pPr>
              <a:lnSpc>
                <a:spcPts val="8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(национальный исследовательский университет)» (МГТУ им. Н.Э. Баумана)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350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64DD5-FCEC-81ED-3486-C2891C429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4A04C3-F8AD-0848-623C-50F19D0F9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5367"/>
            <a:ext cx="12191999" cy="493993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7BE00A2-F93C-C822-DE78-E30D38F4E074}"/>
              </a:ext>
            </a:extLst>
          </p:cNvPr>
          <p:cNvSpPr txBox="1">
            <a:spLocks/>
          </p:cNvSpPr>
          <p:nvPr/>
        </p:nvSpPr>
        <p:spPr>
          <a:xfrm>
            <a:off x="745526" y="1134763"/>
            <a:ext cx="11304233" cy="29755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8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в задачах контроля объектов на горизонтальном конвейере </a:t>
            </a:r>
          </a:p>
          <a:p>
            <a:pPr algn="l">
              <a:lnSpc>
                <a:spcPts val="38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 надёжная и быстрая классификация различных предметов.</a:t>
            </a:r>
          </a:p>
          <a:p>
            <a:pPr algn="l">
              <a:lnSpc>
                <a:spcPts val="3800"/>
              </a:lnSpc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8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 проведение сравнительного исследования алгоритмов классификации</a:t>
            </a:r>
          </a:p>
          <a:p>
            <a:pPr algn="l">
              <a:lnSpc>
                <a:spcPts val="38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нескольких наборах данных. 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955199A-524C-0993-84BF-E244DA81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50394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3751-0552-6D1F-FEE7-90E3E56D9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16960-C0D2-C852-C71C-CAE737BDD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5367"/>
            <a:ext cx="12191999" cy="493993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99CB513-B9A7-B234-DD86-316C4D775B6F}"/>
              </a:ext>
            </a:extLst>
          </p:cNvPr>
          <p:cNvSpPr txBox="1">
            <a:spLocks/>
          </p:cNvSpPr>
          <p:nvPr/>
        </p:nvSpPr>
        <p:spPr>
          <a:xfrm>
            <a:off x="745525" y="1047169"/>
            <a:ext cx="11304233" cy="10441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8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программная реализация информационной системы для классификации предметов на горизонтальном конвейере.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AA3077BA-757F-2F95-9E2C-E9346D5AB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ADBC761-5779-2553-9B2F-7F8041FE1C98}"/>
              </a:ext>
            </a:extLst>
          </p:cNvPr>
          <p:cNvSpPr txBox="1">
            <a:spLocks/>
          </p:cNvSpPr>
          <p:nvPr/>
        </p:nvSpPr>
        <p:spPr>
          <a:xfrm>
            <a:off x="745526" y="3139440"/>
            <a:ext cx="11304233" cy="2865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ts val="3300"/>
              </a:lnSpc>
              <a:buFont typeface="Times New Roman" panose="02020603050405020304" pitchFamily="18" charset="0"/>
              <a:buChar char="—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теоретических основ необходимых для построения информационной системы классификации предметов на изображениях.</a:t>
            </a:r>
          </a:p>
          <a:p>
            <a:pPr marL="342900" indent="-342900" algn="l">
              <a:lnSpc>
                <a:spcPts val="3300"/>
              </a:lnSpc>
              <a:buFont typeface="Times New Roman" panose="02020603050405020304" pitchFamily="18" charset="0"/>
              <a:buChar char="—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 алгоритмов и методов классификации изображений. </a:t>
            </a:r>
          </a:p>
          <a:p>
            <a:pPr marL="342900" indent="-342900" algn="l">
              <a:lnSpc>
                <a:spcPts val="3300"/>
              </a:lnSpc>
              <a:buFont typeface="Times New Roman" panose="02020603050405020304" pitchFamily="18" charset="0"/>
              <a:buChar char="—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стека программных технологий.</a:t>
            </a:r>
          </a:p>
          <a:p>
            <a:pPr marL="342900" indent="-342900" algn="l">
              <a:lnSpc>
                <a:spcPts val="3300"/>
              </a:lnSpc>
              <a:buFont typeface="Times New Roman" panose="02020603050405020304" pitchFamily="18" charset="0"/>
              <a:buChar char="—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методов классификации изображений для различных наборов данных.</a:t>
            </a:r>
          </a:p>
          <a:p>
            <a:pPr marL="342900" indent="-342900" algn="l">
              <a:lnSpc>
                <a:spcPts val="3300"/>
              </a:lnSpc>
              <a:buFont typeface="Times New Roman" panose="02020603050405020304" pitchFamily="18" charset="0"/>
              <a:buChar char="—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прототип программно-аппаратного комплекса.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CC16C-785D-D733-8272-FF189C344DAE}"/>
              </a:ext>
            </a:extLst>
          </p:cNvPr>
          <p:cNvSpPr txBox="1">
            <a:spLocks/>
          </p:cNvSpPr>
          <p:nvPr/>
        </p:nvSpPr>
        <p:spPr>
          <a:xfrm>
            <a:off x="-1" y="3010517"/>
            <a:ext cx="12191999" cy="4939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018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3751-0552-6D1F-FEE7-90E3E56D9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16960-C0D2-C852-C71C-CAE737BDD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5367"/>
            <a:ext cx="12191999" cy="493993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99CB513-B9A7-B234-DD86-316C4D775B6F}"/>
              </a:ext>
            </a:extLst>
          </p:cNvPr>
          <p:cNvSpPr txBox="1">
            <a:spLocks/>
          </p:cNvSpPr>
          <p:nvPr/>
        </p:nvSpPr>
        <p:spPr>
          <a:xfrm>
            <a:off x="745525" y="1181445"/>
            <a:ext cx="11304233" cy="19633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8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яркости. 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SVD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Свёрточная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нейронная сеть).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MobileNetV3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Дообученная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готовая архитектура нейронной сети).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AA3077BA-757F-2F95-9E2C-E9346D5AB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ADBC761-5779-2553-9B2F-7F8041FE1C98}"/>
              </a:ext>
            </a:extLst>
          </p:cNvPr>
          <p:cNvSpPr txBox="1">
            <a:spLocks/>
          </p:cNvSpPr>
          <p:nvPr/>
        </p:nvSpPr>
        <p:spPr>
          <a:xfrm>
            <a:off x="745525" y="3271371"/>
            <a:ext cx="11304233" cy="13006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300"/>
              </a:lnSpc>
            </a:pP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Классификация болтов и гаек: 156 изображений.</a:t>
            </a:r>
          </a:p>
          <a:p>
            <a:pPr algn="l">
              <a:lnSpc>
                <a:spcPts val="3300"/>
              </a:lnSpc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Классификация фломастеров 3-ёх цветов: 472 изображения.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CC16C-785D-D733-8272-FF189C344DAE}"/>
              </a:ext>
            </a:extLst>
          </p:cNvPr>
          <p:cNvSpPr txBox="1">
            <a:spLocks/>
          </p:cNvSpPr>
          <p:nvPr/>
        </p:nvSpPr>
        <p:spPr>
          <a:xfrm>
            <a:off x="-2" y="3256334"/>
            <a:ext cx="12191999" cy="4939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Наборы данных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Изображение выглядит как снимок экрана, природа, текст, пожар">
            <a:extLst>
              <a:ext uri="{FF2B5EF4-FFF2-40B4-BE49-F238E27FC236}">
                <a16:creationId xmlns:a16="http://schemas.microsoft.com/office/drawing/2014/main" id="{492A0649-F4A5-0547-D4A3-6BD1FD24D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187"/>
          <a:stretch/>
        </p:blipFill>
        <p:spPr>
          <a:xfrm>
            <a:off x="2041503" y="4698579"/>
            <a:ext cx="8108990" cy="199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3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C1CE1-FA20-739E-AA37-81FC3CA8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5957B0-2584-CE01-4812-C69DF51ED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E3854962-1C51-C103-EEFC-2B85F60BA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9750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3751-0552-6D1F-FEE7-90E3E56D9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16960-C0D2-C852-C71C-CAE737BDD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5367"/>
            <a:ext cx="12191999" cy="493993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Экспериментальная установка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AA3077BA-757F-2F95-9E2C-E9346D5AB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D8A322-E7BB-CE25-39EF-0DDD1875F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879" y="1378491"/>
            <a:ext cx="5220430" cy="52204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86480C-2E2B-2559-0169-2DC0860AF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378491"/>
            <a:ext cx="5220430" cy="522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8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1B639-4F90-E8B0-EFF3-6E0D50EDD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FEF5A-BE5D-F0DF-0630-0C7636632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5367"/>
            <a:ext cx="12191999" cy="493993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яркости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3456E08-99C0-A23E-35C7-69E0030FE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C49BBB-860B-7865-9335-D73AC5EC1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210" y="1310125"/>
            <a:ext cx="7819579" cy="514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2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1B639-4F90-E8B0-EFF3-6E0D50EDD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D89E4DA-5DAF-4FC7-E5B2-220E953DD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71" y="1348967"/>
            <a:ext cx="11749058" cy="53338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FEF5A-BE5D-F0DF-0630-0C7636632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5367"/>
            <a:ext cx="12191999" cy="49399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SVD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-алгоритм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3456E08-99C0-A23E-35C7-69E0030FE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2258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0B941-0996-F512-943B-71110E6C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2B3F15-F02A-25CF-5E07-DCE3CBBA2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351"/>
            <a:ext cx="12192000" cy="56236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C37137-4242-440F-8DF5-706299515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5367"/>
            <a:ext cx="12191999" cy="493993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Геометрическая интерпретация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SVD-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53659C3B-0D8B-C1D6-CF3F-6E111D040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23018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1B639-4F90-E8B0-EFF3-6E0D50EDD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снимок экрана, диаграмма, дизайн">
            <a:extLst>
              <a:ext uri="{FF2B5EF4-FFF2-40B4-BE49-F238E27FC236}">
                <a16:creationId xmlns:a16="http://schemas.microsoft.com/office/drawing/2014/main" id="{2F7BB7CA-7218-437C-9E33-D7FAC5DC2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18993"/>
            <a:ext cx="12192000" cy="573900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FEF5A-BE5D-F0DF-0630-0C7636632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5367"/>
            <a:ext cx="12191999" cy="493993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(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Свёрточная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нейронная сеть)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3456E08-99C0-A23E-35C7-69E0030FE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8281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1B639-4F90-E8B0-EFF3-6E0D50EDD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снимок экрана, диаграмма, Красочность">
            <a:extLst>
              <a:ext uri="{FF2B5EF4-FFF2-40B4-BE49-F238E27FC236}">
                <a16:creationId xmlns:a16="http://schemas.microsoft.com/office/drawing/2014/main" id="{A3FA0A5E-7FAC-B256-5B24-F34E548E8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8993"/>
            <a:ext cx="12192000" cy="573900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FEF5A-BE5D-F0DF-0630-0C7636632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5367"/>
            <a:ext cx="12191999" cy="493993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MobileNetV3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3456E08-99C0-A23E-35C7-69E0030FE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48352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1EB8-928A-A5FB-A23D-40CBD027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EFD07-08C7-6184-8741-DFB2EA70E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5367"/>
            <a:ext cx="12191999" cy="493993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6729801-BAA6-B570-EC0B-58D0E98F6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53B9A6-6F62-8551-D129-8317F99ED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87" y="1252414"/>
            <a:ext cx="9859224" cy="487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677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1EB8-928A-A5FB-A23D-40CBD027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F44EF22-6180-E9FE-A97C-4E13F173E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3"/>
          <a:stretch/>
        </p:blipFill>
        <p:spPr>
          <a:xfrm>
            <a:off x="0" y="-1"/>
            <a:ext cx="12192000" cy="65773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F95A69-D64D-0E22-8E18-ED2C06CF2638}"/>
              </a:ext>
            </a:extLst>
          </p:cNvPr>
          <p:cNvSpPr txBox="1"/>
          <p:nvPr/>
        </p:nvSpPr>
        <p:spPr>
          <a:xfrm>
            <a:off x="208228" y="5651269"/>
            <a:ext cx="11325885" cy="115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№1: болты и гайки. 			      	       Датасет №4: зажигалки и свечи.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№2: фломастеры 3-ёх цветов. 		      	       Датасет №5: дым.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№3: обширные пожары. 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6729801-BAA6-B570-EC0B-58D0E98F6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955560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1EB8-928A-A5FB-A23D-40CBD027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D3567E-620D-1277-8A5D-997A4A586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8" y="470780"/>
            <a:ext cx="12113430" cy="5911913"/>
          </a:xfrm>
          <a:prstGeom prst="rect">
            <a:avLst/>
          </a:prstGeom>
        </p:spPr>
      </p:pic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6729801-BAA6-B570-EC0B-58D0E98F6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74401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CF73-7F76-C58E-643F-AEE226669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9F5F3-26A2-D541-04E0-1322A7C34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5367"/>
            <a:ext cx="12191999" cy="493993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4122430-4F62-C4EA-AB3C-7EA4DABAF676}"/>
              </a:ext>
            </a:extLst>
          </p:cNvPr>
          <p:cNvSpPr txBox="1">
            <a:spLocks/>
          </p:cNvSpPr>
          <p:nvPr/>
        </p:nvSpPr>
        <p:spPr>
          <a:xfrm>
            <a:off x="745526" y="1134763"/>
            <a:ext cx="11304233" cy="42628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8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и реализована информационная система для классификации </a:t>
            </a:r>
          </a:p>
          <a:p>
            <a:pPr algn="l">
              <a:lnSpc>
                <a:spcPts val="38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предметов на горизонтальном конвейере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Изучены алгоритмы детекции объектов на изображении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Выполнена реализация алгоритмов детектирования на изображениях </a:t>
            </a:r>
          </a:p>
          <a:p>
            <a:pPr algn="l">
              <a:lnSpc>
                <a:spcPts val="38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Проведены тесты работоспособности и сравнение реализованных методов на   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разных наборах данных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Найдены положительные и отрицательные стороны использования </a:t>
            </a:r>
          </a:p>
          <a:p>
            <a:pPr algn="l">
              <a:lnSpc>
                <a:spcPts val="38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алгоритмов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088971C4-123E-335D-624B-C66C14536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6004560"/>
            <a:ext cx="10160001" cy="449505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22734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17D8F-722C-FB36-939A-9A77DB573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73154"/>
            <a:ext cx="12192000" cy="1284034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система классификации предметов</a:t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горизонтальном конвейере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B724FC-5B87-49F1-D3FC-B7C7A7878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459766"/>
            <a:ext cx="9466555" cy="994299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Морозов Д. В., ИУ9-82Б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Посевин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Д.П.</a:t>
            </a:r>
          </a:p>
        </p:txBody>
      </p:sp>
      <p:pic>
        <p:nvPicPr>
          <p:cNvPr id="4" name="image1.jpeg">
            <a:extLst>
              <a:ext uri="{FF2B5EF4-FFF2-40B4-BE49-F238E27FC236}">
                <a16:creationId xmlns:a16="http://schemas.microsoft.com/office/drawing/2014/main" id="{E074E42D-D776-8217-5266-27F74D86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3530" y="403935"/>
            <a:ext cx="1073126" cy="1212941"/>
          </a:xfrm>
          <a:prstGeom prst="rect">
            <a:avLst/>
          </a:prstGeo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83ED7F8-CAFC-6A9E-085B-BE7F15CFCE10}"/>
              </a:ext>
            </a:extLst>
          </p:cNvPr>
          <p:cNvSpPr txBox="1">
            <a:spLocks/>
          </p:cNvSpPr>
          <p:nvPr/>
        </p:nvSpPr>
        <p:spPr>
          <a:xfrm>
            <a:off x="0" y="619580"/>
            <a:ext cx="12192000" cy="1513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8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8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>
              <a:lnSpc>
                <a:spcPts val="8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«Московский государственный технический университет имени Н.Э. Баумана</a:t>
            </a:r>
          </a:p>
          <a:p>
            <a:pPr>
              <a:lnSpc>
                <a:spcPts val="8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(национальный исследовательский университет)» (МГТУ им. Н.Э. Баумана)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621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3751-0552-6D1F-FEE7-90E3E56D9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ADBC761-5779-2553-9B2F-7F8041FE1C98}"/>
              </a:ext>
            </a:extLst>
          </p:cNvPr>
          <p:cNvSpPr txBox="1">
            <a:spLocks/>
          </p:cNvSpPr>
          <p:nvPr/>
        </p:nvSpPr>
        <p:spPr>
          <a:xfrm>
            <a:off x="745525" y="684116"/>
            <a:ext cx="11304233" cy="28286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300"/>
              </a:lnSpc>
            </a:pP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Классификация болтов и гаек: 156 изображений.</a:t>
            </a:r>
          </a:p>
          <a:p>
            <a:pPr algn="l">
              <a:lnSpc>
                <a:spcPts val="33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Классификация фломастеров 3-ёх цветов: 472 изображения.</a:t>
            </a:r>
          </a:p>
          <a:p>
            <a:pPr algn="l">
              <a:lnSpc>
                <a:spcPts val="33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Классификация огня от зажигалок и свечей: 515 изображений.</a:t>
            </a:r>
          </a:p>
          <a:p>
            <a:pPr algn="l">
              <a:lnSpc>
                <a:spcPts val="33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Классификация обширных пожаров: 1118 изображений.</a:t>
            </a:r>
          </a:p>
          <a:p>
            <a:pPr algn="l">
              <a:lnSpc>
                <a:spcPts val="33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Классификация дыма: 359 изображений.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CC16C-785D-D733-8272-FF189C344DAE}"/>
              </a:ext>
            </a:extLst>
          </p:cNvPr>
          <p:cNvSpPr txBox="1">
            <a:spLocks/>
          </p:cNvSpPr>
          <p:nvPr/>
        </p:nvSpPr>
        <p:spPr>
          <a:xfrm>
            <a:off x="0" y="684115"/>
            <a:ext cx="12191999" cy="4939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наборы данных для тестирования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01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3751-0552-6D1F-FEE7-90E3E56D9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CC16C-785D-D733-8272-FF189C344DAE}"/>
              </a:ext>
            </a:extLst>
          </p:cNvPr>
          <p:cNvSpPr txBox="1">
            <a:spLocks/>
          </p:cNvSpPr>
          <p:nvPr/>
        </p:nvSpPr>
        <p:spPr>
          <a:xfrm>
            <a:off x="0" y="684115"/>
            <a:ext cx="12191999" cy="4939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Обширные пожары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A86BFD-CE9C-8A88-DFDB-417BABEF6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612" y="1275017"/>
            <a:ext cx="8734773" cy="430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23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3751-0552-6D1F-FEE7-90E3E56D9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CC16C-785D-D733-8272-FF189C344DAE}"/>
              </a:ext>
            </a:extLst>
          </p:cNvPr>
          <p:cNvSpPr txBox="1">
            <a:spLocks/>
          </p:cNvSpPr>
          <p:nvPr/>
        </p:nvSpPr>
        <p:spPr>
          <a:xfrm>
            <a:off x="0" y="684115"/>
            <a:ext cx="12191999" cy="4939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Зажигалки и свечи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956455D-4464-5929-386A-CA553ECEC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72" y="1338868"/>
            <a:ext cx="9517255" cy="470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01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3751-0552-6D1F-FEE7-90E3E56D9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00F030-F8B9-350B-D23C-9E3416FD4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262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454</Words>
  <Application>Microsoft Office PowerPoint</Application>
  <PresentationFormat>Широкоэкранный</PresentationFormat>
  <Paragraphs>68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Тема Office</vt:lpstr>
      <vt:lpstr>Информационная система классификации предметов  на горизонтальном конвейере</vt:lpstr>
      <vt:lpstr>Актуальность</vt:lpstr>
      <vt:lpstr>Цель</vt:lpstr>
      <vt:lpstr>Алгоритмы</vt:lpstr>
      <vt:lpstr>Презентация PowerPoint</vt:lpstr>
      <vt:lpstr>Экспериментальная установка</vt:lpstr>
      <vt:lpstr>Метод яркости</vt:lpstr>
      <vt:lpstr>SVD-алгоритм</vt:lpstr>
      <vt:lpstr>Геометрическая интерпретация SVD-алгоритма</vt:lpstr>
      <vt:lpstr>Схема CNN (Свёрточная нейронная сеть)</vt:lpstr>
      <vt:lpstr>Модель MobileNetV3</vt:lpstr>
      <vt:lpstr>Тестирование</vt:lpstr>
      <vt:lpstr>Презентация PowerPoint</vt:lpstr>
      <vt:lpstr>Презентация PowerPoint</vt:lpstr>
      <vt:lpstr>Выводы</vt:lpstr>
      <vt:lpstr>Информационная система классификации предметов  на горизонтальном конвейере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Дима Морозов</dc:creator>
  <cp:lastModifiedBy>user</cp:lastModifiedBy>
  <cp:revision>117</cp:revision>
  <dcterms:created xsi:type="dcterms:W3CDTF">2025-12-03T20:19:23Z</dcterms:created>
  <dcterms:modified xsi:type="dcterms:W3CDTF">2026-06-08T15:16:53Z</dcterms:modified>
</cp:coreProperties>
</file>